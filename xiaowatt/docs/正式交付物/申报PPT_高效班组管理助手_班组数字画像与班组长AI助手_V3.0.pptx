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67" r:id="rId26"/>
    <p:sldId id="8568" r:id="rId27"/>
    <p:sldId id="8559" r:id="rId6"/>
    <p:sldId id="8569" r:id="rId28"/>
    <p:sldId id="8570" r:id="rId29"/>
    <p:sldId id="8571" r:id="rId30"/>
    <p:sldId id="8572" r:id="rId31"/>
    <p:sldId id="8573" r:id="rId32"/>
    <p:sldId id="8574" r:id="rId33"/>
    <p:sldId id="8575" r:id="rId34"/>
    <p:sldId id="8576" r:id="rId35"/>
    <p:sldId id="8560" r:id="rId8"/>
    <p:sldId id="8577" r:id="rId36"/>
    <p:sldId id="8578" r:id="rId37"/>
    <p:sldId id="8579" r:id="rId38"/>
    <p:sldId id="8580" r:id="rId39"/>
    <p:sldId id="8561" r:id="rId10"/>
    <p:sldId id="8581" r:id="rId40"/>
    <p:sldId id="8582" r:id="rId41"/>
    <p:sldId id="8583" r:id="rId42"/>
    <p:sldId id="8562" r:id="rId12"/>
    <p:sldId id="8584" r:id="rId43"/>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lang="zh-CN" altLang="en-US">
                <a:solidFill>
                  <a:srgbClr val="002060"/>
                </a:solidFill>
                <a:latin typeface="微软雅黑"/>
                <a:ea typeface="微软雅黑"/>
                <a:cs typeface="微软雅黑"/>
              </a:rPr>
              <a:t>各环节用时下降幅度（%）</a:t>
            </a:r>
          </a:p>
        </c:rich>
      </c:tx>
      <c:layout/>
      <c:overlay val="0"/>
    </c:title>
    <c:autoTitleDeleted val="0"/>
    <c:plotArea>
      <c:barChart>
        <c:barDir val="col"/>
        <c:grouping val="clustered"/>
        <c:ser>
          <c:idx val="0"/>
          <c:order val="0"/>
          <c:tx>
            <c:strRef>
              <c:f>Sheet1!$B$1</c:f>
              <c:strCache>
                <c:ptCount val="1"/>
                <c:pt idx="0">
                  <c:v>用时下降幅度（%）</c:v>
                </c:pt>
              </c:strCache>
            </c:strRef>
          </c:tx>
          <c:spPr>
            <a:solidFill>
              <a:srgbClr val="2E5495"/>
            </a:solidFill>
          </c:spPr>
          <c:cat>
            <c:strRef>
              <c:f>Sheet1!$A$2:$A$7</c:f>
              <c:strCache>
                <c:ptCount val="6"/>
                <c:pt idx="0">
                  <c:v>派工决策</c:v>
                </c:pt>
                <c:pt idx="1">
                  <c:v>月度考评</c:v>
                </c:pt>
                <c:pt idx="2">
                  <c:v>星级自评</c:v>
                </c:pt>
                <c:pt idx="3">
                  <c:v>授权盘点</c:v>
                </c:pt>
                <c:pt idx="4">
                  <c:v>月度总结</c:v>
                </c:pt>
                <c:pt idx="5">
                  <c:v>班长考评</c:v>
                </c:pt>
              </c:strCache>
            </c:strRef>
          </c:cat>
          <c:val>
            <c:numRef>
              <c:f>Sheet1!$B$2:$B$7</c:f>
              <c:numCache>
                <c:formatCode>General</c:formatCode>
                <c:ptCount val="6"/>
                <c:pt idx="0">
                  <c:v>83</c:v>
                </c:pt>
                <c:pt idx="1">
                  <c:v>75</c:v>
                </c:pt>
                <c:pt idx="2">
                  <c:v>75</c:v>
                </c:pt>
                <c:pt idx="3">
                  <c:v>87</c:v>
                </c:pt>
                <c:pt idx="4">
                  <c:v>75</c:v>
                </c:pt>
                <c:pt idx="5">
                  <c:v>75</c:v>
                </c:pt>
              </c:numCache>
            </c:numRef>
          </c:val>
        </c:ser>
        <c:dLbls>
          <c:numFmt formatCode="0&quot;%&quot;" sourceLinked="0"/>
          <c:txPr>
            <a:bodyPr/>
            <a:lstStyle/>
            <a:p>
              <a:pPr>
                <a:defRPr sz="1000">
                  <a:solidFill>
                    <a:srgbClr val="262626"/>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BFBFBF"/>
            </a:solidFill>
          </a:ln>
        </c:spPr>
        <c:txPr>
          <a:bodyPr/>
          <a:lstStyle/>
          <a:p>
            <a:pPr>
              <a:defRPr sz="1000">
                <a:solidFill>
                  <a:srgbClr val="262626"/>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E0E0E0"/>
              </a:solidFill>
            </a:ln>
          </c:spPr>
        </c:majorGridlines>
        <c:majorTickMark val="out"/>
        <c:minorTickMark val="none"/>
        <c:tickLblPos val="nextTo"/>
        <c:spPr>
          <a:ln>
            <a:noFill/>
          </a:ln>
        </c:spPr>
        <c:txPr>
          <a:bodyPr/>
          <a:lstStyle/>
          <a:p>
            <a:pPr>
              <a:defRPr sz="90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各位评委好。我们申报的成果是「高效班组管理助手」：班组数字画像与班组长AI助手，应用场景在光明供电局配网资产部的三个班组。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先讲公司为什么要做：各系统已经各自数字化，但在班组这一级数据仍然分散，班组长靠查数、抄数、汇编做判断。转型落到基层的标志，是班组长在一屏画像上做判断。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应用场景是光明供电局配网资产部三个班组 31 人；两类用户共用一个数据底座：班组长端 12 页、管理者端 9 页，小瓦特 AI 助手贯穿两端。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五个核心优势：十七张台账同源、四条派工规则可解释、六环闭环可生长、两级同源可协同、所有涉及人的结论由人确认。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贴合公司推进技能人才队伍建设与作业授权管理、星级班组建设、业绩责任书绩效管理、安全生产责任制、基层减负、人工智能应用的要求：评价标准、认证表、责任书在班组一级有了数字化的执行与反馈，班组长的时间回到判断与确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对南方电网集团要求的响应：六个方面逐项对应——数字化转型与数字电网建设、人才强企、星级班组建设、业绩责任书与绩效管理、安全生产责任制与基层减负、人力资源数智化创新与人工智能应用。</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建成投运后，对公司与集团要求的响应不是一次性对标，而是三步机制：结构化留痕、按统一口径向上汇聚、按周期自动形成结果，每一项都有可检查的输出。示范意义是为公司提供可复制的班组级数字化样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设计思路是三层模型：指标层量化、规则层把经验判断转为可解释规则、智能层由大模型承担问答与生成；系统给依据，人作决定。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实现路径四步：数据归集、模型构建、场景落地、结果回流。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数据来源为人资系统、OMS、OCS、电网管理平台、党建系统与荣誉台账、周报与责任书；数据结构以人员、班组、事件流水三类主题组织，十七张台账为底座。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技术架构：大瓦特大模型提供对话、生成、问答与诊断能力；云景自助分析工具承载画像与看板；规则引擎与知识库部署于公司内网。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班组长端 12 页按故事线组织。默认进入班组画像：只讲班组——名片、KPI、核心业务管控、星级评价与发展规划。</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派工四条规则逐人判定，理由随单存档，单次派工决策由约 30 分钟降到 5 分钟以内；作业授权认证表数字化，逐格确认，断层风险实时计算。</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管理者端的考核指标与班长绩效完全照录年度业绩责任书的指标、权重与评分标准，自动取数初评，部门确认后下发；跨班组调配五步闭环。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五个创新点：经验判断规则化可解释、六环闭环、星级标准与授权认证数字化、两级同源、人在回路的 AI 协作；应用场景突破点是队伍建设六环闭环。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六个环节应用前后对比，每一项都有可测算的用时变化。</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可量化效益：班组长每月事务性用时减少约 25 小时，相当于释放 3 个工作日；部门每季度减少约 3 个工作日。社会效益：依据留痕、经验传承、安全前置。</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成果投运后对集团要求的响应不是一次性对标，而是按周期自动形成、可检查、可向上汇聚的机制，逐项对照八个方面。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实用化：应用范围、建设进度、数据对接、运行安排四方面，试点条件已具备。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推广按部门试点、全局复制、网省推广三级推进；以配置化方式复制，更换专业只需调整口径配置。</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潜在价值分管理、社会、商业三个层面；开发计划四项：系统对接、专业扩展、能力深化、知识沉淀。</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结尾呼应开篇：班组强则公司强。成果让班组长回到判断与确认、让管理者的决定落到确认、让公司的要求在班组一级有持续响应的机制。</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高效班组管理助手</a:t>
            </a:r>
          </a:p>
          <a:p>
            <a:pPr algn="ctr"/>
            <a:r>
              <a:rPr sz="2400" b="1" lang="zh-CN" altLang="en-US">
                <a:solidFill>
                  <a:srgbClr val="2C4E8F"/>
                </a:solidFill>
                <a:latin typeface="微软雅黑"/>
                <a:ea typeface="微软雅黑"/>
                <a:cs typeface="微软雅黑"/>
              </a:rPr>
              <a:t>班组数字画像与班组长AI助手</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高效班组管理助手项目组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高效班组管理助手项目组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班组是最基层的生产组织</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电网企业各项管理要求最终落地的地方。班组强则公司强，班组层是数字化转型的最后一公里。</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系统已数字化，班组层仍分散</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南方电网公司持续推进数字化转型与数字电网建设，人资系统、工分制考核、OMS、OCS、电网管理平台、党建系统已各自数字化，到班组这一级仍是一本本台账。</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班组长靠查数、抄数、汇编</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派工看证书、授权、工时、冲突；考评看履职证据与工作量；星级对照标准找差距。逐系统查看后手工汇编，依据难留痕。</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转型落到基层的标志</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班组长不再抄数，而是在一屏画像上做判断；部门对所辖班组的队伍状态有统一视图。</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班组整体画像</a:t>
            </a:r>
          </a:p>
        </p:txBody>
      </p:sp>
      <p:sp>
        <p:nvSpPr>
          <p:cNvPr id="19" name="Rectangle 18"/>
          <p:cNvSpPr/>
          <p:nvPr/>
        </p:nvSpPr>
        <p:spPr>
          <a:xfrm>
            <a:off x="3465576"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班员画像与作业授权认证</a:t>
            </a:r>
          </a:p>
        </p:txBody>
      </p:sp>
      <p:sp>
        <p:nvSpPr>
          <p:cNvPr id="20" name="Rectangle 19"/>
          <p:cNvSpPr/>
          <p:nvPr/>
        </p:nvSpPr>
        <p:spPr>
          <a:xfrm>
            <a:off x="5148072"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派工推荐与审票</a:t>
            </a:r>
          </a:p>
        </p:txBody>
      </p:sp>
      <p:sp>
        <p:nvSpPr>
          <p:cNvPr id="21" name="Rectangle 20"/>
          <p:cNvSpPr/>
          <p:nvPr/>
        </p:nvSpPr>
        <p:spPr>
          <a:xfrm>
            <a:off x="6830568"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绩效系数与激励分配</a:t>
            </a:r>
          </a:p>
        </p:txBody>
      </p:sp>
      <p:sp>
        <p:nvSpPr>
          <p:cNvPr id="22" name="Rectangle 21"/>
          <p:cNvSpPr/>
          <p:nvPr/>
        </p:nvSpPr>
        <p:spPr>
          <a:xfrm>
            <a:off x="8513064"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关怀提醒与风险处置</a:t>
            </a:r>
          </a:p>
        </p:txBody>
      </p:sp>
      <p:sp>
        <p:nvSpPr>
          <p:cNvPr id="23" name="Rectangle 22"/>
          <p:cNvSpPr/>
          <p:nvPr/>
        </p:nvSpPr>
        <p:spPr>
          <a:xfrm>
            <a:off x="1019556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部门考核指标与班长绩效</a:t>
            </a:r>
          </a:p>
        </p:txBody>
      </p:sp>
      <p:sp>
        <p:nvSpPr>
          <p:cNvPr id="24" name="Rectangle 23"/>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5" name="TextBox 24"/>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光明供电局配网资产部三个班组的现场调研与六份客户材料；《星级班组评价标准》；《技能类岗位胜任能力评价作业授权认证表》；2026 年度员工业绩责任书；工分制考核办法；配网自动化运行周报。</a:t>
            </a:r>
          </a:p>
        </p:txBody>
      </p:sp>
      <p:sp>
        <p:nvSpPr>
          <p:cNvPr id="26" name="Rectangle 25"/>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需求本质</a:t>
            </a:r>
          </a:p>
          <a:p>
            <a:pPr algn="l">
              <a:lnSpc>
                <a:spcPct val="115000"/>
              </a:lnSpc>
            </a:pPr>
            <a:r>
              <a:rPr sz="1150" b="0" lang="zh-CN" altLang="en-US">
                <a:solidFill>
                  <a:srgbClr val="262626"/>
                </a:solidFill>
                <a:latin typeface="微软雅黑"/>
                <a:ea typeface="微软雅黑"/>
                <a:cs typeface="微软雅黑"/>
              </a:rPr>
              <a:t>数据分散在系统与台账之间，班组这一级没有一屏画像，判断与依据分离。班组长要“派得准、带得好、评得公、管得住”，部门要“看得全、督得到、配得动”，今天全靠逐个系统、逐本台账查看后手工汇编。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 · 配电自动化班 / 试验班 / 配电运维一班 · 31 人。演示数据按班组真实业务框架脱敏构建。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目标用户一：班组长</a:t>
            </a:r>
          </a:p>
        </p:txBody>
      </p:sp>
      <p:sp>
        <p:nvSpPr>
          <p:cNvPr id="9" name="Rectangle 8"/>
          <p:cNvSpPr/>
          <p:nvPr/>
        </p:nvSpPr>
        <p:spPr>
          <a:xfrm>
            <a:off x="320040" y="3127248"/>
            <a:ext cx="393192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102412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12 个功能页，按“班组整体 → 人员情况 → 日常业务”故事线组织：班组画像；班员画像、授权认证、培养与梯队、绩效与激励、关怀与文化、分析参谋；今日工作台、用工安排、知识库、台账中心、问小瓦特。</a:t>
            </a:r>
          </a:p>
        </p:txBody>
      </p:sp>
      <p:sp>
        <p:nvSpPr>
          <p:cNvPr id="11" name="Rectangle 10"/>
          <p:cNvSpPr/>
          <p:nvPr/>
        </p:nvSpPr>
        <p:spPr>
          <a:xfrm>
            <a:off x="320040" y="443484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目标用户二：部门管理者</a:t>
            </a:r>
          </a:p>
        </p:txBody>
      </p:sp>
      <p:sp>
        <p:nvSpPr>
          <p:cNvPr id="12" name="Rectangle 11"/>
          <p:cNvSpPr/>
          <p:nvPr/>
        </p:nvSpPr>
        <p:spPr>
          <a:xfrm>
            <a:off x="320040" y="4818888"/>
            <a:ext cx="3931920"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892040"/>
            <a:ext cx="3785615" cy="84124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9 个功能页，“业务指标 + 队伍管理”两条主线：考核指标、班组横向对比；团队画像总览、班长绩效、人员总览、班组结构对比、团队风险画像、员工关怀、分析参谋。</a:t>
            </a:r>
          </a:p>
        </p:txBody>
      </p:sp>
      <p:sp>
        <p:nvSpPr>
          <p:cNvPr id="14" name="TextBox 13"/>
          <p:cNvSpPr txBox="1"/>
          <p:nvPr/>
        </p:nvSpPr>
        <p:spPr>
          <a:xfrm>
            <a:off x="320040" y="5897880"/>
            <a:ext cx="3931920" cy="36576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共用十七张台账的数据底座；小瓦特 AI 助手贯穿两端；管理者的每个动作落到班组长的通知或确认。</a:t>
            </a:r>
          </a:p>
        </p:txBody>
      </p:sp>
      <p:pic>
        <p:nvPicPr>
          <p:cNvPr id="15" name="Picture 14" descr="高效班组管理助手_业务架构.png"/>
          <p:cNvPicPr>
            <a:picLocks noChangeAspect="1"/>
          </p:cNvPicPr>
          <p:nvPr/>
        </p:nvPicPr>
        <p:blipFill>
          <a:blip r:embed="rId3"/>
          <a:stretch>
            <a:fillRect/>
          </a:stretch>
        </p:blipFill>
        <p:spPr>
          <a:xfrm>
            <a:off x="4434840" y="1371600"/>
            <a:ext cx="7434072" cy="4762452"/>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17</a:t>
            </a:r>
            <a:r>
              <a:rPr sz="1300" b="1" lang="zh-CN" altLang="en-US">
                <a:solidFill>
                  <a:srgbClr val="002060"/>
                </a:solidFill>
                <a:latin typeface="微软雅黑"/>
                <a:ea typeface="微软雅黑"/>
                <a:cs typeface="微软雅黑"/>
              </a:rPr>
              <a:t>  张</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台账同源</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画像、看板、文稿中的每个数字可点开回溯至台账原始行</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4</a:t>
            </a:r>
            <a:r>
              <a:rPr sz="1300" b="1" lang="zh-CN" altLang="en-US">
                <a:solidFill>
                  <a:srgbClr val="002060"/>
                </a:solidFill>
                <a:latin typeface="微软雅黑"/>
                <a:ea typeface="微软雅黑"/>
                <a:cs typeface="微软雅黑"/>
              </a:rPr>
              <a:t>  条</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派工规则可解释</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证书、核心模块授权、本周工时、当日冲突；推荐与排除理由随单存档</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环</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闭环可生长</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能力识别 → 精准培养 → 实践锻炼 → 评价反馈 → 激励应用 → 再提升</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a:t>
            </a:r>
            <a:r>
              <a:rPr sz="1300" b="1" lang="zh-CN" altLang="en-US">
                <a:solidFill>
                  <a:srgbClr val="002060"/>
                </a:solidFill>
                <a:latin typeface="微软雅黑"/>
                <a:ea typeface="微软雅黑"/>
                <a:cs typeface="微软雅黑"/>
              </a:rPr>
              <a:t>  级</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管理可协同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班组长与管理者共用数据底座，一步操作即时反映到管理视图</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100</a:t>
            </a:r>
            <a:r>
              <a:rPr sz="1300" b="1" lang="zh-CN" altLang="en-US">
                <a:solidFill>
                  <a:srgbClr val="002060"/>
                </a:solidFill>
                <a:latin typeface="微软雅黑"/>
                <a:ea typeface="微软雅黑"/>
                <a:cs typeface="微软雅黑"/>
              </a:rPr>
              <a:t>  %</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结论由人定</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人员评价、授权、系数、调配、轮岗一律确认后生效、留名留痕</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面向班组长的班组管理助手：把公司已有的数据变成派工的理由、考评的证据、建设的差距清单和带队伍的参谋</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管理者的每个动作（督办、提醒、调配、轮岗建议、后备培养、面谈提纲、文化活动）落到班组长的通知或确认</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涉及人员评价的结论一律由班组长或部门确认后使用；依托公司电力人工智能创新平台与云景自助分析工具建设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如何贴合公司要求：公司的管理要求在班组一级有了数字化的执行与反馈</a:t>
            </a:r>
          </a:p>
        </p:txBody>
      </p:sp>
      <p:graphicFrame>
        <p:nvGraphicFramePr>
          <p:cNvPr id="5" name="Table 4"/>
          <p:cNvGraphicFramePr>
            <a:graphicFrameLocks noGrp="1"/>
          </p:cNvGraphicFramePr>
          <p:nvPr/>
        </p:nvGraphicFramePr>
        <p:xfrm>
          <a:off x="320040" y="1371600"/>
          <a:ext cx="11548872" cy="4096512"/>
        </p:xfrm>
        <a:graphic>
          <a:graphicData uri="http://schemas.openxmlformats.org/drawingml/2006/table">
            <a:tbl>
              <a:tblPr firstRow="0" bandRow="0">
                <a:tableStyleId>{2D5ABB26-0587-4C30-8999-92F81FD0307C}</a:tableStyleId>
              </a:tblPr>
              <a:tblGrid>
                <a:gridCol w="2834640"/>
                <a:gridCol w="4846320"/>
                <a:gridCol w="3867912"/>
              </a:tblGrid>
              <a:tr h="365760">
                <a:tc>
                  <a:txBody>
                    <a:bodyPr wrap="square"/>
                    <a:lstStyle/>
                    <a:p>
                      <a:pPr>
                        <a:lnSpc>
                          <a:spcPct val="108000"/>
                        </a:lnSpc>
                      </a:pPr>
                      <a:r>
                        <a:rPr sz="1050" b="1" lang="zh-CN" altLang="en-US">
                          <a:solidFill>
                            <a:srgbClr val="FFFFFF"/>
                          </a:solidFill>
                          <a:latin typeface="微软雅黑"/>
                          <a:ea typeface="微软雅黑"/>
                          <a:cs typeface="微软雅黑"/>
                        </a:rPr>
                        <a:t>公司要求 · 制度依据</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产品如何贴合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在班组一级的数字化执行与反馈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技能人才队伍建设与作业授权管理
《技能类岗位胜任能力评价作业授权认证表》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认证表做成逐人逐格可确认的数字表（7 个技能单元 42 个模块，缺证不能确认），核心业务自主实施能力与 ★ 模块断层风险随确认实时变化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授权状态按月报主管；高风险模块一键排带教取证；师带徒、骨干培养、后备梯队纳入台账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星级班组建设
《星级班组评价标准》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20 个评价维度按台账实时初评并标红黄绿，当前等级、目标等级、距目标分、必备条件、差距指标一页呈现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提升方向排进班组计划；帮扶活动回写得分；自评材料直接取自系统记录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绩效管理
员工年度业绩责任书、工分制考核办法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考核指标三维度照录责任书实时判定红黄绿；班长绩效按责任书自动取数初评、分档不排名次；班员系数由五类履职证据与工分推导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督办直达责任班长；确认后下发考评表；激励分配表与确认记录留痕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安全生产责任制
两票、作业授权、关键节点管控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“有授权才派工、票审过才开工、完工才回写”的刚性流程；关键节点 19 项逐周闭环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班前会材料、月度总结、分配表、面谈提纲、诊断与参谋报告逐段生成，查数即问即答</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班组长每月事务性用时减少约 25 小时，有操作流水为证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人工智能应用
电力人工智能创新平台（大瓦特）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 AI 助手依托公司平台：查数配图、决策依据、文稿、诊断、经验整理五类能力，人在回路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可复制的班组级 AI 应用样板；每次确认留名留痕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320040" y="5596128"/>
            <a:ext cx="11548872" cy="6400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20040" y="5596128"/>
            <a:ext cx="91440" cy="6400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596128"/>
            <a:ext cx="11155680" cy="640080"/>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对公司数智化转型的作用：</a:t>
            </a:r>
          </a:p>
          <a:p>
            <a:pPr algn="l">
              <a:lnSpc>
                <a:spcPct val="115000"/>
              </a:lnSpc>
            </a:pPr>
            <a:r>
              <a:rPr sz="1150" b="0" lang="zh-CN" altLang="en-US">
                <a:solidFill>
                  <a:srgbClr val="262626"/>
                </a:solidFill>
                <a:latin typeface="微软雅黑"/>
                <a:ea typeface="微软雅黑"/>
                <a:cs typeface="微软雅黑"/>
              </a:rPr>
              <a:t>班组长的时间从找数、抄数、排版回到判断与确认；班组数据一次产生、局级公司级复用，成为公司人力资源数智化的基础单元——数字化转型落到了最基层的生产组织。</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对南方电网集团要求的响应</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集团数字化转型与数字电网建设部署</a:t>
            </a:r>
          </a:p>
        </p:txBody>
      </p:sp>
      <p:sp>
        <p:nvSpPr>
          <p:cNvPr id="8" name="TextBox 7"/>
          <p:cNvSpPr txBox="1"/>
          <p:nvPr/>
        </p:nvSpPr>
        <p:spPr>
          <a:xfrm>
            <a:off x="5486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派工、审票、授权确认、绩效确认、督办、调配结构化留痕，按统一口径接入人资系统与数据平台，班组数据一次产生、局级公司级复用</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集团人才强企战略与技能人才队伍建设要求</a:t>
            </a:r>
          </a:p>
        </p:txBody>
      </p:sp>
      <p:sp>
        <p:nvSpPr>
          <p:cNvPr id="12" name="TextBox 11"/>
          <p:cNvSpPr txBox="1"/>
          <p:nvPr/>
        </p:nvSpPr>
        <p:spPr>
          <a:xfrm>
            <a:off x="44348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《作业授权认证表》数字化后，授权状态、核心业务自主实施能力、断层风险按月报主管；师带徒、骨干培养、后备梯队纳入台账，支撑作业授权复审与技能人才评聘</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集团星级班组建设要求</a:t>
            </a:r>
          </a:p>
        </p:txBody>
      </p:sp>
      <p:sp>
        <p:nvSpPr>
          <p:cNvPr id="16" name="TextBox 15"/>
          <p:cNvSpPr txBox="1"/>
          <p:nvPr/>
        </p:nvSpPr>
        <p:spPr>
          <a:xfrm>
            <a:off x="83210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《星级班组评价标准》20 个维度按台账实时初评，当前等级、目标等级、差距指标与提升措施按周期自动形成，评定材料直接取自系统记录</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集团业绩责任书与绩效管理要求</a:t>
            </a:r>
          </a:p>
        </p:txBody>
      </p:sp>
      <p:sp>
        <p:nvSpPr>
          <p:cNvPr id="20" name="TextBox 19"/>
          <p:cNvSpPr txBox="1"/>
          <p:nvPr/>
        </p:nvSpPr>
        <p:spPr>
          <a:xfrm>
            <a:off x="5486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考核指标红黄绿与督办、班长绩效按责任书季度初评、班员系数由履职证据推导，考评公开、留痕、可追溯</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集团安全生产责任制与基层减负要求</a:t>
            </a:r>
          </a:p>
        </p:txBody>
      </p:sp>
      <p:sp>
        <p:nvSpPr>
          <p:cNvPr id="24" name="TextBox 23"/>
          <p:cNvSpPr txBox="1"/>
          <p:nvPr/>
        </p:nvSpPr>
        <p:spPr>
          <a:xfrm>
            <a:off x="44348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“有授权才派工、票审过才开工、完工才回写”的刚性流程把安全责任落到班组一级；文稿逐段生成，班组长每月事务性用时减少约 25 小时</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集团人力资源数智化创新与人工智能应用（大瓦特）要求</a:t>
            </a:r>
          </a:p>
        </p:txBody>
      </p:sp>
      <p:sp>
        <p:nvSpPr>
          <p:cNvPr id="28" name="TextBox 27"/>
          <p:cNvSpPr txBox="1"/>
          <p:nvPr/>
        </p:nvSpPr>
        <p:spPr>
          <a:xfrm>
            <a:off x="83210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 AI 助手依托公司电力人工智能创新平台，人在回路、结论由人确认，形成可复制的班组级人工智能应用样板</a:t>
            </a:r>
          </a:p>
        </p:txBody>
      </p:sp>
      <p:sp>
        <p:nvSpPr>
          <p:cNvPr id="29" name="Rectangle 28"/>
          <p:cNvSpPr/>
          <p:nvPr/>
        </p:nvSpPr>
        <p:spPr>
          <a:xfrm>
            <a:off x="320040" y="571500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0040" y="5715000"/>
            <a:ext cx="91440" cy="5029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5715000"/>
            <a:ext cx="11155680" cy="50292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响应是持续的、可检查的：</a:t>
            </a:r>
          </a:p>
          <a:p>
            <a:pPr algn="l"/>
            <a:r>
              <a:rPr sz="1150" b="0" lang="zh-CN" altLang="en-US">
                <a:solidFill>
                  <a:srgbClr val="262626"/>
                </a:solidFill>
                <a:latin typeface="微软雅黑"/>
                <a:ea typeface="微软雅黑"/>
                <a:cs typeface="微软雅黑"/>
              </a:rPr>
              <a:t>结构化留痕 → 按统一口径向上汇聚 → 按周期自动形成结果，机制见下页，逐项对照表见“三、应用成效”。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成果建成后如何响应公司与集团要求 · 开展示范推广的作用和意义</a:t>
            </a:r>
          </a:p>
        </p:txBody>
      </p:sp>
      <p:sp>
        <p:nvSpPr>
          <p:cNvPr id="5" name="Pentagon 4"/>
          <p:cNvSpPr/>
          <p:nvPr/>
        </p:nvSpPr>
        <p:spPr>
          <a:xfrm>
            <a:off x="320040" y="1371600"/>
            <a:ext cx="3813048"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① 结构化留痕：每次派工 / 审票 / 确认 / 督办 / 调配写入台账与流水</a:t>
            </a:r>
          </a:p>
        </p:txBody>
      </p:sp>
      <p:sp>
        <p:nvSpPr>
          <p:cNvPr id="6" name="Chevron 5"/>
          <p:cNvSpPr/>
          <p:nvPr/>
        </p:nvSpPr>
        <p:spPr>
          <a:xfrm>
            <a:off x="4187952" y="1371600"/>
            <a:ext cx="3813048"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② 按统一口径向上汇聚：人员 · 班组 · 事件三类主题接入人资系统与数据平台</a:t>
            </a:r>
          </a:p>
        </p:txBody>
      </p:sp>
      <p:sp>
        <p:nvSpPr>
          <p:cNvPr id="7" name="Chevron 6"/>
          <p:cNvSpPr/>
          <p:nvPr/>
        </p:nvSpPr>
        <p:spPr>
          <a:xfrm>
            <a:off x="8055864" y="1371600"/>
            <a:ext cx="3813048"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③ 按周期自动形成结果：星级对标 · 授权盘点 · 班长绩效由一次性工作变为周期输出</a:t>
            </a:r>
          </a:p>
        </p:txBody>
      </p:sp>
      <p:graphicFrame>
        <p:nvGraphicFramePr>
          <p:cNvPr id="8" name="Table 7"/>
          <p:cNvGraphicFramePr>
            <a:graphicFrameLocks noGrp="1"/>
          </p:cNvGraphicFramePr>
          <p:nvPr/>
        </p:nvGraphicFramePr>
        <p:xfrm>
          <a:off x="320040" y="2103120"/>
          <a:ext cx="11548872" cy="3364992"/>
        </p:xfrm>
        <a:graphic>
          <a:graphicData uri="http://schemas.openxmlformats.org/drawingml/2006/table">
            <a:tbl>
              <a:tblPr firstRow="0" bandRow="0">
                <a:tableStyleId>{2D5ABB26-0587-4C30-8999-92F81FD0307C}</a:tableStyleId>
              </a:tblPr>
              <a:tblGrid>
                <a:gridCol w="2286000"/>
                <a:gridCol w="5486400"/>
                <a:gridCol w="3776472"/>
              </a:tblGrid>
              <a:tr h="347472">
                <a:tc>
                  <a:txBody>
                    <a:bodyPr wrap="square"/>
                    <a:lstStyle/>
                    <a:p>
                      <a:pPr>
                        <a:lnSpc>
                          <a:spcPct val="108000"/>
                        </a:lnSpc>
                      </a:pPr>
                      <a:r>
                        <a:rPr sz="1000" b="1" lang="zh-CN" altLang="en-US">
                          <a:solidFill>
                            <a:srgbClr val="FFFFFF"/>
                          </a:solidFill>
                          <a:latin typeface="微软雅黑"/>
                          <a:ea typeface="微软雅黑"/>
                          <a:cs typeface="微软雅黑"/>
                        </a:rPr>
                        <a:t>公司与集团要求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班组层派工、审票、授权确认、绩效确认、督办、调配全部写入操作流水与台账，按人员、班组、事件三类主题统一口径接入人资系统与数据平台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技能人才队伍建设与作业授权管理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42 个模块的授权状态、核心业务自主实施能力、断层风险按月形成报表报主管，支撑作业授权复审与技能人才评聘</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个维度的初步评分、必备条件核对、差距指标与提升措施按月自动形成，当前等级与距目标分随台账实时变化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考核指标实时红黄绿并督办；班长绩效按责任书季度自动取数初评；班员系数逐人确认、分配表留痕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安全生产责任制与基层减负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两票审核、作业授权、断层风险、关键节点在派工环节前置把关；文稿逐段生成、关怀主动提示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派工理由表、两票审核记录、关键节点闭环记录；每月事务性用时减少约 25 小时的流水证据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人工智能应用与数据安全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助手人在回路、每次确认留名留痕；内网部署、数据不出域、角色分级授权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9" name="Rectangle 8"/>
          <p:cNvSpPr/>
          <p:nvPr/>
        </p:nvSpPr>
        <p:spPr>
          <a:xfrm>
            <a:off x="320040" y="5623560"/>
            <a:ext cx="11548872"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5623560"/>
            <a:ext cx="91440" cy="621792"/>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5623560"/>
            <a:ext cx="11155680" cy="621792"/>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开展示范推广的作用和意义：</a:t>
            </a:r>
          </a:p>
          <a:p>
            <a:pPr algn="l">
              <a:lnSpc>
                <a:spcPct val="115000"/>
              </a:lnSpc>
            </a:pPr>
            <a:r>
              <a:rPr sz="1150" b="0" lang="zh-CN" altLang="en-US">
                <a:solidFill>
                  <a:srgbClr val="262626"/>
                </a:solidFill>
                <a:latin typeface="微软雅黑"/>
                <a:ea typeface="微软雅黑"/>
                <a:cs typeface="微软雅黑"/>
              </a:rPr>
              <a:t>公司对班组建设、人才队伍、绩效管理、安全生产与基层减负的要求在班组一级有了持续响应的机制；以配置化方式复制到配网、变电、输电专业班组，为公司提供可复制的班组级数字化样板。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大模型：自然语言问答 · 文稿逐段生成 · 诊断归因 · 经验整理</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派工四规则 · 断层判定 · 绩效系数 · 考核红黄绿 · 班长计分，可配置、可解释</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指标层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星级评价 20 维 · 作业授权 42 模块 · 综合画像 5 项 / 专业画像 9 项 · 考评口径</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数据底座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十七张班组台账，统一人员与班组主键，每个数字可回溯</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围绕班组长“派得准、带得好、评得公、管得住”和部门“看得全、督得到、配得动”的诉求组织功能</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系统给出依据与建议，班组长和管理者作出决定；涉及人的结论一律确认后生效、留名留痕</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页面只读状态层、按钮只写状态层，流程不预设，每一个动作都改变后面每一页的数字</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画像、看板、文稿中的每个数字可点开回溯至台账原始行</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依托公司自主平台建设，内网部署，数据不出域，角色分级授权</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一句话：</a:t>
            </a:r>
          </a:p>
          <a:p>
            <a:pPr algn="l"/>
            <a:r>
              <a:rPr sz="1200" b="0" lang="zh-CN" altLang="en-US">
                <a:solidFill>
                  <a:srgbClr val="262626"/>
                </a:solidFill>
                <a:latin typeface="微软雅黑"/>
                <a:ea typeface="微软雅黑"/>
                <a:cs typeface="微软雅黑"/>
              </a:rPr>
              <a:t>把分散在各系统的班组数据归集为统一台账，在台账之上建指标、立规则、用大模型，让班组长回到判断与确认。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数据归集</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模型构建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工时、资质证书、作业授权认证、任务、缺陷、两票、周报指标、工作量（工分）、违章、安全活动、荣誉、培训（含学时）、派工记录、跨班组调配、值班、通知、操作流水建立十七张台账，统一人员与班组主键。</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依据《技能类岗位胜任能力评价作业授权认证表》（7 个技能单元 42 个模块）、岗位说明书九项与通用素质模型五项、《星级班组评价标准》20 个维度、2026 年度业绩责任书三个维度、工分制考核办法建立指标与评分规则，每项明确来源、阈值、用途和确认人。</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班组长端按“班组整体—人员情况—日常业务”故事线组织 12 页；管理者端覆盖考核指标、班组横向对比、团队画像总览、班长绩效、人员总览、结构对比、团队风险画像、员工关怀、分析参谋 9 页。</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完工后工时、两票、缺陷、关键节点与实操量回写本人画像，考评与荣誉进入培养对象排序，帮扶活动改变星级得分；管理者的督办、提醒、调配、轮岗建议全部落到班组长的通知或确认，每一次确认写入操作流水。</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评审演示为单文件离线高保真原型（双击即开，不依赖外部网络）；正式部署依托公司电力人工智能创新平台与云景自助分析工具，数据经接口对接公司现有系统。</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原则：系统给依据与建议，班组长和管理者作决定；页面只读状态层、按钮只写状态层，流程不预设。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1828800"/>
                <a:gridCol w="2834640"/>
                <a:gridCol w="201168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来源系统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人员、证书、作业授权、学时、考勤、绩效、工分制考核</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画像、授权认证、绩效系数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OMS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缺陷与工单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任务池、核心业务管控、业务量趋势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OCS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终端在线状态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核心业务管控指标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电网管理平台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两票与作业计划、违章记录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审票、派工冲突、风险</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党建管理系统 / 荣誉台账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党建、集体与个人荣誉</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班组名片、星级评价、培养排序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运行周报 / 年度业绩责任书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运行指标、考核指标目标值与评分标准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考核指标红黄绿、班长绩效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十七张班组台账</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工时</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资质证书</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作业授权认证</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任务</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缺陷</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两票</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周报指标</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工作量（工分）</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违章</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安全活动</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荣誉</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培训</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派工记录</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跨班组调配</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值班</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通知</a:t>
            </a:r>
          </a:p>
        </p:txBody>
      </p:sp>
      <p:sp>
        <p:nvSpPr>
          <p:cNvPr id="23" name="Rectangle 22"/>
          <p:cNvSpPr/>
          <p:nvPr/>
        </p:nvSpPr>
        <p:spPr>
          <a:xfrm>
            <a:off x="7178040" y="3529584"/>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操作流水</a:t>
            </a:r>
          </a:p>
        </p:txBody>
      </p:sp>
      <p:sp>
        <p:nvSpPr>
          <p:cNvPr id="24" name="Rectangle 23"/>
          <p:cNvSpPr/>
          <p:nvPr/>
        </p:nvSpPr>
        <p:spPr>
          <a:xfrm>
            <a:off x="7178040" y="406908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数据结构：三类主题</a:t>
            </a:r>
          </a:p>
        </p:txBody>
      </p:sp>
      <p:sp>
        <p:nvSpPr>
          <p:cNvPr id="25" name="Rectangle 24"/>
          <p:cNvSpPr/>
          <p:nvPr/>
        </p:nvSpPr>
        <p:spPr>
          <a:xfrm>
            <a:off x="7178040" y="4526280"/>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人员</a:t>
            </a:r>
          </a:p>
        </p:txBody>
      </p:sp>
      <p:sp>
        <p:nvSpPr>
          <p:cNvPr id="26" name="Rectangle 25"/>
          <p:cNvSpPr/>
          <p:nvPr/>
        </p:nvSpPr>
        <p:spPr>
          <a:xfrm>
            <a:off x="8183879" y="4526280"/>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5320" y="4526280"/>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证书、作业授权、工时、工作量、作业、两票、绩效、荣誉</a:t>
            </a:r>
          </a:p>
        </p:txBody>
      </p:sp>
      <p:sp>
        <p:nvSpPr>
          <p:cNvPr id="28" name="Rectangle 27"/>
          <p:cNvSpPr/>
          <p:nvPr/>
        </p:nvSpPr>
        <p:spPr>
          <a:xfrm>
            <a:off x="7178040" y="5093208"/>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班组</a:t>
            </a:r>
          </a:p>
        </p:txBody>
      </p:sp>
      <p:sp>
        <p:nvSpPr>
          <p:cNvPr id="29" name="Rectangle 28"/>
          <p:cNvSpPr/>
          <p:nvPr/>
        </p:nvSpPr>
        <p:spPr>
          <a:xfrm>
            <a:off x="8183879" y="5093208"/>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5093208"/>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核心指标、星级评价、考核指标、风险</a:t>
            </a:r>
          </a:p>
        </p:txBody>
      </p:sp>
      <p:sp>
        <p:nvSpPr>
          <p:cNvPr id="31" name="Rectangle 30"/>
          <p:cNvSpPr/>
          <p:nvPr/>
        </p:nvSpPr>
        <p:spPr>
          <a:xfrm>
            <a:off x="7178040" y="5660136"/>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事件流水</a:t>
            </a:r>
          </a:p>
        </p:txBody>
      </p:sp>
      <p:sp>
        <p:nvSpPr>
          <p:cNvPr id="32" name="Rectangle 31"/>
          <p:cNvSpPr/>
          <p:nvPr/>
        </p:nvSpPr>
        <p:spPr>
          <a:xfrm>
            <a:off x="8183879" y="5660136"/>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75320" y="5660136"/>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 → 审票 → 开工 → 回传 → 完工 → 验收、授权确认、调配确认</a:t>
            </a:r>
          </a:p>
        </p:txBody>
      </p:sp>
      <p:sp>
        <p:nvSpPr>
          <p:cNvPr id="34" name="TextBox 33"/>
          <p:cNvSpPr txBox="1"/>
          <p:nvPr/>
        </p:nvSpPr>
        <p:spPr>
          <a:xfrm>
            <a:off x="320040" y="5897880"/>
            <a:ext cx="11521440" cy="41148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数据取自公司现有系统，不增加班组数据采集负担；画像、看板、文稿中的每个数字均可点开回溯至台账原始行。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高效班组管理助手_技术与数据架构.png"/>
          <p:cNvPicPr>
            <a:picLocks noChangeAspect="1"/>
          </p:cNvPicPr>
          <p:nvPr/>
        </p:nvPicPr>
        <p:blipFill>
          <a:blip r:embed="rId3"/>
          <a:stretch>
            <a:fillRect/>
          </a:stretch>
        </p:blipFill>
        <p:spPr>
          <a:xfrm>
            <a:off x="320040" y="1371600"/>
            <a:ext cx="8503920" cy="4639951"/>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大瓦特大模型：对话理解、文稿逐段生成、知识问答、诊断归因、经验整理</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云景自助分析工具</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班组画像、指标看板与多维分析图表</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业务规则引擎</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派工校验、断层判定、红黄绿预警、绩效系数推导、班长绩效计分</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知识库</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制度政策、生产技术、行政办公三类条目及班组案例与骨干经验，问答标注出处</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公司内网部署、数据不出域；按角色分级授权、人员信息最小必要展示；全部操作记入流水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班组长端</a:t>
            </a:r>
          </a:p>
        </p:txBody>
      </p:sp>
      <p:sp>
        <p:nvSpPr>
          <p:cNvPr id="5" name="Rectangle 4"/>
          <p:cNvSpPr/>
          <p:nvPr/>
        </p:nvSpPr>
        <p:spPr>
          <a:xfrm>
            <a:off x="320040" y="1371600"/>
            <a:ext cx="3931920" cy="8229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班组整体</a:t>
            </a:r>
          </a:p>
        </p:txBody>
      </p:sp>
      <p:sp>
        <p:nvSpPr>
          <p:cNvPr id="7" name="Rectangle 6"/>
          <p:cNvSpPr/>
          <p:nvPr/>
        </p:nvSpPr>
        <p:spPr>
          <a:xfrm>
            <a:off x="1554480" y="146304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班组画像</a:t>
            </a:r>
          </a:p>
        </p:txBody>
      </p:sp>
      <p:sp>
        <p:nvSpPr>
          <p:cNvPr id="8" name="TextBox 7"/>
          <p:cNvSpPr txBox="1"/>
          <p:nvPr/>
        </p:nvSpPr>
        <p:spPr>
          <a:xfrm>
            <a:off x="1554480" y="1847088"/>
            <a:ext cx="2651760" cy="320040"/>
          </a:xfrm>
          <a:prstGeom prst="rect">
            <a:avLst/>
          </a:prstGeom>
          <a:noFill/>
        </p:spPr>
        <p:txBody>
          <a:bodyPr wrap="square" anchor="t" lIns="45720" rIns="45720" tIns="27432" bIns="27432">
            <a:spAutoFit/>
          </a:bodyPr>
          <a:lstStyle/>
          <a:p>
            <a:pPr algn="l"/>
            <a:r>
              <a:rPr sz="950" b="0" lang="zh-CN" altLang="en-US">
                <a:solidFill>
                  <a:srgbClr val="595959"/>
                </a:solidFill>
                <a:latin typeface="微软雅黑"/>
                <a:ea typeface="微软雅黑"/>
                <a:cs typeface="微软雅黑"/>
              </a:rPr>
              <a:t>名片荣誉 · 核心 KPI · 核心业务管控 · 星级规划</a:t>
            </a:r>
          </a:p>
        </p:txBody>
      </p:sp>
      <p:sp>
        <p:nvSpPr>
          <p:cNvPr id="9" name="Rectangle 8"/>
          <p:cNvSpPr/>
          <p:nvPr/>
        </p:nvSpPr>
        <p:spPr>
          <a:xfrm>
            <a:off x="320040" y="23317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242316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人员情况</a:t>
            </a:r>
          </a:p>
        </p:txBody>
      </p:sp>
      <p:sp>
        <p:nvSpPr>
          <p:cNvPr id="11" name="Rectangle 10"/>
          <p:cNvSpPr/>
          <p:nvPr/>
        </p:nvSpPr>
        <p:spPr>
          <a:xfrm>
            <a:off x="155448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班员画像</a:t>
            </a:r>
          </a:p>
        </p:txBody>
      </p:sp>
      <p:sp>
        <p:nvSpPr>
          <p:cNvPr id="12" name="Rectangle 11"/>
          <p:cNvSpPr/>
          <p:nvPr/>
        </p:nvSpPr>
        <p:spPr>
          <a:xfrm>
            <a:off x="288036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授权认证</a:t>
            </a:r>
          </a:p>
        </p:txBody>
      </p:sp>
      <p:sp>
        <p:nvSpPr>
          <p:cNvPr id="13" name="Rectangle 12"/>
          <p:cNvSpPr/>
          <p:nvPr/>
        </p:nvSpPr>
        <p:spPr>
          <a:xfrm>
            <a:off x="155448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培养与梯队</a:t>
            </a:r>
          </a:p>
        </p:txBody>
      </p:sp>
      <p:sp>
        <p:nvSpPr>
          <p:cNvPr id="14" name="Rectangle 13"/>
          <p:cNvSpPr/>
          <p:nvPr/>
        </p:nvSpPr>
        <p:spPr>
          <a:xfrm>
            <a:off x="288036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绩效与激励</a:t>
            </a:r>
          </a:p>
        </p:txBody>
      </p:sp>
      <p:sp>
        <p:nvSpPr>
          <p:cNvPr id="15" name="Rectangle 14"/>
          <p:cNvSpPr/>
          <p:nvPr/>
        </p:nvSpPr>
        <p:spPr>
          <a:xfrm>
            <a:off x="155448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关怀与文化</a:t>
            </a:r>
          </a:p>
        </p:txBody>
      </p:sp>
      <p:sp>
        <p:nvSpPr>
          <p:cNvPr id="16" name="Rectangle 15"/>
          <p:cNvSpPr/>
          <p:nvPr/>
        </p:nvSpPr>
        <p:spPr>
          <a:xfrm>
            <a:off x="288036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分析参谋</a:t>
            </a:r>
          </a:p>
        </p:txBody>
      </p:sp>
      <p:sp>
        <p:nvSpPr>
          <p:cNvPr id="17" name="Rectangle 16"/>
          <p:cNvSpPr/>
          <p:nvPr/>
        </p:nvSpPr>
        <p:spPr>
          <a:xfrm>
            <a:off x="320040" y="41605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1480" y="4251959"/>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日常业务</a:t>
            </a:r>
          </a:p>
        </p:txBody>
      </p:sp>
      <p:sp>
        <p:nvSpPr>
          <p:cNvPr id="19" name="Rectangle 18"/>
          <p:cNvSpPr/>
          <p:nvPr/>
        </p:nvSpPr>
        <p:spPr>
          <a:xfrm>
            <a:off x="155448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今日工作台</a:t>
            </a:r>
          </a:p>
        </p:txBody>
      </p:sp>
      <p:sp>
        <p:nvSpPr>
          <p:cNvPr id="20" name="Rectangle 19"/>
          <p:cNvSpPr/>
          <p:nvPr/>
        </p:nvSpPr>
        <p:spPr>
          <a:xfrm>
            <a:off x="288036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用工安排</a:t>
            </a:r>
          </a:p>
        </p:txBody>
      </p:sp>
      <p:sp>
        <p:nvSpPr>
          <p:cNvPr id="21" name="Rectangle 20"/>
          <p:cNvSpPr/>
          <p:nvPr/>
        </p:nvSpPr>
        <p:spPr>
          <a:xfrm>
            <a:off x="155448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知识库</a:t>
            </a:r>
          </a:p>
        </p:txBody>
      </p:sp>
      <p:sp>
        <p:nvSpPr>
          <p:cNvPr id="22" name="Rectangle 21"/>
          <p:cNvSpPr/>
          <p:nvPr/>
        </p:nvSpPr>
        <p:spPr>
          <a:xfrm>
            <a:off x="288036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台账中心</a:t>
            </a:r>
          </a:p>
        </p:txBody>
      </p:sp>
      <p:sp>
        <p:nvSpPr>
          <p:cNvPr id="23" name="Rectangle 22"/>
          <p:cNvSpPr/>
          <p:nvPr/>
        </p:nvSpPr>
        <p:spPr>
          <a:xfrm>
            <a:off x="1554480" y="5294375"/>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问小瓦特</a:t>
            </a:r>
          </a:p>
        </p:txBody>
      </p:sp>
      <p:sp>
        <p:nvSpPr>
          <p:cNvPr id="24" name="TextBox 23"/>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每页底部有颜色说明；右侧小瓦特面板常驻；顶部指令栏可直接输入要办的事。</a:t>
            </a:r>
          </a:p>
        </p:txBody>
      </p:sp>
      <p:pic>
        <p:nvPicPr>
          <p:cNvPr id="25" name="Picture 24" descr="sb_team.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26" name="TextBox 25"/>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班组画像：名片荣誉 · 核心 KPI（班长责任书四项）· 核心业务管控 · 星级评价与班组发展规划 · 20 维度表 · 提升措施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派工推荐与作业授权认证</a:t>
            </a:r>
          </a:p>
        </p:txBody>
      </p:sp>
      <p:pic>
        <p:nvPicPr>
          <p:cNvPr id="5" name="Picture 4" descr="sb_hom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今日工作台 · 派工推荐</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四条规则逐人判定：持有作业所需证书；对应 ★ 模块已授权；本周外勤 ≤ 24 小时（班组约定）；当日无冲突作业。班长不列入、休假不派、学员随队。展开后逐人显示推荐 / 随队 / 排除及理由，理由随派工单存档，工作票与班前会材料随单起草。</a:t>
            </a:r>
          </a:p>
        </p:txBody>
      </p:sp>
      <p:pic>
        <p:nvPicPr>
          <p:cNvPr id="9" name="Picture 8" descr="sb_aut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授权认证 · 班员画像</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《作业授权认证表》7 个技能单元 42 个模块逐人逐格确认授权、培训中、撤销，缺证不能确认；核心业务自主实施能力 = 已授权 ★ 模块 ÷ 本岗级应授权 ★ 模块；★ 模块断层风险（已授权 ≤ 2 人）一键排带教取证；确认本期授权报主管。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管理者端</a:t>
            </a:r>
          </a:p>
        </p:txBody>
      </p:sp>
      <p:pic>
        <p:nvPicPr>
          <p:cNvPr id="5" name="Picture 4" descr="sb_goal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考核指标 · 督办</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按 2026 年度业绩责任书分分管副总 / 主管 / 班长三个维度，权重、基础值、满分值、评分标准照录；预计得分实时计算，红黄绿按满分值与基础值判定；点行看评分标准，下钻班组，督办直达责任班长。</a:t>
            </a:r>
          </a:p>
        </p:txBody>
      </p:sp>
      <p:pic>
        <p:nvPicPr>
          <p:cNvPr id="9" name="Picture 8" descr="sb_lperf.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班长绩效 · 跨班组调配</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考核指标 50% + 重点任务 10% + 综合评价 40% + 加扣分 + 红线，台账自动取数初评，分档不排名次，确认 → 下发 → 面谈 → 评价意见 → 考评表。跨班组调配：横向对比 → 影响测算 → 发起 → 双方班长确认 → 返岗评价。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成果的原创性、创新点与应用场景创新突破点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经验判断规则化、可解释</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派工四项考量转化为逐人判定规则，班组约定一并纳入，推荐与排除理由随单存档</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六环闭环打通培养、使用与激励</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完工实操量回写授权与画像，画像同时驱动派工推荐、培养排序、绩效系数，一次作业的数据三处复用</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星级标准与授权认证数字化</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20 个评价维度台账驱动实时初评，差距直接生成提升方向；42 个模块逐人逐格可确认，断层风险随确认实时变化</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班组与部门两级同源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共用数据底座，班组长每一步即时反映到管理视图；考核指标与班长绩效照录责任书；跨班组调配五步闭环</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人在回路的 AI 协作</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涉及人的结论一律确认后生效、留名留痕；骨干经验整理为可检索、可引用的知识库条目，经验可传承</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应用场景创新突破点：队伍建设六环闭环</a:t>
            </a:r>
          </a:p>
        </p:txBody>
      </p:sp>
      <p:pic>
        <p:nvPicPr>
          <p:cNvPr id="26" name="Picture 25" descr="高效班组管理助手_队伍建设六环闭环.png"/>
          <p:cNvPicPr>
            <a:picLocks noChangeAspect="1"/>
          </p:cNvPicPr>
          <p:nvPr/>
        </p:nvPicPr>
        <p:blipFill>
          <a:blip r:embed="rId3"/>
          <a:stretch>
            <a:fillRect/>
          </a:stretch>
        </p:blipFill>
        <p:spPr>
          <a:xfrm>
            <a:off x="6080760" y="1828800"/>
            <a:ext cx="5788152" cy="1910090"/>
          </a:xfrm>
          <a:prstGeom prst="rect">
            <a:avLst/>
          </a:prstGeom>
          <a:ln w="9525">
            <a:solidFill>
              <a:srgbClr val="BFBFBF"/>
            </a:solidFill>
          </a:ln>
        </p:spPr>
      </p:pic>
      <p:sp>
        <p:nvSpPr>
          <p:cNvPr id="27" name="Rectangle 26"/>
          <p:cNvSpPr/>
          <p:nvPr/>
        </p:nvSpPr>
        <p:spPr>
          <a:xfrm>
            <a:off x="6080760" y="3876050"/>
            <a:ext cx="5788152" cy="23418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921770"/>
            <a:ext cx="5605272" cy="2250429"/>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一次作业 → 三处复用：完工回写实操量 → 作业授权与画像 → 派工推荐 / 培养对象排序 / 绩效系数；考评与荣誉进入培养排序，帮扶活动改变星级得分，队伍能力随日常工作持续生长。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224528"/>
        </p:xfrm>
        <a:graphic>
          <a:graphicData uri="http://schemas.openxmlformats.org/drawingml/2006/table">
            <a:tbl>
              <a:tblPr firstRow="0" bandRow="0">
                <a:tableStyleId>{2D5ABB26-0587-4C30-8999-92F81FD0307C}</a:tableStyleId>
              </a:tblPr>
              <a:tblGrid>
                <a:gridCol w="1463040"/>
                <a:gridCol w="365760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派工决策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分别核对证书台账、作业授权认证表、工时记录与作业计划，依经验判断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一屏给出逐人判定与推荐、随队、排除理由，理由随派工单存档</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30 分钟 → 5 分钟以内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月度绩效考评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人工汇总工时、工作量、学时、荣誉、带徒等履职记录后评定系数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系数由五类履职证据与工分台账自动推导，证据逐条带出处，一键生成分配表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星级班组自评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对照评价标准分册逐项翻查台账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20 个维度台账驱动实时初评并标红黄绿，差距指标与提升方向一页呈现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半天以内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作业授权盘点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按认证表逐人逐格人工核对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42 个模块逐格确认，缺证不能确认，断层风险实时计算、一键排带教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班组文稿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班前会材料、月度总结、分配表、面谈提纲手工汇编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逐段生成，每个数字可追溯至台账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月度总结 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季度班长考评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人工对照责任书汇总三位班长的指标与任务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按责任书“50 + 10 + 40 + 加扣分 + 红线”自动取数初评，分档不排名次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2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风险防控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证书到期、技能断层、敏感岗位轮岗事后发现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证书到期前 90 天预警；★ 模块已授权 ≤ 2 人自动识别为断层并排带教；班长任职满 5 年提示轮岗</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事后发现 → 提前处置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注：按试点班组现行业务频次测算；演示数据按班组真实业务框架脱敏构建。</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班组长事务性用时减少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找数、抄数、排版回到判断与确认</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月</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释放回现场与培养</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相当于每月多出三个工作日用于现场管理和人员培养</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季</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部门汇总分析用时减少</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指标、对比、结构、风险报告逐段生成</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83</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单次派工决策时间下降</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30 分钟降至 5 分钟以内，理由随单存档</a:t>
            </a:r>
          </a:p>
        </p:txBody>
      </p:sp>
      <p:sp>
        <p:nvSpPr>
          <p:cNvPr id="25" name="Rectangle 24"/>
          <p:cNvSpPr/>
          <p:nvPr/>
        </p:nvSpPr>
        <p:spPr>
          <a:xfrm>
            <a:off x="320040" y="3474720"/>
            <a:ext cx="6949440" cy="27889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6" name="Chart 25"/>
          <p:cNvGraphicFramePr>
            <a:graphicFrameLocks noGrp="1"/>
          </p:cNvGraphicFramePr>
          <p:nvPr/>
        </p:nvGraphicFramePr>
        <p:xfrm>
          <a:off x="411480" y="3520440"/>
          <a:ext cx="6766560" cy="2697480"/>
        </p:xfrm>
        <a:graphic>
          <a:graphicData uri="http://schemas.openxmlformats.org/drawingml/2006/chart">
            <c:chart xmlns:c="http://schemas.openxmlformats.org/drawingml/2006/chart" r:id="rId3"/>
          </a:graphicData>
        </a:graphic>
      </p:graphicFrame>
      <p:sp>
        <p:nvSpPr>
          <p:cNvPr id="27" name="Rectangle 26"/>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8" name="Rectangle 27"/>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依据留痕、公平透明</a:t>
            </a:r>
          </a:p>
        </p:txBody>
      </p:sp>
      <p:sp>
        <p:nvSpPr>
          <p:cNvPr id="31" name="TextBox 30"/>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派工、考评、授权、调配的依据全程留痕，队伍建设由经验驱动转为数据驱动</a:t>
            </a:r>
          </a:p>
        </p:txBody>
      </p:sp>
      <p:sp>
        <p:nvSpPr>
          <p:cNvPr id="32" name="Rectangle 31"/>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5" name="TextBox 34"/>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骨干经验与案例进入知识库，问答带出处，新员工培养有路径</a:t>
            </a:r>
          </a:p>
        </p:txBody>
      </p:sp>
      <p:sp>
        <p:nvSpPr>
          <p:cNvPr id="36" name="Rectangle 35"/>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安全前置、风险提前</a:t>
            </a:r>
          </a:p>
        </p:txBody>
      </p:sp>
      <p:sp>
        <p:nvSpPr>
          <p:cNvPr id="39" name="TextBox 38"/>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证书到期、断层风险、敏感岗位轮岗提前处置，安全责任落到班组一级</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对南方电网集团要求的响应：成果投运后的机制与可检查的输出（逐项对照）</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班组层派工、审票、授权确认、绩效确认、督办、调配全部结构化留痕，按人员、班组、事件三类主题统一口径接入人资系统与数据平台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认证表 42 个模块逐人逐格确认，核心业务自主实施能力实时计算；师带徒、骨干培养、后备梯队纳入台账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月度授权状态报表报主管、带教取证任务、骨干培养计划、后备梯队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个评价维度台账驱动实时初评，当前等级、目标等级、距目标分、必备条件、差距指标按周期自动形成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考核指标三维度照录责任书实时红黄绿并督办；班长绩效季度自动取数初评、分档不排名次；班员系数由履职证据与工分推导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两票审核、作业授权、断层风险、违章与关键节点在派工环节前置把关；关键节点 19 项逐周闭环；安全与帮扶活动回写星级得分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基层减负与员工关怀</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班前会材料、月度总结、分配表、面谈提纲、诊断与参谋报告逐段生成；关键年份、谈心回访、高强度外勤主动提示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每月事务性用时减少约 25 小时的操作流水证据、关怀提醒与面谈记录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人力资源数智化创新与人工智能应用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助手依托电力人工智能创新平台与大瓦特大模型，查数、决策依据、文稿、诊断、经验整理五类能力，人在回路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内网部署、数据不出域；角色分级授权、人员信息最小必要展示；涉及人的结论由班组长或部门确认后生效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光明供电局配网资产部三个班组 31 人，班组长与部门管理者两类用户，覆盖班组整体、人员情况、日常业务与部门的业务、管理两条主线</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班组长端 12 页、管理者端 9 页、十七张台账、派工与考评规则、作业授权认证表、星级评价初评模型已完成，单文件离线原型可演示；每一次确认留名留痕</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人资系统、OMS、OCS、电网管理平台、党建与荣誉台账的接口口径已明确，取自公司现有系统，不增加班组数据采集负担</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年四季度在三个班组试点运行；按月形成授权状态、星级差距、班长绩效三类报表报主管；非台账维度的初步得分与另外两个班组底数待客户确认</a:t>
            </a:r>
          </a:p>
        </p:txBody>
      </p:sp>
      <p:pic>
        <p:nvPicPr>
          <p:cNvPr id="17" name="Picture 16" descr="sb_ask.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问小瓦特 · 班组长 AI 助手</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查数配图、决策依据、文稿逐段生成、诊断归因、经验整理五类问法；数字类回答同步配图，名单可下钻；涉及人员评价的结论标注“由班组长确认后使用”；语音为辅，所有语音路径都有等价的点击路径。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部门试点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光明供电局配网资产部三个班组试点运行，形成第一轮运行数据与口径修订</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推广至深圳供电局配网专业班组，完成变电、输电专业口径配置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网省推广</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具备向网内其他单位推广的条件，形成公司级班组管理产品</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各供电局配网、变电、输电等专业生产班组的班组长及所在部门管理者</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配置化复制：认证表、星级分册、责任书指标、派工规则与班组约定、考评权重均为可配置口径，数据底座、规则框架与页面框架不变；页面与模型按模块组织，可按场景开关</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班组长每月事务性用时减少约 25 小时；派工、考评、授权、调配依据全程留痕；各班组星级对标与授权盘点按周期自动形成；队伍建设由经验驱动转为数据驱动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班组数据一次产生、局级公司级复用，星级对标、授权盘点、班长考评由一次性工作变为按周期自动形成</a:t>
            </a:r>
          </a:p>
        </p:txBody>
      </p:sp>
      <p:sp>
        <p:nvSpPr>
          <p:cNvPr id="9" name="Rectangle 8"/>
          <p:cNvSpPr/>
          <p:nvPr/>
        </p:nvSpPr>
        <p:spPr>
          <a:xfrm>
            <a:off x="320040" y="333756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33756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33756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技能人才培养有依据、安全责任落到班组一级、基层减负有数据可证、骨干经验可传承</a:t>
            </a:r>
          </a:p>
        </p:txBody>
      </p:sp>
      <p:sp>
        <p:nvSpPr>
          <p:cNvPr id="12" name="Rectangle 11"/>
          <p:cNvSpPr/>
          <p:nvPr/>
        </p:nvSpPr>
        <p:spPr>
          <a:xfrm>
            <a:off x="320040" y="480060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80060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80060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可配置复制到配网、变电、输电专业班组，形成公司级班组管理产品与班组级 AI 助手样板</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13969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接入人资系统、OMS、OCS、电网管理平台、党建系统，班组数据自动归集，班组层数据按统一口径向上汇聚</a:t>
            </a:r>
          </a:p>
        </p:txBody>
      </p:sp>
      <p:sp>
        <p:nvSpPr>
          <p:cNvPr id="20" name="Rectangle 19"/>
          <p:cNvSpPr/>
          <p:nvPr/>
        </p:nvSpPr>
        <p:spPr>
          <a:xfrm>
            <a:off x="5943600" y="2971800"/>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2369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302666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专业扩展</a:t>
            </a:r>
          </a:p>
        </p:txBody>
      </p:sp>
      <p:sp>
        <p:nvSpPr>
          <p:cNvPr id="23" name="TextBox 22"/>
          <p:cNvSpPr txBox="1"/>
          <p:nvPr/>
        </p:nvSpPr>
        <p:spPr>
          <a:xfrm>
            <a:off x="6675120" y="3319272"/>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完成变电、输电专业认证表与岗位说明书口径配置，复制到其他专业班组</a:t>
            </a:r>
          </a:p>
        </p:txBody>
      </p:sp>
      <p:sp>
        <p:nvSpPr>
          <p:cNvPr id="24" name="Rectangle 23"/>
          <p:cNvSpPr/>
          <p:nvPr/>
        </p:nvSpPr>
        <p:spPr>
          <a:xfrm>
            <a:off x="5943600" y="406907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334255"/>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412394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41655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文稿、诊断、参谋能力接入大瓦特大模型在线服务，知识库持续沉淀</a:t>
            </a:r>
          </a:p>
        </p:txBody>
      </p:sp>
      <p:sp>
        <p:nvSpPr>
          <p:cNvPr id="28" name="Rectangle 27"/>
          <p:cNvSpPr/>
          <p:nvPr/>
        </p:nvSpPr>
        <p:spPr>
          <a:xfrm>
            <a:off x="5943600" y="516635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543153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522122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知识沉淀</a:t>
            </a:r>
          </a:p>
        </p:txBody>
      </p:sp>
      <p:sp>
        <p:nvSpPr>
          <p:cNvPr id="31" name="TextBox 30"/>
          <p:cNvSpPr txBox="1"/>
          <p:nvPr/>
        </p:nvSpPr>
        <p:spPr>
          <a:xfrm>
            <a:off x="6675120" y="551383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班组案例与骨干经验整理为可检索条目，形成公司级班组知识库</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开发计划与推广计划同步推进：部门试点 → 全局复制 → 网省推广。</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价值定位：班组强则公司强</a:t>
            </a:r>
          </a:p>
        </p:txBody>
      </p:sp>
      <p:sp>
        <p:nvSpPr>
          <p:cNvPr id="5" name="Rectangle 4"/>
          <p:cNvSpPr/>
          <p:nvPr/>
        </p:nvSpPr>
        <p:spPr>
          <a:xfrm>
            <a:off x="320040" y="1371600"/>
            <a:ext cx="11548872" cy="1188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1188720"/>
          </a:xfrm>
          <a:prstGeom prst="rect">
            <a:avLst/>
          </a:prstGeom>
          <a:noFill/>
        </p:spPr>
        <p:txBody>
          <a:bodyPr wrap="square" anchor="ctr" lIns="45720" rIns="45720" tIns="27432" bIns="27432">
            <a:spAutoFit/>
          </a:bodyPr>
          <a:lstStyle/>
          <a:p>
            <a:pPr algn="ctr">
              <a:lnSpc>
                <a:spcPct val="130000"/>
              </a:lnSpc>
            </a:pPr>
            <a:r>
              <a:rPr sz="2000" b="1" lang="zh-CN" altLang="en-US">
                <a:solidFill>
                  <a:srgbClr val="FFFFFF"/>
                </a:solidFill>
                <a:latin typeface="微软雅黑"/>
                <a:ea typeface="微软雅黑"/>
                <a:cs typeface="微软雅黑"/>
              </a:rPr>
              <a:t>把公司已有的数据在班组这一级变成了派工的理由、考评的证据、建设的差距清单和带队伍的参谋</a:t>
            </a:r>
          </a:p>
        </p:txBody>
      </p:sp>
      <p:sp>
        <p:nvSpPr>
          <p:cNvPr id="7" name="Rectangle 6"/>
          <p:cNvSpPr/>
          <p:nvPr/>
        </p:nvSpPr>
        <p:spPr>
          <a:xfrm>
            <a:off x="3200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对班组长</a:t>
            </a:r>
          </a:p>
        </p:txBody>
      </p:sp>
      <p:sp>
        <p:nvSpPr>
          <p:cNvPr id="8" name="Rectangle 7"/>
          <p:cNvSpPr/>
          <p:nvPr/>
        </p:nvSpPr>
        <p:spPr>
          <a:xfrm>
            <a:off x="3200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31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回到判断与确认。时间从找数、抄数、排版回到现场管理和人员培养，每月减少约 25 小时事务性工作</a:t>
            </a:r>
          </a:p>
        </p:txBody>
      </p:sp>
      <p:sp>
        <p:nvSpPr>
          <p:cNvPr id="10" name="Rectangle 9"/>
          <p:cNvSpPr/>
          <p:nvPr/>
        </p:nvSpPr>
        <p:spPr>
          <a:xfrm>
            <a:off x="42062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对管理者</a:t>
            </a:r>
          </a:p>
        </p:txBody>
      </p:sp>
      <p:sp>
        <p:nvSpPr>
          <p:cNvPr id="11" name="Rectangle 10"/>
          <p:cNvSpPr/>
          <p:nvPr/>
        </p:nvSpPr>
        <p:spPr>
          <a:xfrm>
            <a:off x="42062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2793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每一个决定落到班组长的确认。看得全、督得到、配得动，班长考评与跨班组调配有同源数据</a:t>
            </a:r>
          </a:p>
        </p:txBody>
      </p:sp>
      <p:sp>
        <p:nvSpPr>
          <p:cNvPr id="13" name="Rectangle 12"/>
          <p:cNvSpPr/>
          <p:nvPr/>
        </p:nvSpPr>
        <p:spPr>
          <a:xfrm>
            <a:off x="80924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对公司</a:t>
            </a:r>
          </a:p>
        </p:txBody>
      </p:sp>
      <p:sp>
        <p:nvSpPr>
          <p:cNvPr id="14" name="Rectangle 13"/>
          <p:cNvSpPr/>
          <p:nvPr/>
        </p:nvSpPr>
        <p:spPr>
          <a:xfrm>
            <a:off x="80924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655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班组数据按统一口径向上汇聚，星级对标与授权盘点按周期自动形成，班长绩效按责任书自动取数，形成可复制的班组级数字化样板</a:t>
            </a:r>
          </a:p>
        </p:txBody>
      </p:sp>
      <p:sp>
        <p:nvSpPr>
          <p:cNvPr id="16" name="Rectangle 15"/>
          <p:cNvSpPr/>
          <p:nvPr/>
        </p:nvSpPr>
        <p:spPr>
          <a:xfrm>
            <a:off x="320040" y="5303520"/>
            <a:ext cx="11548872"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0040" y="5303520"/>
            <a:ext cx="91440" cy="91440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5303520"/>
            <a:ext cx="11064240" cy="914400"/>
          </a:xfrm>
          <a:prstGeom prst="rect">
            <a:avLst/>
          </a:prstGeom>
          <a:noFill/>
        </p:spPr>
        <p:txBody>
          <a:bodyPr wrap="square" anchor="ctr" lIns="45720" rIns="45720" tIns="27432" bIns="27432">
            <a:spAutoFit/>
          </a:bodyPr>
          <a:lstStyle/>
          <a:p>
            <a:pPr algn="l">
              <a:lnSpc>
                <a:spcPct val="115000"/>
              </a:lnSpc>
            </a:pPr>
            <a:r>
              <a:rPr sz="1400" b="1" lang="zh-CN" altLang="en-US">
                <a:solidFill>
                  <a:srgbClr val="002060"/>
                </a:solidFill>
                <a:latin typeface="微软雅黑"/>
                <a:ea typeface="微软雅黑"/>
                <a:cs typeface="微软雅黑"/>
              </a:rPr>
              <a:t>让数字化转型在公司最基层的生产组织里持续运转。</a:t>
            </a:r>
          </a:p>
          <a:p>
            <a:pPr algn="l">
              <a:lnSpc>
                <a:spcPct val="115000"/>
              </a:lnSpc>
            </a:pPr>
            <a:r>
              <a:rPr sz="1150" b="0" lang="zh-CN" altLang="en-US">
                <a:solidFill>
                  <a:srgbClr val="262626"/>
                </a:solidFill>
                <a:latin typeface="微软雅黑"/>
                <a:ea typeface="微软雅黑"/>
                <a:cs typeface="微软雅黑"/>
              </a:rPr>
              <a:t>投运后班组数据按统一口径向上汇聚、星级对标与授权盘点按周期自动形成、班长绩效按责任书自动取数，公司对班组建设、人才队伍、绩效管理、安全生产与基层减负的要求在班组一级有了持续响应的机制。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提出业务需求与规则口径；组织班组长、部门管理者参与验证；确认指标阈值与评价口径</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负责数据归集、指标模型与业务规则实现、平台对接与内网部署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业务单位：光明供电局配网资产部</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