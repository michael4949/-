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handoutMasterIdLst>
    <p:handoutMasterId r:id="rId16"/>
  </p:handoutMasterIdLst>
  <p:sldIdLst>
    <p:sldId id="7593" r:id="rId2"/>
    <p:sldId id="7594" r:id="rId3"/>
    <p:sldId id="7781" r:id="rId4"/>
    <p:sldId id="8563" r:id="rId22"/>
    <p:sldId id="8564" r:id="rId23"/>
    <p:sldId id="8565" r:id="rId24"/>
    <p:sldId id="8566" r:id="rId25"/>
    <p:sldId id="8567" r:id="rId26"/>
    <p:sldId id="8568" r:id="rId27"/>
    <p:sldId id="8559" r:id="rId6"/>
    <p:sldId id="8569" r:id="rId28"/>
    <p:sldId id="8570" r:id="rId29"/>
    <p:sldId id="8571" r:id="rId30"/>
    <p:sldId id="8572" r:id="rId31"/>
    <p:sldId id="8573" r:id="rId32"/>
    <p:sldId id="8574" r:id="rId33"/>
    <p:sldId id="8575" r:id="rId34"/>
    <p:sldId id="8576" r:id="rId35"/>
    <p:sldId id="8560" r:id="rId8"/>
    <p:sldId id="8577" r:id="rId36"/>
    <p:sldId id="8578" r:id="rId37"/>
    <p:sldId id="8579" r:id="rId38"/>
    <p:sldId id="8580" r:id="rId39"/>
    <p:sldId id="8561" r:id="rId10"/>
    <p:sldId id="8581" r:id="rId40"/>
    <p:sldId id="8582" r:id="rId41"/>
    <p:sldId id="8583" r:id="rId42"/>
    <p:sldId id="8562" r:id="rId12"/>
    <p:sldId id="8584" r:id="rId43"/>
    <p:sldId id="652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7584">
          <p15:clr>
            <a:srgbClr val="A4A3A4"/>
          </p15:clr>
        </p15:guide>
        <p15:guide id="2" pos="329">
          <p15:clr>
            <a:srgbClr val="A4A3A4"/>
          </p15:clr>
        </p15:guide>
        <p15:guide id="3" orient="horz" pos="114">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包新晔" initials="包新晔" lastIdx="21" clrIdx="0"/>
  <p:cmAuthor id="1" name="常 泽乾" initials="常" lastIdx="7" clrIdx="0"/>
  <p:cmAuthor id="2" name="baogang.xu" initials="b" lastIdx="2" clrIdx="1"/>
  <p:cmAuthor id="3" name="yangyang" initials="y" lastIdx="1" clrIdx="0"/>
  <p:cmAuthor id="4" name="wangsong" initials="w" lastIdx="3" clrIdx="1"/>
  <p:cmAuthor id="5" name="邰璐" initials="邰" lastIdx="9" clrIdx="2"/>
  <p:cmAuthor id="6" name="xijf" initials="x" lastIdx="1" clrIdx="3"/>
  <p:cmAuthor id="7" name="Jiang" initials="J" lastIdx="5" clrIdx="4"/>
  <p:cmAuthor id="8" name="Yang Yingchun" initials="YY" lastIdx="1" clrIdx="7"/>
  <p:cmAuthor id="9" name="Zhan, Grace Haiting" initials="Z" lastIdx="0" clrIdx="7"/>
  <p:cmAuthor id="10" name="于 向东" initials="于" lastIdx="1" clrIdx="8"/>
  <p:cmAuthor id="11" name="Ti, Sarah Bowen" initials="TSB" lastIdx="1" clrIdx="11"/>
  <p:cmAuthor id="12" name="CQ" initials="C" lastIdx="4" clrIdx="1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CDCD"/>
    <a:srgbClr val="2E5495"/>
    <a:srgbClr val="FFFFFF"/>
    <a:srgbClr val="00377B"/>
    <a:srgbClr val="4472C4"/>
    <a:srgbClr val="0070C0"/>
    <a:srgbClr val="A9CAE9"/>
    <a:srgbClr val="DEEBF7"/>
    <a:srgbClr val="00B050"/>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75" autoAdjust="0"/>
    <p:restoredTop sz="88904" autoAdjust="0"/>
  </p:normalViewPr>
  <p:slideViewPr>
    <p:cSldViewPr snapToGrid="0" showGuides="1">
      <p:cViewPr varScale="1">
        <p:scale>
          <a:sx n="112" d="100"/>
          <a:sy n="112" d="100"/>
        </p:scale>
        <p:origin x="1352" y="192"/>
      </p:cViewPr>
      <p:guideLst>
        <p:guide pos="7584"/>
        <p:guide pos="329"/>
        <p:guide orient="horz" pos="114"/>
      </p:guideLst>
    </p:cSldViewPr>
  </p:slideViewPr>
  <p:notesTextViewPr>
    <p:cViewPr>
      <p:scale>
        <a:sx n="150" d="100"/>
        <a:sy n="150" d="100"/>
      </p:scale>
      <p:origin x="0" y="0"/>
    </p:cViewPr>
  </p:notesTextViewPr>
  <p:sorterViewPr>
    <p:cViewPr>
      <p:scale>
        <a:sx n="100" d="100"/>
        <a:sy n="100" d="100"/>
      </p:scale>
      <p:origin x="0" y="-4096"/>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6" Type="http://schemas.openxmlformats.org/officeDocument/2006/relationships/slide" Target="slides/slide5.xml"/><Relationship Id="rId8" Type="http://schemas.openxmlformats.org/officeDocument/2006/relationships/slide" Target="slides/slide7.xml"/><Relationship Id="rId10" Type="http://schemas.openxmlformats.org/officeDocument/2006/relationships/slide" Target="slides/slide9.xml"/><Relationship Id="rId12" Type="http://schemas.openxmlformats.org/officeDocument/2006/relationships/slide" Target="slides/slide11.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handoutMaster" Target="handoutMasters/handoutMaster1.xml"/><Relationship Id="rId17" Type="http://schemas.openxmlformats.org/officeDocument/2006/relationships/commentAuthors" Target="commentAuthors.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lang="zh-CN" altLang="en-US">
                <a:solidFill>
                  <a:srgbClr val="002060"/>
                </a:solidFill>
                <a:latin typeface="微软雅黑"/>
                <a:ea typeface="微软雅黑"/>
                <a:cs typeface="微软雅黑"/>
              </a:rPr>
              <a:t>各环节用时下降幅度（%）</a:t>
            </a:r>
          </a:p>
        </c:rich>
      </c:tx>
      <c:layout/>
      <c:overlay val="0"/>
    </c:title>
    <c:autoTitleDeleted val="0"/>
    <c:plotArea>
      <c:barChart>
        <c:barDir val="col"/>
        <c:grouping val="clustered"/>
        <c:ser>
          <c:idx val="0"/>
          <c:order val="0"/>
          <c:tx>
            <c:strRef>
              <c:f>Sheet1!$B$1</c:f>
              <c:strCache>
                <c:ptCount val="1"/>
                <c:pt idx="0">
                  <c:v>各环节用时下降幅度（%）</c:v>
                </c:pt>
              </c:strCache>
            </c:strRef>
          </c:tx>
          <c:spPr>
            <a:solidFill>
              <a:srgbClr val="2E5495"/>
            </a:solidFill>
          </c:spPr>
          <c:cat>
            <c:strRef>
              <c:f>Sheet1!$A$2:$A$7</c:f>
              <c:strCache>
                <c:ptCount val="6"/>
                <c:pt idx="0">
                  <c:v>派工决策</c:v>
                </c:pt>
                <c:pt idx="1">
                  <c:v>月度考评</c:v>
                </c:pt>
                <c:pt idx="2">
                  <c:v>星级自评</c:v>
                </c:pt>
                <c:pt idx="3">
                  <c:v>授权盘点</c:v>
                </c:pt>
                <c:pt idx="4">
                  <c:v>月度总结</c:v>
                </c:pt>
                <c:pt idx="5">
                  <c:v>班长考评</c:v>
                </c:pt>
              </c:strCache>
            </c:strRef>
          </c:cat>
          <c:val>
            <c:numRef>
              <c:f>Sheet1!$B$2:$B$7</c:f>
              <c:numCache>
                <c:formatCode>General</c:formatCode>
                <c:ptCount val="6"/>
                <c:pt idx="0">
                  <c:v>83</c:v>
                </c:pt>
                <c:pt idx="1">
                  <c:v>75</c:v>
                </c:pt>
                <c:pt idx="2">
                  <c:v>75</c:v>
                </c:pt>
                <c:pt idx="3">
                  <c:v>87</c:v>
                </c:pt>
                <c:pt idx="4">
                  <c:v>75</c:v>
                </c:pt>
                <c:pt idx="5">
                  <c:v>75</c:v>
                </c:pt>
              </c:numCache>
            </c:numRef>
          </c:val>
        </c:ser>
        <c:dLbls>
          <c:numFmt formatCode="0&quot;%&quot;" sourceLinked="0"/>
          <c:txPr>
            <a:bodyPr/>
            <a:lstStyle/>
            <a:p>
              <a:pPr>
                <a:defRPr sz="1000">
                  <a:solidFill>
                    <a:srgbClr val="262626"/>
                  </a:solidFill>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000">
                <a:solidFill>
                  <a:srgbClr val="262626"/>
                </a:solidFill>
              </a:defRPr>
            </a:pPr>
          </a:p>
        </c:txPr>
        <c:crossAx val="-2113994440"/>
        <c:crosses val="autoZero"/>
        <c:auto val="1"/>
        <c:lblAlgn val="ctr"/>
        <c:lblOffset val="100"/>
        <c:noMultiLvlLbl val="0"/>
      </c:catAx>
      <c:valAx>
        <c:axId val="-2113994440"/>
        <c:scaling>
          <c:max val="100.0"/>
          <c:min val="0.0"/>
        </c:scaling>
        <c:delete val="0"/>
        <c:axPos val="l"/>
        <c:majorGridlines>
          <c:spPr>
            <a:ln>
              <a:solidFill>
                <a:srgbClr val="E0E0E0"/>
              </a:solidFill>
            </a:ln>
          </c:spPr>
        </c:majorGridlines>
        <c:majorTickMark val="out"/>
        <c:minorTickMark val="none"/>
        <c:tickLblPos val="nextTo"/>
        <c:spPr>
          <a:ln>
            <a:noFill/>
          </a:ln>
        </c:spPr>
        <c:txPr>
          <a:bodyPr/>
          <a:lstStyle/>
          <a:p>
            <a:pPr>
              <a:defRPr sz="900">
                <a:solidFill>
                  <a:srgbClr val="595959"/>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2026/10/2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SG"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DFF27A-1860-4745-8AFD-5E250A05B329}" type="datetimeFigureOut">
              <a:rPr lang="zh-SG" altLang="en-US" smtClean="0"/>
              <a:t>02/10/26</a:t>
            </a:fld>
            <a:endParaRPr lang="zh-SG"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SG"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SG"/>
              <a:t>Click to edit Master text styles</a:t>
            </a:r>
          </a:p>
          <a:p>
            <a:pPr lvl="1"/>
            <a:r>
              <a:rPr lang="en-US" altLang="zh-SG"/>
              <a:t>Second level</a:t>
            </a:r>
          </a:p>
          <a:p>
            <a:pPr lvl="2"/>
            <a:r>
              <a:rPr lang="en-US" altLang="zh-SG"/>
              <a:t>Third level</a:t>
            </a:r>
          </a:p>
          <a:p>
            <a:pPr lvl="3"/>
            <a:r>
              <a:rPr lang="en-US" altLang="zh-SG"/>
              <a:t>Fourth level</a:t>
            </a:r>
          </a:p>
          <a:p>
            <a:pPr lvl="4"/>
            <a:r>
              <a:rPr lang="en-US" altLang="zh-SG"/>
              <a:t>Fifth level</a:t>
            </a:r>
            <a:endParaRPr lang="zh-SG"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SG"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867E0D-8F39-4505-ACD9-D510C3881821}" type="slidenum">
              <a:rPr lang="zh-SG" altLang="en-US" smtClean="0"/>
              <a:t>‹#›</a:t>
            </a:fld>
            <a:endParaRPr lang="zh-SG"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t>各位评委好。我们申报的成果是「高效班组管理助手」：班组数字画像与班组长AI助手，应用场景在光明供电局配网资产部的三个班组。</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谢谢各位评委。</a:t>
            </a:r>
          </a:p>
        </p:txBody>
      </p:sp>
      <p:sp>
        <p:nvSpPr>
          <p:cNvPr id="4" name="灯片编号占位符 3"/>
          <p:cNvSpPr>
            <a:spLocks noGrp="1"/>
          </p:cNvSpPr>
          <p:nvPr>
            <p:ph type="sldNum" sz="quarter" idx="5"/>
          </p:nvPr>
        </p:nvSpPr>
        <p:spPr/>
        <p:txBody>
          <a:bodyPr/>
          <a:lstStyle/>
          <a:p>
            <a:fld id="{ED867E0D-8F39-4505-ACD9-D510C3881821}" type="slidenum">
              <a:rPr lang="zh-SG" altLang="en-US" smtClean="0"/>
              <a:t>13</a:t>
            </a:fld>
            <a:endParaRPr lang="zh-SG" altLang="en-US"/>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先讲公司为什么要做：各系统已经各自数字化，但在班组这一级数据仍然分散，班组长靠查数、抄数、汇编做判断。转型落到基层的标志，是班组长在一屏画像上做判断。</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应用场景是光明供电局配网资产部三个班组 31 人；两类用户共用一个数据底座：班组长端 12 页、管理者端 9 页，大瓦特 AI 助手贯穿两端。</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五个核心优势：十七张台账同源、四条派工规则可解释、六环闭环可生长、两级同源可协同、所有涉及人的结论由人确认。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成果贴合公司推进技能人才队伍建设与作业授权管理、星级班组建设、业绩责任书绩效管理、安全生产责任制、基层减负、人工智能应用的要求：评价标准、认证表、责任书在班组一级有了数字化的执行与反馈，班组长的时间回到判断与确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对标南方电网集团要求：六个方面逐项对应——数字化转型与数字电网建设、人才强企、星级班组建设、业绩责任书与绩效管理、安全生产责任制与基层减负、人力资源数智化创新与人工智能应用。</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成果建成投运后，对公司与集团要求的响应不是一次性对标，而是三步机制：结构化留痕、按统一口径向上汇聚、按周期自动形成结果，每一项都有可检查的输出。示范意义是为公司提供可复制的班组级数字化样板。</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设计思路是三层模型：指标层量化、规则层把经验判断转为可解释规则、智能层由大模型承担问答与生成；系统给依据，人作决定。</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实现路径四步：数据归集、模型构建、场景落地、结果回流。</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数据来源为人资系统、OMS、OCS、电网管理平台、党建系统与荣誉台账、周报与责任书；数据结构以人员、班组、事件流水三类主题组织，十七张台账为底座。</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技术架构：大瓦特大模型提供对话、生成、问答与诊断能力；云景自助分析工具承载画像与看板；规则引擎与知识库部署于公司内网。</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班组长端 12 页按故事线组织。默认进入班组画像：只讲班组——名片、KPI、核心业务管控、星级评价与发展规划。</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派工四条规则逐人判定，理由随单存档，单次派工决策由约 30 分钟降到 5 分钟以内；作业授权认证表数字化，逐格确认，断层风险实时计算。</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管理者端的考核指标与班长绩效完全照录年度业绩责任书的指标、权重与评分标准，自动取数初评，部门确认后下发；跨班组调配五步闭环。</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五个创新点：经验判断规则化可解释、六环闭环、星级标准与授权认证数字化、两级同源、人在回路的 AI 协作；应用场景突破点是队伍建设六环闭环。</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六个环节应用前后对比，每一项都有可测算的用时变化。</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可量化效益：班组长每月事务性用时减少约 25 小时，相当于释放 3 个工作日；部门每季度减少约 3 个工作日。社会效益：依据留痕、经验传承、安全前置。</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成果投运后对集团要求的响应不是一次性对标，而是按周期自动形成、可检查、可向上汇聚的机制，逐项对照八个方面。</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实用化：应用范围、建设进度、数据对接、运行安排四方面，试点条件已具备。</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推广按部门试点、全局复制、网省推广三级推进；以配置化方式复制，更换专业只需调整口径配置。</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潜在价值分管理、社会、商业三个层面；开发计划四项：系统对接、专业扩展、能力深化、知识沉淀。</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结尾呼应开篇：对班组长、对管理者、对公司、对南方电网集团四个层面——公司的管理要求在班组一级有了数字化的执行与反馈，集团六项要求在班组一级有了持续、可检查的响应机制。</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团队成员与分工：业务、技术、项目、演示四位负责人（姓名待填）。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3.emf"/><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296E1553-9F1C-00BD-EDB2-3D7884E7CA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4366761"/>
          </a:xfrm>
          <a:prstGeom prst="rect">
            <a:avLst/>
          </a:prstGeom>
        </p:spPr>
      </p:pic>
      <p:sp>
        <p:nvSpPr>
          <p:cNvPr id="4" name="Date Placeholder 3"/>
          <p:cNvSpPr>
            <a:spLocks noGrp="1"/>
          </p:cNvSpPr>
          <p:nvPr>
            <p:ph type="dt" sz="half" idx="10"/>
          </p:nvPr>
        </p:nvSpPr>
        <p:spPr/>
        <p:txBody>
          <a:bodyPr/>
          <a:lstStyle/>
          <a:p>
            <a:fld id="{8F7AB981-53CD-4E32-A78E-0C3AF3AF37E2}" type="datetimeFigureOut">
              <a:rPr lang="zh-SG" altLang="en-US" smtClean="0"/>
              <a:t>02/10/26</a:t>
            </a:fld>
            <a:endParaRPr lang="zh-SG" altLang="en-US"/>
          </a:p>
        </p:txBody>
      </p:sp>
      <p:sp>
        <p:nvSpPr>
          <p:cNvPr id="5" name="Footer Placeholder 4"/>
          <p:cNvSpPr>
            <a:spLocks noGrp="1"/>
          </p:cNvSpPr>
          <p:nvPr>
            <p:ph type="ftr" sz="quarter" idx="11"/>
          </p:nvPr>
        </p:nvSpPr>
        <p:spPr/>
        <p:txBody>
          <a:bodyPr/>
          <a:lstStyle/>
          <a:p>
            <a:endParaRPr lang="zh-SG" altLang="en-US"/>
          </a:p>
        </p:txBody>
      </p:sp>
      <p:sp>
        <p:nvSpPr>
          <p:cNvPr id="6" name="Slide Number Placeholder 5"/>
          <p:cNvSpPr>
            <a:spLocks noGrp="1"/>
          </p:cNvSpPr>
          <p:nvPr>
            <p:ph type="sldNum" sz="quarter" idx="12"/>
          </p:nvPr>
        </p:nvSpPr>
        <p:spPr/>
        <p:txBody>
          <a:bodyPr/>
          <a:lstStyle/>
          <a:p>
            <a:fld id="{1C9A23CB-5CFE-4917-83D8-8721FDB19016}" type="slidenum">
              <a:rPr lang="zh-SG" altLang="en-US" smtClean="0"/>
              <a:t>‹#›</a:t>
            </a:fld>
            <a:endParaRPr lang="zh-SG" altLang="en-US"/>
          </a:p>
        </p:txBody>
      </p:sp>
      <p:pic>
        <p:nvPicPr>
          <p:cNvPr id="7" name="图片 6"/>
          <p:cNvPicPr>
            <a:picLocks noChangeAspect="1"/>
          </p:cNvPicPr>
          <p:nvPr userDrawn="1"/>
        </p:nvPicPr>
        <p:blipFill rotWithShape="1">
          <a:blip r:embed="rId3" cstate="print">
            <a:extLst>
              <a:ext uri="{28A0092B-C50C-407E-A947-70E740481C1C}">
                <a14:useLocalDpi xmlns:a14="http://schemas.microsoft.com/office/drawing/2010/main" val="0"/>
              </a:ext>
            </a:extLst>
          </a:blip>
          <a:srcRect b="48162"/>
          <a:stretch>
            <a:fillRect/>
          </a:stretch>
        </p:blipFill>
        <p:spPr>
          <a:xfrm>
            <a:off x="8568662" y="-82550"/>
            <a:ext cx="4330691" cy="90805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11" name="矩形 10"/>
          <p:cNvSpPr/>
          <p:nvPr userDrawn="1"/>
        </p:nvSpPr>
        <p:spPr bwMode="auto">
          <a:xfrm>
            <a:off x="-12699" y="690745"/>
            <a:ext cx="12241862" cy="36000"/>
          </a:xfrm>
          <a:prstGeom prst="rect">
            <a:avLst/>
          </a:prstGeom>
          <a:solidFill>
            <a:schemeClr val="accent1"/>
          </a:solidFill>
          <a:ln w="9525" cap="flat" cmpd="sng" algn="ctr">
            <a:noFill/>
            <a:prstDash val="solid"/>
            <a:round/>
            <a:headEnd type="none" w="med" len="med"/>
            <a:tailEnd type="none" w="med" len="med"/>
          </a:ln>
          <a:effectLst/>
        </p:spPr>
        <p:txBody>
          <a:bodyPr>
            <a:noAutofit/>
          </a:bodyPr>
          <a:lstStyle/>
          <a:p>
            <a:pPr marL="685800" algn="ctr">
              <a:defRPr/>
            </a:pPr>
            <a:endParaRPr lang="zh-CN" altLang="en-US" sz="3600">
              <a:solidFill>
                <a:srgbClr val="00B0F0"/>
              </a:solidFill>
              <a:latin typeface="Franklin Gothic Heavy" panose="020B0903020102020204" pitchFamily="34" charset="0"/>
              <a:ea typeface="宋体" panose="02010600030101010101" pitchFamily="2" charset="-122"/>
            </a:endParaRPr>
          </a:p>
        </p:txBody>
      </p:sp>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b="48162"/>
          <a:stretch>
            <a:fillRect/>
          </a:stretch>
        </p:blipFill>
        <p:spPr>
          <a:xfrm>
            <a:off x="9469515" y="-145750"/>
            <a:ext cx="3544324" cy="700995"/>
          </a:xfrm>
          <a:prstGeom prst="rect">
            <a:avLst/>
          </a:prstGeom>
        </p:spPr>
      </p:pic>
      <p:sp>
        <p:nvSpPr>
          <p:cNvPr id="16" name="Slide Number Placeholder 1"/>
          <p:cNvSpPr txBox="1">
            <a:spLocks noChangeArrowheads="1"/>
          </p:cNvSpPr>
          <p:nvPr userDrawn="1"/>
        </p:nvSpPr>
        <p:spPr bwMode="auto">
          <a:xfrm>
            <a:off x="11733324" y="6503990"/>
            <a:ext cx="304844" cy="20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685800" rtl="0" eaLnBrk="1" fontAlgn="base" latinLnBrk="0" hangingPunct="1">
              <a:lnSpc>
                <a:spcPct val="100000"/>
              </a:lnSpc>
              <a:spcBef>
                <a:spcPct val="0"/>
              </a:spcBef>
              <a:spcAft>
                <a:spcPct val="0"/>
              </a:spcAft>
              <a:buClrTx/>
              <a:buSzTx/>
              <a:buFont typeface="Arial" panose="020B0604020202020204" pitchFamily="34" charset="0"/>
              <a:buNone/>
              <a:defRPr/>
            </a:pPr>
            <a:fld id="{95E97DF1-138B-4F73-A021-854647DC6194}" type="slidenum">
              <a:rPr kumimoji="0" lang="en-US" altLang="zh-CN" sz="1200" b="1" i="0" u="none" strike="noStrike" kern="1200" cap="none" spc="0" normalizeH="0" baseline="0" noProof="0" smtClean="0">
                <a:ln>
                  <a:noFill/>
                </a:ln>
                <a:solidFill>
                  <a:srgbClr val="A6A6A6"/>
                </a:solidFill>
                <a:effectLst/>
                <a:uLnTx/>
                <a:uFillTx/>
                <a:latin typeface="Arial" panose="020B0604020202020204" pitchFamily="34" charset="0"/>
                <a:ea typeface="微软雅黑" panose="020B0503020204020204" charset="-122"/>
                <a:cs typeface="+mn-cs"/>
              </a:rPr>
              <a:t>‹#›</a:t>
            </a:fld>
            <a:endParaRPr kumimoji="0" lang="en-US" altLang="zh-CN" sz="1200" b="1" i="0" u="none" strike="noStrike" kern="1200" cap="none" spc="0" normalizeH="0" baseline="0" noProof="0">
              <a:ln>
                <a:noFill/>
              </a:ln>
              <a:solidFill>
                <a:srgbClr val="A6A6A6"/>
              </a:solidFill>
              <a:effectLst/>
              <a:uLnTx/>
              <a:uFillTx/>
              <a:latin typeface="Arial" panose="020B0604020202020204" pitchFamily="34" charset="0"/>
              <a:ea typeface="微软雅黑" panose="020B0503020204020204"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仅标题">
    <p:bg>
      <p:bgPr>
        <a:solidFill>
          <a:schemeClr val="bg1"/>
        </a:solidFill>
        <a:effectLst/>
      </p:bgPr>
    </p:bg>
    <p:spTree>
      <p:nvGrpSpPr>
        <p:cNvPr id="1" name=""/>
        <p:cNvGrpSpPr/>
        <p:nvPr/>
      </p:nvGrpSpPr>
      <p:grpSpPr>
        <a:xfrm>
          <a:off x="0" y="0"/>
          <a:ext cx="0" cy="0"/>
          <a:chOff x="0" y="0"/>
          <a:chExt cx="0" cy="0"/>
        </a:xfrm>
      </p:grpSpPr>
      <p:sp>
        <p:nvSpPr>
          <p:cNvPr id="11" name="Slide Number Placeholder 1"/>
          <p:cNvSpPr txBox="1">
            <a:spLocks noChangeArrowheads="1"/>
          </p:cNvSpPr>
          <p:nvPr/>
        </p:nvSpPr>
        <p:spPr bwMode="auto">
          <a:xfrm>
            <a:off x="11733324" y="6503990"/>
            <a:ext cx="304844" cy="20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685800" rtl="0" eaLnBrk="1" fontAlgn="base" latinLnBrk="0" hangingPunct="1">
              <a:lnSpc>
                <a:spcPct val="100000"/>
              </a:lnSpc>
              <a:spcBef>
                <a:spcPct val="0"/>
              </a:spcBef>
              <a:spcAft>
                <a:spcPct val="0"/>
              </a:spcAft>
              <a:buClrTx/>
              <a:buSzTx/>
              <a:buFont typeface="Arial" panose="020B0604020202020204" pitchFamily="34" charset="0"/>
              <a:buNone/>
              <a:defRPr/>
            </a:pPr>
            <a:fld id="{07D7F81C-EF3E-4B71-A3E4-FC396D4A71BF}" type="slidenum">
              <a:rPr kumimoji="0" lang="en-US" altLang="zh-CN" sz="1200" b="1" i="0" u="none" strike="noStrike" kern="1200" cap="none" spc="0" normalizeH="0" baseline="0" noProof="0" smtClean="0">
                <a:ln>
                  <a:noFill/>
                </a:ln>
                <a:solidFill>
                  <a:srgbClr val="A6A6A6"/>
                </a:solidFill>
                <a:effectLst/>
                <a:uLnTx/>
                <a:uFillTx/>
                <a:latin typeface="Arial" panose="020B0604020202020204" pitchFamily="34" charset="0"/>
                <a:ea typeface="微软雅黑" panose="020B0503020204020204" charset="-122"/>
                <a:cs typeface="+mn-cs"/>
              </a:rPr>
              <a:t>‹#›</a:t>
            </a:fld>
            <a:endParaRPr kumimoji="0" lang="en-US" altLang="zh-CN" sz="1200" b="1" i="0" u="none" strike="noStrike" kern="1200" cap="none" spc="0" normalizeH="0" baseline="0" noProof="0">
              <a:ln>
                <a:noFill/>
              </a:ln>
              <a:solidFill>
                <a:srgbClr val="A6A6A6"/>
              </a:solidFill>
              <a:effectLst/>
              <a:uLnTx/>
              <a:uFillTx/>
              <a:latin typeface="Arial" panose="020B0604020202020204" pitchFamily="34" charset="0"/>
              <a:ea typeface="微软雅黑" panose="020B0503020204020204" charset="-122"/>
              <a:cs typeface="+mn-cs"/>
            </a:endParaRPr>
          </a:p>
        </p:txBody>
      </p:sp>
      <p:pic>
        <p:nvPicPr>
          <p:cNvPr id="5127" name="Object 1" hidden="1"/>
          <p:cNvPicPr>
            <a:picLocks noChangeAspect="1"/>
          </p:cNvPicPr>
          <p:nvPr userDrawn="1">
            <p:custDataLst>
              <p:tags r:id="rId1"/>
            </p:custDataLst>
          </p:nvPr>
        </p:nvPicPr>
        <p:blipFill>
          <a:blip r:embed="rId3"/>
          <a:stretch>
            <a:fillRect/>
          </a:stretch>
        </p:blipFill>
        <p:spPr>
          <a:xfrm>
            <a:off x="1589" y="1590"/>
            <a:ext cx="1587" cy="1587"/>
          </a:xfrm>
          <a:prstGeom prst="rect">
            <a:avLst/>
          </a:prstGeom>
          <a:noFill/>
          <a:ln w="38100">
            <a:noFill/>
          </a:ln>
        </p:spPr>
      </p:pic>
      <p:sp>
        <p:nvSpPr>
          <p:cNvPr id="16" name="Slide Number Placeholder 1"/>
          <p:cNvSpPr txBox="1">
            <a:spLocks noChangeArrowheads="1"/>
          </p:cNvSpPr>
          <p:nvPr/>
        </p:nvSpPr>
        <p:spPr bwMode="auto">
          <a:xfrm>
            <a:off x="11733324" y="6503990"/>
            <a:ext cx="304844" cy="20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685800" rtl="0" eaLnBrk="1" fontAlgn="base" latinLnBrk="0" hangingPunct="1">
              <a:lnSpc>
                <a:spcPct val="100000"/>
              </a:lnSpc>
              <a:spcBef>
                <a:spcPct val="0"/>
              </a:spcBef>
              <a:spcAft>
                <a:spcPct val="0"/>
              </a:spcAft>
              <a:buClrTx/>
              <a:buSzTx/>
              <a:buFont typeface="Arial" panose="020B0604020202020204" pitchFamily="34" charset="0"/>
              <a:buNone/>
              <a:defRPr/>
            </a:pPr>
            <a:fld id="{95E97DF1-138B-4F73-A021-854647DC6194}" type="slidenum">
              <a:rPr kumimoji="0" lang="en-US" altLang="zh-CN" sz="1200" b="1" i="0" u="none" strike="noStrike" kern="1200" cap="none" spc="0" normalizeH="0" baseline="0" noProof="0" smtClean="0">
                <a:ln>
                  <a:noFill/>
                </a:ln>
                <a:solidFill>
                  <a:srgbClr val="A6A6A6"/>
                </a:solidFill>
                <a:effectLst/>
                <a:uLnTx/>
                <a:uFillTx/>
                <a:latin typeface="Arial" panose="020B0604020202020204" pitchFamily="34" charset="0"/>
                <a:ea typeface="微软雅黑" panose="020B0503020204020204" charset="-122"/>
                <a:cs typeface="+mn-cs"/>
              </a:rPr>
              <a:t>‹#›</a:t>
            </a:fld>
            <a:endParaRPr kumimoji="0" lang="en-US" altLang="zh-CN" sz="1200" b="1" i="0" u="none" strike="noStrike" kern="1200" cap="none" spc="0" normalizeH="0" baseline="0" noProof="0">
              <a:ln>
                <a:noFill/>
              </a:ln>
              <a:solidFill>
                <a:srgbClr val="A6A6A6"/>
              </a:solidFill>
              <a:effectLst/>
              <a:uLnTx/>
              <a:uFillTx/>
              <a:latin typeface="Arial" panose="020B0604020202020204" pitchFamily="34" charset="0"/>
              <a:ea typeface="微软雅黑" panose="020B0503020204020204" charset="-122"/>
              <a:cs typeface="+mn-cs"/>
            </a:endParaRPr>
          </a:p>
        </p:txBody>
      </p:sp>
      <p:sp>
        <p:nvSpPr>
          <p:cNvPr id="4" name="标题 3"/>
          <p:cNvSpPr>
            <a:spLocks noGrp="1"/>
          </p:cNvSpPr>
          <p:nvPr>
            <p:ph type="title"/>
          </p:nvPr>
        </p:nvSpPr>
        <p:spPr>
          <a:xfrm>
            <a:off x="407427" y="200687"/>
            <a:ext cx="8138082" cy="418058"/>
          </a:xfrm>
          <a:prstGeom prst="rect">
            <a:avLst/>
          </a:prstGeom>
        </p:spPr>
        <p:txBody>
          <a:bodyPr anchor="ctr"/>
          <a:lstStyle>
            <a:lvl1pPr algn="l">
              <a:defRPr sz="2100" b="1">
                <a:solidFill>
                  <a:schemeClr val="tx1"/>
                </a:solidFill>
                <a:latin typeface="微软雅黑" panose="020B0503020204020204" charset="-122"/>
                <a:ea typeface="微软雅黑" panose="020B0503020204020204" charset="-122"/>
              </a:defRPr>
            </a:lvl1pPr>
          </a:lstStyle>
          <a:p>
            <a:r>
              <a:rPr lang="zh-CN" altLang="en-US" noProof="1"/>
              <a:t>单击此处编辑母版标题样式</a:t>
            </a:r>
          </a:p>
        </p:txBody>
      </p:sp>
      <p:sp>
        <p:nvSpPr>
          <p:cNvPr id="15" name="矩形 10"/>
          <p:cNvSpPr/>
          <p:nvPr userDrawn="1"/>
        </p:nvSpPr>
        <p:spPr bwMode="auto">
          <a:xfrm>
            <a:off x="2" y="690745"/>
            <a:ext cx="12205858" cy="36000"/>
          </a:xfrm>
          <a:prstGeom prst="rect">
            <a:avLst/>
          </a:prstGeom>
          <a:solidFill>
            <a:schemeClr val="accent1"/>
          </a:solidFill>
          <a:ln w="9525" cap="flat" cmpd="sng" algn="ctr">
            <a:noFill/>
            <a:prstDash val="solid"/>
            <a:round/>
            <a:headEnd type="none" w="med" len="med"/>
            <a:tailEnd type="none" w="med" len="med"/>
          </a:ln>
          <a:effectLst/>
        </p:spPr>
        <p:txBody>
          <a:bodyPr>
            <a:noAutofit/>
          </a:bodyPr>
          <a:lstStyle/>
          <a:p>
            <a:pPr marL="685800" algn="ctr">
              <a:defRPr/>
            </a:pPr>
            <a:endParaRPr lang="zh-CN" altLang="en-US" sz="3600">
              <a:solidFill>
                <a:srgbClr val="00B0F0"/>
              </a:solidFill>
              <a:latin typeface="Franklin Gothic Heavy" panose="020B0903020102020204" pitchFamily="34" charset="0"/>
              <a:ea typeface="宋体" panose="02010600030101010101" pitchFamily="2" charset="-122"/>
            </a:endParaRPr>
          </a:p>
        </p:txBody>
      </p:sp>
      <p:pic>
        <p:nvPicPr>
          <p:cNvPr id="18" name="图片 6"/>
          <p:cNvPicPr>
            <a:picLocks noChangeAspect="1"/>
          </p:cNvPicPr>
          <p:nvPr userDrawn="1"/>
        </p:nvPicPr>
        <p:blipFill rotWithShape="1">
          <a:blip r:embed="rId4" cstate="print">
            <a:extLst>
              <a:ext uri="{28A0092B-C50C-407E-A947-70E740481C1C}">
                <a14:useLocalDpi xmlns:a14="http://schemas.microsoft.com/office/drawing/2010/main" val="0"/>
              </a:ext>
            </a:extLst>
          </a:blip>
          <a:srcRect b="48162"/>
          <a:stretch>
            <a:fillRect/>
          </a:stretch>
        </p:blipFill>
        <p:spPr>
          <a:xfrm>
            <a:off x="9355199" y="-82250"/>
            <a:ext cx="3544324" cy="700995"/>
          </a:xfrm>
          <a:prstGeom prst="rect">
            <a:avLst/>
          </a:prstGeom>
        </p:spPr>
      </p:pic>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正文">
    <p:spTree>
      <p:nvGrpSpPr>
        <p:cNvPr id="1" name=""/>
        <p:cNvGrpSpPr/>
        <p:nvPr/>
      </p:nvGrpSpPr>
      <p:grpSpPr>
        <a:xfrm>
          <a:off x="0" y="0"/>
          <a:ext cx="0" cy="0"/>
          <a:chOff x="0" y="0"/>
          <a:chExt cx="0" cy="0"/>
        </a:xfrm>
      </p:grpSpPr>
      <p:cxnSp>
        <p:nvCxnSpPr>
          <p:cNvPr id="4" name="Straight Connector 4"/>
          <p:cNvCxnSpPr/>
          <p:nvPr userDrawn="1"/>
        </p:nvCxnSpPr>
        <p:spPr>
          <a:xfrm>
            <a:off x="-5493" y="902714"/>
            <a:ext cx="12213072" cy="0"/>
          </a:xfrm>
          <a:prstGeom prst="line">
            <a:avLst/>
          </a:prstGeom>
          <a:ln w="38100">
            <a:solidFill>
              <a:schemeClr val="accent1">
                <a:lumMod val="75000"/>
              </a:schemeClr>
            </a:solidFill>
          </a:ln>
        </p:spPr>
        <p:style>
          <a:lnRef idx="1">
            <a:schemeClr val="dk1"/>
          </a:lnRef>
          <a:fillRef idx="0">
            <a:schemeClr val="dk1"/>
          </a:fillRef>
          <a:effectRef idx="0">
            <a:schemeClr val="dk1"/>
          </a:effectRef>
          <a:fontRef idx="minor">
            <a:schemeClr val="tx1"/>
          </a:fontRef>
        </p:style>
      </p:cxnSp>
      <p:pic>
        <p:nvPicPr>
          <p:cNvPr id="5" name="图片 4" descr="公司logo PNG 文件（蓝色）"/>
          <p:cNvPicPr>
            <a:picLocks noChangeAspect="1"/>
          </p:cNvPicPr>
          <p:nvPr userDrawn="1"/>
        </p:nvPicPr>
        <p:blipFill>
          <a:blip r:embed="rId2"/>
          <a:stretch>
            <a:fillRect/>
          </a:stretch>
        </p:blipFill>
        <p:spPr>
          <a:xfrm>
            <a:off x="9169896" y="-445558"/>
            <a:ext cx="2997031" cy="1798494"/>
          </a:xfrm>
          <a:prstGeom prst="rect">
            <a:avLst/>
          </a:prstGeom>
        </p:spPr>
      </p:pic>
      <p:sp>
        <p:nvSpPr>
          <p:cNvPr id="26" name="灯片编号占位符 5"/>
          <p:cNvSpPr>
            <a:spLocks noGrp="1"/>
          </p:cNvSpPr>
          <p:nvPr>
            <p:ph type="sldNum" sz="quarter" idx="4"/>
          </p:nvPr>
        </p:nvSpPr>
        <p:spPr>
          <a:xfrm>
            <a:off x="8739081" y="6356350"/>
            <a:ext cx="2845283" cy="365125"/>
          </a:xfrm>
          <a:prstGeom prst="rect">
            <a:avLst/>
          </a:prstGeom>
        </p:spPr>
        <p:txBody>
          <a:bodyPr vert="horz" lIns="114790" tIns="57394" rIns="114790" bIns="57394" rtlCol="0" anchor="ctr"/>
          <a:lstStyle>
            <a:lvl1pPr algn="r">
              <a:defRPr sz="1420">
                <a:solidFill>
                  <a:schemeClr val="tx1">
                    <a:tint val="75000"/>
                  </a:schemeClr>
                </a:solidFill>
              </a:defRPr>
            </a:lvl1pPr>
          </a:lstStyle>
          <a:p>
            <a:fld id="{0C913308-F349-4B6D-A68A-DD1791B4A57B}" type="slidenum">
              <a:rPr lang="zh-CN" altLang="en-US" smtClean="0"/>
              <a:t>‹#›</a:t>
            </a:fld>
            <a:endParaRPr lang="zh-CN" altLang="en-US"/>
          </a:p>
        </p:txBody>
      </p:sp>
    </p:spTree>
  </p:cSld>
  <p:clrMapOvr>
    <a:masterClrMapping/>
  </p:clrMapOvr>
  <p:transition spd="med">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cSld name="图片与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79947" cy="6845273"/>
          </a:xfrm>
          <a:prstGeom prst="rect">
            <a:avLst/>
          </a:prstGeom>
        </p:spPr>
      </p:pic>
      <p:sp>
        <p:nvSpPr>
          <p:cNvPr id="6" name="文本框 5"/>
          <p:cNvSpPr txBox="1"/>
          <p:nvPr userDrawn="1"/>
        </p:nvSpPr>
        <p:spPr>
          <a:xfrm>
            <a:off x="154956" y="6537498"/>
            <a:ext cx="5339903" cy="275590"/>
          </a:xfrm>
          <a:prstGeom prst="rect">
            <a:avLst/>
          </a:prstGeom>
          <a:noFill/>
        </p:spPr>
        <p:txBody>
          <a:bodyPr wrap="square" rtlCol="0">
            <a:spAutoFit/>
          </a:bodyPr>
          <a:lstStyle/>
          <a:p>
            <a:r>
              <a:rPr lang="en-US" altLang="zh-CN" sz="1200" noProof="0" dirty="0">
                <a:ln>
                  <a:noFill/>
                </a:ln>
                <a:solidFill>
                  <a:schemeClr val="bg1">
                    <a:lumMod val="50000"/>
                  </a:schemeClr>
                </a:solidFill>
                <a:effectLst/>
                <a:uLnTx/>
                <a:uFillTx/>
                <a:latin typeface="Times New Roman" panose="02020603050405020304" pitchFamily="18" charset="0"/>
                <a:cs typeface="Times New Roman" panose="02020603050405020304" pitchFamily="18" charset="0"/>
              </a:rPr>
              <a:t>©CSG Shenzhen Digital Grid Research Institute2020. All Rights Reserved</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SG"/>
              <a:t>Click to edit Master title style</a:t>
            </a:r>
            <a:endParaRPr lang="en-US" dirty="0"/>
          </a:p>
        </p:txBody>
      </p:sp>
      <p:sp>
        <p:nvSpPr>
          <p:cNvPr id="3" name="Content Placeholder 2"/>
          <p:cNvSpPr>
            <a:spLocks noGrp="1"/>
          </p:cNvSpPr>
          <p:nvPr>
            <p:ph idx="1"/>
          </p:nvPr>
        </p:nvSpPr>
        <p:spPr/>
        <p:txBody>
          <a:bodyPr/>
          <a:lstStyle/>
          <a:p>
            <a:pPr lvl="0"/>
            <a:r>
              <a:rPr lang="en-US" altLang="zh-SG"/>
              <a:t>Click to edit Master text styles</a:t>
            </a:r>
          </a:p>
          <a:p>
            <a:pPr lvl="1"/>
            <a:r>
              <a:rPr lang="en-US" altLang="zh-SG"/>
              <a:t>Second level</a:t>
            </a:r>
          </a:p>
          <a:p>
            <a:pPr lvl="2"/>
            <a:r>
              <a:rPr lang="en-US" altLang="zh-SG"/>
              <a:t>Third level</a:t>
            </a:r>
          </a:p>
          <a:p>
            <a:pPr lvl="3"/>
            <a:r>
              <a:rPr lang="en-US" altLang="zh-SG"/>
              <a:t>Fourth level</a:t>
            </a:r>
          </a:p>
          <a:p>
            <a:pPr lvl="4"/>
            <a:r>
              <a:rPr lang="en-US" altLang="zh-SG"/>
              <a:t>Fifth level</a:t>
            </a:r>
            <a:endParaRPr lang="en-US" dirty="0"/>
          </a:p>
        </p:txBody>
      </p:sp>
      <p:sp>
        <p:nvSpPr>
          <p:cNvPr id="4" name="Date Placeholder 3"/>
          <p:cNvSpPr>
            <a:spLocks noGrp="1"/>
          </p:cNvSpPr>
          <p:nvPr>
            <p:ph type="dt" sz="half" idx="10"/>
          </p:nvPr>
        </p:nvSpPr>
        <p:spPr/>
        <p:txBody>
          <a:bodyPr/>
          <a:lstStyle/>
          <a:p>
            <a:fld id="{8F7AB981-53CD-4E32-A78E-0C3AF3AF37E2}" type="datetimeFigureOut">
              <a:rPr lang="zh-SG" altLang="en-US" smtClean="0"/>
              <a:t>02/10/26</a:t>
            </a:fld>
            <a:endParaRPr lang="zh-SG" altLang="en-US"/>
          </a:p>
        </p:txBody>
      </p:sp>
      <p:sp>
        <p:nvSpPr>
          <p:cNvPr id="5" name="Footer Placeholder 4"/>
          <p:cNvSpPr>
            <a:spLocks noGrp="1"/>
          </p:cNvSpPr>
          <p:nvPr>
            <p:ph type="ftr" sz="quarter" idx="11"/>
          </p:nvPr>
        </p:nvSpPr>
        <p:spPr/>
        <p:txBody>
          <a:bodyPr/>
          <a:lstStyle/>
          <a:p>
            <a:endParaRPr lang="zh-SG" altLang="en-US"/>
          </a:p>
        </p:txBody>
      </p:sp>
      <p:sp>
        <p:nvSpPr>
          <p:cNvPr id="6" name="Slide Number Placeholder 5"/>
          <p:cNvSpPr>
            <a:spLocks noGrp="1"/>
          </p:cNvSpPr>
          <p:nvPr>
            <p:ph type="sldNum" sz="quarter" idx="12"/>
          </p:nvPr>
        </p:nvSpPr>
        <p:spPr/>
        <p:txBody>
          <a:bodyPr/>
          <a:lstStyle/>
          <a:p>
            <a:fld id="{1C9A23CB-5CFE-4917-83D8-8721FDB19016}" type="slidenum">
              <a:rPr lang="zh-SG" altLang="en-US" smtClean="0"/>
              <a:t>‹#›</a:t>
            </a:fld>
            <a:endParaRPr lang="zh-SG"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30851" y="68580"/>
            <a:ext cx="8731655" cy="699770"/>
          </a:xfrm>
        </p:spPr>
        <p:txBody>
          <a:bodyPr/>
          <a:lstStyle>
            <a:lvl1pPr algn="l">
              <a:defRPr sz="2800" b="1">
                <a:latin typeface="微软雅黑" panose="020B0503020204020204" charset="-122"/>
                <a:ea typeface="微软雅黑" panose="020B0503020204020204" charset="-122"/>
              </a:defRPr>
            </a:lvl1pPr>
          </a:lstStyle>
          <a:p>
            <a:r>
              <a:rPr lang="en-US"/>
              <a:t>Click to edit Master title style</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en-US"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hangingPunct="1">
              <a:buChar char="•"/>
            </a:pPr>
            <a:fld id="{9A0DB2DC-4C9A-4742-B13C-FB6460FD3503}" type="slidenum">
              <a:rPr lang="en-US" altLang="en-US" sz="1200" dirty="0">
                <a:solidFill>
                  <a:srgbClr val="898989"/>
                </a:solidFill>
              </a:rPr>
              <a:t>‹#›</a:t>
            </a:fld>
            <a:endParaRPr lang="en-US" altLang="en-US" sz="1200" dirty="0">
              <a:solidFill>
                <a:srgbClr val="898989"/>
              </a:solidFill>
            </a:endParaRPr>
          </a:p>
        </p:txBody>
      </p:sp>
      <p:sp>
        <p:nvSpPr>
          <p:cNvPr id="5122" name="直接连接符 2"/>
          <p:cNvSpPr/>
          <p:nvPr userDrawn="1"/>
        </p:nvSpPr>
        <p:spPr>
          <a:xfrm>
            <a:off x="0" y="831850"/>
            <a:ext cx="12192566" cy="0"/>
          </a:xfrm>
          <a:prstGeom prst="line">
            <a:avLst/>
          </a:prstGeom>
          <a:ln w="6350" cap="flat" cmpd="sng">
            <a:solidFill>
              <a:schemeClr val="accent1"/>
            </a:solidFill>
            <a:prstDash val="solid"/>
            <a:headEnd type="none" w="med" len="med"/>
            <a:tailEnd type="none" w="med" len="med"/>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F7AB981-53CD-4E32-A78E-0C3AF3AF37E2}" type="datetimeFigureOut">
              <a:rPr lang="zh-SG" altLang="en-US" smtClean="0"/>
              <a:t>02/10/26</a:t>
            </a:fld>
            <a:endParaRPr lang="zh-SG" altLang="en-US"/>
          </a:p>
        </p:txBody>
      </p:sp>
      <p:sp>
        <p:nvSpPr>
          <p:cNvPr id="4" name="页脚占位符 3"/>
          <p:cNvSpPr>
            <a:spLocks noGrp="1"/>
          </p:cNvSpPr>
          <p:nvPr>
            <p:ph type="ftr" sz="quarter" idx="11"/>
          </p:nvPr>
        </p:nvSpPr>
        <p:spPr/>
        <p:txBody>
          <a:bodyPr/>
          <a:lstStyle/>
          <a:p>
            <a:endParaRPr lang="zh-SG" altLang="en-US"/>
          </a:p>
        </p:txBody>
      </p:sp>
      <p:sp>
        <p:nvSpPr>
          <p:cNvPr id="5" name="灯片编号占位符 4"/>
          <p:cNvSpPr>
            <a:spLocks noGrp="1"/>
          </p:cNvSpPr>
          <p:nvPr>
            <p:ph type="sldNum" sz="quarter" idx="12"/>
          </p:nvPr>
        </p:nvSpPr>
        <p:spPr/>
        <p:txBody>
          <a:bodyPr/>
          <a:lstStyle/>
          <a:p>
            <a:fld id="{1C9A23CB-5CFE-4917-83D8-8721FDB19016}" type="slidenum">
              <a:rPr lang="zh-SG" altLang="en-US" smtClean="0"/>
              <a:t>‹#›</a:t>
            </a:fld>
            <a:endParaRPr lang="zh-SG"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322" y="365125"/>
            <a:ext cx="10517123" cy="1325563"/>
          </a:xfrm>
          <a:prstGeom prst="rect">
            <a:avLst/>
          </a:prstGeom>
        </p:spPr>
        <p:txBody>
          <a:bodyPr vert="horz" lIns="91440" tIns="45720" rIns="91440" bIns="45720" rtlCol="0" anchor="ctr">
            <a:normAutofit/>
          </a:bodyPr>
          <a:lstStyle/>
          <a:p>
            <a:r>
              <a:rPr lang="en-US" altLang="zh-SG"/>
              <a:t>Click to edit Master title style</a:t>
            </a:r>
            <a:endParaRPr lang="en-US" dirty="0"/>
          </a:p>
        </p:txBody>
      </p:sp>
      <p:sp>
        <p:nvSpPr>
          <p:cNvPr id="3" name="Text Placeholder 2"/>
          <p:cNvSpPr>
            <a:spLocks noGrp="1"/>
          </p:cNvSpPr>
          <p:nvPr>
            <p:ph type="body" idx="1"/>
          </p:nvPr>
        </p:nvSpPr>
        <p:spPr>
          <a:xfrm>
            <a:off x="838322" y="1825625"/>
            <a:ext cx="10517123" cy="4351338"/>
          </a:xfrm>
          <a:prstGeom prst="rect">
            <a:avLst/>
          </a:prstGeom>
        </p:spPr>
        <p:txBody>
          <a:bodyPr vert="horz" lIns="91440" tIns="45720" rIns="91440" bIns="45720" rtlCol="0">
            <a:normAutofit/>
          </a:bodyPr>
          <a:lstStyle/>
          <a:p>
            <a:pPr lvl="0"/>
            <a:r>
              <a:rPr lang="en-US" altLang="zh-SG"/>
              <a:t>Click to edit Master text styles</a:t>
            </a:r>
          </a:p>
          <a:p>
            <a:pPr lvl="1"/>
            <a:r>
              <a:rPr lang="en-US" altLang="zh-SG"/>
              <a:t>Second level</a:t>
            </a:r>
          </a:p>
          <a:p>
            <a:pPr lvl="2"/>
            <a:r>
              <a:rPr lang="en-US" altLang="zh-SG"/>
              <a:t>Third level</a:t>
            </a:r>
          </a:p>
          <a:p>
            <a:pPr lvl="3"/>
            <a:r>
              <a:rPr lang="en-US" altLang="zh-SG"/>
              <a:t>Fourth level</a:t>
            </a:r>
          </a:p>
          <a:p>
            <a:pPr lvl="4"/>
            <a:r>
              <a:rPr lang="en-US" altLang="zh-SG"/>
              <a:t>Fifth level</a:t>
            </a:r>
            <a:endParaRPr lang="en-US" dirty="0"/>
          </a:p>
        </p:txBody>
      </p:sp>
      <p:sp>
        <p:nvSpPr>
          <p:cNvPr id="4" name="Date Placeholder 3"/>
          <p:cNvSpPr>
            <a:spLocks noGrp="1"/>
          </p:cNvSpPr>
          <p:nvPr>
            <p:ph type="dt" sz="half" idx="2"/>
          </p:nvPr>
        </p:nvSpPr>
        <p:spPr>
          <a:xfrm>
            <a:off x="838322" y="6356350"/>
            <a:ext cx="2743597"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7AB981-53CD-4E32-A78E-0C3AF3AF37E2}" type="datetimeFigureOut">
              <a:rPr lang="zh-SG" altLang="en-US" smtClean="0"/>
              <a:t>02/10/26</a:t>
            </a:fld>
            <a:endParaRPr lang="zh-SG" altLang="en-US"/>
          </a:p>
        </p:txBody>
      </p:sp>
      <p:sp>
        <p:nvSpPr>
          <p:cNvPr id="5" name="Footer Placeholder 4"/>
          <p:cNvSpPr>
            <a:spLocks noGrp="1"/>
          </p:cNvSpPr>
          <p:nvPr>
            <p:ph type="ftr" sz="quarter" idx="3"/>
          </p:nvPr>
        </p:nvSpPr>
        <p:spPr>
          <a:xfrm>
            <a:off x="4039186" y="6356350"/>
            <a:ext cx="4115396"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SG" altLang="en-US"/>
          </a:p>
        </p:txBody>
      </p:sp>
      <p:sp>
        <p:nvSpPr>
          <p:cNvPr id="6" name="Slide Number Placeholder 5"/>
          <p:cNvSpPr>
            <a:spLocks noGrp="1"/>
          </p:cNvSpPr>
          <p:nvPr>
            <p:ph type="sldNum" sz="quarter" idx="4"/>
          </p:nvPr>
        </p:nvSpPr>
        <p:spPr>
          <a:xfrm>
            <a:off x="8611847" y="6356350"/>
            <a:ext cx="274359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9A23CB-5CFE-4917-83D8-8721FDB19016}" type="slidenum">
              <a:rPr lang="zh-SG" altLang="en-US" smtClean="0"/>
              <a:t>‹#›</a:t>
            </a:fld>
            <a:endParaRPr lang="zh-SG"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3.xml"/><Relationship Id="rId3" Type="http://schemas.openxmlformats.org/officeDocument/2006/relationships/notesSlide" Target="../notesSlides/notesSlide2.xm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svg"/></Relationships>
</file>

<file path=ppt/slides/_rels/slide5.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3.xml"/><Relationship Id="rId3" Type="http://schemas.openxmlformats.org/officeDocument/2006/relationships/notesSlide" Target="../notesSlides/notesSlide3.xm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svg"/></Relationships>
</file>

<file path=ppt/slides/_rels/slide7.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3.xml"/><Relationship Id="rId3" Type="http://schemas.openxmlformats.org/officeDocument/2006/relationships/notesSlide" Target="../notesSlides/notesSlide4.xm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svg"/></Relationships>
</file>

<file path=ppt/slides/_rels/slide9.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3.xml"/><Relationship Id="rId3" Type="http://schemas.openxmlformats.org/officeDocument/2006/relationships/notesSlide" Target="../notesSlides/notesSlide5.xm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svg"/></Relationships>
</file>

<file path=ppt/slides/_rels/slide11.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3.xml"/><Relationship Id="rId3" Type="http://schemas.openxmlformats.org/officeDocument/2006/relationships/notesSlide" Target="../notesSlides/notesSlide6.xm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5.pn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chart" Target="../charts/char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副标题 5"/>
          <p:cNvSpPr>
            <a:spLocks noGrp="1"/>
          </p:cNvSpPr>
          <p:nvPr>
            <p:ph type="subTitle" idx="4294967295"/>
          </p:nvPr>
        </p:nvSpPr>
        <p:spPr>
          <a:xfrm>
            <a:off x="4444682" y="5472310"/>
            <a:ext cx="3302635" cy="685800"/>
          </a:xfrm>
        </p:spPr>
        <p:txBody>
          <a:bodyPr vert="horz" lIns="91440" tIns="45720" rIns="91440" bIns="45720" anchor="ctr">
            <a:noAutofit/>
          </a:bodyPr>
          <a:lstStyle/>
          <a:p>
            <a:pPr marL="0" indent="0" algn="ctr" defTabSz="914400">
              <a:lnSpc>
                <a:spcPct val="100000"/>
              </a:lnSpc>
              <a:buNone/>
            </a:pPr>
            <a:r>
              <a:rPr lang="en-US" altLang="zh-CN" sz="1400" b="1" spc="600" dirty="0">
                <a:solidFill>
                  <a:srgbClr val="2C4E8F"/>
                </a:solidFill>
                <a:latin typeface="微软雅黑" panose="020B0503020204020204" charset="-122"/>
                <a:ea typeface="微软雅黑" panose="020B0503020204020204" charset="-122"/>
                <a:sym typeface="Arial" panose="020B0604020202020204" pitchFamily="34" charset="0"/>
              </a:rPr>
              <a:t>深圳供电局有限公司</a:t>
            </a:r>
            <a:r>
              <a:rPr lang="zh-CN" altLang="en-US" sz="1400" b="1" spc="600" dirty="0">
                <a:solidFill>
                  <a:srgbClr val="2C4E8F"/>
                </a:solidFill>
                <a:latin typeface="微软雅黑" panose="020B0503020204020204" charset="-122"/>
                <a:ea typeface="微软雅黑" panose="020B0503020204020204" charset="-122"/>
                <a:sym typeface="Arial" panose="020B0604020202020204" pitchFamily="34" charset="0"/>
              </a:rPr>
              <a:t/>
            </a:r>
            <a:endParaRPr lang="en-US" altLang="zh-CN" sz="1400" b="1" spc="600" dirty="0">
              <a:solidFill>
                <a:srgbClr val="2C4E8F"/>
              </a:solidFill>
              <a:latin typeface="微软雅黑" panose="020B0503020204020204" charset="-122"/>
              <a:ea typeface="微软雅黑" panose="020B0503020204020204" charset="-122"/>
              <a:sym typeface="Arial" panose="020B0604020202020204" pitchFamily="34" charset="0"/>
            </a:endParaRPr>
          </a:p>
          <a:p>
            <a:pPr marL="0" indent="0" algn="ctr" defTabSz="914400">
              <a:lnSpc>
                <a:spcPct val="100000"/>
              </a:lnSpc>
              <a:buNone/>
            </a:pPr>
            <a:r>
              <a:rPr lang="zh-CN" altLang="en-US" sz="1400" b="1" spc="600" dirty="0">
                <a:solidFill>
                  <a:srgbClr val="2C4E8F"/>
                </a:solidFill>
                <a:latin typeface="微软雅黑" panose="020B0503020204020204" charset="-122"/>
                <a:ea typeface="微软雅黑" panose="020B0503020204020204" charset="-122"/>
                <a:sym typeface="Arial" panose="020B0604020202020204" pitchFamily="34" charset="0"/>
              </a:rPr>
              <a:t>二〇二六年十月</a:t>
            </a:r>
            <a:r>
              <a:rPr lang="en-US" altLang="zh-CN" sz="1400" b="1" spc="600" dirty="0">
                <a:solidFill>
                  <a:srgbClr val="2C4E8F"/>
                </a:solidFill>
                <a:latin typeface="微软雅黑" panose="020B0503020204020204" charset="-122"/>
                <a:ea typeface="微软雅黑" panose="020B0503020204020204" charset="-122"/>
                <a:sym typeface="Arial" panose="020B0604020202020204" pitchFamily="34" charset="0"/>
              </a:rPr>
              <a:t/>
            </a:r>
            <a:r>
              <a:rPr lang="zh-CN" altLang="en-US" sz="1400" b="1" spc="600" dirty="0">
                <a:solidFill>
                  <a:srgbClr val="2C4E8F"/>
                </a:solidFill>
                <a:latin typeface="微软雅黑" panose="020B0503020204020204" charset="-122"/>
                <a:ea typeface="微软雅黑" panose="020B0503020204020204" charset="-122"/>
                <a:sym typeface="Arial" panose="020B0604020202020204" pitchFamily="34" charset="0"/>
              </a:rPr>
              <a:t/>
            </a:r>
            <a:r>
              <a:rPr lang="en-US" altLang="zh-CN" sz="1400" b="1" spc="600" dirty="0">
                <a:solidFill>
                  <a:srgbClr val="2C4E8F"/>
                </a:solidFill>
                <a:latin typeface="微软雅黑" panose="020B0503020204020204" charset="-122"/>
                <a:ea typeface="微软雅黑" panose="020B0503020204020204" charset="-122"/>
                <a:sym typeface="Arial" panose="020B0604020202020204" pitchFamily="34" charset="0"/>
              </a:rPr>
              <a:t/>
            </a:r>
            <a:r>
              <a:rPr lang="zh-CN" altLang="en-US" sz="1400" b="1" spc="600" dirty="0">
                <a:solidFill>
                  <a:srgbClr val="2C4E8F"/>
                </a:solidFill>
                <a:latin typeface="微软雅黑" panose="020B0503020204020204" charset="-122"/>
                <a:ea typeface="微软雅黑" panose="020B0503020204020204" charset="-122"/>
                <a:sym typeface="Arial" panose="020B0604020202020204" pitchFamily="34" charset="0"/>
              </a:rPr>
              <a:t/>
            </a:r>
            <a:endParaRPr lang="en-US" altLang="zh-CN" sz="1400" b="1" spc="600" dirty="0">
              <a:solidFill>
                <a:srgbClr val="2C4E8F"/>
              </a:solidFill>
              <a:latin typeface="微软雅黑" panose="020B0503020204020204" charset="-122"/>
              <a:ea typeface="微软雅黑" panose="020B0503020204020204" charset="-122"/>
              <a:sym typeface="Arial" panose="020B0604020202020204" pitchFamily="34" charset="0"/>
            </a:endParaRPr>
          </a:p>
        </p:txBody>
      </p:sp>
      <p:sp>
        <p:nvSpPr>
          <p:cNvPr id="10" name="文本框 9"/>
          <p:cNvSpPr txBox="1"/>
          <p:nvPr/>
        </p:nvSpPr>
        <p:spPr>
          <a:xfrm>
            <a:off x="671195" y="3401568"/>
            <a:ext cx="10850563" cy="1188720"/>
          </a:xfrm>
          <a:prstGeom prst="rect">
            <a:avLst/>
          </a:prstGeom>
          <a:noFill/>
          <a:effectLst/>
        </p:spPr>
        <p:txBody>
          <a:bodyPr wrap="square" rtlCol="0">
            <a:spAutoFit/>
          </a:bodyPr>
          <a:lstStyle/>
          <a:p>
            <a:pPr algn="ctr"/>
            <a:r>
              <a:rPr lang="zh-CN" altLang="en-US" sz="4800" b="1" spc="600" dirty="0">
                <a:solidFill>
                  <a:srgbClr val="2C4E8F"/>
                </a:solidFill>
                <a:latin typeface="微软雅黑" panose="020B0503020204020204" charset="-122"/>
                <a:ea typeface="微软雅黑" panose="020B0503020204020204" charset="-122"/>
                <a:cs typeface="微软雅黑"/>
              </a:rPr>
              <a:t>高效班组管理助手</a:t>
            </a:r>
          </a:p>
          <a:p>
            <a:pPr algn="ctr"/>
            <a:r>
              <a:rPr sz="2400" b="1" lang="zh-CN" altLang="en-US">
                <a:solidFill>
                  <a:srgbClr val="2C4E8F"/>
                </a:solidFill>
                <a:latin typeface="微软雅黑"/>
                <a:ea typeface="微软雅黑"/>
                <a:cs typeface="微软雅黑"/>
              </a:rPr>
              <a:t>班组数字画像与班组长AI助手</a:t>
            </a:r>
          </a:p>
        </p:txBody>
      </p:sp>
      <p:cxnSp>
        <p:nvCxnSpPr>
          <p:cNvPr id="15" name="直接连接符 14"/>
          <p:cNvCxnSpPr/>
          <p:nvPr/>
        </p:nvCxnSpPr>
        <p:spPr>
          <a:xfrm>
            <a:off x="1464816" y="4736362"/>
            <a:ext cx="9135122" cy="0"/>
          </a:xfrm>
          <a:prstGeom prst="line">
            <a:avLst/>
          </a:prstGeom>
          <a:ln w="25400">
            <a:solidFill>
              <a:srgbClr val="00377B"/>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671195" y="4874149"/>
            <a:ext cx="10850563" cy="460375"/>
          </a:xfrm>
          <a:prstGeom prst="rect">
            <a:avLst/>
          </a:prstGeom>
          <a:noFill/>
          <a:effectLst/>
        </p:spPr>
        <p:txBody>
          <a:bodyPr wrap="square" rtlCol="0">
            <a:spAutoFit/>
          </a:bodyPr>
          <a:lstStyle/>
          <a:p>
            <a:pPr algn="ctr"/>
            <a:r>
              <a:rPr lang="zh-CN" altLang="en-US" sz="2400" b="1" spc="600" dirty="0">
                <a:solidFill>
                  <a:srgbClr val="2C4E8F"/>
                </a:solidFill>
                <a:latin typeface="微软雅黑" panose="020B0503020204020204" charset="-122"/>
                <a:ea typeface="微软雅黑" panose="020B0503020204020204" charset="-122"/>
              </a:rPr>
              <a:t>高效班组管理助手项目组</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9"/>
          <p:cNvSpPr txBox="1">
            <a:spLocks noChangeArrowheads="1"/>
          </p:cNvSpPr>
          <p:nvPr/>
        </p:nvSpPr>
        <p:spPr bwMode="auto">
          <a:xfrm>
            <a:off x="806092" y="1703630"/>
            <a:ext cx="10581582" cy="318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1" fontAlgn="base" hangingPunct="1">
              <a:lnSpc>
                <a:spcPct val="150000"/>
              </a:lnSpc>
              <a:spcBef>
                <a:spcPct val="0"/>
              </a:spcBef>
              <a:spcAft>
                <a:spcPts val="450"/>
              </a:spcAft>
              <a:defRPr/>
            </a:pPr>
            <a:r>
              <a:rPr lang="zh-CN" altLang="en-US" b="1" dirty="0">
                <a:latin typeface="微软雅黑" panose="020B0503020204020204" charset="-122"/>
                <a:ea typeface="微软雅黑" panose="020B0503020204020204" charset="-122"/>
              </a:rPr>
              <a:t>知识产权声明</a:t>
            </a:r>
            <a:endParaRPr lang="en-US" altLang="zh-CN" sz="1200" b="1" dirty="0">
              <a:latin typeface="微软雅黑" panose="020B0503020204020204" charset="-122"/>
              <a:ea typeface="微软雅黑" panose="020B0503020204020204" charset="-122"/>
            </a:endParaRPr>
          </a:p>
          <a:p>
            <a:pPr algn="just" defTabSz="685800" eaLnBrk="1" fontAlgn="base" hangingPunct="1">
              <a:lnSpc>
                <a:spcPct val="150000"/>
              </a:lnSpc>
              <a:spcBef>
                <a:spcPct val="0"/>
              </a:spcBef>
              <a:spcAft>
                <a:spcPct val="0"/>
              </a:spcAft>
              <a:defRPr/>
            </a:pPr>
            <a:r>
              <a:rPr lang="zh-CN" altLang="en-US" sz="1500" dirty="0">
                <a:latin typeface="微软雅黑" panose="020B0503020204020204" charset="-122"/>
                <a:ea typeface="微软雅黑" panose="020B0503020204020204" charset="-122"/>
              </a:rPr>
              <a:t>本文件的知识产权属南方电网公司所有。对本文件的使用及处置应严格遵循南方电网公司有关规定或</a:t>
            </a:r>
            <a:r>
              <a:rPr lang="zh-CN" altLang="en-US" sz="1500" dirty="0">
                <a:latin typeface="微软雅黑" panose="020B0503020204020204" charset="-122"/>
                <a:ea typeface="微软雅黑" panose="020B0503020204020204" charset="-122"/>
                <a:sym typeface="+mn-ea"/>
              </a:rPr>
              <a:t>获取</a:t>
            </a:r>
            <a:r>
              <a:rPr lang="zh-CN" altLang="en-US" sz="1500" dirty="0">
                <a:latin typeface="微软雅黑" panose="020B0503020204020204" charset="-122"/>
                <a:ea typeface="微软雅黑" panose="020B0503020204020204" charset="-122"/>
              </a:rPr>
              <a:t>本文件的合同及约定的条件和要求。未经南方电网公司事先书面同意，不得对外披露、复制。</a:t>
            </a:r>
          </a:p>
          <a:p>
            <a:pPr algn="just" defTabSz="685800" eaLnBrk="1" fontAlgn="base" hangingPunct="1">
              <a:lnSpc>
                <a:spcPct val="150000"/>
              </a:lnSpc>
              <a:spcBef>
                <a:spcPct val="0"/>
              </a:spcBef>
              <a:spcAft>
                <a:spcPct val="0"/>
              </a:spcAft>
              <a:defRPr/>
            </a:pPr>
            <a:endParaRPr lang="en-US" altLang="zh-CN" sz="900" dirty="0">
              <a:latin typeface="微软雅黑" panose="020B0503020204020204" charset="-122"/>
              <a:ea typeface="微软雅黑" panose="020B0503020204020204" charset="-122"/>
            </a:endParaRPr>
          </a:p>
          <a:p>
            <a:pPr algn="just" defTabSz="685800" eaLnBrk="1" fontAlgn="base" hangingPunct="1">
              <a:lnSpc>
                <a:spcPct val="150000"/>
              </a:lnSpc>
              <a:spcBef>
                <a:spcPct val="0"/>
              </a:spcBef>
              <a:spcAft>
                <a:spcPct val="0"/>
              </a:spcAft>
              <a:defRPr/>
            </a:pPr>
            <a:endParaRPr lang="en-US" altLang="zh-CN" sz="900" dirty="0">
              <a:latin typeface="Calibri" panose="020F0502020204030204" pitchFamily="34" charset="0"/>
            </a:endParaRPr>
          </a:p>
          <a:p>
            <a:pPr algn="ctr" defTabSz="685800" eaLnBrk="1" fontAlgn="base" hangingPunct="1">
              <a:lnSpc>
                <a:spcPct val="150000"/>
              </a:lnSpc>
              <a:spcBef>
                <a:spcPct val="0"/>
              </a:spcBef>
              <a:spcAft>
                <a:spcPts val="450"/>
              </a:spcAft>
              <a:defRPr/>
            </a:pPr>
            <a:r>
              <a:rPr lang="en-US" altLang="zh-CN" b="1" i="1" dirty="0">
                <a:latin typeface="Times New Roman" panose="02020603050405020304" pitchFamily="18" charset="0"/>
                <a:cs typeface="Times New Roman" panose="02020603050405020304" pitchFamily="18" charset="0"/>
              </a:rPr>
              <a:t>Intellectual Property Rights Statement </a:t>
            </a:r>
            <a:endParaRPr lang="en-US" altLang="zh-CN" sz="1200" b="1" i="1" dirty="0">
              <a:latin typeface="Times New Roman" panose="02020603050405020304" pitchFamily="18" charset="0"/>
              <a:cs typeface="Times New Roman" panose="02020603050405020304" pitchFamily="18" charset="0"/>
            </a:endParaRPr>
          </a:p>
          <a:p>
            <a:pPr algn="just" defTabSz="685800" eaLnBrk="1" fontAlgn="base" hangingPunct="1">
              <a:lnSpc>
                <a:spcPct val="150000"/>
              </a:lnSpc>
              <a:spcBef>
                <a:spcPct val="0"/>
              </a:spcBef>
              <a:spcAft>
                <a:spcPct val="0"/>
              </a:spcAft>
              <a:defRPr/>
            </a:pPr>
            <a:r>
              <a:rPr lang="en-US" altLang="zh-CN" sz="1500" i="1" dirty="0">
                <a:latin typeface="Times New Roman" panose="02020603050405020304" pitchFamily="18" charset="0"/>
                <a:cs typeface="Times New Roman" panose="02020603050405020304" pitchFamily="18" charset="0"/>
              </a:rPr>
              <a:t>This document is the property of and contains proprietary information owned by CSG and/or its related proprietor. You agree to treat this document in strict accordance with the terms and conditions of the agreement under which it was provided to you. No disclosure or copy of this document is permitted without the prior written permission of CSG.</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02" y="181637"/>
            <a:ext cx="8138082" cy="418058"/>
          </a:xfrm>
        </p:spPr>
        <p:txBody>
          <a:bodyPr>
            <a:noAutofit/>
          </a:bodyPr>
          <a:lstStyle/>
          <a:p>
            <a:r>
              <a:rPr lang="zh-CN" altLang="en-US" sz="2400"/>
              <a:t>目录</a:t>
            </a:r>
          </a:p>
        </p:txBody>
      </p:sp>
      <p:pic>
        <p:nvPicPr>
          <p:cNvPr id="18" name="图片 15"/>
          <p:cNvPicPr>
            <a:picLocks noChangeAspect="1"/>
          </p:cNvPicPr>
          <p:nvPr/>
        </p:nvPicPr>
        <p:blipFill rotWithShape="1">
          <a:blip r:embed="rId4"/>
          <a:srcRect l="11383" t="8193" r="11087" b="29077"/>
          <a:stretch>
            <a:fillRect/>
          </a:stretch>
        </p:blipFill>
        <p:spPr>
          <a:xfrm>
            <a:off x="430088" y="1593630"/>
            <a:ext cx="3511883" cy="1941322"/>
          </a:xfrm>
          <a:prstGeom prst="rect">
            <a:avLst/>
          </a:prstGeom>
        </p:spPr>
      </p:pic>
      <p:grpSp>
        <p:nvGrpSpPr>
          <p:cNvPr id="35" name="组合 34"/>
          <p:cNvGrpSpPr/>
          <p:nvPr/>
        </p:nvGrpSpPr>
        <p:grpSpPr>
          <a:xfrm>
            <a:off x="4443730" y="1464310"/>
            <a:ext cx="6363335" cy="817880"/>
            <a:chOff x="6961" y="1508"/>
            <a:chExt cx="10021" cy="1288"/>
          </a:xfrm>
        </p:grpSpPr>
        <p:sp>
          <p:nvSpPr>
            <p:cNvPr id="33" name="Rectangle 10"/>
            <p:cNvSpPr>
              <a:spLocks noChangeArrowheads="1"/>
            </p:cNvSpPr>
            <p:nvPr/>
          </p:nvSpPr>
          <p:spPr bwMode="auto">
            <a:xfrm>
              <a:off x="6961" y="1508"/>
              <a:ext cx="1287" cy="1288"/>
            </a:xfrm>
            <a:prstGeom prst="rect">
              <a:avLst/>
            </a:prstGeom>
            <a:solidFill>
              <a:srgbClr val="2E5495"/>
            </a:solidFill>
            <a:ln w="12700">
              <a:solidFill>
                <a:srgbClr val="003679"/>
              </a:solid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prstClr val="white"/>
                  </a:solidFill>
                  <a:cs typeface="+mn-ea"/>
                  <a:sym typeface="+mn-lt"/>
                </a:rPr>
                <a:t>一</a:t>
              </a:r>
            </a:p>
          </p:txBody>
        </p:sp>
        <p:sp>
          <p:nvSpPr>
            <p:cNvPr id="36" name="Rectangle 9"/>
            <p:cNvSpPr>
              <a:spLocks noChangeArrowheads="1"/>
            </p:cNvSpPr>
            <p:nvPr/>
          </p:nvSpPr>
          <p:spPr bwMode="auto">
            <a:xfrm>
              <a:off x="8390" y="1508"/>
              <a:ext cx="8592" cy="1288"/>
            </a:xfrm>
            <a:prstGeom prst="rect">
              <a:avLst/>
            </a:prstGeom>
            <a:solidFill>
              <a:srgbClr val="2E5495"/>
            </a:solidFill>
            <a:ln w="12700">
              <a:solidFill>
                <a:srgbClr val="003679"/>
              </a:solid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prstClr val="white"/>
                  </a:solidFill>
                  <a:cs typeface="+mn-ea"/>
                  <a:sym typeface="+mn-lt"/>
                </a:rPr>
                <a:t>  </a:t>
              </a:r>
              <a:r>
                <a:rPr lang="zh-CN" altLang="en-US" b="1" dirty="0">
                  <a:solidFill>
                    <a:prstClr val="white"/>
                  </a:solidFill>
                  <a:cs typeface="+mn-ea"/>
                  <a:sym typeface="+mn-lt"/>
                </a:rPr>
                <a:t>成果介绍</a:t>
              </a:r>
            </a:p>
          </p:txBody>
        </p:sp>
        <p:pic>
          <p:nvPicPr>
            <p:cNvPr id="29" name="图片 249"/>
            <p:cNvPicPr>
              <a:picLocks noChangeAspect="1"/>
            </p:cNvPicPr>
            <p:nvPr/>
          </p:nvPicPr>
          <p:blipFill>
            <a:blip r:embed="rId5"/>
            <a:stretch>
              <a:fillRect/>
            </a:stretch>
          </p:blipFill>
          <p:spPr bwMode="auto">
            <a:xfrm>
              <a:off x="15965" y="1802"/>
              <a:ext cx="697" cy="700"/>
            </a:xfrm>
            <a:prstGeom prst="rect">
              <a:avLst/>
            </a:prstGeom>
            <a:solidFill>
              <a:srgbClr val="2E5495"/>
            </a:solidFill>
            <a:ln w="12700">
              <a:noFill/>
              <a:miter lim="800000"/>
              <a:headEnd/>
              <a:tailEnd/>
            </a:ln>
          </p:spPr>
        </p:pic>
      </p:grpSp>
      <p:grpSp>
        <p:nvGrpSpPr>
          <p:cNvPr id="37" name="组合 36"/>
          <p:cNvGrpSpPr/>
          <p:nvPr/>
        </p:nvGrpSpPr>
        <p:grpSpPr>
          <a:xfrm>
            <a:off x="4443730" y="2367280"/>
            <a:ext cx="6363335" cy="817880"/>
            <a:chOff x="6961" y="2930"/>
            <a:chExt cx="10021" cy="1288"/>
          </a:xfrm>
        </p:grpSpPr>
        <p:sp>
          <p:nvSpPr>
            <p:cNvPr id="4" name="Rectangle 10"/>
            <p:cNvSpPr>
              <a:spLocks noChangeArrowheads="1"/>
            </p:cNvSpPr>
            <p:nvPr/>
          </p:nvSpPr>
          <p:spPr bwMode="auto">
            <a:xfrm>
              <a:off x="6961" y="2930"/>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schemeClr val="bg1"/>
                  </a:solidFill>
                  <a:cs typeface="+mn-ea"/>
                  <a:sym typeface="+mn-lt"/>
                </a:rPr>
                <a:t>二</a:t>
              </a:r>
            </a:p>
          </p:txBody>
        </p:sp>
        <p:sp>
          <p:nvSpPr>
            <p:cNvPr id="9" name="Rectangle 5"/>
            <p:cNvSpPr>
              <a:spLocks noChangeArrowheads="1"/>
            </p:cNvSpPr>
            <p:nvPr/>
          </p:nvSpPr>
          <p:spPr bwMode="auto">
            <a:xfrm>
              <a:off x="8390" y="2930"/>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zh-CN" altLang="en-US" b="1">
                  <a:solidFill>
                    <a:schemeClr val="bg1"/>
                  </a:solidFill>
                  <a:cs typeface="+mn-ea"/>
                  <a:sym typeface="+mn-lt"/>
                </a:rPr>
                <a:t>   解决方案</a:t>
              </a:r>
            </a:p>
          </p:txBody>
        </p:sp>
        <p:pic>
          <p:nvPicPr>
            <p:cNvPr id="30" name="图片 264"/>
            <p:cNvPicPr>
              <a:picLocks noChangeAspect="1"/>
            </p:cNvPicPr>
            <p:nvPr/>
          </p:nvPicPr>
          <p:blipFill>
            <a:blip r:embed="rId6"/>
            <a:stretch>
              <a:fillRect/>
            </a:stretch>
          </p:blipFill>
          <p:spPr bwMode="auto">
            <a:xfrm>
              <a:off x="15973" y="3233"/>
              <a:ext cx="681" cy="681"/>
            </a:xfrm>
            <a:prstGeom prst="rect">
              <a:avLst/>
            </a:prstGeom>
            <a:solidFill>
              <a:srgbClr val="CDCDCD"/>
            </a:solidFill>
            <a:ln w="12700">
              <a:noFill/>
              <a:miter lim="800000"/>
              <a:headEnd/>
              <a:tailEnd/>
            </a:ln>
          </p:spPr>
        </p:pic>
      </p:grpSp>
      <p:grpSp>
        <p:nvGrpSpPr>
          <p:cNvPr id="38" name="组合 37"/>
          <p:cNvGrpSpPr/>
          <p:nvPr/>
        </p:nvGrpSpPr>
        <p:grpSpPr>
          <a:xfrm>
            <a:off x="4443095" y="3270250"/>
            <a:ext cx="6363335" cy="817880"/>
            <a:chOff x="6960" y="4352"/>
            <a:chExt cx="10021" cy="1288"/>
          </a:xfrm>
        </p:grpSpPr>
        <p:sp>
          <p:nvSpPr>
            <p:cNvPr id="24" name="Rectangle 13"/>
            <p:cNvSpPr>
              <a:spLocks noChangeArrowheads="1"/>
            </p:cNvSpPr>
            <p:nvPr/>
          </p:nvSpPr>
          <p:spPr bwMode="auto">
            <a:xfrm>
              <a:off x="6960" y="4352"/>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schemeClr val="bg1"/>
                  </a:solidFill>
                  <a:cs typeface="+mn-ea"/>
                  <a:sym typeface="+mn-lt"/>
                </a:rPr>
                <a:t>三</a:t>
              </a:r>
            </a:p>
          </p:txBody>
        </p:sp>
        <p:sp>
          <p:nvSpPr>
            <p:cNvPr id="25" name="Rectangle 5"/>
            <p:cNvSpPr>
              <a:spLocks noChangeArrowheads="1"/>
            </p:cNvSpPr>
            <p:nvPr/>
          </p:nvSpPr>
          <p:spPr bwMode="auto">
            <a:xfrm>
              <a:off x="8389" y="4352"/>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a:solidFill>
                    <a:schemeClr val="bg1"/>
                  </a:solidFill>
                  <a:cs typeface="+mn-ea"/>
                  <a:sym typeface="+mn-lt"/>
                </a:rPr>
                <a:t>   </a:t>
              </a:r>
              <a:r>
                <a:rPr lang="zh-CN" altLang="en-US" b="1">
                  <a:solidFill>
                    <a:schemeClr val="bg1"/>
                  </a:solidFill>
                  <a:cs typeface="+mn-ea"/>
                  <a:sym typeface="+mn-lt"/>
                </a:rPr>
                <a:t>应用成效</a:t>
              </a:r>
            </a:p>
          </p:txBody>
        </p:sp>
        <p:sp>
          <p:nvSpPr>
            <p:cNvPr id="26" name="KSO_Shape"/>
            <p:cNvSpPr/>
            <p:nvPr/>
          </p:nvSpPr>
          <p:spPr bwMode="auto">
            <a:xfrm>
              <a:off x="15986" y="4659"/>
              <a:ext cx="656" cy="674"/>
            </a:xfrm>
            <a:custGeom>
              <a:avLst/>
              <a:gdLst>
                <a:gd name="T0" fmla="*/ 984018 w 1589088"/>
                <a:gd name="T1" fmla="*/ 589506 h 1589088"/>
                <a:gd name="T2" fmla="*/ 955171 w 1589088"/>
                <a:gd name="T3" fmla="*/ 645802 h 1589088"/>
                <a:gd name="T4" fmla="*/ 898294 w 1589088"/>
                <a:gd name="T5" fmla="*/ 673272 h 1589088"/>
                <a:gd name="T6" fmla="*/ 881422 w 1589088"/>
                <a:gd name="T7" fmla="*/ 964824 h 1589088"/>
                <a:gd name="T8" fmla="*/ 873530 w 1589088"/>
                <a:gd name="T9" fmla="*/ 1040159 h 1589088"/>
                <a:gd name="T10" fmla="*/ 824817 w 1589088"/>
                <a:gd name="T11" fmla="*/ 1084490 h 1589088"/>
                <a:gd name="T12" fmla="*/ 756238 w 1589088"/>
                <a:gd name="T13" fmla="*/ 1088026 h 1589088"/>
                <a:gd name="T14" fmla="*/ 703444 w 1589088"/>
                <a:gd name="T15" fmla="*/ 1048590 h 1589088"/>
                <a:gd name="T16" fmla="*/ 686571 w 1589088"/>
                <a:gd name="T17" fmla="*/ 985493 h 1589088"/>
                <a:gd name="T18" fmla="*/ 486007 w 1589088"/>
                <a:gd name="T19" fmla="*/ 893024 h 1589088"/>
                <a:gd name="T20" fmla="*/ 398106 w 1589088"/>
                <a:gd name="T21" fmla="*/ 820680 h 1589088"/>
                <a:gd name="T22" fmla="*/ 402189 w 1589088"/>
                <a:gd name="T23" fmla="*/ 755134 h 1589088"/>
                <a:gd name="T24" fmla="*/ 446547 w 1589088"/>
                <a:gd name="T25" fmla="*/ 706452 h 1589088"/>
                <a:gd name="T26" fmla="*/ 514037 w 1589088"/>
                <a:gd name="T27" fmla="*/ 696389 h 1589088"/>
                <a:gd name="T28" fmla="*/ 570641 w 1589088"/>
                <a:gd name="T29" fmla="*/ 730385 h 1589088"/>
                <a:gd name="T30" fmla="*/ 593501 w 1589088"/>
                <a:gd name="T31" fmla="*/ 794027 h 1589088"/>
                <a:gd name="T32" fmla="*/ 818558 w 1589088"/>
                <a:gd name="T33" fmla="*/ 648522 h 1589088"/>
                <a:gd name="T34" fmla="*/ 785901 w 1589088"/>
                <a:gd name="T35" fmla="*/ 575091 h 1589088"/>
                <a:gd name="T36" fmla="*/ 808761 w 1589088"/>
                <a:gd name="T37" fmla="*/ 511721 h 1589088"/>
                <a:gd name="T38" fmla="*/ 865365 w 1589088"/>
                <a:gd name="T39" fmla="*/ 477726 h 1589088"/>
                <a:gd name="T40" fmla="*/ 728574 w 1589088"/>
                <a:gd name="T41" fmla="*/ 144010 h 1589088"/>
                <a:gd name="T42" fmla="*/ 531280 w 1589088"/>
                <a:gd name="T43" fmla="*/ 182593 h 1589088"/>
                <a:gd name="T44" fmla="*/ 353281 w 1589088"/>
                <a:gd name="T45" fmla="*/ 288291 h 1589088"/>
                <a:gd name="T46" fmla="*/ 219577 w 1589088"/>
                <a:gd name="T47" fmla="*/ 451592 h 1589088"/>
                <a:gd name="T48" fmla="*/ 152454 w 1589088"/>
                <a:gd name="T49" fmla="*/ 642880 h 1589088"/>
                <a:gd name="T50" fmla="*/ 152454 w 1589088"/>
                <a:gd name="T51" fmla="*/ 843135 h 1589088"/>
                <a:gd name="T52" fmla="*/ 219577 w 1589088"/>
                <a:gd name="T53" fmla="*/ 1034422 h 1589088"/>
                <a:gd name="T54" fmla="*/ 353281 w 1589088"/>
                <a:gd name="T55" fmla="*/ 1197724 h 1589088"/>
                <a:gd name="T56" fmla="*/ 531280 w 1589088"/>
                <a:gd name="T57" fmla="*/ 1303421 h 1589088"/>
                <a:gd name="T58" fmla="*/ 728574 w 1589088"/>
                <a:gd name="T59" fmla="*/ 1341734 h 1589088"/>
                <a:gd name="T60" fmla="*/ 927227 w 1589088"/>
                <a:gd name="T61" fmla="*/ 1312931 h 1589088"/>
                <a:gd name="T62" fmla="*/ 1109302 w 1589088"/>
                <a:gd name="T63" fmla="*/ 1217015 h 1589088"/>
                <a:gd name="T64" fmla="*/ 1251431 w 1589088"/>
                <a:gd name="T65" fmla="*/ 1059964 h 1589088"/>
                <a:gd name="T66" fmla="*/ 1328065 w 1589088"/>
                <a:gd name="T67" fmla="*/ 871393 h 1589088"/>
                <a:gd name="T68" fmla="*/ 1337576 w 1589088"/>
                <a:gd name="T69" fmla="*/ 671410 h 1589088"/>
                <a:gd name="T70" fmla="*/ 1280237 w 1589088"/>
                <a:gd name="T71" fmla="*/ 477677 h 1589088"/>
                <a:gd name="T72" fmla="*/ 1155500 w 1589088"/>
                <a:gd name="T73" fmla="*/ 308670 h 1589088"/>
                <a:gd name="T74" fmla="*/ 981849 w 1589088"/>
                <a:gd name="T75" fmla="*/ 193462 h 1589088"/>
                <a:gd name="T76" fmla="*/ 785915 w 1589088"/>
                <a:gd name="T77" fmla="*/ 145640 h 1589088"/>
                <a:gd name="T78" fmla="*/ 902226 w 1589088"/>
                <a:gd name="T79" fmla="*/ 17390 h 1589088"/>
                <a:gd name="T80" fmla="*/ 1136207 w 1589088"/>
                <a:gd name="T81" fmla="*/ 112491 h 1589088"/>
                <a:gd name="T82" fmla="*/ 1320999 w 1589088"/>
                <a:gd name="T83" fmla="*/ 276063 h 1589088"/>
                <a:gd name="T84" fmla="*/ 1429702 w 1589088"/>
                <a:gd name="T85" fmla="*/ 459201 h 1589088"/>
                <a:gd name="T86" fmla="*/ 1481334 w 1589088"/>
                <a:gd name="T87" fmla="*/ 660270 h 1589088"/>
                <a:gd name="T88" fmla="*/ 1475356 w 1589088"/>
                <a:gd name="T89" fmla="*/ 866502 h 1589088"/>
                <a:gd name="T90" fmla="*/ 1412581 w 1589088"/>
                <a:gd name="T91" fmla="*/ 1064855 h 1589088"/>
                <a:gd name="T92" fmla="*/ 1892771 w 1589088"/>
                <a:gd name="T93" fmla="*/ 1636001 h 1589088"/>
                <a:gd name="T94" fmla="*/ 1896304 w 1589088"/>
                <a:gd name="T95" fmla="*/ 1759632 h 1589088"/>
                <a:gd name="T96" fmla="*/ 1783798 w 1589088"/>
                <a:gd name="T97" fmla="*/ 1885980 h 1589088"/>
                <a:gd name="T98" fmla="*/ 1662866 w 1589088"/>
                <a:gd name="T99" fmla="*/ 1900381 h 1589088"/>
                <a:gd name="T100" fmla="*/ 1104954 w 1589088"/>
                <a:gd name="T101" fmla="*/ 1391458 h 1589088"/>
                <a:gd name="T102" fmla="*/ 909835 w 1589088"/>
                <a:gd name="T103" fmla="*/ 1466451 h 1589088"/>
                <a:gd name="T104" fmla="*/ 704388 w 1589088"/>
                <a:gd name="T105" fmla="*/ 1484656 h 1589088"/>
                <a:gd name="T106" fmla="*/ 501116 w 1589088"/>
                <a:gd name="T107" fmla="*/ 1445528 h 1589088"/>
                <a:gd name="T108" fmla="*/ 313061 w 1589088"/>
                <a:gd name="T109" fmla="*/ 1349069 h 1589088"/>
                <a:gd name="T110" fmla="*/ 143758 w 1589088"/>
                <a:gd name="T111" fmla="*/ 1181965 h 1589088"/>
                <a:gd name="T112" fmla="*/ 30708 w 1589088"/>
                <a:gd name="T113" fmla="*/ 954538 h 1589088"/>
                <a:gd name="T114" fmla="*/ 815 w 1589088"/>
                <a:gd name="T115" fmla="*/ 707277 h 1589088"/>
                <a:gd name="T116" fmla="*/ 54351 w 1589088"/>
                <a:gd name="T117" fmla="*/ 463275 h 1589088"/>
                <a:gd name="T118" fmla="*/ 191315 w 1589088"/>
                <a:gd name="T119" fmla="*/ 245360 h 1589088"/>
                <a:gd name="T120" fmla="*/ 397577 w 1589088"/>
                <a:gd name="T121" fmla="*/ 85319 h 1589088"/>
                <a:gd name="T122" fmla="*/ 636177 w 1589088"/>
                <a:gd name="T123" fmla="*/ 7880 h 15890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589088" h="1589088">
                  <a:moveTo>
                    <a:pt x="916859" y="288925"/>
                  </a:moveTo>
                  <a:lnTo>
                    <a:pt x="954088" y="332030"/>
                  </a:lnTo>
                  <a:lnTo>
                    <a:pt x="816067" y="450682"/>
                  </a:lnTo>
                  <a:lnTo>
                    <a:pt x="817430" y="454085"/>
                  </a:lnTo>
                  <a:lnTo>
                    <a:pt x="818338" y="457488"/>
                  </a:lnTo>
                  <a:lnTo>
                    <a:pt x="819246" y="461118"/>
                  </a:lnTo>
                  <a:lnTo>
                    <a:pt x="820381" y="464748"/>
                  </a:lnTo>
                  <a:lnTo>
                    <a:pt x="820835" y="468378"/>
                  </a:lnTo>
                  <a:lnTo>
                    <a:pt x="821289" y="472008"/>
                  </a:lnTo>
                  <a:lnTo>
                    <a:pt x="821743" y="475865"/>
                  </a:lnTo>
                  <a:lnTo>
                    <a:pt x="821743" y="479722"/>
                  </a:lnTo>
                  <a:lnTo>
                    <a:pt x="821743" y="483805"/>
                  </a:lnTo>
                  <a:lnTo>
                    <a:pt x="821289" y="487662"/>
                  </a:lnTo>
                  <a:lnTo>
                    <a:pt x="820835" y="491746"/>
                  </a:lnTo>
                  <a:lnTo>
                    <a:pt x="820154" y="495602"/>
                  </a:lnTo>
                  <a:lnTo>
                    <a:pt x="819246" y="499459"/>
                  </a:lnTo>
                  <a:lnTo>
                    <a:pt x="818338" y="503089"/>
                  </a:lnTo>
                  <a:lnTo>
                    <a:pt x="816976" y="506946"/>
                  </a:lnTo>
                  <a:lnTo>
                    <a:pt x="815840" y="510349"/>
                  </a:lnTo>
                  <a:lnTo>
                    <a:pt x="814251" y="513979"/>
                  </a:lnTo>
                  <a:lnTo>
                    <a:pt x="812662" y="517382"/>
                  </a:lnTo>
                  <a:lnTo>
                    <a:pt x="810619" y="520785"/>
                  </a:lnTo>
                  <a:lnTo>
                    <a:pt x="808803" y="523961"/>
                  </a:lnTo>
                  <a:lnTo>
                    <a:pt x="806760" y="527137"/>
                  </a:lnTo>
                  <a:lnTo>
                    <a:pt x="804263" y="530313"/>
                  </a:lnTo>
                  <a:lnTo>
                    <a:pt x="801993" y="533036"/>
                  </a:lnTo>
                  <a:lnTo>
                    <a:pt x="799496" y="535985"/>
                  </a:lnTo>
                  <a:lnTo>
                    <a:pt x="796772" y="538707"/>
                  </a:lnTo>
                  <a:lnTo>
                    <a:pt x="794048" y="541203"/>
                  </a:lnTo>
                  <a:lnTo>
                    <a:pt x="791324" y="543698"/>
                  </a:lnTo>
                  <a:lnTo>
                    <a:pt x="788146" y="545967"/>
                  </a:lnTo>
                  <a:lnTo>
                    <a:pt x="785194" y="548009"/>
                  </a:lnTo>
                  <a:lnTo>
                    <a:pt x="781789" y="550051"/>
                  </a:lnTo>
                  <a:lnTo>
                    <a:pt x="778611" y="552093"/>
                  </a:lnTo>
                  <a:lnTo>
                    <a:pt x="775433" y="553908"/>
                  </a:lnTo>
                  <a:lnTo>
                    <a:pt x="771801" y="555496"/>
                  </a:lnTo>
                  <a:lnTo>
                    <a:pt x="768396" y="556857"/>
                  </a:lnTo>
                  <a:lnTo>
                    <a:pt x="764537" y="558218"/>
                  </a:lnTo>
                  <a:lnTo>
                    <a:pt x="760905" y="559352"/>
                  </a:lnTo>
                  <a:lnTo>
                    <a:pt x="757046" y="560260"/>
                  </a:lnTo>
                  <a:lnTo>
                    <a:pt x="753413" y="560940"/>
                  </a:lnTo>
                  <a:lnTo>
                    <a:pt x="749327" y="561621"/>
                  </a:lnTo>
                  <a:lnTo>
                    <a:pt x="745241" y="562075"/>
                  </a:lnTo>
                  <a:lnTo>
                    <a:pt x="692121" y="754005"/>
                  </a:lnTo>
                  <a:lnTo>
                    <a:pt x="697343" y="756728"/>
                  </a:lnTo>
                  <a:lnTo>
                    <a:pt x="702110" y="759904"/>
                  </a:lnTo>
                  <a:lnTo>
                    <a:pt x="706650" y="763080"/>
                  </a:lnTo>
                  <a:lnTo>
                    <a:pt x="710963" y="766937"/>
                  </a:lnTo>
                  <a:lnTo>
                    <a:pt x="715049" y="770794"/>
                  </a:lnTo>
                  <a:lnTo>
                    <a:pt x="718908" y="774877"/>
                  </a:lnTo>
                  <a:lnTo>
                    <a:pt x="722313" y="779188"/>
                  </a:lnTo>
                  <a:lnTo>
                    <a:pt x="725718" y="783952"/>
                  </a:lnTo>
                  <a:lnTo>
                    <a:pt x="728670" y="788943"/>
                  </a:lnTo>
                  <a:lnTo>
                    <a:pt x="731167" y="793934"/>
                  </a:lnTo>
                  <a:lnTo>
                    <a:pt x="733437" y="799379"/>
                  </a:lnTo>
                  <a:lnTo>
                    <a:pt x="735253" y="804824"/>
                  </a:lnTo>
                  <a:lnTo>
                    <a:pt x="736615" y="810496"/>
                  </a:lnTo>
                  <a:lnTo>
                    <a:pt x="737750" y="816167"/>
                  </a:lnTo>
                  <a:lnTo>
                    <a:pt x="738431" y="822066"/>
                  </a:lnTo>
                  <a:lnTo>
                    <a:pt x="738658" y="828191"/>
                  </a:lnTo>
                  <a:lnTo>
                    <a:pt x="738658" y="832729"/>
                  </a:lnTo>
                  <a:lnTo>
                    <a:pt x="738431" y="836812"/>
                  </a:lnTo>
                  <a:lnTo>
                    <a:pt x="737523" y="840896"/>
                  </a:lnTo>
                  <a:lnTo>
                    <a:pt x="736842" y="844980"/>
                  </a:lnTo>
                  <a:lnTo>
                    <a:pt x="735934" y="849063"/>
                  </a:lnTo>
                  <a:lnTo>
                    <a:pt x="734799" y="852920"/>
                  </a:lnTo>
                  <a:lnTo>
                    <a:pt x="733664" y="856777"/>
                  </a:lnTo>
                  <a:lnTo>
                    <a:pt x="732075" y="860407"/>
                  </a:lnTo>
                  <a:lnTo>
                    <a:pt x="730259" y="864263"/>
                  </a:lnTo>
                  <a:lnTo>
                    <a:pt x="728670" y="867666"/>
                  </a:lnTo>
                  <a:lnTo>
                    <a:pt x="726626" y="871296"/>
                  </a:lnTo>
                  <a:lnTo>
                    <a:pt x="724583" y="874699"/>
                  </a:lnTo>
                  <a:lnTo>
                    <a:pt x="722086" y="877876"/>
                  </a:lnTo>
                  <a:lnTo>
                    <a:pt x="719589" y="881052"/>
                  </a:lnTo>
                  <a:lnTo>
                    <a:pt x="717092" y="884228"/>
                  </a:lnTo>
                  <a:lnTo>
                    <a:pt x="714141" y="886950"/>
                  </a:lnTo>
                  <a:lnTo>
                    <a:pt x="711417" y="889673"/>
                  </a:lnTo>
                  <a:lnTo>
                    <a:pt x="708239" y="892395"/>
                  </a:lnTo>
                  <a:lnTo>
                    <a:pt x="705288" y="894891"/>
                  </a:lnTo>
                  <a:lnTo>
                    <a:pt x="702110" y="896933"/>
                  </a:lnTo>
                  <a:lnTo>
                    <a:pt x="698705" y="899428"/>
                  </a:lnTo>
                  <a:lnTo>
                    <a:pt x="695299" y="901243"/>
                  </a:lnTo>
                  <a:lnTo>
                    <a:pt x="691440" y="903058"/>
                  </a:lnTo>
                  <a:lnTo>
                    <a:pt x="688035" y="904646"/>
                  </a:lnTo>
                  <a:lnTo>
                    <a:pt x="684176" y="906234"/>
                  </a:lnTo>
                  <a:lnTo>
                    <a:pt x="680317" y="907595"/>
                  </a:lnTo>
                  <a:lnTo>
                    <a:pt x="676231" y="908730"/>
                  </a:lnTo>
                  <a:lnTo>
                    <a:pt x="672372" y="909637"/>
                  </a:lnTo>
                  <a:lnTo>
                    <a:pt x="668286" y="910318"/>
                  </a:lnTo>
                  <a:lnTo>
                    <a:pt x="664199" y="910771"/>
                  </a:lnTo>
                  <a:lnTo>
                    <a:pt x="659886" y="911225"/>
                  </a:lnTo>
                  <a:lnTo>
                    <a:pt x="655573" y="911225"/>
                  </a:lnTo>
                  <a:lnTo>
                    <a:pt x="651260" y="911225"/>
                  </a:lnTo>
                  <a:lnTo>
                    <a:pt x="646947" y="910771"/>
                  </a:lnTo>
                  <a:lnTo>
                    <a:pt x="643088" y="910318"/>
                  </a:lnTo>
                  <a:lnTo>
                    <a:pt x="638775" y="909637"/>
                  </a:lnTo>
                  <a:lnTo>
                    <a:pt x="634915" y="908730"/>
                  </a:lnTo>
                  <a:lnTo>
                    <a:pt x="630829" y="907595"/>
                  </a:lnTo>
                  <a:lnTo>
                    <a:pt x="627197" y="906234"/>
                  </a:lnTo>
                  <a:lnTo>
                    <a:pt x="623338" y="904646"/>
                  </a:lnTo>
                  <a:lnTo>
                    <a:pt x="619706" y="903058"/>
                  </a:lnTo>
                  <a:lnTo>
                    <a:pt x="616074" y="901243"/>
                  </a:lnTo>
                  <a:lnTo>
                    <a:pt x="612669" y="899428"/>
                  </a:lnTo>
                  <a:lnTo>
                    <a:pt x="609037" y="896933"/>
                  </a:lnTo>
                  <a:lnTo>
                    <a:pt x="605858" y="894891"/>
                  </a:lnTo>
                  <a:lnTo>
                    <a:pt x="602680" y="892395"/>
                  </a:lnTo>
                  <a:lnTo>
                    <a:pt x="599729" y="889673"/>
                  </a:lnTo>
                  <a:lnTo>
                    <a:pt x="596778" y="886950"/>
                  </a:lnTo>
                  <a:lnTo>
                    <a:pt x="594054" y="884228"/>
                  </a:lnTo>
                  <a:lnTo>
                    <a:pt x="591557" y="881052"/>
                  </a:lnTo>
                  <a:lnTo>
                    <a:pt x="588833" y="877876"/>
                  </a:lnTo>
                  <a:lnTo>
                    <a:pt x="586790" y="874699"/>
                  </a:lnTo>
                  <a:lnTo>
                    <a:pt x="584520" y="871296"/>
                  </a:lnTo>
                  <a:lnTo>
                    <a:pt x="582704" y="867666"/>
                  </a:lnTo>
                  <a:lnTo>
                    <a:pt x="580661" y="864263"/>
                  </a:lnTo>
                  <a:lnTo>
                    <a:pt x="579072" y="860407"/>
                  </a:lnTo>
                  <a:lnTo>
                    <a:pt x="577710" y="856777"/>
                  </a:lnTo>
                  <a:lnTo>
                    <a:pt x="576348" y="852920"/>
                  </a:lnTo>
                  <a:lnTo>
                    <a:pt x="575212" y="849063"/>
                  </a:lnTo>
                  <a:lnTo>
                    <a:pt x="574077" y="844980"/>
                  </a:lnTo>
                  <a:lnTo>
                    <a:pt x="573396" y="840896"/>
                  </a:lnTo>
                  <a:lnTo>
                    <a:pt x="572942" y="836812"/>
                  </a:lnTo>
                  <a:lnTo>
                    <a:pt x="572488" y="832729"/>
                  </a:lnTo>
                  <a:lnTo>
                    <a:pt x="572488" y="828191"/>
                  </a:lnTo>
                  <a:lnTo>
                    <a:pt x="572488" y="825242"/>
                  </a:lnTo>
                  <a:lnTo>
                    <a:pt x="572715" y="822066"/>
                  </a:lnTo>
                  <a:lnTo>
                    <a:pt x="573623" y="815940"/>
                  </a:lnTo>
                  <a:lnTo>
                    <a:pt x="574986" y="810042"/>
                  </a:lnTo>
                  <a:lnTo>
                    <a:pt x="576575" y="804370"/>
                  </a:lnTo>
                  <a:lnTo>
                    <a:pt x="454445" y="733134"/>
                  </a:lnTo>
                  <a:lnTo>
                    <a:pt x="449904" y="736083"/>
                  </a:lnTo>
                  <a:lnTo>
                    <a:pt x="444910" y="738352"/>
                  </a:lnTo>
                  <a:lnTo>
                    <a:pt x="439689" y="740166"/>
                  </a:lnTo>
                  <a:lnTo>
                    <a:pt x="434468" y="741981"/>
                  </a:lnTo>
                  <a:lnTo>
                    <a:pt x="429020" y="743569"/>
                  </a:lnTo>
                  <a:lnTo>
                    <a:pt x="423571" y="744477"/>
                  </a:lnTo>
                  <a:lnTo>
                    <a:pt x="417669" y="745158"/>
                  </a:lnTo>
                  <a:lnTo>
                    <a:pt x="412221" y="745384"/>
                  </a:lnTo>
                  <a:lnTo>
                    <a:pt x="408589" y="745158"/>
                  </a:lnTo>
                  <a:lnTo>
                    <a:pt x="405411" y="744931"/>
                  </a:lnTo>
                  <a:lnTo>
                    <a:pt x="398828" y="744023"/>
                  </a:lnTo>
                  <a:lnTo>
                    <a:pt x="305755" y="898294"/>
                  </a:lnTo>
                  <a:lnTo>
                    <a:pt x="257175" y="869255"/>
                  </a:lnTo>
                  <a:lnTo>
                    <a:pt x="349113" y="716118"/>
                  </a:lnTo>
                  <a:lnTo>
                    <a:pt x="347070" y="713396"/>
                  </a:lnTo>
                  <a:lnTo>
                    <a:pt x="344573" y="710220"/>
                  </a:lnTo>
                  <a:lnTo>
                    <a:pt x="342757" y="707497"/>
                  </a:lnTo>
                  <a:lnTo>
                    <a:pt x="340714" y="704321"/>
                  </a:lnTo>
                  <a:lnTo>
                    <a:pt x="339125" y="701145"/>
                  </a:lnTo>
                  <a:lnTo>
                    <a:pt x="337536" y="697969"/>
                  </a:lnTo>
                  <a:lnTo>
                    <a:pt x="335720" y="694793"/>
                  </a:lnTo>
                  <a:lnTo>
                    <a:pt x="334358" y="691390"/>
                  </a:lnTo>
                  <a:lnTo>
                    <a:pt x="333223" y="687987"/>
                  </a:lnTo>
                  <a:lnTo>
                    <a:pt x="332087" y="684584"/>
                  </a:lnTo>
                  <a:lnTo>
                    <a:pt x="331179" y="680954"/>
                  </a:lnTo>
                  <a:lnTo>
                    <a:pt x="330498" y="677324"/>
                  </a:lnTo>
                  <a:lnTo>
                    <a:pt x="329590" y="673467"/>
                  </a:lnTo>
                  <a:lnTo>
                    <a:pt x="329136" y="670064"/>
                  </a:lnTo>
                  <a:lnTo>
                    <a:pt x="328909" y="665981"/>
                  </a:lnTo>
                  <a:lnTo>
                    <a:pt x="328909" y="662351"/>
                  </a:lnTo>
                  <a:lnTo>
                    <a:pt x="328909" y="658040"/>
                  </a:lnTo>
                  <a:lnTo>
                    <a:pt x="329363" y="653730"/>
                  </a:lnTo>
                  <a:lnTo>
                    <a:pt x="330044" y="649646"/>
                  </a:lnTo>
                  <a:lnTo>
                    <a:pt x="330725" y="645335"/>
                  </a:lnTo>
                  <a:lnTo>
                    <a:pt x="331633" y="641479"/>
                  </a:lnTo>
                  <a:lnTo>
                    <a:pt x="332768" y="637395"/>
                  </a:lnTo>
                  <a:lnTo>
                    <a:pt x="333904" y="633765"/>
                  </a:lnTo>
                  <a:lnTo>
                    <a:pt x="335493" y="629908"/>
                  </a:lnTo>
                  <a:lnTo>
                    <a:pt x="337082" y="626279"/>
                  </a:lnTo>
                  <a:lnTo>
                    <a:pt x="339125" y="622649"/>
                  </a:lnTo>
                  <a:lnTo>
                    <a:pt x="340941" y="619246"/>
                  </a:lnTo>
                  <a:lnTo>
                    <a:pt x="342984" y="615843"/>
                  </a:lnTo>
                  <a:lnTo>
                    <a:pt x="345481" y="612666"/>
                  </a:lnTo>
                  <a:lnTo>
                    <a:pt x="347978" y="609263"/>
                  </a:lnTo>
                  <a:lnTo>
                    <a:pt x="350475" y="606314"/>
                  </a:lnTo>
                  <a:lnTo>
                    <a:pt x="353426" y="603592"/>
                  </a:lnTo>
                  <a:lnTo>
                    <a:pt x="356150" y="600642"/>
                  </a:lnTo>
                  <a:lnTo>
                    <a:pt x="359101" y="598147"/>
                  </a:lnTo>
                  <a:lnTo>
                    <a:pt x="362279" y="595878"/>
                  </a:lnTo>
                  <a:lnTo>
                    <a:pt x="365458" y="593383"/>
                  </a:lnTo>
                  <a:lnTo>
                    <a:pt x="369090" y="591341"/>
                  </a:lnTo>
                  <a:lnTo>
                    <a:pt x="372495" y="589299"/>
                  </a:lnTo>
                  <a:lnTo>
                    <a:pt x="376127" y="587484"/>
                  </a:lnTo>
                  <a:lnTo>
                    <a:pt x="379759" y="585669"/>
                  </a:lnTo>
                  <a:lnTo>
                    <a:pt x="383618" y="584308"/>
                  </a:lnTo>
                  <a:lnTo>
                    <a:pt x="387250" y="582947"/>
                  </a:lnTo>
                  <a:lnTo>
                    <a:pt x="391336" y="581812"/>
                  </a:lnTo>
                  <a:lnTo>
                    <a:pt x="395196" y="580905"/>
                  </a:lnTo>
                  <a:lnTo>
                    <a:pt x="399509" y="580224"/>
                  </a:lnTo>
                  <a:lnTo>
                    <a:pt x="403368" y="579544"/>
                  </a:lnTo>
                  <a:lnTo>
                    <a:pt x="407681" y="579317"/>
                  </a:lnTo>
                  <a:lnTo>
                    <a:pt x="412221" y="579090"/>
                  </a:lnTo>
                  <a:lnTo>
                    <a:pt x="416307" y="579317"/>
                  </a:lnTo>
                  <a:lnTo>
                    <a:pt x="420620" y="579544"/>
                  </a:lnTo>
                  <a:lnTo>
                    <a:pt x="424707" y="580224"/>
                  </a:lnTo>
                  <a:lnTo>
                    <a:pt x="428793" y="580905"/>
                  </a:lnTo>
                  <a:lnTo>
                    <a:pt x="432652" y="581812"/>
                  </a:lnTo>
                  <a:lnTo>
                    <a:pt x="436738" y="582947"/>
                  </a:lnTo>
                  <a:lnTo>
                    <a:pt x="440597" y="584308"/>
                  </a:lnTo>
                  <a:lnTo>
                    <a:pt x="444456" y="585669"/>
                  </a:lnTo>
                  <a:lnTo>
                    <a:pt x="447861" y="587484"/>
                  </a:lnTo>
                  <a:lnTo>
                    <a:pt x="451720" y="589299"/>
                  </a:lnTo>
                  <a:lnTo>
                    <a:pt x="454899" y="591341"/>
                  </a:lnTo>
                  <a:lnTo>
                    <a:pt x="458531" y="593383"/>
                  </a:lnTo>
                  <a:lnTo>
                    <a:pt x="461709" y="595878"/>
                  </a:lnTo>
                  <a:lnTo>
                    <a:pt x="464887" y="598147"/>
                  </a:lnTo>
                  <a:lnTo>
                    <a:pt x="467838" y="600642"/>
                  </a:lnTo>
                  <a:lnTo>
                    <a:pt x="470562" y="603592"/>
                  </a:lnTo>
                  <a:lnTo>
                    <a:pt x="473513" y="606314"/>
                  </a:lnTo>
                  <a:lnTo>
                    <a:pt x="476010" y="609263"/>
                  </a:lnTo>
                  <a:lnTo>
                    <a:pt x="478734" y="612666"/>
                  </a:lnTo>
                  <a:lnTo>
                    <a:pt x="481004" y="615843"/>
                  </a:lnTo>
                  <a:lnTo>
                    <a:pt x="483047" y="619246"/>
                  </a:lnTo>
                  <a:lnTo>
                    <a:pt x="484864" y="622649"/>
                  </a:lnTo>
                  <a:lnTo>
                    <a:pt x="486907" y="626279"/>
                  </a:lnTo>
                  <a:lnTo>
                    <a:pt x="488496" y="629908"/>
                  </a:lnTo>
                  <a:lnTo>
                    <a:pt x="490085" y="633765"/>
                  </a:lnTo>
                  <a:lnTo>
                    <a:pt x="491220" y="637395"/>
                  </a:lnTo>
                  <a:lnTo>
                    <a:pt x="492355" y="641479"/>
                  </a:lnTo>
                  <a:lnTo>
                    <a:pt x="493490" y="645335"/>
                  </a:lnTo>
                  <a:lnTo>
                    <a:pt x="494171" y="649646"/>
                  </a:lnTo>
                  <a:lnTo>
                    <a:pt x="494625" y="653730"/>
                  </a:lnTo>
                  <a:lnTo>
                    <a:pt x="495079" y="658040"/>
                  </a:lnTo>
                  <a:lnTo>
                    <a:pt x="495079" y="662351"/>
                  </a:lnTo>
                  <a:lnTo>
                    <a:pt x="495079" y="665527"/>
                  </a:lnTo>
                  <a:lnTo>
                    <a:pt x="494852" y="669157"/>
                  </a:lnTo>
                  <a:lnTo>
                    <a:pt x="494398" y="672333"/>
                  </a:lnTo>
                  <a:lnTo>
                    <a:pt x="493944" y="675509"/>
                  </a:lnTo>
                  <a:lnTo>
                    <a:pt x="492355" y="682088"/>
                  </a:lnTo>
                  <a:lnTo>
                    <a:pt x="490539" y="688214"/>
                  </a:lnTo>
                  <a:lnTo>
                    <a:pt x="610853" y="758543"/>
                  </a:lnTo>
                  <a:lnTo>
                    <a:pt x="616528" y="755140"/>
                  </a:lnTo>
                  <a:lnTo>
                    <a:pt x="622430" y="752417"/>
                  </a:lnTo>
                  <a:lnTo>
                    <a:pt x="628559" y="749922"/>
                  </a:lnTo>
                  <a:lnTo>
                    <a:pt x="634915" y="748107"/>
                  </a:lnTo>
                  <a:lnTo>
                    <a:pt x="690305" y="547101"/>
                  </a:lnTo>
                  <a:lnTo>
                    <a:pt x="686673" y="544152"/>
                  </a:lnTo>
                  <a:lnTo>
                    <a:pt x="682814" y="540976"/>
                  </a:lnTo>
                  <a:lnTo>
                    <a:pt x="679409" y="537800"/>
                  </a:lnTo>
                  <a:lnTo>
                    <a:pt x="676004" y="533943"/>
                  </a:lnTo>
                  <a:lnTo>
                    <a:pt x="673053" y="530540"/>
                  </a:lnTo>
                  <a:lnTo>
                    <a:pt x="670102" y="526456"/>
                  </a:lnTo>
                  <a:lnTo>
                    <a:pt x="667605" y="522373"/>
                  </a:lnTo>
                  <a:lnTo>
                    <a:pt x="665107" y="518062"/>
                  </a:lnTo>
                  <a:lnTo>
                    <a:pt x="662837" y="513979"/>
                  </a:lnTo>
                  <a:lnTo>
                    <a:pt x="661021" y="509214"/>
                  </a:lnTo>
                  <a:lnTo>
                    <a:pt x="659432" y="504450"/>
                  </a:lnTo>
                  <a:lnTo>
                    <a:pt x="658070" y="499913"/>
                  </a:lnTo>
                  <a:lnTo>
                    <a:pt x="657162" y="494922"/>
                  </a:lnTo>
                  <a:lnTo>
                    <a:pt x="656027" y="489931"/>
                  </a:lnTo>
                  <a:lnTo>
                    <a:pt x="655573" y="484940"/>
                  </a:lnTo>
                  <a:lnTo>
                    <a:pt x="655573" y="479722"/>
                  </a:lnTo>
                  <a:lnTo>
                    <a:pt x="655573" y="475411"/>
                  </a:lnTo>
                  <a:lnTo>
                    <a:pt x="655800" y="471327"/>
                  </a:lnTo>
                  <a:lnTo>
                    <a:pt x="656708" y="467017"/>
                  </a:lnTo>
                  <a:lnTo>
                    <a:pt x="657389" y="463160"/>
                  </a:lnTo>
                  <a:lnTo>
                    <a:pt x="658297" y="458850"/>
                  </a:lnTo>
                  <a:lnTo>
                    <a:pt x="659432" y="455220"/>
                  </a:lnTo>
                  <a:lnTo>
                    <a:pt x="660567" y="451136"/>
                  </a:lnTo>
                  <a:lnTo>
                    <a:pt x="661929" y="447506"/>
                  </a:lnTo>
                  <a:lnTo>
                    <a:pt x="663745" y="443649"/>
                  </a:lnTo>
                  <a:lnTo>
                    <a:pt x="665561" y="440246"/>
                  </a:lnTo>
                  <a:lnTo>
                    <a:pt x="667605" y="436617"/>
                  </a:lnTo>
                  <a:lnTo>
                    <a:pt x="669648" y="433440"/>
                  </a:lnTo>
                  <a:lnTo>
                    <a:pt x="672145" y="430037"/>
                  </a:lnTo>
                  <a:lnTo>
                    <a:pt x="674642" y="426861"/>
                  </a:lnTo>
                  <a:lnTo>
                    <a:pt x="677139" y="423912"/>
                  </a:lnTo>
                  <a:lnTo>
                    <a:pt x="679863" y="420963"/>
                  </a:lnTo>
                  <a:lnTo>
                    <a:pt x="682814" y="418240"/>
                  </a:lnTo>
                  <a:lnTo>
                    <a:pt x="685765" y="415518"/>
                  </a:lnTo>
                  <a:lnTo>
                    <a:pt x="688943" y="413249"/>
                  </a:lnTo>
                  <a:lnTo>
                    <a:pt x="692121" y="410980"/>
                  </a:lnTo>
                  <a:lnTo>
                    <a:pt x="695526" y="408712"/>
                  </a:lnTo>
                  <a:lnTo>
                    <a:pt x="698932" y="406670"/>
                  </a:lnTo>
                  <a:lnTo>
                    <a:pt x="702791" y="404855"/>
                  </a:lnTo>
                  <a:lnTo>
                    <a:pt x="706196" y="403267"/>
                  </a:lnTo>
                  <a:lnTo>
                    <a:pt x="710055" y="401679"/>
                  </a:lnTo>
                  <a:lnTo>
                    <a:pt x="713914" y="400318"/>
                  </a:lnTo>
                  <a:lnTo>
                    <a:pt x="718000" y="399410"/>
                  </a:lnTo>
                  <a:lnTo>
                    <a:pt x="721859" y="398503"/>
                  </a:lnTo>
                  <a:lnTo>
                    <a:pt x="725945" y="397595"/>
                  </a:lnTo>
                  <a:lnTo>
                    <a:pt x="730032" y="397141"/>
                  </a:lnTo>
                  <a:lnTo>
                    <a:pt x="734345" y="396915"/>
                  </a:lnTo>
                  <a:lnTo>
                    <a:pt x="738658" y="396688"/>
                  </a:lnTo>
                  <a:lnTo>
                    <a:pt x="744106" y="396915"/>
                  </a:lnTo>
                  <a:lnTo>
                    <a:pt x="749554" y="397595"/>
                  </a:lnTo>
                  <a:lnTo>
                    <a:pt x="754775" y="398276"/>
                  </a:lnTo>
                  <a:lnTo>
                    <a:pt x="759770" y="399637"/>
                  </a:lnTo>
                  <a:lnTo>
                    <a:pt x="764764" y="400998"/>
                  </a:lnTo>
                  <a:lnTo>
                    <a:pt x="769758" y="403040"/>
                  </a:lnTo>
                  <a:lnTo>
                    <a:pt x="774298" y="405082"/>
                  </a:lnTo>
                  <a:lnTo>
                    <a:pt x="778838" y="407577"/>
                  </a:lnTo>
                  <a:lnTo>
                    <a:pt x="916859" y="288925"/>
                  </a:lnTo>
                  <a:close/>
                  <a:moveTo>
                    <a:pt x="607752" y="120128"/>
                  </a:moveTo>
                  <a:lnTo>
                    <a:pt x="595738" y="120581"/>
                  </a:lnTo>
                  <a:lnTo>
                    <a:pt x="583950" y="121488"/>
                  </a:lnTo>
                  <a:lnTo>
                    <a:pt x="571936" y="122621"/>
                  </a:lnTo>
                  <a:lnTo>
                    <a:pt x="559921" y="123755"/>
                  </a:lnTo>
                  <a:lnTo>
                    <a:pt x="548133" y="125341"/>
                  </a:lnTo>
                  <a:lnTo>
                    <a:pt x="536119" y="127154"/>
                  </a:lnTo>
                  <a:lnTo>
                    <a:pt x="524331" y="129421"/>
                  </a:lnTo>
                  <a:lnTo>
                    <a:pt x="512543" y="131688"/>
                  </a:lnTo>
                  <a:lnTo>
                    <a:pt x="500755" y="134407"/>
                  </a:lnTo>
                  <a:lnTo>
                    <a:pt x="489194" y="137581"/>
                  </a:lnTo>
                  <a:lnTo>
                    <a:pt x="477406" y="140754"/>
                  </a:lnTo>
                  <a:lnTo>
                    <a:pt x="466072" y="144380"/>
                  </a:lnTo>
                  <a:lnTo>
                    <a:pt x="454511" y="148234"/>
                  </a:lnTo>
                  <a:lnTo>
                    <a:pt x="443176" y="152313"/>
                  </a:lnTo>
                  <a:lnTo>
                    <a:pt x="431615" y="156620"/>
                  </a:lnTo>
                  <a:lnTo>
                    <a:pt x="420508" y="161380"/>
                  </a:lnTo>
                  <a:lnTo>
                    <a:pt x="409400" y="166593"/>
                  </a:lnTo>
                  <a:lnTo>
                    <a:pt x="398519" y="171579"/>
                  </a:lnTo>
                  <a:lnTo>
                    <a:pt x="387411" y="177246"/>
                  </a:lnTo>
                  <a:lnTo>
                    <a:pt x="376530" y="183139"/>
                  </a:lnTo>
                  <a:lnTo>
                    <a:pt x="365876" y="189485"/>
                  </a:lnTo>
                  <a:lnTo>
                    <a:pt x="355221" y="195831"/>
                  </a:lnTo>
                  <a:lnTo>
                    <a:pt x="344794" y="202631"/>
                  </a:lnTo>
                  <a:lnTo>
                    <a:pt x="334593" y="209431"/>
                  </a:lnTo>
                  <a:lnTo>
                    <a:pt x="324392" y="216684"/>
                  </a:lnTo>
                  <a:lnTo>
                    <a:pt x="314191" y="224163"/>
                  </a:lnTo>
                  <a:lnTo>
                    <a:pt x="304443" y="232323"/>
                  </a:lnTo>
                  <a:lnTo>
                    <a:pt x="294695" y="240483"/>
                  </a:lnTo>
                  <a:lnTo>
                    <a:pt x="284948" y="248869"/>
                  </a:lnTo>
                  <a:lnTo>
                    <a:pt x="275654" y="257482"/>
                  </a:lnTo>
                  <a:lnTo>
                    <a:pt x="266359" y="266548"/>
                  </a:lnTo>
                  <a:lnTo>
                    <a:pt x="257518" y="275614"/>
                  </a:lnTo>
                  <a:lnTo>
                    <a:pt x="248678" y="285134"/>
                  </a:lnTo>
                  <a:lnTo>
                    <a:pt x="240290" y="294654"/>
                  </a:lnTo>
                  <a:lnTo>
                    <a:pt x="232129" y="304400"/>
                  </a:lnTo>
                  <a:lnTo>
                    <a:pt x="224195" y="314373"/>
                  </a:lnTo>
                  <a:lnTo>
                    <a:pt x="216714" y="324346"/>
                  </a:lnTo>
                  <a:lnTo>
                    <a:pt x="209460" y="334545"/>
                  </a:lnTo>
                  <a:lnTo>
                    <a:pt x="202433" y="344971"/>
                  </a:lnTo>
                  <a:lnTo>
                    <a:pt x="195632" y="355397"/>
                  </a:lnTo>
                  <a:lnTo>
                    <a:pt x="189058" y="366050"/>
                  </a:lnTo>
                  <a:lnTo>
                    <a:pt x="183164" y="376703"/>
                  </a:lnTo>
                  <a:lnTo>
                    <a:pt x="177271" y="387583"/>
                  </a:lnTo>
                  <a:lnTo>
                    <a:pt x="171603" y="398462"/>
                  </a:lnTo>
                  <a:lnTo>
                    <a:pt x="166390" y="409342"/>
                  </a:lnTo>
                  <a:lnTo>
                    <a:pt x="161402" y="420448"/>
                  </a:lnTo>
                  <a:lnTo>
                    <a:pt x="156642" y="431554"/>
                  </a:lnTo>
                  <a:lnTo>
                    <a:pt x="152108" y="443114"/>
                  </a:lnTo>
                  <a:lnTo>
                    <a:pt x="148028" y="454673"/>
                  </a:lnTo>
                  <a:lnTo>
                    <a:pt x="144174" y="466006"/>
                  </a:lnTo>
                  <a:lnTo>
                    <a:pt x="140774" y="477565"/>
                  </a:lnTo>
                  <a:lnTo>
                    <a:pt x="137373" y="489125"/>
                  </a:lnTo>
                  <a:lnTo>
                    <a:pt x="134426" y="500911"/>
                  </a:lnTo>
                  <a:lnTo>
                    <a:pt x="131706" y="512470"/>
                  </a:lnTo>
                  <a:lnTo>
                    <a:pt x="129213" y="524256"/>
                  </a:lnTo>
                  <a:lnTo>
                    <a:pt x="127172" y="536269"/>
                  </a:lnTo>
                  <a:lnTo>
                    <a:pt x="125359" y="548055"/>
                  </a:lnTo>
                  <a:lnTo>
                    <a:pt x="123772" y="560068"/>
                  </a:lnTo>
                  <a:lnTo>
                    <a:pt x="122185" y="571854"/>
                  </a:lnTo>
                  <a:lnTo>
                    <a:pt x="121278" y="583867"/>
                  </a:lnTo>
                  <a:lnTo>
                    <a:pt x="120598" y="595880"/>
                  </a:lnTo>
                  <a:lnTo>
                    <a:pt x="120145" y="607666"/>
                  </a:lnTo>
                  <a:lnTo>
                    <a:pt x="120145" y="619905"/>
                  </a:lnTo>
                  <a:lnTo>
                    <a:pt x="120145" y="631918"/>
                  </a:lnTo>
                  <a:lnTo>
                    <a:pt x="120598" y="643704"/>
                  </a:lnTo>
                  <a:lnTo>
                    <a:pt x="121278" y="655717"/>
                  </a:lnTo>
                  <a:lnTo>
                    <a:pt x="122185" y="667503"/>
                  </a:lnTo>
                  <a:lnTo>
                    <a:pt x="123772" y="679516"/>
                  </a:lnTo>
                  <a:lnTo>
                    <a:pt x="125359" y="691529"/>
                  </a:lnTo>
                  <a:lnTo>
                    <a:pt x="127172" y="703315"/>
                  </a:lnTo>
                  <a:lnTo>
                    <a:pt x="129213" y="715328"/>
                  </a:lnTo>
                  <a:lnTo>
                    <a:pt x="131706" y="726887"/>
                  </a:lnTo>
                  <a:lnTo>
                    <a:pt x="134426" y="738673"/>
                  </a:lnTo>
                  <a:lnTo>
                    <a:pt x="137373" y="750460"/>
                  </a:lnTo>
                  <a:lnTo>
                    <a:pt x="140774" y="762019"/>
                  </a:lnTo>
                  <a:lnTo>
                    <a:pt x="144174" y="773579"/>
                  </a:lnTo>
                  <a:lnTo>
                    <a:pt x="148028" y="784911"/>
                  </a:lnTo>
                  <a:lnTo>
                    <a:pt x="152108" y="796471"/>
                  </a:lnTo>
                  <a:lnTo>
                    <a:pt x="156642" y="807804"/>
                  </a:lnTo>
                  <a:lnTo>
                    <a:pt x="161402" y="819136"/>
                  </a:lnTo>
                  <a:lnTo>
                    <a:pt x="166390" y="830016"/>
                  </a:lnTo>
                  <a:lnTo>
                    <a:pt x="171603" y="841122"/>
                  </a:lnTo>
                  <a:lnTo>
                    <a:pt x="177271" y="852002"/>
                  </a:lnTo>
                  <a:lnTo>
                    <a:pt x="183164" y="862881"/>
                  </a:lnTo>
                  <a:lnTo>
                    <a:pt x="189058" y="873534"/>
                  </a:lnTo>
                  <a:lnTo>
                    <a:pt x="195632" y="884187"/>
                  </a:lnTo>
                  <a:lnTo>
                    <a:pt x="202433" y="894613"/>
                  </a:lnTo>
                  <a:lnTo>
                    <a:pt x="209460" y="904813"/>
                  </a:lnTo>
                  <a:lnTo>
                    <a:pt x="216714" y="915239"/>
                  </a:lnTo>
                  <a:lnTo>
                    <a:pt x="224195" y="925212"/>
                  </a:lnTo>
                  <a:lnTo>
                    <a:pt x="232129" y="934958"/>
                  </a:lnTo>
                  <a:lnTo>
                    <a:pt x="240290" y="944931"/>
                  </a:lnTo>
                  <a:lnTo>
                    <a:pt x="248678" y="954450"/>
                  </a:lnTo>
                  <a:lnTo>
                    <a:pt x="257518" y="963743"/>
                  </a:lnTo>
                  <a:lnTo>
                    <a:pt x="266359" y="973036"/>
                  </a:lnTo>
                  <a:lnTo>
                    <a:pt x="275654" y="982102"/>
                  </a:lnTo>
                  <a:lnTo>
                    <a:pt x="284948" y="990715"/>
                  </a:lnTo>
                  <a:lnTo>
                    <a:pt x="294695" y="999102"/>
                  </a:lnTo>
                  <a:lnTo>
                    <a:pt x="304443" y="1007261"/>
                  </a:lnTo>
                  <a:lnTo>
                    <a:pt x="314191" y="1015194"/>
                  </a:lnTo>
                  <a:lnTo>
                    <a:pt x="324392" y="1022674"/>
                  </a:lnTo>
                  <a:lnTo>
                    <a:pt x="334593" y="1029927"/>
                  </a:lnTo>
                  <a:lnTo>
                    <a:pt x="344794" y="1036953"/>
                  </a:lnTo>
                  <a:lnTo>
                    <a:pt x="355221" y="1043753"/>
                  </a:lnTo>
                  <a:lnTo>
                    <a:pt x="365876" y="1050099"/>
                  </a:lnTo>
                  <a:lnTo>
                    <a:pt x="376530" y="1056446"/>
                  </a:lnTo>
                  <a:lnTo>
                    <a:pt x="387411" y="1062339"/>
                  </a:lnTo>
                  <a:lnTo>
                    <a:pt x="398292" y="1067779"/>
                  </a:lnTo>
                  <a:lnTo>
                    <a:pt x="409400" y="1072992"/>
                  </a:lnTo>
                  <a:lnTo>
                    <a:pt x="420508" y="1078205"/>
                  </a:lnTo>
                  <a:lnTo>
                    <a:pt x="431615" y="1082738"/>
                  </a:lnTo>
                  <a:lnTo>
                    <a:pt x="443176" y="1087271"/>
                  </a:lnTo>
                  <a:lnTo>
                    <a:pt x="454511" y="1091351"/>
                  </a:lnTo>
                  <a:lnTo>
                    <a:pt x="466072" y="1095204"/>
                  </a:lnTo>
                  <a:lnTo>
                    <a:pt x="477406" y="1098830"/>
                  </a:lnTo>
                  <a:lnTo>
                    <a:pt x="489194" y="1102004"/>
                  </a:lnTo>
                  <a:lnTo>
                    <a:pt x="500755" y="1104950"/>
                  </a:lnTo>
                  <a:lnTo>
                    <a:pt x="512543" y="1107897"/>
                  </a:lnTo>
                  <a:lnTo>
                    <a:pt x="524331" y="1110163"/>
                  </a:lnTo>
                  <a:lnTo>
                    <a:pt x="536119" y="1112203"/>
                  </a:lnTo>
                  <a:lnTo>
                    <a:pt x="548133" y="1114243"/>
                  </a:lnTo>
                  <a:lnTo>
                    <a:pt x="559921" y="1115830"/>
                  </a:lnTo>
                  <a:lnTo>
                    <a:pt x="571936" y="1116963"/>
                  </a:lnTo>
                  <a:lnTo>
                    <a:pt x="583950" y="1118096"/>
                  </a:lnTo>
                  <a:lnTo>
                    <a:pt x="595738" y="1118776"/>
                  </a:lnTo>
                  <a:lnTo>
                    <a:pt x="607752" y="1119230"/>
                  </a:lnTo>
                  <a:lnTo>
                    <a:pt x="619540" y="1119230"/>
                  </a:lnTo>
                  <a:lnTo>
                    <a:pt x="631782" y="1119230"/>
                  </a:lnTo>
                  <a:lnTo>
                    <a:pt x="643796" y="1118776"/>
                  </a:lnTo>
                  <a:lnTo>
                    <a:pt x="655584" y="1118096"/>
                  </a:lnTo>
                  <a:lnTo>
                    <a:pt x="667598" y="1116963"/>
                  </a:lnTo>
                  <a:lnTo>
                    <a:pt x="679613" y="1115830"/>
                  </a:lnTo>
                  <a:lnTo>
                    <a:pt x="691401" y="1114243"/>
                  </a:lnTo>
                  <a:lnTo>
                    <a:pt x="703415" y="1112203"/>
                  </a:lnTo>
                  <a:lnTo>
                    <a:pt x="715203" y="1110163"/>
                  </a:lnTo>
                  <a:lnTo>
                    <a:pt x="726991" y="1107897"/>
                  </a:lnTo>
                  <a:lnTo>
                    <a:pt x="738779" y="1104950"/>
                  </a:lnTo>
                  <a:lnTo>
                    <a:pt x="750340" y="1102004"/>
                  </a:lnTo>
                  <a:lnTo>
                    <a:pt x="762128" y="1098830"/>
                  </a:lnTo>
                  <a:lnTo>
                    <a:pt x="773462" y="1095204"/>
                  </a:lnTo>
                  <a:lnTo>
                    <a:pt x="785023" y="1091351"/>
                  </a:lnTo>
                  <a:lnTo>
                    <a:pt x="796358" y="1087271"/>
                  </a:lnTo>
                  <a:lnTo>
                    <a:pt x="807692" y="1082738"/>
                  </a:lnTo>
                  <a:lnTo>
                    <a:pt x="819026" y="1078205"/>
                  </a:lnTo>
                  <a:lnTo>
                    <a:pt x="830134" y="1072992"/>
                  </a:lnTo>
                  <a:lnTo>
                    <a:pt x="841015" y="1067779"/>
                  </a:lnTo>
                  <a:lnTo>
                    <a:pt x="852123" y="1062339"/>
                  </a:lnTo>
                  <a:lnTo>
                    <a:pt x="862777" y="1056446"/>
                  </a:lnTo>
                  <a:lnTo>
                    <a:pt x="873658" y="1050099"/>
                  </a:lnTo>
                  <a:lnTo>
                    <a:pt x="884086" y="1043753"/>
                  </a:lnTo>
                  <a:lnTo>
                    <a:pt x="894740" y="1036953"/>
                  </a:lnTo>
                  <a:lnTo>
                    <a:pt x="904941" y="1029927"/>
                  </a:lnTo>
                  <a:lnTo>
                    <a:pt x="915142" y="1022674"/>
                  </a:lnTo>
                  <a:lnTo>
                    <a:pt x="925343" y="1015194"/>
                  </a:lnTo>
                  <a:lnTo>
                    <a:pt x="935091" y="1007261"/>
                  </a:lnTo>
                  <a:lnTo>
                    <a:pt x="944839" y="999102"/>
                  </a:lnTo>
                  <a:lnTo>
                    <a:pt x="954586" y="990715"/>
                  </a:lnTo>
                  <a:lnTo>
                    <a:pt x="963880" y="982102"/>
                  </a:lnTo>
                  <a:lnTo>
                    <a:pt x="972948" y="973036"/>
                  </a:lnTo>
                  <a:lnTo>
                    <a:pt x="982016" y="963743"/>
                  </a:lnTo>
                  <a:lnTo>
                    <a:pt x="990856" y="954450"/>
                  </a:lnTo>
                  <a:lnTo>
                    <a:pt x="999244" y="944931"/>
                  </a:lnTo>
                  <a:lnTo>
                    <a:pt x="1007405" y="934958"/>
                  </a:lnTo>
                  <a:lnTo>
                    <a:pt x="1015339" y="925212"/>
                  </a:lnTo>
                  <a:lnTo>
                    <a:pt x="1022820" y="915239"/>
                  </a:lnTo>
                  <a:lnTo>
                    <a:pt x="1030074" y="904813"/>
                  </a:lnTo>
                  <a:lnTo>
                    <a:pt x="1037101" y="894613"/>
                  </a:lnTo>
                  <a:lnTo>
                    <a:pt x="1043902" y="884187"/>
                  </a:lnTo>
                  <a:lnTo>
                    <a:pt x="1050249" y="873534"/>
                  </a:lnTo>
                  <a:lnTo>
                    <a:pt x="1056370" y="862881"/>
                  </a:lnTo>
                  <a:lnTo>
                    <a:pt x="1062263" y="852002"/>
                  </a:lnTo>
                  <a:lnTo>
                    <a:pt x="1067931" y="841122"/>
                  </a:lnTo>
                  <a:lnTo>
                    <a:pt x="1073144" y="830016"/>
                  </a:lnTo>
                  <a:lnTo>
                    <a:pt x="1078132" y="819136"/>
                  </a:lnTo>
                  <a:lnTo>
                    <a:pt x="1082892" y="807804"/>
                  </a:lnTo>
                  <a:lnTo>
                    <a:pt x="1087426" y="796471"/>
                  </a:lnTo>
                  <a:lnTo>
                    <a:pt x="1091280" y="784911"/>
                  </a:lnTo>
                  <a:lnTo>
                    <a:pt x="1095360" y="773579"/>
                  </a:lnTo>
                  <a:lnTo>
                    <a:pt x="1098760" y="762019"/>
                  </a:lnTo>
                  <a:lnTo>
                    <a:pt x="1102161" y="750460"/>
                  </a:lnTo>
                  <a:lnTo>
                    <a:pt x="1105108" y="738673"/>
                  </a:lnTo>
                  <a:lnTo>
                    <a:pt x="1107828" y="726887"/>
                  </a:lnTo>
                  <a:lnTo>
                    <a:pt x="1110321" y="715328"/>
                  </a:lnTo>
                  <a:lnTo>
                    <a:pt x="1112362" y="703315"/>
                  </a:lnTo>
                  <a:lnTo>
                    <a:pt x="1114175" y="691529"/>
                  </a:lnTo>
                  <a:lnTo>
                    <a:pt x="1115762" y="679516"/>
                  </a:lnTo>
                  <a:lnTo>
                    <a:pt x="1117122" y="667503"/>
                  </a:lnTo>
                  <a:lnTo>
                    <a:pt x="1118256" y="655717"/>
                  </a:lnTo>
                  <a:lnTo>
                    <a:pt x="1118936" y="643704"/>
                  </a:lnTo>
                  <a:lnTo>
                    <a:pt x="1119389" y="631918"/>
                  </a:lnTo>
                  <a:lnTo>
                    <a:pt x="1119389" y="619905"/>
                  </a:lnTo>
                  <a:lnTo>
                    <a:pt x="1119389" y="607666"/>
                  </a:lnTo>
                  <a:lnTo>
                    <a:pt x="1118936" y="595880"/>
                  </a:lnTo>
                  <a:lnTo>
                    <a:pt x="1118256" y="583867"/>
                  </a:lnTo>
                  <a:lnTo>
                    <a:pt x="1117122" y="571854"/>
                  </a:lnTo>
                  <a:lnTo>
                    <a:pt x="1115762" y="560068"/>
                  </a:lnTo>
                  <a:lnTo>
                    <a:pt x="1114175" y="548055"/>
                  </a:lnTo>
                  <a:lnTo>
                    <a:pt x="1112362" y="536269"/>
                  </a:lnTo>
                  <a:lnTo>
                    <a:pt x="1110321" y="524256"/>
                  </a:lnTo>
                  <a:lnTo>
                    <a:pt x="1107828" y="512470"/>
                  </a:lnTo>
                  <a:lnTo>
                    <a:pt x="1105108" y="500911"/>
                  </a:lnTo>
                  <a:lnTo>
                    <a:pt x="1102161" y="489125"/>
                  </a:lnTo>
                  <a:lnTo>
                    <a:pt x="1098760" y="477565"/>
                  </a:lnTo>
                  <a:lnTo>
                    <a:pt x="1095360" y="466006"/>
                  </a:lnTo>
                  <a:lnTo>
                    <a:pt x="1091280" y="454673"/>
                  </a:lnTo>
                  <a:lnTo>
                    <a:pt x="1087426" y="443114"/>
                  </a:lnTo>
                  <a:lnTo>
                    <a:pt x="1082892" y="431554"/>
                  </a:lnTo>
                  <a:lnTo>
                    <a:pt x="1078132" y="420448"/>
                  </a:lnTo>
                  <a:lnTo>
                    <a:pt x="1073144" y="409342"/>
                  </a:lnTo>
                  <a:lnTo>
                    <a:pt x="1067931" y="398462"/>
                  </a:lnTo>
                  <a:lnTo>
                    <a:pt x="1062263" y="387583"/>
                  </a:lnTo>
                  <a:lnTo>
                    <a:pt x="1056370" y="376703"/>
                  </a:lnTo>
                  <a:lnTo>
                    <a:pt x="1050249" y="366050"/>
                  </a:lnTo>
                  <a:lnTo>
                    <a:pt x="1043902" y="355397"/>
                  </a:lnTo>
                  <a:lnTo>
                    <a:pt x="1037101" y="344971"/>
                  </a:lnTo>
                  <a:lnTo>
                    <a:pt x="1030074" y="334545"/>
                  </a:lnTo>
                  <a:lnTo>
                    <a:pt x="1022820" y="324346"/>
                  </a:lnTo>
                  <a:lnTo>
                    <a:pt x="1015339" y="314373"/>
                  </a:lnTo>
                  <a:lnTo>
                    <a:pt x="1007405" y="304400"/>
                  </a:lnTo>
                  <a:lnTo>
                    <a:pt x="999244" y="294654"/>
                  </a:lnTo>
                  <a:lnTo>
                    <a:pt x="990856" y="285134"/>
                  </a:lnTo>
                  <a:lnTo>
                    <a:pt x="982016" y="275614"/>
                  </a:lnTo>
                  <a:lnTo>
                    <a:pt x="972948" y="266548"/>
                  </a:lnTo>
                  <a:lnTo>
                    <a:pt x="963880" y="257482"/>
                  </a:lnTo>
                  <a:lnTo>
                    <a:pt x="954586" y="248869"/>
                  </a:lnTo>
                  <a:lnTo>
                    <a:pt x="944839" y="240483"/>
                  </a:lnTo>
                  <a:lnTo>
                    <a:pt x="935091" y="232323"/>
                  </a:lnTo>
                  <a:lnTo>
                    <a:pt x="925343" y="224163"/>
                  </a:lnTo>
                  <a:lnTo>
                    <a:pt x="915142" y="216684"/>
                  </a:lnTo>
                  <a:lnTo>
                    <a:pt x="904941" y="209431"/>
                  </a:lnTo>
                  <a:lnTo>
                    <a:pt x="894740" y="202631"/>
                  </a:lnTo>
                  <a:lnTo>
                    <a:pt x="884086" y="195831"/>
                  </a:lnTo>
                  <a:lnTo>
                    <a:pt x="873658" y="189485"/>
                  </a:lnTo>
                  <a:lnTo>
                    <a:pt x="862777" y="183139"/>
                  </a:lnTo>
                  <a:lnTo>
                    <a:pt x="852123" y="177246"/>
                  </a:lnTo>
                  <a:lnTo>
                    <a:pt x="841015" y="171579"/>
                  </a:lnTo>
                  <a:lnTo>
                    <a:pt x="830134" y="166593"/>
                  </a:lnTo>
                  <a:lnTo>
                    <a:pt x="819026" y="161380"/>
                  </a:lnTo>
                  <a:lnTo>
                    <a:pt x="807692" y="156620"/>
                  </a:lnTo>
                  <a:lnTo>
                    <a:pt x="796358" y="152313"/>
                  </a:lnTo>
                  <a:lnTo>
                    <a:pt x="785023" y="148234"/>
                  </a:lnTo>
                  <a:lnTo>
                    <a:pt x="773462" y="144380"/>
                  </a:lnTo>
                  <a:lnTo>
                    <a:pt x="762128" y="140754"/>
                  </a:lnTo>
                  <a:lnTo>
                    <a:pt x="750340" y="137581"/>
                  </a:lnTo>
                  <a:lnTo>
                    <a:pt x="738779" y="134407"/>
                  </a:lnTo>
                  <a:lnTo>
                    <a:pt x="726991" y="131688"/>
                  </a:lnTo>
                  <a:lnTo>
                    <a:pt x="715203" y="129421"/>
                  </a:lnTo>
                  <a:lnTo>
                    <a:pt x="703415" y="127154"/>
                  </a:lnTo>
                  <a:lnTo>
                    <a:pt x="691401" y="125341"/>
                  </a:lnTo>
                  <a:lnTo>
                    <a:pt x="679613" y="123755"/>
                  </a:lnTo>
                  <a:lnTo>
                    <a:pt x="667598" y="122621"/>
                  </a:lnTo>
                  <a:lnTo>
                    <a:pt x="655584" y="121488"/>
                  </a:lnTo>
                  <a:lnTo>
                    <a:pt x="643796" y="120581"/>
                  </a:lnTo>
                  <a:lnTo>
                    <a:pt x="631782" y="120128"/>
                  </a:lnTo>
                  <a:lnTo>
                    <a:pt x="619540" y="120128"/>
                  </a:lnTo>
                  <a:lnTo>
                    <a:pt x="607752" y="120128"/>
                  </a:lnTo>
                  <a:close/>
                  <a:moveTo>
                    <a:pt x="619540" y="0"/>
                  </a:moveTo>
                  <a:lnTo>
                    <a:pt x="634502" y="227"/>
                  </a:lnTo>
                  <a:lnTo>
                    <a:pt x="649690" y="907"/>
                  </a:lnTo>
                  <a:lnTo>
                    <a:pt x="664198" y="1587"/>
                  </a:lnTo>
                  <a:lnTo>
                    <a:pt x="678933" y="3173"/>
                  </a:lnTo>
                  <a:lnTo>
                    <a:pt x="694121" y="4533"/>
                  </a:lnTo>
                  <a:lnTo>
                    <a:pt x="708629" y="6573"/>
                  </a:lnTo>
                  <a:lnTo>
                    <a:pt x="723364" y="8840"/>
                  </a:lnTo>
                  <a:lnTo>
                    <a:pt x="738098" y="11560"/>
                  </a:lnTo>
                  <a:lnTo>
                    <a:pt x="752607" y="14506"/>
                  </a:lnTo>
                  <a:lnTo>
                    <a:pt x="767115" y="17906"/>
                  </a:lnTo>
                  <a:lnTo>
                    <a:pt x="781623" y="21533"/>
                  </a:lnTo>
                  <a:lnTo>
                    <a:pt x="796131" y="25839"/>
                  </a:lnTo>
                  <a:lnTo>
                    <a:pt x="810412" y="30146"/>
                  </a:lnTo>
                  <a:lnTo>
                    <a:pt x="824694" y="34905"/>
                  </a:lnTo>
                  <a:lnTo>
                    <a:pt x="838975" y="40118"/>
                  </a:lnTo>
                  <a:lnTo>
                    <a:pt x="853030" y="45558"/>
                  </a:lnTo>
                  <a:lnTo>
                    <a:pt x="866858" y="51451"/>
                  </a:lnTo>
                  <a:lnTo>
                    <a:pt x="880686" y="57571"/>
                  </a:lnTo>
                  <a:lnTo>
                    <a:pt x="894514" y="64144"/>
                  </a:lnTo>
                  <a:lnTo>
                    <a:pt x="907888" y="71170"/>
                  </a:lnTo>
                  <a:lnTo>
                    <a:pt x="921263" y="78423"/>
                  </a:lnTo>
                  <a:lnTo>
                    <a:pt x="934638" y="85903"/>
                  </a:lnTo>
                  <a:lnTo>
                    <a:pt x="947786" y="93836"/>
                  </a:lnTo>
                  <a:lnTo>
                    <a:pt x="960934" y="102222"/>
                  </a:lnTo>
                  <a:lnTo>
                    <a:pt x="973401" y="110835"/>
                  </a:lnTo>
                  <a:lnTo>
                    <a:pt x="986096" y="119901"/>
                  </a:lnTo>
                  <a:lnTo>
                    <a:pt x="998791" y="129421"/>
                  </a:lnTo>
                  <a:lnTo>
                    <a:pt x="1010805" y="139167"/>
                  </a:lnTo>
                  <a:lnTo>
                    <a:pt x="1023046" y="149140"/>
                  </a:lnTo>
                  <a:lnTo>
                    <a:pt x="1034607" y="159793"/>
                  </a:lnTo>
                  <a:lnTo>
                    <a:pt x="1046395" y="170446"/>
                  </a:lnTo>
                  <a:lnTo>
                    <a:pt x="1057956" y="181779"/>
                  </a:lnTo>
                  <a:lnTo>
                    <a:pt x="1067251" y="191072"/>
                  </a:lnTo>
                  <a:lnTo>
                    <a:pt x="1076318" y="200591"/>
                  </a:lnTo>
                  <a:lnTo>
                    <a:pt x="1084932" y="210564"/>
                  </a:lnTo>
                  <a:lnTo>
                    <a:pt x="1093546" y="220310"/>
                  </a:lnTo>
                  <a:lnTo>
                    <a:pt x="1101934" y="230283"/>
                  </a:lnTo>
                  <a:lnTo>
                    <a:pt x="1110095" y="240709"/>
                  </a:lnTo>
                  <a:lnTo>
                    <a:pt x="1117802" y="250909"/>
                  </a:lnTo>
                  <a:lnTo>
                    <a:pt x="1125510" y="261108"/>
                  </a:lnTo>
                  <a:lnTo>
                    <a:pt x="1132764" y="271988"/>
                  </a:lnTo>
                  <a:lnTo>
                    <a:pt x="1139791" y="282414"/>
                  </a:lnTo>
                  <a:lnTo>
                    <a:pt x="1146592" y="293294"/>
                  </a:lnTo>
                  <a:lnTo>
                    <a:pt x="1153166" y="304173"/>
                  </a:lnTo>
                  <a:lnTo>
                    <a:pt x="1159513" y="315279"/>
                  </a:lnTo>
                  <a:lnTo>
                    <a:pt x="1165634" y="326159"/>
                  </a:lnTo>
                  <a:lnTo>
                    <a:pt x="1171527" y="337492"/>
                  </a:lnTo>
                  <a:lnTo>
                    <a:pt x="1177195" y="348598"/>
                  </a:lnTo>
                  <a:lnTo>
                    <a:pt x="1182408" y="360157"/>
                  </a:lnTo>
                  <a:lnTo>
                    <a:pt x="1187622" y="371490"/>
                  </a:lnTo>
                  <a:lnTo>
                    <a:pt x="1192610" y="383050"/>
                  </a:lnTo>
                  <a:lnTo>
                    <a:pt x="1197143" y="394609"/>
                  </a:lnTo>
                  <a:lnTo>
                    <a:pt x="1201677" y="406395"/>
                  </a:lnTo>
                  <a:lnTo>
                    <a:pt x="1205984" y="418181"/>
                  </a:lnTo>
                  <a:lnTo>
                    <a:pt x="1209611" y="429741"/>
                  </a:lnTo>
                  <a:lnTo>
                    <a:pt x="1213465" y="441754"/>
                  </a:lnTo>
                  <a:lnTo>
                    <a:pt x="1216865" y="453540"/>
                  </a:lnTo>
                  <a:lnTo>
                    <a:pt x="1219812" y="465552"/>
                  </a:lnTo>
                  <a:lnTo>
                    <a:pt x="1222986" y="477792"/>
                  </a:lnTo>
                  <a:lnTo>
                    <a:pt x="1225706" y="489578"/>
                  </a:lnTo>
                  <a:lnTo>
                    <a:pt x="1228200" y="501818"/>
                  </a:lnTo>
                  <a:lnTo>
                    <a:pt x="1230240" y="514057"/>
                  </a:lnTo>
                  <a:lnTo>
                    <a:pt x="1232280" y="526070"/>
                  </a:lnTo>
                  <a:lnTo>
                    <a:pt x="1233867" y="538536"/>
                  </a:lnTo>
                  <a:lnTo>
                    <a:pt x="1235680" y="550775"/>
                  </a:lnTo>
                  <a:lnTo>
                    <a:pt x="1236814" y="563015"/>
                  </a:lnTo>
                  <a:lnTo>
                    <a:pt x="1237720" y="575254"/>
                  </a:lnTo>
                  <a:lnTo>
                    <a:pt x="1238401" y="587720"/>
                  </a:lnTo>
                  <a:lnTo>
                    <a:pt x="1239081" y="599733"/>
                  </a:lnTo>
                  <a:lnTo>
                    <a:pt x="1239307" y="612199"/>
                  </a:lnTo>
                  <a:lnTo>
                    <a:pt x="1239307" y="624665"/>
                  </a:lnTo>
                  <a:lnTo>
                    <a:pt x="1239081" y="636678"/>
                  </a:lnTo>
                  <a:lnTo>
                    <a:pt x="1238627" y="649144"/>
                  </a:lnTo>
                  <a:lnTo>
                    <a:pt x="1237947" y="661610"/>
                  </a:lnTo>
                  <a:lnTo>
                    <a:pt x="1237040" y="673623"/>
                  </a:lnTo>
                  <a:lnTo>
                    <a:pt x="1235907" y="686089"/>
                  </a:lnTo>
                  <a:lnTo>
                    <a:pt x="1234320" y="698102"/>
                  </a:lnTo>
                  <a:lnTo>
                    <a:pt x="1232507" y="710341"/>
                  </a:lnTo>
                  <a:lnTo>
                    <a:pt x="1230693" y="722807"/>
                  </a:lnTo>
                  <a:lnTo>
                    <a:pt x="1228653" y="734820"/>
                  </a:lnTo>
                  <a:lnTo>
                    <a:pt x="1226159" y="746833"/>
                  </a:lnTo>
                  <a:lnTo>
                    <a:pt x="1223439" y="759073"/>
                  </a:lnTo>
                  <a:lnTo>
                    <a:pt x="1220719" y="771085"/>
                  </a:lnTo>
                  <a:lnTo>
                    <a:pt x="1217545" y="783098"/>
                  </a:lnTo>
                  <a:lnTo>
                    <a:pt x="1214145" y="795111"/>
                  </a:lnTo>
                  <a:lnTo>
                    <a:pt x="1210518" y="806897"/>
                  </a:lnTo>
                  <a:lnTo>
                    <a:pt x="1206664" y="818683"/>
                  </a:lnTo>
                  <a:lnTo>
                    <a:pt x="1202357" y="830469"/>
                  </a:lnTo>
                  <a:lnTo>
                    <a:pt x="1198277" y="842255"/>
                  </a:lnTo>
                  <a:lnTo>
                    <a:pt x="1193516" y="853588"/>
                  </a:lnTo>
                  <a:lnTo>
                    <a:pt x="1188529" y="865374"/>
                  </a:lnTo>
                  <a:lnTo>
                    <a:pt x="1183769" y="876934"/>
                  </a:lnTo>
                  <a:lnTo>
                    <a:pt x="1178328" y="888267"/>
                  </a:lnTo>
                  <a:lnTo>
                    <a:pt x="1172661" y="899599"/>
                  </a:lnTo>
                  <a:lnTo>
                    <a:pt x="1166767" y="910706"/>
                  </a:lnTo>
                  <a:lnTo>
                    <a:pt x="1160646" y="921812"/>
                  </a:lnTo>
                  <a:lnTo>
                    <a:pt x="1534229" y="1295115"/>
                  </a:lnTo>
                  <a:lnTo>
                    <a:pt x="1540350" y="1301461"/>
                  </a:lnTo>
                  <a:lnTo>
                    <a:pt x="1545790" y="1308034"/>
                  </a:lnTo>
                  <a:lnTo>
                    <a:pt x="1551231" y="1314607"/>
                  </a:lnTo>
                  <a:lnTo>
                    <a:pt x="1556445" y="1321407"/>
                  </a:lnTo>
                  <a:lnTo>
                    <a:pt x="1560752" y="1328433"/>
                  </a:lnTo>
                  <a:lnTo>
                    <a:pt x="1565286" y="1335460"/>
                  </a:lnTo>
                  <a:lnTo>
                    <a:pt x="1569366" y="1342713"/>
                  </a:lnTo>
                  <a:lnTo>
                    <a:pt x="1572766" y="1349966"/>
                  </a:lnTo>
                  <a:lnTo>
                    <a:pt x="1576167" y="1357219"/>
                  </a:lnTo>
                  <a:lnTo>
                    <a:pt x="1578887" y="1364698"/>
                  </a:lnTo>
                  <a:lnTo>
                    <a:pt x="1581381" y="1372178"/>
                  </a:lnTo>
                  <a:lnTo>
                    <a:pt x="1583648" y="1379658"/>
                  </a:lnTo>
                  <a:lnTo>
                    <a:pt x="1585461" y="1387137"/>
                  </a:lnTo>
                  <a:lnTo>
                    <a:pt x="1586821" y="1394617"/>
                  </a:lnTo>
                  <a:lnTo>
                    <a:pt x="1587955" y="1402323"/>
                  </a:lnTo>
                  <a:lnTo>
                    <a:pt x="1588635" y="1409803"/>
                  </a:lnTo>
                  <a:lnTo>
                    <a:pt x="1589088" y="1417283"/>
                  </a:lnTo>
                  <a:lnTo>
                    <a:pt x="1589088" y="1424762"/>
                  </a:lnTo>
                  <a:lnTo>
                    <a:pt x="1588861" y="1432242"/>
                  </a:lnTo>
                  <a:lnTo>
                    <a:pt x="1588181" y="1439495"/>
                  </a:lnTo>
                  <a:lnTo>
                    <a:pt x="1587274" y="1446748"/>
                  </a:lnTo>
                  <a:lnTo>
                    <a:pt x="1585914" y="1454001"/>
                  </a:lnTo>
                  <a:lnTo>
                    <a:pt x="1584101" y="1461027"/>
                  </a:lnTo>
                  <a:lnTo>
                    <a:pt x="1581834" y="1467827"/>
                  </a:lnTo>
                  <a:lnTo>
                    <a:pt x="1579340" y="1474627"/>
                  </a:lnTo>
                  <a:lnTo>
                    <a:pt x="1576620" y="1481200"/>
                  </a:lnTo>
                  <a:lnTo>
                    <a:pt x="1573220" y="1487773"/>
                  </a:lnTo>
                  <a:lnTo>
                    <a:pt x="1569593" y="1494119"/>
                  </a:lnTo>
                  <a:lnTo>
                    <a:pt x="1565512" y="1500239"/>
                  </a:lnTo>
                  <a:lnTo>
                    <a:pt x="1561432" y="1506132"/>
                  </a:lnTo>
                  <a:lnTo>
                    <a:pt x="1556445" y="1511572"/>
                  </a:lnTo>
                  <a:lnTo>
                    <a:pt x="1551231" y="1517011"/>
                  </a:lnTo>
                  <a:lnTo>
                    <a:pt x="1517228" y="1551237"/>
                  </a:lnTo>
                  <a:lnTo>
                    <a:pt x="1511787" y="1556223"/>
                  </a:lnTo>
                  <a:lnTo>
                    <a:pt x="1506120" y="1561209"/>
                  </a:lnTo>
                  <a:lnTo>
                    <a:pt x="1500226" y="1565516"/>
                  </a:lnTo>
                  <a:lnTo>
                    <a:pt x="1494106" y="1569369"/>
                  </a:lnTo>
                  <a:lnTo>
                    <a:pt x="1487985" y="1573222"/>
                  </a:lnTo>
                  <a:lnTo>
                    <a:pt x="1481411" y="1576395"/>
                  </a:lnTo>
                  <a:lnTo>
                    <a:pt x="1474837" y="1579342"/>
                  </a:lnTo>
                  <a:lnTo>
                    <a:pt x="1468036" y="1581835"/>
                  </a:lnTo>
                  <a:lnTo>
                    <a:pt x="1461009" y="1583875"/>
                  </a:lnTo>
                  <a:lnTo>
                    <a:pt x="1453982" y="1585688"/>
                  </a:lnTo>
                  <a:lnTo>
                    <a:pt x="1446728" y="1587275"/>
                  </a:lnTo>
                  <a:lnTo>
                    <a:pt x="1439474" y="1588182"/>
                  </a:lnTo>
                  <a:lnTo>
                    <a:pt x="1432219" y="1588862"/>
                  </a:lnTo>
                  <a:lnTo>
                    <a:pt x="1424739" y="1589088"/>
                  </a:lnTo>
                  <a:lnTo>
                    <a:pt x="1417258" y="1589088"/>
                  </a:lnTo>
                  <a:lnTo>
                    <a:pt x="1409777" y="1588862"/>
                  </a:lnTo>
                  <a:lnTo>
                    <a:pt x="1402296" y="1587955"/>
                  </a:lnTo>
                  <a:lnTo>
                    <a:pt x="1394589" y="1587048"/>
                  </a:lnTo>
                  <a:lnTo>
                    <a:pt x="1387108" y="1585235"/>
                  </a:lnTo>
                  <a:lnTo>
                    <a:pt x="1379628" y="1583422"/>
                  </a:lnTo>
                  <a:lnTo>
                    <a:pt x="1372147" y="1581382"/>
                  </a:lnTo>
                  <a:lnTo>
                    <a:pt x="1364666" y="1578662"/>
                  </a:lnTo>
                  <a:lnTo>
                    <a:pt x="1357186" y="1575942"/>
                  </a:lnTo>
                  <a:lnTo>
                    <a:pt x="1349931" y="1572769"/>
                  </a:lnTo>
                  <a:lnTo>
                    <a:pt x="1342677" y="1569142"/>
                  </a:lnTo>
                  <a:lnTo>
                    <a:pt x="1335423" y="1565289"/>
                  </a:lnTo>
                  <a:lnTo>
                    <a:pt x="1328396" y="1560756"/>
                  </a:lnTo>
                  <a:lnTo>
                    <a:pt x="1321369" y="1556223"/>
                  </a:lnTo>
                  <a:lnTo>
                    <a:pt x="1314568" y="1551237"/>
                  </a:lnTo>
                  <a:lnTo>
                    <a:pt x="1307994" y="1545797"/>
                  </a:lnTo>
                  <a:lnTo>
                    <a:pt x="1301420" y="1540130"/>
                  </a:lnTo>
                  <a:lnTo>
                    <a:pt x="1295299" y="1534011"/>
                  </a:lnTo>
                  <a:lnTo>
                    <a:pt x="921716" y="1160708"/>
                  </a:lnTo>
                  <a:lnTo>
                    <a:pt x="910835" y="1166827"/>
                  </a:lnTo>
                  <a:lnTo>
                    <a:pt x="899501" y="1172720"/>
                  </a:lnTo>
                  <a:lnTo>
                    <a:pt x="888166" y="1178160"/>
                  </a:lnTo>
                  <a:lnTo>
                    <a:pt x="876832" y="1183600"/>
                  </a:lnTo>
                  <a:lnTo>
                    <a:pt x="865498" y="1188586"/>
                  </a:lnTo>
                  <a:lnTo>
                    <a:pt x="853710" y="1193346"/>
                  </a:lnTo>
                  <a:lnTo>
                    <a:pt x="842375" y="1198106"/>
                  </a:lnTo>
                  <a:lnTo>
                    <a:pt x="830588" y="1202412"/>
                  </a:lnTo>
                  <a:lnTo>
                    <a:pt x="818573" y="1206492"/>
                  </a:lnTo>
                  <a:lnTo>
                    <a:pt x="807012" y="1210572"/>
                  </a:lnTo>
                  <a:lnTo>
                    <a:pt x="794997" y="1213972"/>
                  </a:lnTo>
                  <a:lnTo>
                    <a:pt x="783210" y="1217598"/>
                  </a:lnTo>
                  <a:lnTo>
                    <a:pt x="771195" y="1220545"/>
                  </a:lnTo>
                  <a:lnTo>
                    <a:pt x="758954" y="1223265"/>
                  </a:lnTo>
                  <a:lnTo>
                    <a:pt x="746939" y="1226211"/>
                  </a:lnTo>
                  <a:lnTo>
                    <a:pt x="734698" y="1228478"/>
                  </a:lnTo>
                  <a:lnTo>
                    <a:pt x="722457" y="1230518"/>
                  </a:lnTo>
                  <a:lnTo>
                    <a:pt x="710442" y="1232784"/>
                  </a:lnTo>
                  <a:lnTo>
                    <a:pt x="698201" y="1234371"/>
                  </a:lnTo>
                  <a:lnTo>
                    <a:pt x="685960" y="1235731"/>
                  </a:lnTo>
                  <a:lnTo>
                    <a:pt x="673719" y="1236864"/>
                  </a:lnTo>
                  <a:lnTo>
                    <a:pt x="661478" y="1237771"/>
                  </a:lnTo>
                  <a:lnTo>
                    <a:pt x="649010" y="1238451"/>
                  </a:lnTo>
                  <a:lnTo>
                    <a:pt x="636769" y="1239131"/>
                  </a:lnTo>
                  <a:lnTo>
                    <a:pt x="624527" y="1239357"/>
                  </a:lnTo>
                  <a:lnTo>
                    <a:pt x="612060" y="1239357"/>
                  </a:lnTo>
                  <a:lnTo>
                    <a:pt x="599818" y="1239131"/>
                  </a:lnTo>
                  <a:lnTo>
                    <a:pt x="587577" y="1238451"/>
                  </a:lnTo>
                  <a:lnTo>
                    <a:pt x="575109" y="1237544"/>
                  </a:lnTo>
                  <a:lnTo>
                    <a:pt x="562868" y="1236638"/>
                  </a:lnTo>
                  <a:lnTo>
                    <a:pt x="550627" y="1235504"/>
                  </a:lnTo>
                  <a:lnTo>
                    <a:pt x="538612" y="1233918"/>
                  </a:lnTo>
                  <a:lnTo>
                    <a:pt x="526145" y="1232331"/>
                  </a:lnTo>
                  <a:lnTo>
                    <a:pt x="513903" y="1230291"/>
                  </a:lnTo>
                  <a:lnTo>
                    <a:pt x="501889" y="1228025"/>
                  </a:lnTo>
                  <a:lnTo>
                    <a:pt x="489648" y="1225758"/>
                  </a:lnTo>
                  <a:lnTo>
                    <a:pt x="477633" y="1222811"/>
                  </a:lnTo>
                  <a:lnTo>
                    <a:pt x="465619" y="1219865"/>
                  </a:lnTo>
                  <a:lnTo>
                    <a:pt x="453604" y="1216918"/>
                  </a:lnTo>
                  <a:lnTo>
                    <a:pt x="441590" y="1213292"/>
                  </a:lnTo>
                  <a:lnTo>
                    <a:pt x="429802" y="1209665"/>
                  </a:lnTo>
                  <a:lnTo>
                    <a:pt x="418014" y="1205812"/>
                  </a:lnTo>
                  <a:lnTo>
                    <a:pt x="406453" y="1201506"/>
                  </a:lnTo>
                  <a:lnTo>
                    <a:pt x="394665" y="1197199"/>
                  </a:lnTo>
                  <a:lnTo>
                    <a:pt x="383104" y="1192440"/>
                  </a:lnTo>
                  <a:lnTo>
                    <a:pt x="371543" y="1187680"/>
                  </a:lnTo>
                  <a:lnTo>
                    <a:pt x="359982" y="1182467"/>
                  </a:lnTo>
                  <a:lnTo>
                    <a:pt x="348647" y="1177027"/>
                  </a:lnTo>
                  <a:lnTo>
                    <a:pt x="337313" y="1171360"/>
                  </a:lnTo>
                  <a:lnTo>
                    <a:pt x="326205" y="1165694"/>
                  </a:lnTo>
                  <a:lnTo>
                    <a:pt x="315097" y="1159574"/>
                  </a:lnTo>
                  <a:lnTo>
                    <a:pt x="304216" y="1153228"/>
                  </a:lnTo>
                  <a:lnTo>
                    <a:pt x="293109" y="1146655"/>
                  </a:lnTo>
                  <a:lnTo>
                    <a:pt x="282454" y="1139629"/>
                  </a:lnTo>
                  <a:lnTo>
                    <a:pt x="272026" y="1132602"/>
                  </a:lnTo>
                  <a:lnTo>
                    <a:pt x="261145" y="1125349"/>
                  </a:lnTo>
                  <a:lnTo>
                    <a:pt x="250944" y="1117643"/>
                  </a:lnTo>
                  <a:lnTo>
                    <a:pt x="240517" y="1109937"/>
                  </a:lnTo>
                  <a:lnTo>
                    <a:pt x="230316" y="1101777"/>
                  </a:lnTo>
                  <a:lnTo>
                    <a:pt x="220341" y="1093617"/>
                  </a:lnTo>
                  <a:lnTo>
                    <a:pt x="210367" y="1085004"/>
                  </a:lnTo>
                  <a:lnTo>
                    <a:pt x="200620" y="1076391"/>
                  </a:lnTo>
                  <a:lnTo>
                    <a:pt x="191099" y="1067099"/>
                  </a:lnTo>
                  <a:lnTo>
                    <a:pt x="181578" y="1057806"/>
                  </a:lnTo>
                  <a:lnTo>
                    <a:pt x="170470" y="1046473"/>
                  </a:lnTo>
                  <a:lnTo>
                    <a:pt x="159589" y="1034913"/>
                  </a:lnTo>
                  <a:lnTo>
                    <a:pt x="149161" y="1022901"/>
                  </a:lnTo>
                  <a:lnTo>
                    <a:pt x="139187" y="1010888"/>
                  </a:lnTo>
                  <a:lnTo>
                    <a:pt x="129213" y="998648"/>
                  </a:lnTo>
                  <a:lnTo>
                    <a:pt x="119918" y="985956"/>
                  </a:lnTo>
                  <a:lnTo>
                    <a:pt x="110851" y="973489"/>
                  </a:lnTo>
                  <a:lnTo>
                    <a:pt x="102237" y="960797"/>
                  </a:lnTo>
                  <a:lnTo>
                    <a:pt x="93849" y="947651"/>
                  </a:lnTo>
                  <a:lnTo>
                    <a:pt x="85688" y="934505"/>
                  </a:lnTo>
                  <a:lnTo>
                    <a:pt x="78208" y="921358"/>
                  </a:lnTo>
                  <a:lnTo>
                    <a:pt x="70954" y="907986"/>
                  </a:lnTo>
                  <a:lnTo>
                    <a:pt x="64153" y="894386"/>
                  </a:lnTo>
                  <a:lnTo>
                    <a:pt x="57579" y="880560"/>
                  </a:lnTo>
                  <a:lnTo>
                    <a:pt x="51232" y="866734"/>
                  </a:lnTo>
                  <a:lnTo>
                    <a:pt x="45338" y="852908"/>
                  </a:lnTo>
                  <a:lnTo>
                    <a:pt x="39897" y="838856"/>
                  </a:lnTo>
                  <a:lnTo>
                    <a:pt x="34910" y="824803"/>
                  </a:lnTo>
                  <a:lnTo>
                    <a:pt x="30150" y="810524"/>
                  </a:lnTo>
                  <a:lnTo>
                    <a:pt x="25616" y="796244"/>
                  </a:lnTo>
                  <a:lnTo>
                    <a:pt x="21535" y="781738"/>
                  </a:lnTo>
                  <a:lnTo>
                    <a:pt x="17682" y="767232"/>
                  </a:lnTo>
                  <a:lnTo>
                    <a:pt x="14508" y="752726"/>
                  </a:lnTo>
                  <a:lnTo>
                    <a:pt x="11334" y="738220"/>
                  </a:lnTo>
                  <a:lnTo>
                    <a:pt x="8841" y="723487"/>
                  </a:lnTo>
                  <a:lnTo>
                    <a:pt x="6574" y="708755"/>
                  </a:lnTo>
                  <a:lnTo>
                    <a:pt x="4307" y="694022"/>
                  </a:lnTo>
                  <a:lnTo>
                    <a:pt x="2947" y="679289"/>
                  </a:lnTo>
                  <a:lnTo>
                    <a:pt x="1587" y="664330"/>
                  </a:lnTo>
                  <a:lnTo>
                    <a:pt x="680" y="649597"/>
                  </a:lnTo>
                  <a:lnTo>
                    <a:pt x="227" y="634638"/>
                  </a:lnTo>
                  <a:lnTo>
                    <a:pt x="0" y="619905"/>
                  </a:lnTo>
                  <a:lnTo>
                    <a:pt x="227" y="604946"/>
                  </a:lnTo>
                  <a:lnTo>
                    <a:pt x="680" y="589987"/>
                  </a:lnTo>
                  <a:lnTo>
                    <a:pt x="1587" y="575254"/>
                  </a:lnTo>
                  <a:lnTo>
                    <a:pt x="2947" y="560295"/>
                  </a:lnTo>
                  <a:lnTo>
                    <a:pt x="4307" y="545562"/>
                  </a:lnTo>
                  <a:lnTo>
                    <a:pt x="6574" y="530830"/>
                  </a:lnTo>
                  <a:lnTo>
                    <a:pt x="8841" y="516097"/>
                  </a:lnTo>
                  <a:lnTo>
                    <a:pt x="11334" y="501364"/>
                  </a:lnTo>
                  <a:lnTo>
                    <a:pt x="14508" y="486858"/>
                  </a:lnTo>
                  <a:lnTo>
                    <a:pt x="17682" y="472352"/>
                  </a:lnTo>
                  <a:lnTo>
                    <a:pt x="21535" y="457846"/>
                  </a:lnTo>
                  <a:lnTo>
                    <a:pt x="25616" y="443340"/>
                  </a:lnTo>
                  <a:lnTo>
                    <a:pt x="30150" y="429061"/>
                  </a:lnTo>
                  <a:lnTo>
                    <a:pt x="34910" y="414781"/>
                  </a:lnTo>
                  <a:lnTo>
                    <a:pt x="39897" y="400502"/>
                  </a:lnTo>
                  <a:lnTo>
                    <a:pt x="45338" y="386449"/>
                  </a:lnTo>
                  <a:lnTo>
                    <a:pt x="51232" y="372850"/>
                  </a:lnTo>
                  <a:lnTo>
                    <a:pt x="57579" y="359024"/>
                  </a:lnTo>
                  <a:lnTo>
                    <a:pt x="64153" y="345198"/>
                  </a:lnTo>
                  <a:lnTo>
                    <a:pt x="70954" y="331599"/>
                  </a:lnTo>
                  <a:lnTo>
                    <a:pt x="78208" y="318226"/>
                  </a:lnTo>
                  <a:lnTo>
                    <a:pt x="85688" y="304853"/>
                  </a:lnTo>
                  <a:lnTo>
                    <a:pt x="93849" y="291934"/>
                  </a:lnTo>
                  <a:lnTo>
                    <a:pt x="102237" y="278788"/>
                  </a:lnTo>
                  <a:lnTo>
                    <a:pt x="110851" y="266095"/>
                  </a:lnTo>
                  <a:lnTo>
                    <a:pt x="119918" y="253402"/>
                  </a:lnTo>
                  <a:lnTo>
                    <a:pt x="129213" y="240936"/>
                  </a:lnTo>
                  <a:lnTo>
                    <a:pt x="139187" y="228697"/>
                  </a:lnTo>
                  <a:lnTo>
                    <a:pt x="149161" y="216457"/>
                  </a:lnTo>
                  <a:lnTo>
                    <a:pt x="159589" y="204671"/>
                  </a:lnTo>
                  <a:lnTo>
                    <a:pt x="170470" y="193111"/>
                  </a:lnTo>
                  <a:lnTo>
                    <a:pt x="181578" y="181779"/>
                  </a:lnTo>
                  <a:lnTo>
                    <a:pt x="193139" y="170446"/>
                  </a:lnTo>
                  <a:lnTo>
                    <a:pt x="204473" y="159793"/>
                  </a:lnTo>
                  <a:lnTo>
                    <a:pt x="216488" y="149140"/>
                  </a:lnTo>
                  <a:lnTo>
                    <a:pt x="228729" y="139167"/>
                  </a:lnTo>
                  <a:lnTo>
                    <a:pt x="240743" y="129421"/>
                  </a:lnTo>
                  <a:lnTo>
                    <a:pt x="253438" y="119901"/>
                  </a:lnTo>
                  <a:lnTo>
                    <a:pt x="266133" y="110835"/>
                  </a:lnTo>
                  <a:lnTo>
                    <a:pt x="278600" y="102222"/>
                  </a:lnTo>
                  <a:lnTo>
                    <a:pt x="291748" y="93836"/>
                  </a:lnTo>
                  <a:lnTo>
                    <a:pt x="304896" y="85903"/>
                  </a:lnTo>
                  <a:lnTo>
                    <a:pt x="318271" y="78423"/>
                  </a:lnTo>
                  <a:lnTo>
                    <a:pt x="331646" y="71170"/>
                  </a:lnTo>
                  <a:lnTo>
                    <a:pt x="345020" y="64144"/>
                  </a:lnTo>
                  <a:lnTo>
                    <a:pt x="358848" y="57571"/>
                  </a:lnTo>
                  <a:lnTo>
                    <a:pt x="372676" y="51451"/>
                  </a:lnTo>
                  <a:lnTo>
                    <a:pt x="386504" y="45558"/>
                  </a:lnTo>
                  <a:lnTo>
                    <a:pt x="400559" y="40118"/>
                  </a:lnTo>
                  <a:lnTo>
                    <a:pt x="414840" y="34905"/>
                  </a:lnTo>
                  <a:lnTo>
                    <a:pt x="429122" y="30146"/>
                  </a:lnTo>
                  <a:lnTo>
                    <a:pt x="443403" y="25839"/>
                  </a:lnTo>
                  <a:lnTo>
                    <a:pt x="457911" y="21533"/>
                  </a:lnTo>
                  <a:lnTo>
                    <a:pt x="472419" y="17906"/>
                  </a:lnTo>
                  <a:lnTo>
                    <a:pt x="486927" y="14506"/>
                  </a:lnTo>
                  <a:lnTo>
                    <a:pt x="501435" y="11560"/>
                  </a:lnTo>
                  <a:lnTo>
                    <a:pt x="515944" y="8840"/>
                  </a:lnTo>
                  <a:lnTo>
                    <a:pt x="530678" y="6573"/>
                  </a:lnTo>
                  <a:lnTo>
                    <a:pt x="545413" y="4533"/>
                  </a:lnTo>
                  <a:lnTo>
                    <a:pt x="560148" y="3173"/>
                  </a:lnTo>
                  <a:lnTo>
                    <a:pt x="575109" y="1587"/>
                  </a:lnTo>
                  <a:lnTo>
                    <a:pt x="589844" y="907"/>
                  </a:lnTo>
                  <a:lnTo>
                    <a:pt x="604806" y="227"/>
                  </a:lnTo>
                  <a:lnTo>
                    <a:pt x="619540" y="0"/>
                  </a:lnTo>
                  <a:close/>
                </a:path>
              </a:pathLst>
            </a:custGeom>
            <a:solidFill>
              <a:schemeClr val="bg1"/>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endParaRPr lang="zh-CN" altLang="en-US" b="1">
                <a:solidFill>
                  <a:schemeClr val="bg1"/>
                </a:solidFill>
                <a:cs typeface="+mn-ea"/>
                <a:sym typeface="+mn-ea"/>
              </a:endParaRPr>
            </a:p>
          </p:txBody>
        </p:sp>
      </p:grpSp>
      <p:grpSp>
        <p:nvGrpSpPr>
          <p:cNvPr id="20" name="组合 19"/>
          <p:cNvGrpSpPr/>
          <p:nvPr/>
        </p:nvGrpSpPr>
        <p:grpSpPr>
          <a:xfrm>
            <a:off x="4443730" y="4173220"/>
            <a:ext cx="6363335" cy="817880"/>
            <a:chOff x="6960" y="5774"/>
            <a:chExt cx="10021" cy="1288"/>
          </a:xfrm>
        </p:grpSpPr>
        <p:sp>
          <p:nvSpPr>
            <p:cNvPr id="21" name="Rectangle 13"/>
            <p:cNvSpPr>
              <a:spLocks noChangeArrowheads="1"/>
            </p:cNvSpPr>
            <p:nvPr/>
          </p:nvSpPr>
          <p:spPr bwMode="auto">
            <a:xfrm>
              <a:off x="6960" y="5774"/>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dirty="0">
                  <a:solidFill>
                    <a:schemeClr val="bg1"/>
                  </a:solidFill>
                  <a:cs typeface="+mn-ea"/>
                  <a:sym typeface="+mn-lt"/>
                </a:rPr>
                <a:t>四</a:t>
              </a:r>
            </a:p>
          </p:txBody>
        </p:sp>
        <p:sp>
          <p:nvSpPr>
            <p:cNvPr id="22" name="Rectangle 5"/>
            <p:cNvSpPr>
              <a:spLocks noChangeArrowheads="1"/>
            </p:cNvSpPr>
            <p:nvPr/>
          </p:nvSpPr>
          <p:spPr bwMode="auto">
            <a:xfrm>
              <a:off x="8389" y="5774"/>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schemeClr val="bg1"/>
                  </a:solidFill>
                  <a:cs typeface="+mn-ea"/>
                  <a:sym typeface="+mn-lt"/>
                </a:rPr>
                <a:t>   </a:t>
              </a:r>
              <a:r>
                <a:rPr lang="zh-CN" b="1" dirty="0">
                  <a:solidFill>
                    <a:schemeClr val="bg1"/>
                  </a:solidFill>
                  <a:cs typeface="+mn-ea"/>
                  <a:sym typeface="+mn-lt"/>
                </a:rPr>
                <a:t>推广价值</a:t>
              </a:r>
            </a:p>
          </p:txBody>
        </p:sp>
      </p:grpSp>
      <p:grpSp>
        <p:nvGrpSpPr>
          <p:cNvPr id="5" name="组合 4"/>
          <p:cNvGrpSpPr/>
          <p:nvPr/>
        </p:nvGrpSpPr>
        <p:grpSpPr>
          <a:xfrm>
            <a:off x="4443730" y="5076190"/>
            <a:ext cx="6363335" cy="817880"/>
            <a:chOff x="6960" y="5774"/>
            <a:chExt cx="10021" cy="1288"/>
          </a:xfrm>
        </p:grpSpPr>
        <p:sp>
          <p:nvSpPr>
            <p:cNvPr id="6" name="Rectangle 13"/>
            <p:cNvSpPr>
              <a:spLocks noChangeArrowheads="1"/>
            </p:cNvSpPr>
            <p:nvPr/>
          </p:nvSpPr>
          <p:spPr bwMode="auto">
            <a:xfrm>
              <a:off x="6960" y="5774"/>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dirty="0">
                  <a:solidFill>
                    <a:schemeClr val="bg1"/>
                  </a:solidFill>
                  <a:cs typeface="+mn-ea"/>
                  <a:sym typeface="+mn-lt"/>
                </a:rPr>
                <a:t>五</a:t>
              </a:r>
            </a:p>
          </p:txBody>
        </p:sp>
        <p:sp>
          <p:nvSpPr>
            <p:cNvPr id="7" name="Rectangle 5"/>
            <p:cNvSpPr>
              <a:spLocks noChangeArrowheads="1"/>
            </p:cNvSpPr>
            <p:nvPr/>
          </p:nvSpPr>
          <p:spPr bwMode="auto">
            <a:xfrm>
              <a:off x="8389" y="5774"/>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schemeClr val="bg1"/>
                  </a:solidFill>
                  <a:cs typeface="+mn-ea"/>
                  <a:sym typeface="+mn-lt"/>
                </a:rPr>
                <a:t>   </a:t>
              </a:r>
              <a:r>
                <a:rPr lang="zh-CN" altLang="en-US" b="1" dirty="0">
                  <a:solidFill>
                    <a:schemeClr val="bg1"/>
                  </a:solidFill>
                  <a:cs typeface="+mn-ea"/>
                  <a:sym typeface="+mn-lt"/>
                </a:rPr>
                <a:t>团队介绍</a:t>
              </a:r>
            </a:p>
          </p:txBody>
        </p:sp>
      </p:grpSp>
      <p:pic>
        <p:nvPicPr>
          <p:cNvPr id="11" name="图片 10"/>
          <p:cNvPicPr>
            <a:picLocks noChangeAspect="1"/>
          </p:cNvPicPr>
          <p:nvPr/>
        </p:nvPicPr>
        <p:blipFill rotWithShape="1">
          <a:blip r:embed="rId7" cstate="print">
            <a:extLst>
              <a:ext uri="{28A0092B-C50C-407E-A947-70E740481C1C}">
                <a14:useLocalDpi xmlns:a14="http://schemas.microsoft.com/office/drawing/2010/main" val="0"/>
              </a:ext>
            </a:extLst>
          </a:blip>
          <a:srcRect l="8513" t="19659" r="60847" b="16329"/>
          <a:stretch>
            <a:fillRect/>
          </a:stretch>
        </p:blipFill>
        <p:spPr>
          <a:xfrm>
            <a:off x="10125710" y="5100320"/>
            <a:ext cx="437515" cy="685800"/>
          </a:xfrm>
          <a:prstGeom prst="rect">
            <a:avLst/>
          </a:prstGeom>
        </p:spPr>
      </p:pic>
      <p:pic>
        <p:nvPicPr>
          <p:cNvPr id="12" name="图片 11" descr="改造世界"/>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118090" y="4316730"/>
            <a:ext cx="530225" cy="530225"/>
          </a:xfrm>
          <a:prstGeom prst="rect">
            <a:avLst/>
          </a:prstGeom>
        </p:spPr>
      </p:pic>
    </p:spTree>
    <p:custDataLst>
      <p:tags r:id="rId1"/>
    </p:custData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02" y="181637"/>
            <a:ext cx="8138082" cy="418058"/>
          </a:xfrm>
        </p:spPr>
        <p:txBody>
          <a:bodyPr>
            <a:noAutofit/>
          </a:bodyPr>
          <a:lstStyle/>
          <a:p>
            <a:r>
              <a:rPr lang="zh-CN" altLang="en-US" sz="2400"/>
              <a:t>目录</a:t>
            </a:r>
          </a:p>
        </p:txBody>
      </p:sp>
      <p:pic>
        <p:nvPicPr>
          <p:cNvPr id="18" name="图片 15"/>
          <p:cNvPicPr>
            <a:picLocks noChangeAspect="1"/>
          </p:cNvPicPr>
          <p:nvPr/>
        </p:nvPicPr>
        <p:blipFill rotWithShape="1">
          <a:blip r:embed="rId4"/>
          <a:srcRect l="11383" t="8193" r="11087" b="29077"/>
          <a:stretch>
            <a:fillRect/>
          </a:stretch>
        </p:blipFill>
        <p:spPr>
          <a:xfrm>
            <a:off x="430088" y="1593630"/>
            <a:ext cx="3511883" cy="1941322"/>
          </a:xfrm>
          <a:prstGeom prst="rect">
            <a:avLst/>
          </a:prstGeom>
        </p:spPr>
      </p:pic>
      <p:grpSp>
        <p:nvGrpSpPr>
          <p:cNvPr id="35" name="组合 34"/>
          <p:cNvGrpSpPr/>
          <p:nvPr/>
        </p:nvGrpSpPr>
        <p:grpSpPr>
          <a:xfrm>
            <a:off x="4443730" y="1464310"/>
            <a:ext cx="6363335" cy="817880"/>
            <a:chOff x="6961" y="1508"/>
            <a:chExt cx="10021" cy="1288"/>
          </a:xfrm>
        </p:grpSpPr>
        <p:sp>
          <p:nvSpPr>
            <p:cNvPr id="33" name="Rectangle 10"/>
            <p:cNvSpPr>
              <a:spLocks noChangeArrowheads="1"/>
            </p:cNvSpPr>
            <p:nvPr/>
          </p:nvSpPr>
          <p:spPr bwMode="auto">
            <a:xfrm>
              <a:off x="6961" y="1508"/>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prstClr val="white"/>
                  </a:solidFill>
                  <a:cs typeface="+mn-ea"/>
                  <a:sym typeface="+mn-lt"/>
                </a:rPr>
                <a:t>一</a:t>
              </a:r>
            </a:p>
          </p:txBody>
        </p:sp>
        <p:sp>
          <p:nvSpPr>
            <p:cNvPr id="36" name="Rectangle 9"/>
            <p:cNvSpPr>
              <a:spLocks noChangeArrowheads="1"/>
            </p:cNvSpPr>
            <p:nvPr/>
          </p:nvSpPr>
          <p:spPr bwMode="auto">
            <a:xfrm>
              <a:off x="8390" y="1508"/>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prstClr val="white"/>
                  </a:solidFill>
                  <a:cs typeface="+mn-ea"/>
                  <a:sym typeface="+mn-lt"/>
                </a:rPr>
                <a:t>  </a:t>
              </a:r>
              <a:r>
                <a:rPr lang="zh-CN" altLang="en-US" b="1" dirty="0">
                  <a:solidFill>
                    <a:prstClr val="white"/>
                  </a:solidFill>
                  <a:cs typeface="+mn-ea"/>
                  <a:sym typeface="+mn-lt"/>
                </a:rPr>
                <a:t>成果介绍</a:t>
              </a:r>
            </a:p>
          </p:txBody>
        </p:sp>
        <p:pic>
          <p:nvPicPr>
            <p:cNvPr id="29" name="图片 249"/>
            <p:cNvPicPr>
              <a:picLocks noChangeAspect="1"/>
            </p:cNvPicPr>
            <p:nvPr/>
          </p:nvPicPr>
          <p:blipFill>
            <a:blip r:embed="rId5"/>
            <a:stretch>
              <a:fillRect/>
            </a:stretch>
          </p:blipFill>
          <p:spPr bwMode="auto">
            <a:xfrm>
              <a:off x="15965" y="1802"/>
              <a:ext cx="697" cy="700"/>
            </a:xfrm>
            <a:prstGeom prst="rect">
              <a:avLst/>
            </a:prstGeom>
            <a:solidFill>
              <a:srgbClr val="CDCDCD"/>
            </a:solidFill>
            <a:ln w="12700">
              <a:noFill/>
              <a:miter lim="800000"/>
              <a:headEnd/>
              <a:tailEnd/>
            </a:ln>
          </p:spPr>
        </p:pic>
      </p:grpSp>
      <p:grpSp>
        <p:nvGrpSpPr>
          <p:cNvPr id="37" name="组合 36"/>
          <p:cNvGrpSpPr/>
          <p:nvPr/>
        </p:nvGrpSpPr>
        <p:grpSpPr>
          <a:xfrm>
            <a:off x="4443730" y="2367280"/>
            <a:ext cx="6363335" cy="817880"/>
            <a:chOff x="6961" y="2930"/>
            <a:chExt cx="10021" cy="1288"/>
          </a:xfrm>
        </p:grpSpPr>
        <p:sp>
          <p:nvSpPr>
            <p:cNvPr id="4" name="Rectangle 10"/>
            <p:cNvSpPr>
              <a:spLocks noChangeArrowheads="1"/>
            </p:cNvSpPr>
            <p:nvPr/>
          </p:nvSpPr>
          <p:spPr bwMode="auto">
            <a:xfrm>
              <a:off x="6961" y="2930"/>
              <a:ext cx="1287" cy="1288"/>
            </a:xfrm>
            <a:prstGeom prst="rect">
              <a:avLst/>
            </a:prstGeom>
            <a:solidFill>
              <a:srgbClr val="2E5495"/>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schemeClr val="bg1"/>
                  </a:solidFill>
                  <a:cs typeface="+mn-ea"/>
                  <a:sym typeface="+mn-lt"/>
                </a:rPr>
                <a:t>二</a:t>
              </a:r>
            </a:p>
          </p:txBody>
        </p:sp>
        <p:sp>
          <p:nvSpPr>
            <p:cNvPr id="9" name="Rectangle 5"/>
            <p:cNvSpPr>
              <a:spLocks noChangeArrowheads="1"/>
            </p:cNvSpPr>
            <p:nvPr/>
          </p:nvSpPr>
          <p:spPr bwMode="auto">
            <a:xfrm>
              <a:off x="8390" y="2930"/>
              <a:ext cx="8592" cy="1288"/>
            </a:xfrm>
            <a:prstGeom prst="rect">
              <a:avLst/>
            </a:prstGeom>
            <a:solidFill>
              <a:srgbClr val="2E5495"/>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zh-CN" altLang="en-US" b="1">
                  <a:solidFill>
                    <a:schemeClr val="bg1"/>
                  </a:solidFill>
                  <a:cs typeface="+mn-ea"/>
                  <a:sym typeface="+mn-lt"/>
                </a:rPr>
                <a:t>   解决方案</a:t>
              </a:r>
            </a:p>
          </p:txBody>
        </p:sp>
        <p:pic>
          <p:nvPicPr>
            <p:cNvPr id="30" name="图片 264"/>
            <p:cNvPicPr>
              <a:picLocks noChangeAspect="1"/>
            </p:cNvPicPr>
            <p:nvPr/>
          </p:nvPicPr>
          <p:blipFill>
            <a:blip r:embed="rId6"/>
            <a:stretch>
              <a:fillRect/>
            </a:stretch>
          </p:blipFill>
          <p:spPr bwMode="auto">
            <a:xfrm>
              <a:off x="15973" y="3233"/>
              <a:ext cx="681" cy="681"/>
            </a:xfrm>
            <a:prstGeom prst="rect">
              <a:avLst/>
            </a:prstGeom>
            <a:solidFill>
              <a:srgbClr val="2E5495"/>
            </a:solidFill>
            <a:ln w="12700">
              <a:noFill/>
              <a:miter lim="800000"/>
              <a:headEnd/>
              <a:tailEnd/>
            </a:ln>
          </p:spPr>
        </p:pic>
      </p:grpSp>
      <p:grpSp>
        <p:nvGrpSpPr>
          <p:cNvPr id="38" name="组合 37"/>
          <p:cNvGrpSpPr/>
          <p:nvPr/>
        </p:nvGrpSpPr>
        <p:grpSpPr>
          <a:xfrm>
            <a:off x="4443095" y="3270250"/>
            <a:ext cx="6363335" cy="817880"/>
            <a:chOff x="6960" y="4352"/>
            <a:chExt cx="10021" cy="1288"/>
          </a:xfrm>
        </p:grpSpPr>
        <p:sp>
          <p:nvSpPr>
            <p:cNvPr id="24" name="Rectangle 13"/>
            <p:cNvSpPr>
              <a:spLocks noChangeArrowheads="1"/>
            </p:cNvSpPr>
            <p:nvPr/>
          </p:nvSpPr>
          <p:spPr bwMode="auto">
            <a:xfrm>
              <a:off x="6960" y="4352"/>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schemeClr val="bg1"/>
                  </a:solidFill>
                  <a:cs typeface="+mn-ea"/>
                  <a:sym typeface="+mn-lt"/>
                </a:rPr>
                <a:t>三</a:t>
              </a:r>
            </a:p>
          </p:txBody>
        </p:sp>
        <p:sp>
          <p:nvSpPr>
            <p:cNvPr id="25" name="Rectangle 5"/>
            <p:cNvSpPr>
              <a:spLocks noChangeArrowheads="1"/>
            </p:cNvSpPr>
            <p:nvPr/>
          </p:nvSpPr>
          <p:spPr bwMode="auto">
            <a:xfrm>
              <a:off x="8389" y="4352"/>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a:solidFill>
                    <a:schemeClr val="bg1"/>
                  </a:solidFill>
                  <a:cs typeface="+mn-ea"/>
                  <a:sym typeface="+mn-lt"/>
                </a:rPr>
                <a:t>   </a:t>
              </a:r>
              <a:r>
                <a:rPr lang="zh-CN" altLang="en-US" b="1">
                  <a:solidFill>
                    <a:schemeClr val="bg1"/>
                  </a:solidFill>
                  <a:cs typeface="+mn-ea"/>
                  <a:sym typeface="+mn-lt"/>
                </a:rPr>
                <a:t>应用成效</a:t>
              </a:r>
            </a:p>
          </p:txBody>
        </p:sp>
        <p:sp>
          <p:nvSpPr>
            <p:cNvPr id="26" name="KSO_Shape"/>
            <p:cNvSpPr/>
            <p:nvPr/>
          </p:nvSpPr>
          <p:spPr bwMode="auto">
            <a:xfrm>
              <a:off x="15986" y="4659"/>
              <a:ext cx="656" cy="674"/>
            </a:xfrm>
            <a:custGeom>
              <a:avLst/>
              <a:gdLst>
                <a:gd name="T0" fmla="*/ 984018 w 1589088"/>
                <a:gd name="T1" fmla="*/ 589506 h 1589088"/>
                <a:gd name="T2" fmla="*/ 955171 w 1589088"/>
                <a:gd name="T3" fmla="*/ 645802 h 1589088"/>
                <a:gd name="T4" fmla="*/ 898294 w 1589088"/>
                <a:gd name="T5" fmla="*/ 673272 h 1589088"/>
                <a:gd name="T6" fmla="*/ 881422 w 1589088"/>
                <a:gd name="T7" fmla="*/ 964824 h 1589088"/>
                <a:gd name="T8" fmla="*/ 873530 w 1589088"/>
                <a:gd name="T9" fmla="*/ 1040159 h 1589088"/>
                <a:gd name="T10" fmla="*/ 824817 w 1589088"/>
                <a:gd name="T11" fmla="*/ 1084490 h 1589088"/>
                <a:gd name="T12" fmla="*/ 756238 w 1589088"/>
                <a:gd name="T13" fmla="*/ 1088026 h 1589088"/>
                <a:gd name="T14" fmla="*/ 703444 w 1589088"/>
                <a:gd name="T15" fmla="*/ 1048590 h 1589088"/>
                <a:gd name="T16" fmla="*/ 686571 w 1589088"/>
                <a:gd name="T17" fmla="*/ 985493 h 1589088"/>
                <a:gd name="T18" fmla="*/ 486007 w 1589088"/>
                <a:gd name="T19" fmla="*/ 893024 h 1589088"/>
                <a:gd name="T20" fmla="*/ 398106 w 1589088"/>
                <a:gd name="T21" fmla="*/ 820680 h 1589088"/>
                <a:gd name="T22" fmla="*/ 402189 w 1589088"/>
                <a:gd name="T23" fmla="*/ 755134 h 1589088"/>
                <a:gd name="T24" fmla="*/ 446547 w 1589088"/>
                <a:gd name="T25" fmla="*/ 706452 h 1589088"/>
                <a:gd name="T26" fmla="*/ 514037 w 1589088"/>
                <a:gd name="T27" fmla="*/ 696389 h 1589088"/>
                <a:gd name="T28" fmla="*/ 570641 w 1589088"/>
                <a:gd name="T29" fmla="*/ 730385 h 1589088"/>
                <a:gd name="T30" fmla="*/ 593501 w 1589088"/>
                <a:gd name="T31" fmla="*/ 794027 h 1589088"/>
                <a:gd name="T32" fmla="*/ 818558 w 1589088"/>
                <a:gd name="T33" fmla="*/ 648522 h 1589088"/>
                <a:gd name="T34" fmla="*/ 785901 w 1589088"/>
                <a:gd name="T35" fmla="*/ 575091 h 1589088"/>
                <a:gd name="T36" fmla="*/ 808761 w 1589088"/>
                <a:gd name="T37" fmla="*/ 511721 h 1589088"/>
                <a:gd name="T38" fmla="*/ 865365 w 1589088"/>
                <a:gd name="T39" fmla="*/ 477726 h 1589088"/>
                <a:gd name="T40" fmla="*/ 728574 w 1589088"/>
                <a:gd name="T41" fmla="*/ 144010 h 1589088"/>
                <a:gd name="T42" fmla="*/ 531280 w 1589088"/>
                <a:gd name="T43" fmla="*/ 182593 h 1589088"/>
                <a:gd name="T44" fmla="*/ 353281 w 1589088"/>
                <a:gd name="T45" fmla="*/ 288291 h 1589088"/>
                <a:gd name="T46" fmla="*/ 219577 w 1589088"/>
                <a:gd name="T47" fmla="*/ 451592 h 1589088"/>
                <a:gd name="T48" fmla="*/ 152454 w 1589088"/>
                <a:gd name="T49" fmla="*/ 642880 h 1589088"/>
                <a:gd name="T50" fmla="*/ 152454 w 1589088"/>
                <a:gd name="T51" fmla="*/ 843135 h 1589088"/>
                <a:gd name="T52" fmla="*/ 219577 w 1589088"/>
                <a:gd name="T53" fmla="*/ 1034422 h 1589088"/>
                <a:gd name="T54" fmla="*/ 353281 w 1589088"/>
                <a:gd name="T55" fmla="*/ 1197724 h 1589088"/>
                <a:gd name="T56" fmla="*/ 531280 w 1589088"/>
                <a:gd name="T57" fmla="*/ 1303421 h 1589088"/>
                <a:gd name="T58" fmla="*/ 728574 w 1589088"/>
                <a:gd name="T59" fmla="*/ 1341734 h 1589088"/>
                <a:gd name="T60" fmla="*/ 927227 w 1589088"/>
                <a:gd name="T61" fmla="*/ 1312931 h 1589088"/>
                <a:gd name="T62" fmla="*/ 1109302 w 1589088"/>
                <a:gd name="T63" fmla="*/ 1217015 h 1589088"/>
                <a:gd name="T64" fmla="*/ 1251431 w 1589088"/>
                <a:gd name="T65" fmla="*/ 1059964 h 1589088"/>
                <a:gd name="T66" fmla="*/ 1328065 w 1589088"/>
                <a:gd name="T67" fmla="*/ 871393 h 1589088"/>
                <a:gd name="T68" fmla="*/ 1337576 w 1589088"/>
                <a:gd name="T69" fmla="*/ 671410 h 1589088"/>
                <a:gd name="T70" fmla="*/ 1280237 w 1589088"/>
                <a:gd name="T71" fmla="*/ 477677 h 1589088"/>
                <a:gd name="T72" fmla="*/ 1155500 w 1589088"/>
                <a:gd name="T73" fmla="*/ 308670 h 1589088"/>
                <a:gd name="T74" fmla="*/ 981849 w 1589088"/>
                <a:gd name="T75" fmla="*/ 193462 h 1589088"/>
                <a:gd name="T76" fmla="*/ 785915 w 1589088"/>
                <a:gd name="T77" fmla="*/ 145640 h 1589088"/>
                <a:gd name="T78" fmla="*/ 902226 w 1589088"/>
                <a:gd name="T79" fmla="*/ 17390 h 1589088"/>
                <a:gd name="T80" fmla="*/ 1136207 w 1589088"/>
                <a:gd name="T81" fmla="*/ 112491 h 1589088"/>
                <a:gd name="T82" fmla="*/ 1320999 w 1589088"/>
                <a:gd name="T83" fmla="*/ 276063 h 1589088"/>
                <a:gd name="T84" fmla="*/ 1429702 w 1589088"/>
                <a:gd name="T85" fmla="*/ 459201 h 1589088"/>
                <a:gd name="T86" fmla="*/ 1481334 w 1589088"/>
                <a:gd name="T87" fmla="*/ 660270 h 1589088"/>
                <a:gd name="T88" fmla="*/ 1475356 w 1589088"/>
                <a:gd name="T89" fmla="*/ 866502 h 1589088"/>
                <a:gd name="T90" fmla="*/ 1412581 w 1589088"/>
                <a:gd name="T91" fmla="*/ 1064855 h 1589088"/>
                <a:gd name="T92" fmla="*/ 1892771 w 1589088"/>
                <a:gd name="T93" fmla="*/ 1636001 h 1589088"/>
                <a:gd name="T94" fmla="*/ 1896304 w 1589088"/>
                <a:gd name="T95" fmla="*/ 1759632 h 1589088"/>
                <a:gd name="T96" fmla="*/ 1783798 w 1589088"/>
                <a:gd name="T97" fmla="*/ 1885980 h 1589088"/>
                <a:gd name="T98" fmla="*/ 1662866 w 1589088"/>
                <a:gd name="T99" fmla="*/ 1900381 h 1589088"/>
                <a:gd name="T100" fmla="*/ 1104954 w 1589088"/>
                <a:gd name="T101" fmla="*/ 1391458 h 1589088"/>
                <a:gd name="T102" fmla="*/ 909835 w 1589088"/>
                <a:gd name="T103" fmla="*/ 1466451 h 1589088"/>
                <a:gd name="T104" fmla="*/ 704388 w 1589088"/>
                <a:gd name="T105" fmla="*/ 1484656 h 1589088"/>
                <a:gd name="T106" fmla="*/ 501116 w 1589088"/>
                <a:gd name="T107" fmla="*/ 1445528 h 1589088"/>
                <a:gd name="T108" fmla="*/ 313061 w 1589088"/>
                <a:gd name="T109" fmla="*/ 1349069 h 1589088"/>
                <a:gd name="T110" fmla="*/ 143758 w 1589088"/>
                <a:gd name="T111" fmla="*/ 1181965 h 1589088"/>
                <a:gd name="T112" fmla="*/ 30708 w 1589088"/>
                <a:gd name="T113" fmla="*/ 954538 h 1589088"/>
                <a:gd name="T114" fmla="*/ 815 w 1589088"/>
                <a:gd name="T115" fmla="*/ 707277 h 1589088"/>
                <a:gd name="T116" fmla="*/ 54351 w 1589088"/>
                <a:gd name="T117" fmla="*/ 463275 h 1589088"/>
                <a:gd name="T118" fmla="*/ 191315 w 1589088"/>
                <a:gd name="T119" fmla="*/ 245360 h 1589088"/>
                <a:gd name="T120" fmla="*/ 397577 w 1589088"/>
                <a:gd name="T121" fmla="*/ 85319 h 1589088"/>
                <a:gd name="T122" fmla="*/ 636177 w 1589088"/>
                <a:gd name="T123" fmla="*/ 7880 h 15890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589088" h="1589088">
                  <a:moveTo>
                    <a:pt x="916859" y="288925"/>
                  </a:moveTo>
                  <a:lnTo>
                    <a:pt x="954088" y="332030"/>
                  </a:lnTo>
                  <a:lnTo>
                    <a:pt x="816067" y="450682"/>
                  </a:lnTo>
                  <a:lnTo>
                    <a:pt x="817430" y="454085"/>
                  </a:lnTo>
                  <a:lnTo>
                    <a:pt x="818338" y="457488"/>
                  </a:lnTo>
                  <a:lnTo>
                    <a:pt x="819246" y="461118"/>
                  </a:lnTo>
                  <a:lnTo>
                    <a:pt x="820381" y="464748"/>
                  </a:lnTo>
                  <a:lnTo>
                    <a:pt x="820835" y="468378"/>
                  </a:lnTo>
                  <a:lnTo>
                    <a:pt x="821289" y="472008"/>
                  </a:lnTo>
                  <a:lnTo>
                    <a:pt x="821743" y="475865"/>
                  </a:lnTo>
                  <a:lnTo>
                    <a:pt x="821743" y="479722"/>
                  </a:lnTo>
                  <a:lnTo>
                    <a:pt x="821743" y="483805"/>
                  </a:lnTo>
                  <a:lnTo>
                    <a:pt x="821289" y="487662"/>
                  </a:lnTo>
                  <a:lnTo>
                    <a:pt x="820835" y="491746"/>
                  </a:lnTo>
                  <a:lnTo>
                    <a:pt x="820154" y="495602"/>
                  </a:lnTo>
                  <a:lnTo>
                    <a:pt x="819246" y="499459"/>
                  </a:lnTo>
                  <a:lnTo>
                    <a:pt x="818338" y="503089"/>
                  </a:lnTo>
                  <a:lnTo>
                    <a:pt x="816976" y="506946"/>
                  </a:lnTo>
                  <a:lnTo>
                    <a:pt x="815840" y="510349"/>
                  </a:lnTo>
                  <a:lnTo>
                    <a:pt x="814251" y="513979"/>
                  </a:lnTo>
                  <a:lnTo>
                    <a:pt x="812662" y="517382"/>
                  </a:lnTo>
                  <a:lnTo>
                    <a:pt x="810619" y="520785"/>
                  </a:lnTo>
                  <a:lnTo>
                    <a:pt x="808803" y="523961"/>
                  </a:lnTo>
                  <a:lnTo>
                    <a:pt x="806760" y="527137"/>
                  </a:lnTo>
                  <a:lnTo>
                    <a:pt x="804263" y="530313"/>
                  </a:lnTo>
                  <a:lnTo>
                    <a:pt x="801993" y="533036"/>
                  </a:lnTo>
                  <a:lnTo>
                    <a:pt x="799496" y="535985"/>
                  </a:lnTo>
                  <a:lnTo>
                    <a:pt x="796772" y="538707"/>
                  </a:lnTo>
                  <a:lnTo>
                    <a:pt x="794048" y="541203"/>
                  </a:lnTo>
                  <a:lnTo>
                    <a:pt x="791324" y="543698"/>
                  </a:lnTo>
                  <a:lnTo>
                    <a:pt x="788146" y="545967"/>
                  </a:lnTo>
                  <a:lnTo>
                    <a:pt x="785194" y="548009"/>
                  </a:lnTo>
                  <a:lnTo>
                    <a:pt x="781789" y="550051"/>
                  </a:lnTo>
                  <a:lnTo>
                    <a:pt x="778611" y="552093"/>
                  </a:lnTo>
                  <a:lnTo>
                    <a:pt x="775433" y="553908"/>
                  </a:lnTo>
                  <a:lnTo>
                    <a:pt x="771801" y="555496"/>
                  </a:lnTo>
                  <a:lnTo>
                    <a:pt x="768396" y="556857"/>
                  </a:lnTo>
                  <a:lnTo>
                    <a:pt x="764537" y="558218"/>
                  </a:lnTo>
                  <a:lnTo>
                    <a:pt x="760905" y="559352"/>
                  </a:lnTo>
                  <a:lnTo>
                    <a:pt x="757046" y="560260"/>
                  </a:lnTo>
                  <a:lnTo>
                    <a:pt x="753413" y="560940"/>
                  </a:lnTo>
                  <a:lnTo>
                    <a:pt x="749327" y="561621"/>
                  </a:lnTo>
                  <a:lnTo>
                    <a:pt x="745241" y="562075"/>
                  </a:lnTo>
                  <a:lnTo>
                    <a:pt x="692121" y="754005"/>
                  </a:lnTo>
                  <a:lnTo>
                    <a:pt x="697343" y="756728"/>
                  </a:lnTo>
                  <a:lnTo>
                    <a:pt x="702110" y="759904"/>
                  </a:lnTo>
                  <a:lnTo>
                    <a:pt x="706650" y="763080"/>
                  </a:lnTo>
                  <a:lnTo>
                    <a:pt x="710963" y="766937"/>
                  </a:lnTo>
                  <a:lnTo>
                    <a:pt x="715049" y="770794"/>
                  </a:lnTo>
                  <a:lnTo>
                    <a:pt x="718908" y="774877"/>
                  </a:lnTo>
                  <a:lnTo>
                    <a:pt x="722313" y="779188"/>
                  </a:lnTo>
                  <a:lnTo>
                    <a:pt x="725718" y="783952"/>
                  </a:lnTo>
                  <a:lnTo>
                    <a:pt x="728670" y="788943"/>
                  </a:lnTo>
                  <a:lnTo>
                    <a:pt x="731167" y="793934"/>
                  </a:lnTo>
                  <a:lnTo>
                    <a:pt x="733437" y="799379"/>
                  </a:lnTo>
                  <a:lnTo>
                    <a:pt x="735253" y="804824"/>
                  </a:lnTo>
                  <a:lnTo>
                    <a:pt x="736615" y="810496"/>
                  </a:lnTo>
                  <a:lnTo>
                    <a:pt x="737750" y="816167"/>
                  </a:lnTo>
                  <a:lnTo>
                    <a:pt x="738431" y="822066"/>
                  </a:lnTo>
                  <a:lnTo>
                    <a:pt x="738658" y="828191"/>
                  </a:lnTo>
                  <a:lnTo>
                    <a:pt x="738658" y="832729"/>
                  </a:lnTo>
                  <a:lnTo>
                    <a:pt x="738431" y="836812"/>
                  </a:lnTo>
                  <a:lnTo>
                    <a:pt x="737523" y="840896"/>
                  </a:lnTo>
                  <a:lnTo>
                    <a:pt x="736842" y="844980"/>
                  </a:lnTo>
                  <a:lnTo>
                    <a:pt x="735934" y="849063"/>
                  </a:lnTo>
                  <a:lnTo>
                    <a:pt x="734799" y="852920"/>
                  </a:lnTo>
                  <a:lnTo>
                    <a:pt x="733664" y="856777"/>
                  </a:lnTo>
                  <a:lnTo>
                    <a:pt x="732075" y="860407"/>
                  </a:lnTo>
                  <a:lnTo>
                    <a:pt x="730259" y="864263"/>
                  </a:lnTo>
                  <a:lnTo>
                    <a:pt x="728670" y="867666"/>
                  </a:lnTo>
                  <a:lnTo>
                    <a:pt x="726626" y="871296"/>
                  </a:lnTo>
                  <a:lnTo>
                    <a:pt x="724583" y="874699"/>
                  </a:lnTo>
                  <a:lnTo>
                    <a:pt x="722086" y="877876"/>
                  </a:lnTo>
                  <a:lnTo>
                    <a:pt x="719589" y="881052"/>
                  </a:lnTo>
                  <a:lnTo>
                    <a:pt x="717092" y="884228"/>
                  </a:lnTo>
                  <a:lnTo>
                    <a:pt x="714141" y="886950"/>
                  </a:lnTo>
                  <a:lnTo>
                    <a:pt x="711417" y="889673"/>
                  </a:lnTo>
                  <a:lnTo>
                    <a:pt x="708239" y="892395"/>
                  </a:lnTo>
                  <a:lnTo>
                    <a:pt x="705288" y="894891"/>
                  </a:lnTo>
                  <a:lnTo>
                    <a:pt x="702110" y="896933"/>
                  </a:lnTo>
                  <a:lnTo>
                    <a:pt x="698705" y="899428"/>
                  </a:lnTo>
                  <a:lnTo>
                    <a:pt x="695299" y="901243"/>
                  </a:lnTo>
                  <a:lnTo>
                    <a:pt x="691440" y="903058"/>
                  </a:lnTo>
                  <a:lnTo>
                    <a:pt x="688035" y="904646"/>
                  </a:lnTo>
                  <a:lnTo>
                    <a:pt x="684176" y="906234"/>
                  </a:lnTo>
                  <a:lnTo>
                    <a:pt x="680317" y="907595"/>
                  </a:lnTo>
                  <a:lnTo>
                    <a:pt x="676231" y="908730"/>
                  </a:lnTo>
                  <a:lnTo>
                    <a:pt x="672372" y="909637"/>
                  </a:lnTo>
                  <a:lnTo>
                    <a:pt x="668286" y="910318"/>
                  </a:lnTo>
                  <a:lnTo>
                    <a:pt x="664199" y="910771"/>
                  </a:lnTo>
                  <a:lnTo>
                    <a:pt x="659886" y="911225"/>
                  </a:lnTo>
                  <a:lnTo>
                    <a:pt x="655573" y="911225"/>
                  </a:lnTo>
                  <a:lnTo>
                    <a:pt x="651260" y="911225"/>
                  </a:lnTo>
                  <a:lnTo>
                    <a:pt x="646947" y="910771"/>
                  </a:lnTo>
                  <a:lnTo>
                    <a:pt x="643088" y="910318"/>
                  </a:lnTo>
                  <a:lnTo>
                    <a:pt x="638775" y="909637"/>
                  </a:lnTo>
                  <a:lnTo>
                    <a:pt x="634915" y="908730"/>
                  </a:lnTo>
                  <a:lnTo>
                    <a:pt x="630829" y="907595"/>
                  </a:lnTo>
                  <a:lnTo>
                    <a:pt x="627197" y="906234"/>
                  </a:lnTo>
                  <a:lnTo>
                    <a:pt x="623338" y="904646"/>
                  </a:lnTo>
                  <a:lnTo>
                    <a:pt x="619706" y="903058"/>
                  </a:lnTo>
                  <a:lnTo>
                    <a:pt x="616074" y="901243"/>
                  </a:lnTo>
                  <a:lnTo>
                    <a:pt x="612669" y="899428"/>
                  </a:lnTo>
                  <a:lnTo>
                    <a:pt x="609037" y="896933"/>
                  </a:lnTo>
                  <a:lnTo>
                    <a:pt x="605858" y="894891"/>
                  </a:lnTo>
                  <a:lnTo>
                    <a:pt x="602680" y="892395"/>
                  </a:lnTo>
                  <a:lnTo>
                    <a:pt x="599729" y="889673"/>
                  </a:lnTo>
                  <a:lnTo>
                    <a:pt x="596778" y="886950"/>
                  </a:lnTo>
                  <a:lnTo>
                    <a:pt x="594054" y="884228"/>
                  </a:lnTo>
                  <a:lnTo>
                    <a:pt x="591557" y="881052"/>
                  </a:lnTo>
                  <a:lnTo>
                    <a:pt x="588833" y="877876"/>
                  </a:lnTo>
                  <a:lnTo>
                    <a:pt x="586790" y="874699"/>
                  </a:lnTo>
                  <a:lnTo>
                    <a:pt x="584520" y="871296"/>
                  </a:lnTo>
                  <a:lnTo>
                    <a:pt x="582704" y="867666"/>
                  </a:lnTo>
                  <a:lnTo>
                    <a:pt x="580661" y="864263"/>
                  </a:lnTo>
                  <a:lnTo>
                    <a:pt x="579072" y="860407"/>
                  </a:lnTo>
                  <a:lnTo>
                    <a:pt x="577710" y="856777"/>
                  </a:lnTo>
                  <a:lnTo>
                    <a:pt x="576348" y="852920"/>
                  </a:lnTo>
                  <a:lnTo>
                    <a:pt x="575212" y="849063"/>
                  </a:lnTo>
                  <a:lnTo>
                    <a:pt x="574077" y="844980"/>
                  </a:lnTo>
                  <a:lnTo>
                    <a:pt x="573396" y="840896"/>
                  </a:lnTo>
                  <a:lnTo>
                    <a:pt x="572942" y="836812"/>
                  </a:lnTo>
                  <a:lnTo>
                    <a:pt x="572488" y="832729"/>
                  </a:lnTo>
                  <a:lnTo>
                    <a:pt x="572488" y="828191"/>
                  </a:lnTo>
                  <a:lnTo>
                    <a:pt x="572488" y="825242"/>
                  </a:lnTo>
                  <a:lnTo>
                    <a:pt x="572715" y="822066"/>
                  </a:lnTo>
                  <a:lnTo>
                    <a:pt x="573623" y="815940"/>
                  </a:lnTo>
                  <a:lnTo>
                    <a:pt x="574986" y="810042"/>
                  </a:lnTo>
                  <a:lnTo>
                    <a:pt x="576575" y="804370"/>
                  </a:lnTo>
                  <a:lnTo>
                    <a:pt x="454445" y="733134"/>
                  </a:lnTo>
                  <a:lnTo>
                    <a:pt x="449904" y="736083"/>
                  </a:lnTo>
                  <a:lnTo>
                    <a:pt x="444910" y="738352"/>
                  </a:lnTo>
                  <a:lnTo>
                    <a:pt x="439689" y="740166"/>
                  </a:lnTo>
                  <a:lnTo>
                    <a:pt x="434468" y="741981"/>
                  </a:lnTo>
                  <a:lnTo>
                    <a:pt x="429020" y="743569"/>
                  </a:lnTo>
                  <a:lnTo>
                    <a:pt x="423571" y="744477"/>
                  </a:lnTo>
                  <a:lnTo>
                    <a:pt x="417669" y="745158"/>
                  </a:lnTo>
                  <a:lnTo>
                    <a:pt x="412221" y="745384"/>
                  </a:lnTo>
                  <a:lnTo>
                    <a:pt x="408589" y="745158"/>
                  </a:lnTo>
                  <a:lnTo>
                    <a:pt x="405411" y="744931"/>
                  </a:lnTo>
                  <a:lnTo>
                    <a:pt x="398828" y="744023"/>
                  </a:lnTo>
                  <a:lnTo>
                    <a:pt x="305755" y="898294"/>
                  </a:lnTo>
                  <a:lnTo>
                    <a:pt x="257175" y="869255"/>
                  </a:lnTo>
                  <a:lnTo>
                    <a:pt x="349113" y="716118"/>
                  </a:lnTo>
                  <a:lnTo>
                    <a:pt x="347070" y="713396"/>
                  </a:lnTo>
                  <a:lnTo>
                    <a:pt x="344573" y="710220"/>
                  </a:lnTo>
                  <a:lnTo>
                    <a:pt x="342757" y="707497"/>
                  </a:lnTo>
                  <a:lnTo>
                    <a:pt x="340714" y="704321"/>
                  </a:lnTo>
                  <a:lnTo>
                    <a:pt x="339125" y="701145"/>
                  </a:lnTo>
                  <a:lnTo>
                    <a:pt x="337536" y="697969"/>
                  </a:lnTo>
                  <a:lnTo>
                    <a:pt x="335720" y="694793"/>
                  </a:lnTo>
                  <a:lnTo>
                    <a:pt x="334358" y="691390"/>
                  </a:lnTo>
                  <a:lnTo>
                    <a:pt x="333223" y="687987"/>
                  </a:lnTo>
                  <a:lnTo>
                    <a:pt x="332087" y="684584"/>
                  </a:lnTo>
                  <a:lnTo>
                    <a:pt x="331179" y="680954"/>
                  </a:lnTo>
                  <a:lnTo>
                    <a:pt x="330498" y="677324"/>
                  </a:lnTo>
                  <a:lnTo>
                    <a:pt x="329590" y="673467"/>
                  </a:lnTo>
                  <a:lnTo>
                    <a:pt x="329136" y="670064"/>
                  </a:lnTo>
                  <a:lnTo>
                    <a:pt x="328909" y="665981"/>
                  </a:lnTo>
                  <a:lnTo>
                    <a:pt x="328909" y="662351"/>
                  </a:lnTo>
                  <a:lnTo>
                    <a:pt x="328909" y="658040"/>
                  </a:lnTo>
                  <a:lnTo>
                    <a:pt x="329363" y="653730"/>
                  </a:lnTo>
                  <a:lnTo>
                    <a:pt x="330044" y="649646"/>
                  </a:lnTo>
                  <a:lnTo>
                    <a:pt x="330725" y="645335"/>
                  </a:lnTo>
                  <a:lnTo>
                    <a:pt x="331633" y="641479"/>
                  </a:lnTo>
                  <a:lnTo>
                    <a:pt x="332768" y="637395"/>
                  </a:lnTo>
                  <a:lnTo>
                    <a:pt x="333904" y="633765"/>
                  </a:lnTo>
                  <a:lnTo>
                    <a:pt x="335493" y="629908"/>
                  </a:lnTo>
                  <a:lnTo>
                    <a:pt x="337082" y="626279"/>
                  </a:lnTo>
                  <a:lnTo>
                    <a:pt x="339125" y="622649"/>
                  </a:lnTo>
                  <a:lnTo>
                    <a:pt x="340941" y="619246"/>
                  </a:lnTo>
                  <a:lnTo>
                    <a:pt x="342984" y="615843"/>
                  </a:lnTo>
                  <a:lnTo>
                    <a:pt x="345481" y="612666"/>
                  </a:lnTo>
                  <a:lnTo>
                    <a:pt x="347978" y="609263"/>
                  </a:lnTo>
                  <a:lnTo>
                    <a:pt x="350475" y="606314"/>
                  </a:lnTo>
                  <a:lnTo>
                    <a:pt x="353426" y="603592"/>
                  </a:lnTo>
                  <a:lnTo>
                    <a:pt x="356150" y="600642"/>
                  </a:lnTo>
                  <a:lnTo>
                    <a:pt x="359101" y="598147"/>
                  </a:lnTo>
                  <a:lnTo>
                    <a:pt x="362279" y="595878"/>
                  </a:lnTo>
                  <a:lnTo>
                    <a:pt x="365458" y="593383"/>
                  </a:lnTo>
                  <a:lnTo>
                    <a:pt x="369090" y="591341"/>
                  </a:lnTo>
                  <a:lnTo>
                    <a:pt x="372495" y="589299"/>
                  </a:lnTo>
                  <a:lnTo>
                    <a:pt x="376127" y="587484"/>
                  </a:lnTo>
                  <a:lnTo>
                    <a:pt x="379759" y="585669"/>
                  </a:lnTo>
                  <a:lnTo>
                    <a:pt x="383618" y="584308"/>
                  </a:lnTo>
                  <a:lnTo>
                    <a:pt x="387250" y="582947"/>
                  </a:lnTo>
                  <a:lnTo>
                    <a:pt x="391336" y="581812"/>
                  </a:lnTo>
                  <a:lnTo>
                    <a:pt x="395196" y="580905"/>
                  </a:lnTo>
                  <a:lnTo>
                    <a:pt x="399509" y="580224"/>
                  </a:lnTo>
                  <a:lnTo>
                    <a:pt x="403368" y="579544"/>
                  </a:lnTo>
                  <a:lnTo>
                    <a:pt x="407681" y="579317"/>
                  </a:lnTo>
                  <a:lnTo>
                    <a:pt x="412221" y="579090"/>
                  </a:lnTo>
                  <a:lnTo>
                    <a:pt x="416307" y="579317"/>
                  </a:lnTo>
                  <a:lnTo>
                    <a:pt x="420620" y="579544"/>
                  </a:lnTo>
                  <a:lnTo>
                    <a:pt x="424707" y="580224"/>
                  </a:lnTo>
                  <a:lnTo>
                    <a:pt x="428793" y="580905"/>
                  </a:lnTo>
                  <a:lnTo>
                    <a:pt x="432652" y="581812"/>
                  </a:lnTo>
                  <a:lnTo>
                    <a:pt x="436738" y="582947"/>
                  </a:lnTo>
                  <a:lnTo>
                    <a:pt x="440597" y="584308"/>
                  </a:lnTo>
                  <a:lnTo>
                    <a:pt x="444456" y="585669"/>
                  </a:lnTo>
                  <a:lnTo>
                    <a:pt x="447861" y="587484"/>
                  </a:lnTo>
                  <a:lnTo>
                    <a:pt x="451720" y="589299"/>
                  </a:lnTo>
                  <a:lnTo>
                    <a:pt x="454899" y="591341"/>
                  </a:lnTo>
                  <a:lnTo>
                    <a:pt x="458531" y="593383"/>
                  </a:lnTo>
                  <a:lnTo>
                    <a:pt x="461709" y="595878"/>
                  </a:lnTo>
                  <a:lnTo>
                    <a:pt x="464887" y="598147"/>
                  </a:lnTo>
                  <a:lnTo>
                    <a:pt x="467838" y="600642"/>
                  </a:lnTo>
                  <a:lnTo>
                    <a:pt x="470562" y="603592"/>
                  </a:lnTo>
                  <a:lnTo>
                    <a:pt x="473513" y="606314"/>
                  </a:lnTo>
                  <a:lnTo>
                    <a:pt x="476010" y="609263"/>
                  </a:lnTo>
                  <a:lnTo>
                    <a:pt x="478734" y="612666"/>
                  </a:lnTo>
                  <a:lnTo>
                    <a:pt x="481004" y="615843"/>
                  </a:lnTo>
                  <a:lnTo>
                    <a:pt x="483047" y="619246"/>
                  </a:lnTo>
                  <a:lnTo>
                    <a:pt x="484864" y="622649"/>
                  </a:lnTo>
                  <a:lnTo>
                    <a:pt x="486907" y="626279"/>
                  </a:lnTo>
                  <a:lnTo>
                    <a:pt x="488496" y="629908"/>
                  </a:lnTo>
                  <a:lnTo>
                    <a:pt x="490085" y="633765"/>
                  </a:lnTo>
                  <a:lnTo>
                    <a:pt x="491220" y="637395"/>
                  </a:lnTo>
                  <a:lnTo>
                    <a:pt x="492355" y="641479"/>
                  </a:lnTo>
                  <a:lnTo>
                    <a:pt x="493490" y="645335"/>
                  </a:lnTo>
                  <a:lnTo>
                    <a:pt x="494171" y="649646"/>
                  </a:lnTo>
                  <a:lnTo>
                    <a:pt x="494625" y="653730"/>
                  </a:lnTo>
                  <a:lnTo>
                    <a:pt x="495079" y="658040"/>
                  </a:lnTo>
                  <a:lnTo>
                    <a:pt x="495079" y="662351"/>
                  </a:lnTo>
                  <a:lnTo>
                    <a:pt x="495079" y="665527"/>
                  </a:lnTo>
                  <a:lnTo>
                    <a:pt x="494852" y="669157"/>
                  </a:lnTo>
                  <a:lnTo>
                    <a:pt x="494398" y="672333"/>
                  </a:lnTo>
                  <a:lnTo>
                    <a:pt x="493944" y="675509"/>
                  </a:lnTo>
                  <a:lnTo>
                    <a:pt x="492355" y="682088"/>
                  </a:lnTo>
                  <a:lnTo>
                    <a:pt x="490539" y="688214"/>
                  </a:lnTo>
                  <a:lnTo>
                    <a:pt x="610853" y="758543"/>
                  </a:lnTo>
                  <a:lnTo>
                    <a:pt x="616528" y="755140"/>
                  </a:lnTo>
                  <a:lnTo>
                    <a:pt x="622430" y="752417"/>
                  </a:lnTo>
                  <a:lnTo>
                    <a:pt x="628559" y="749922"/>
                  </a:lnTo>
                  <a:lnTo>
                    <a:pt x="634915" y="748107"/>
                  </a:lnTo>
                  <a:lnTo>
                    <a:pt x="690305" y="547101"/>
                  </a:lnTo>
                  <a:lnTo>
                    <a:pt x="686673" y="544152"/>
                  </a:lnTo>
                  <a:lnTo>
                    <a:pt x="682814" y="540976"/>
                  </a:lnTo>
                  <a:lnTo>
                    <a:pt x="679409" y="537800"/>
                  </a:lnTo>
                  <a:lnTo>
                    <a:pt x="676004" y="533943"/>
                  </a:lnTo>
                  <a:lnTo>
                    <a:pt x="673053" y="530540"/>
                  </a:lnTo>
                  <a:lnTo>
                    <a:pt x="670102" y="526456"/>
                  </a:lnTo>
                  <a:lnTo>
                    <a:pt x="667605" y="522373"/>
                  </a:lnTo>
                  <a:lnTo>
                    <a:pt x="665107" y="518062"/>
                  </a:lnTo>
                  <a:lnTo>
                    <a:pt x="662837" y="513979"/>
                  </a:lnTo>
                  <a:lnTo>
                    <a:pt x="661021" y="509214"/>
                  </a:lnTo>
                  <a:lnTo>
                    <a:pt x="659432" y="504450"/>
                  </a:lnTo>
                  <a:lnTo>
                    <a:pt x="658070" y="499913"/>
                  </a:lnTo>
                  <a:lnTo>
                    <a:pt x="657162" y="494922"/>
                  </a:lnTo>
                  <a:lnTo>
                    <a:pt x="656027" y="489931"/>
                  </a:lnTo>
                  <a:lnTo>
                    <a:pt x="655573" y="484940"/>
                  </a:lnTo>
                  <a:lnTo>
                    <a:pt x="655573" y="479722"/>
                  </a:lnTo>
                  <a:lnTo>
                    <a:pt x="655573" y="475411"/>
                  </a:lnTo>
                  <a:lnTo>
                    <a:pt x="655800" y="471327"/>
                  </a:lnTo>
                  <a:lnTo>
                    <a:pt x="656708" y="467017"/>
                  </a:lnTo>
                  <a:lnTo>
                    <a:pt x="657389" y="463160"/>
                  </a:lnTo>
                  <a:lnTo>
                    <a:pt x="658297" y="458850"/>
                  </a:lnTo>
                  <a:lnTo>
                    <a:pt x="659432" y="455220"/>
                  </a:lnTo>
                  <a:lnTo>
                    <a:pt x="660567" y="451136"/>
                  </a:lnTo>
                  <a:lnTo>
                    <a:pt x="661929" y="447506"/>
                  </a:lnTo>
                  <a:lnTo>
                    <a:pt x="663745" y="443649"/>
                  </a:lnTo>
                  <a:lnTo>
                    <a:pt x="665561" y="440246"/>
                  </a:lnTo>
                  <a:lnTo>
                    <a:pt x="667605" y="436617"/>
                  </a:lnTo>
                  <a:lnTo>
                    <a:pt x="669648" y="433440"/>
                  </a:lnTo>
                  <a:lnTo>
                    <a:pt x="672145" y="430037"/>
                  </a:lnTo>
                  <a:lnTo>
                    <a:pt x="674642" y="426861"/>
                  </a:lnTo>
                  <a:lnTo>
                    <a:pt x="677139" y="423912"/>
                  </a:lnTo>
                  <a:lnTo>
                    <a:pt x="679863" y="420963"/>
                  </a:lnTo>
                  <a:lnTo>
                    <a:pt x="682814" y="418240"/>
                  </a:lnTo>
                  <a:lnTo>
                    <a:pt x="685765" y="415518"/>
                  </a:lnTo>
                  <a:lnTo>
                    <a:pt x="688943" y="413249"/>
                  </a:lnTo>
                  <a:lnTo>
                    <a:pt x="692121" y="410980"/>
                  </a:lnTo>
                  <a:lnTo>
                    <a:pt x="695526" y="408712"/>
                  </a:lnTo>
                  <a:lnTo>
                    <a:pt x="698932" y="406670"/>
                  </a:lnTo>
                  <a:lnTo>
                    <a:pt x="702791" y="404855"/>
                  </a:lnTo>
                  <a:lnTo>
                    <a:pt x="706196" y="403267"/>
                  </a:lnTo>
                  <a:lnTo>
                    <a:pt x="710055" y="401679"/>
                  </a:lnTo>
                  <a:lnTo>
                    <a:pt x="713914" y="400318"/>
                  </a:lnTo>
                  <a:lnTo>
                    <a:pt x="718000" y="399410"/>
                  </a:lnTo>
                  <a:lnTo>
                    <a:pt x="721859" y="398503"/>
                  </a:lnTo>
                  <a:lnTo>
                    <a:pt x="725945" y="397595"/>
                  </a:lnTo>
                  <a:lnTo>
                    <a:pt x="730032" y="397141"/>
                  </a:lnTo>
                  <a:lnTo>
                    <a:pt x="734345" y="396915"/>
                  </a:lnTo>
                  <a:lnTo>
                    <a:pt x="738658" y="396688"/>
                  </a:lnTo>
                  <a:lnTo>
                    <a:pt x="744106" y="396915"/>
                  </a:lnTo>
                  <a:lnTo>
                    <a:pt x="749554" y="397595"/>
                  </a:lnTo>
                  <a:lnTo>
                    <a:pt x="754775" y="398276"/>
                  </a:lnTo>
                  <a:lnTo>
                    <a:pt x="759770" y="399637"/>
                  </a:lnTo>
                  <a:lnTo>
                    <a:pt x="764764" y="400998"/>
                  </a:lnTo>
                  <a:lnTo>
                    <a:pt x="769758" y="403040"/>
                  </a:lnTo>
                  <a:lnTo>
                    <a:pt x="774298" y="405082"/>
                  </a:lnTo>
                  <a:lnTo>
                    <a:pt x="778838" y="407577"/>
                  </a:lnTo>
                  <a:lnTo>
                    <a:pt x="916859" y="288925"/>
                  </a:lnTo>
                  <a:close/>
                  <a:moveTo>
                    <a:pt x="607752" y="120128"/>
                  </a:moveTo>
                  <a:lnTo>
                    <a:pt x="595738" y="120581"/>
                  </a:lnTo>
                  <a:lnTo>
                    <a:pt x="583950" y="121488"/>
                  </a:lnTo>
                  <a:lnTo>
                    <a:pt x="571936" y="122621"/>
                  </a:lnTo>
                  <a:lnTo>
                    <a:pt x="559921" y="123755"/>
                  </a:lnTo>
                  <a:lnTo>
                    <a:pt x="548133" y="125341"/>
                  </a:lnTo>
                  <a:lnTo>
                    <a:pt x="536119" y="127154"/>
                  </a:lnTo>
                  <a:lnTo>
                    <a:pt x="524331" y="129421"/>
                  </a:lnTo>
                  <a:lnTo>
                    <a:pt x="512543" y="131688"/>
                  </a:lnTo>
                  <a:lnTo>
                    <a:pt x="500755" y="134407"/>
                  </a:lnTo>
                  <a:lnTo>
                    <a:pt x="489194" y="137581"/>
                  </a:lnTo>
                  <a:lnTo>
                    <a:pt x="477406" y="140754"/>
                  </a:lnTo>
                  <a:lnTo>
                    <a:pt x="466072" y="144380"/>
                  </a:lnTo>
                  <a:lnTo>
                    <a:pt x="454511" y="148234"/>
                  </a:lnTo>
                  <a:lnTo>
                    <a:pt x="443176" y="152313"/>
                  </a:lnTo>
                  <a:lnTo>
                    <a:pt x="431615" y="156620"/>
                  </a:lnTo>
                  <a:lnTo>
                    <a:pt x="420508" y="161380"/>
                  </a:lnTo>
                  <a:lnTo>
                    <a:pt x="409400" y="166593"/>
                  </a:lnTo>
                  <a:lnTo>
                    <a:pt x="398519" y="171579"/>
                  </a:lnTo>
                  <a:lnTo>
                    <a:pt x="387411" y="177246"/>
                  </a:lnTo>
                  <a:lnTo>
                    <a:pt x="376530" y="183139"/>
                  </a:lnTo>
                  <a:lnTo>
                    <a:pt x="365876" y="189485"/>
                  </a:lnTo>
                  <a:lnTo>
                    <a:pt x="355221" y="195831"/>
                  </a:lnTo>
                  <a:lnTo>
                    <a:pt x="344794" y="202631"/>
                  </a:lnTo>
                  <a:lnTo>
                    <a:pt x="334593" y="209431"/>
                  </a:lnTo>
                  <a:lnTo>
                    <a:pt x="324392" y="216684"/>
                  </a:lnTo>
                  <a:lnTo>
                    <a:pt x="314191" y="224163"/>
                  </a:lnTo>
                  <a:lnTo>
                    <a:pt x="304443" y="232323"/>
                  </a:lnTo>
                  <a:lnTo>
                    <a:pt x="294695" y="240483"/>
                  </a:lnTo>
                  <a:lnTo>
                    <a:pt x="284948" y="248869"/>
                  </a:lnTo>
                  <a:lnTo>
                    <a:pt x="275654" y="257482"/>
                  </a:lnTo>
                  <a:lnTo>
                    <a:pt x="266359" y="266548"/>
                  </a:lnTo>
                  <a:lnTo>
                    <a:pt x="257518" y="275614"/>
                  </a:lnTo>
                  <a:lnTo>
                    <a:pt x="248678" y="285134"/>
                  </a:lnTo>
                  <a:lnTo>
                    <a:pt x="240290" y="294654"/>
                  </a:lnTo>
                  <a:lnTo>
                    <a:pt x="232129" y="304400"/>
                  </a:lnTo>
                  <a:lnTo>
                    <a:pt x="224195" y="314373"/>
                  </a:lnTo>
                  <a:lnTo>
                    <a:pt x="216714" y="324346"/>
                  </a:lnTo>
                  <a:lnTo>
                    <a:pt x="209460" y="334545"/>
                  </a:lnTo>
                  <a:lnTo>
                    <a:pt x="202433" y="344971"/>
                  </a:lnTo>
                  <a:lnTo>
                    <a:pt x="195632" y="355397"/>
                  </a:lnTo>
                  <a:lnTo>
                    <a:pt x="189058" y="366050"/>
                  </a:lnTo>
                  <a:lnTo>
                    <a:pt x="183164" y="376703"/>
                  </a:lnTo>
                  <a:lnTo>
                    <a:pt x="177271" y="387583"/>
                  </a:lnTo>
                  <a:lnTo>
                    <a:pt x="171603" y="398462"/>
                  </a:lnTo>
                  <a:lnTo>
                    <a:pt x="166390" y="409342"/>
                  </a:lnTo>
                  <a:lnTo>
                    <a:pt x="161402" y="420448"/>
                  </a:lnTo>
                  <a:lnTo>
                    <a:pt x="156642" y="431554"/>
                  </a:lnTo>
                  <a:lnTo>
                    <a:pt x="152108" y="443114"/>
                  </a:lnTo>
                  <a:lnTo>
                    <a:pt x="148028" y="454673"/>
                  </a:lnTo>
                  <a:lnTo>
                    <a:pt x="144174" y="466006"/>
                  </a:lnTo>
                  <a:lnTo>
                    <a:pt x="140774" y="477565"/>
                  </a:lnTo>
                  <a:lnTo>
                    <a:pt x="137373" y="489125"/>
                  </a:lnTo>
                  <a:lnTo>
                    <a:pt x="134426" y="500911"/>
                  </a:lnTo>
                  <a:lnTo>
                    <a:pt x="131706" y="512470"/>
                  </a:lnTo>
                  <a:lnTo>
                    <a:pt x="129213" y="524256"/>
                  </a:lnTo>
                  <a:lnTo>
                    <a:pt x="127172" y="536269"/>
                  </a:lnTo>
                  <a:lnTo>
                    <a:pt x="125359" y="548055"/>
                  </a:lnTo>
                  <a:lnTo>
                    <a:pt x="123772" y="560068"/>
                  </a:lnTo>
                  <a:lnTo>
                    <a:pt x="122185" y="571854"/>
                  </a:lnTo>
                  <a:lnTo>
                    <a:pt x="121278" y="583867"/>
                  </a:lnTo>
                  <a:lnTo>
                    <a:pt x="120598" y="595880"/>
                  </a:lnTo>
                  <a:lnTo>
                    <a:pt x="120145" y="607666"/>
                  </a:lnTo>
                  <a:lnTo>
                    <a:pt x="120145" y="619905"/>
                  </a:lnTo>
                  <a:lnTo>
                    <a:pt x="120145" y="631918"/>
                  </a:lnTo>
                  <a:lnTo>
                    <a:pt x="120598" y="643704"/>
                  </a:lnTo>
                  <a:lnTo>
                    <a:pt x="121278" y="655717"/>
                  </a:lnTo>
                  <a:lnTo>
                    <a:pt x="122185" y="667503"/>
                  </a:lnTo>
                  <a:lnTo>
                    <a:pt x="123772" y="679516"/>
                  </a:lnTo>
                  <a:lnTo>
                    <a:pt x="125359" y="691529"/>
                  </a:lnTo>
                  <a:lnTo>
                    <a:pt x="127172" y="703315"/>
                  </a:lnTo>
                  <a:lnTo>
                    <a:pt x="129213" y="715328"/>
                  </a:lnTo>
                  <a:lnTo>
                    <a:pt x="131706" y="726887"/>
                  </a:lnTo>
                  <a:lnTo>
                    <a:pt x="134426" y="738673"/>
                  </a:lnTo>
                  <a:lnTo>
                    <a:pt x="137373" y="750460"/>
                  </a:lnTo>
                  <a:lnTo>
                    <a:pt x="140774" y="762019"/>
                  </a:lnTo>
                  <a:lnTo>
                    <a:pt x="144174" y="773579"/>
                  </a:lnTo>
                  <a:lnTo>
                    <a:pt x="148028" y="784911"/>
                  </a:lnTo>
                  <a:lnTo>
                    <a:pt x="152108" y="796471"/>
                  </a:lnTo>
                  <a:lnTo>
                    <a:pt x="156642" y="807804"/>
                  </a:lnTo>
                  <a:lnTo>
                    <a:pt x="161402" y="819136"/>
                  </a:lnTo>
                  <a:lnTo>
                    <a:pt x="166390" y="830016"/>
                  </a:lnTo>
                  <a:lnTo>
                    <a:pt x="171603" y="841122"/>
                  </a:lnTo>
                  <a:lnTo>
                    <a:pt x="177271" y="852002"/>
                  </a:lnTo>
                  <a:lnTo>
                    <a:pt x="183164" y="862881"/>
                  </a:lnTo>
                  <a:lnTo>
                    <a:pt x="189058" y="873534"/>
                  </a:lnTo>
                  <a:lnTo>
                    <a:pt x="195632" y="884187"/>
                  </a:lnTo>
                  <a:lnTo>
                    <a:pt x="202433" y="894613"/>
                  </a:lnTo>
                  <a:lnTo>
                    <a:pt x="209460" y="904813"/>
                  </a:lnTo>
                  <a:lnTo>
                    <a:pt x="216714" y="915239"/>
                  </a:lnTo>
                  <a:lnTo>
                    <a:pt x="224195" y="925212"/>
                  </a:lnTo>
                  <a:lnTo>
                    <a:pt x="232129" y="934958"/>
                  </a:lnTo>
                  <a:lnTo>
                    <a:pt x="240290" y="944931"/>
                  </a:lnTo>
                  <a:lnTo>
                    <a:pt x="248678" y="954450"/>
                  </a:lnTo>
                  <a:lnTo>
                    <a:pt x="257518" y="963743"/>
                  </a:lnTo>
                  <a:lnTo>
                    <a:pt x="266359" y="973036"/>
                  </a:lnTo>
                  <a:lnTo>
                    <a:pt x="275654" y="982102"/>
                  </a:lnTo>
                  <a:lnTo>
                    <a:pt x="284948" y="990715"/>
                  </a:lnTo>
                  <a:lnTo>
                    <a:pt x="294695" y="999102"/>
                  </a:lnTo>
                  <a:lnTo>
                    <a:pt x="304443" y="1007261"/>
                  </a:lnTo>
                  <a:lnTo>
                    <a:pt x="314191" y="1015194"/>
                  </a:lnTo>
                  <a:lnTo>
                    <a:pt x="324392" y="1022674"/>
                  </a:lnTo>
                  <a:lnTo>
                    <a:pt x="334593" y="1029927"/>
                  </a:lnTo>
                  <a:lnTo>
                    <a:pt x="344794" y="1036953"/>
                  </a:lnTo>
                  <a:lnTo>
                    <a:pt x="355221" y="1043753"/>
                  </a:lnTo>
                  <a:lnTo>
                    <a:pt x="365876" y="1050099"/>
                  </a:lnTo>
                  <a:lnTo>
                    <a:pt x="376530" y="1056446"/>
                  </a:lnTo>
                  <a:lnTo>
                    <a:pt x="387411" y="1062339"/>
                  </a:lnTo>
                  <a:lnTo>
                    <a:pt x="398292" y="1067779"/>
                  </a:lnTo>
                  <a:lnTo>
                    <a:pt x="409400" y="1072992"/>
                  </a:lnTo>
                  <a:lnTo>
                    <a:pt x="420508" y="1078205"/>
                  </a:lnTo>
                  <a:lnTo>
                    <a:pt x="431615" y="1082738"/>
                  </a:lnTo>
                  <a:lnTo>
                    <a:pt x="443176" y="1087271"/>
                  </a:lnTo>
                  <a:lnTo>
                    <a:pt x="454511" y="1091351"/>
                  </a:lnTo>
                  <a:lnTo>
                    <a:pt x="466072" y="1095204"/>
                  </a:lnTo>
                  <a:lnTo>
                    <a:pt x="477406" y="1098830"/>
                  </a:lnTo>
                  <a:lnTo>
                    <a:pt x="489194" y="1102004"/>
                  </a:lnTo>
                  <a:lnTo>
                    <a:pt x="500755" y="1104950"/>
                  </a:lnTo>
                  <a:lnTo>
                    <a:pt x="512543" y="1107897"/>
                  </a:lnTo>
                  <a:lnTo>
                    <a:pt x="524331" y="1110163"/>
                  </a:lnTo>
                  <a:lnTo>
                    <a:pt x="536119" y="1112203"/>
                  </a:lnTo>
                  <a:lnTo>
                    <a:pt x="548133" y="1114243"/>
                  </a:lnTo>
                  <a:lnTo>
                    <a:pt x="559921" y="1115830"/>
                  </a:lnTo>
                  <a:lnTo>
                    <a:pt x="571936" y="1116963"/>
                  </a:lnTo>
                  <a:lnTo>
                    <a:pt x="583950" y="1118096"/>
                  </a:lnTo>
                  <a:lnTo>
                    <a:pt x="595738" y="1118776"/>
                  </a:lnTo>
                  <a:lnTo>
                    <a:pt x="607752" y="1119230"/>
                  </a:lnTo>
                  <a:lnTo>
                    <a:pt x="619540" y="1119230"/>
                  </a:lnTo>
                  <a:lnTo>
                    <a:pt x="631782" y="1119230"/>
                  </a:lnTo>
                  <a:lnTo>
                    <a:pt x="643796" y="1118776"/>
                  </a:lnTo>
                  <a:lnTo>
                    <a:pt x="655584" y="1118096"/>
                  </a:lnTo>
                  <a:lnTo>
                    <a:pt x="667598" y="1116963"/>
                  </a:lnTo>
                  <a:lnTo>
                    <a:pt x="679613" y="1115830"/>
                  </a:lnTo>
                  <a:lnTo>
                    <a:pt x="691401" y="1114243"/>
                  </a:lnTo>
                  <a:lnTo>
                    <a:pt x="703415" y="1112203"/>
                  </a:lnTo>
                  <a:lnTo>
                    <a:pt x="715203" y="1110163"/>
                  </a:lnTo>
                  <a:lnTo>
                    <a:pt x="726991" y="1107897"/>
                  </a:lnTo>
                  <a:lnTo>
                    <a:pt x="738779" y="1104950"/>
                  </a:lnTo>
                  <a:lnTo>
                    <a:pt x="750340" y="1102004"/>
                  </a:lnTo>
                  <a:lnTo>
                    <a:pt x="762128" y="1098830"/>
                  </a:lnTo>
                  <a:lnTo>
                    <a:pt x="773462" y="1095204"/>
                  </a:lnTo>
                  <a:lnTo>
                    <a:pt x="785023" y="1091351"/>
                  </a:lnTo>
                  <a:lnTo>
                    <a:pt x="796358" y="1087271"/>
                  </a:lnTo>
                  <a:lnTo>
                    <a:pt x="807692" y="1082738"/>
                  </a:lnTo>
                  <a:lnTo>
                    <a:pt x="819026" y="1078205"/>
                  </a:lnTo>
                  <a:lnTo>
                    <a:pt x="830134" y="1072992"/>
                  </a:lnTo>
                  <a:lnTo>
                    <a:pt x="841015" y="1067779"/>
                  </a:lnTo>
                  <a:lnTo>
                    <a:pt x="852123" y="1062339"/>
                  </a:lnTo>
                  <a:lnTo>
                    <a:pt x="862777" y="1056446"/>
                  </a:lnTo>
                  <a:lnTo>
                    <a:pt x="873658" y="1050099"/>
                  </a:lnTo>
                  <a:lnTo>
                    <a:pt x="884086" y="1043753"/>
                  </a:lnTo>
                  <a:lnTo>
                    <a:pt x="894740" y="1036953"/>
                  </a:lnTo>
                  <a:lnTo>
                    <a:pt x="904941" y="1029927"/>
                  </a:lnTo>
                  <a:lnTo>
                    <a:pt x="915142" y="1022674"/>
                  </a:lnTo>
                  <a:lnTo>
                    <a:pt x="925343" y="1015194"/>
                  </a:lnTo>
                  <a:lnTo>
                    <a:pt x="935091" y="1007261"/>
                  </a:lnTo>
                  <a:lnTo>
                    <a:pt x="944839" y="999102"/>
                  </a:lnTo>
                  <a:lnTo>
                    <a:pt x="954586" y="990715"/>
                  </a:lnTo>
                  <a:lnTo>
                    <a:pt x="963880" y="982102"/>
                  </a:lnTo>
                  <a:lnTo>
                    <a:pt x="972948" y="973036"/>
                  </a:lnTo>
                  <a:lnTo>
                    <a:pt x="982016" y="963743"/>
                  </a:lnTo>
                  <a:lnTo>
                    <a:pt x="990856" y="954450"/>
                  </a:lnTo>
                  <a:lnTo>
                    <a:pt x="999244" y="944931"/>
                  </a:lnTo>
                  <a:lnTo>
                    <a:pt x="1007405" y="934958"/>
                  </a:lnTo>
                  <a:lnTo>
                    <a:pt x="1015339" y="925212"/>
                  </a:lnTo>
                  <a:lnTo>
                    <a:pt x="1022820" y="915239"/>
                  </a:lnTo>
                  <a:lnTo>
                    <a:pt x="1030074" y="904813"/>
                  </a:lnTo>
                  <a:lnTo>
                    <a:pt x="1037101" y="894613"/>
                  </a:lnTo>
                  <a:lnTo>
                    <a:pt x="1043902" y="884187"/>
                  </a:lnTo>
                  <a:lnTo>
                    <a:pt x="1050249" y="873534"/>
                  </a:lnTo>
                  <a:lnTo>
                    <a:pt x="1056370" y="862881"/>
                  </a:lnTo>
                  <a:lnTo>
                    <a:pt x="1062263" y="852002"/>
                  </a:lnTo>
                  <a:lnTo>
                    <a:pt x="1067931" y="841122"/>
                  </a:lnTo>
                  <a:lnTo>
                    <a:pt x="1073144" y="830016"/>
                  </a:lnTo>
                  <a:lnTo>
                    <a:pt x="1078132" y="819136"/>
                  </a:lnTo>
                  <a:lnTo>
                    <a:pt x="1082892" y="807804"/>
                  </a:lnTo>
                  <a:lnTo>
                    <a:pt x="1087426" y="796471"/>
                  </a:lnTo>
                  <a:lnTo>
                    <a:pt x="1091280" y="784911"/>
                  </a:lnTo>
                  <a:lnTo>
                    <a:pt x="1095360" y="773579"/>
                  </a:lnTo>
                  <a:lnTo>
                    <a:pt x="1098760" y="762019"/>
                  </a:lnTo>
                  <a:lnTo>
                    <a:pt x="1102161" y="750460"/>
                  </a:lnTo>
                  <a:lnTo>
                    <a:pt x="1105108" y="738673"/>
                  </a:lnTo>
                  <a:lnTo>
                    <a:pt x="1107828" y="726887"/>
                  </a:lnTo>
                  <a:lnTo>
                    <a:pt x="1110321" y="715328"/>
                  </a:lnTo>
                  <a:lnTo>
                    <a:pt x="1112362" y="703315"/>
                  </a:lnTo>
                  <a:lnTo>
                    <a:pt x="1114175" y="691529"/>
                  </a:lnTo>
                  <a:lnTo>
                    <a:pt x="1115762" y="679516"/>
                  </a:lnTo>
                  <a:lnTo>
                    <a:pt x="1117122" y="667503"/>
                  </a:lnTo>
                  <a:lnTo>
                    <a:pt x="1118256" y="655717"/>
                  </a:lnTo>
                  <a:lnTo>
                    <a:pt x="1118936" y="643704"/>
                  </a:lnTo>
                  <a:lnTo>
                    <a:pt x="1119389" y="631918"/>
                  </a:lnTo>
                  <a:lnTo>
                    <a:pt x="1119389" y="619905"/>
                  </a:lnTo>
                  <a:lnTo>
                    <a:pt x="1119389" y="607666"/>
                  </a:lnTo>
                  <a:lnTo>
                    <a:pt x="1118936" y="595880"/>
                  </a:lnTo>
                  <a:lnTo>
                    <a:pt x="1118256" y="583867"/>
                  </a:lnTo>
                  <a:lnTo>
                    <a:pt x="1117122" y="571854"/>
                  </a:lnTo>
                  <a:lnTo>
                    <a:pt x="1115762" y="560068"/>
                  </a:lnTo>
                  <a:lnTo>
                    <a:pt x="1114175" y="548055"/>
                  </a:lnTo>
                  <a:lnTo>
                    <a:pt x="1112362" y="536269"/>
                  </a:lnTo>
                  <a:lnTo>
                    <a:pt x="1110321" y="524256"/>
                  </a:lnTo>
                  <a:lnTo>
                    <a:pt x="1107828" y="512470"/>
                  </a:lnTo>
                  <a:lnTo>
                    <a:pt x="1105108" y="500911"/>
                  </a:lnTo>
                  <a:lnTo>
                    <a:pt x="1102161" y="489125"/>
                  </a:lnTo>
                  <a:lnTo>
                    <a:pt x="1098760" y="477565"/>
                  </a:lnTo>
                  <a:lnTo>
                    <a:pt x="1095360" y="466006"/>
                  </a:lnTo>
                  <a:lnTo>
                    <a:pt x="1091280" y="454673"/>
                  </a:lnTo>
                  <a:lnTo>
                    <a:pt x="1087426" y="443114"/>
                  </a:lnTo>
                  <a:lnTo>
                    <a:pt x="1082892" y="431554"/>
                  </a:lnTo>
                  <a:lnTo>
                    <a:pt x="1078132" y="420448"/>
                  </a:lnTo>
                  <a:lnTo>
                    <a:pt x="1073144" y="409342"/>
                  </a:lnTo>
                  <a:lnTo>
                    <a:pt x="1067931" y="398462"/>
                  </a:lnTo>
                  <a:lnTo>
                    <a:pt x="1062263" y="387583"/>
                  </a:lnTo>
                  <a:lnTo>
                    <a:pt x="1056370" y="376703"/>
                  </a:lnTo>
                  <a:lnTo>
                    <a:pt x="1050249" y="366050"/>
                  </a:lnTo>
                  <a:lnTo>
                    <a:pt x="1043902" y="355397"/>
                  </a:lnTo>
                  <a:lnTo>
                    <a:pt x="1037101" y="344971"/>
                  </a:lnTo>
                  <a:lnTo>
                    <a:pt x="1030074" y="334545"/>
                  </a:lnTo>
                  <a:lnTo>
                    <a:pt x="1022820" y="324346"/>
                  </a:lnTo>
                  <a:lnTo>
                    <a:pt x="1015339" y="314373"/>
                  </a:lnTo>
                  <a:lnTo>
                    <a:pt x="1007405" y="304400"/>
                  </a:lnTo>
                  <a:lnTo>
                    <a:pt x="999244" y="294654"/>
                  </a:lnTo>
                  <a:lnTo>
                    <a:pt x="990856" y="285134"/>
                  </a:lnTo>
                  <a:lnTo>
                    <a:pt x="982016" y="275614"/>
                  </a:lnTo>
                  <a:lnTo>
                    <a:pt x="972948" y="266548"/>
                  </a:lnTo>
                  <a:lnTo>
                    <a:pt x="963880" y="257482"/>
                  </a:lnTo>
                  <a:lnTo>
                    <a:pt x="954586" y="248869"/>
                  </a:lnTo>
                  <a:lnTo>
                    <a:pt x="944839" y="240483"/>
                  </a:lnTo>
                  <a:lnTo>
                    <a:pt x="935091" y="232323"/>
                  </a:lnTo>
                  <a:lnTo>
                    <a:pt x="925343" y="224163"/>
                  </a:lnTo>
                  <a:lnTo>
                    <a:pt x="915142" y="216684"/>
                  </a:lnTo>
                  <a:lnTo>
                    <a:pt x="904941" y="209431"/>
                  </a:lnTo>
                  <a:lnTo>
                    <a:pt x="894740" y="202631"/>
                  </a:lnTo>
                  <a:lnTo>
                    <a:pt x="884086" y="195831"/>
                  </a:lnTo>
                  <a:lnTo>
                    <a:pt x="873658" y="189485"/>
                  </a:lnTo>
                  <a:lnTo>
                    <a:pt x="862777" y="183139"/>
                  </a:lnTo>
                  <a:lnTo>
                    <a:pt x="852123" y="177246"/>
                  </a:lnTo>
                  <a:lnTo>
                    <a:pt x="841015" y="171579"/>
                  </a:lnTo>
                  <a:lnTo>
                    <a:pt x="830134" y="166593"/>
                  </a:lnTo>
                  <a:lnTo>
                    <a:pt x="819026" y="161380"/>
                  </a:lnTo>
                  <a:lnTo>
                    <a:pt x="807692" y="156620"/>
                  </a:lnTo>
                  <a:lnTo>
                    <a:pt x="796358" y="152313"/>
                  </a:lnTo>
                  <a:lnTo>
                    <a:pt x="785023" y="148234"/>
                  </a:lnTo>
                  <a:lnTo>
                    <a:pt x="773462" y="144380"/>
                  </a:lnTo>
                  <a:lnTo>
                    <a:pt x="762128" y="140754"/>
                  </a:lnTo>
                  <a:lnTo>
                    <a:pt x="750340" y="137581"/>
                  </a:lnTo>
                  <a:lnTo>
                    <a:pt x="738779" y="134407"/>
                  </a:lnTo>
                  <a:lnTo>
                    <a:pt x="726991" y="131688"/>
                  </a:lnTo>
                  <a:lnTo>
                    <a:pt x="715203" y="129421"/>
                  </a:lnTo>
                  <a:lnTo>
                    <a:pt x="703415" y="127154"/>
                  </a:lnTo>
                  <a:lnTo>
                    <a:pt x="691401" y="125341"/>
                  </a:lnTo>
                  <a:lnTo>
                    <a:pt x="679613" y="123755"/>
                  </a:lnTo>
                  <a:lnTo>
                    <a:pt x="667598" y="122621"/>
                  </a:lnTo>
                  <a:lnTo>
                    <a:pt x="655584" y="121488"/>
                  </a:lnTo>
                  <a:lnTo>
                    <a:pt x="643796" y="120581"/>
                  </a:lnTo>
                  <a:lnTo>
                    <a:pt x="631782" y="120128"/>
                  </a:lnTo>
                  <a:lnTo>
                    <a:pt x="619540" y="120128"/>
                  </a:lnTo>
                  <a:lnTo>
                    <a:pt x="607752" y="120128"/>
                  </a:lnTo>
                  <a:close/>
                  <a:moveTo>
                    <a:pt x="619540" y="0"/>
                  </a:moveTo>
                  <a:lnTo>
                    <a:pt x="634502" y="227"/>
                  </a:lnTo>
                  <a:lnTo>
                    <a:pt x="649690" y="907"/>
                  </a:lnTo>
                  <a:lnTo>
                    <a:pt x="664198" y="1587"/>
                  </a:lnTo>
                  <a:lnTo>
                    <a:pt x="678933" y="3173"/>
                  </a:lnTo>
                  <a:lnTo>
                    <a:pt x="694121" y="4533"/>
                  </a:lnTo>
                  <a:lnTo>
                    <a:pt x="708629" y="6573"/>
                  </a:lnTo>
                  <a:lnTo>
                    <a:pt x="723364" y="8840"/>
                  </a:lnTo>
                  <a:lnTo>
                    <a:pt x="738098" y="11560"/>
                  </a:lnTo>
                  <a:lnTo>
                    <a:pt x="752607" y="14506"/>
                  </a:lnTo>
                  <a:lnTo>
                    <a:pt x="767115" y="17906"/>
                  </a:lnTo>
                  <a:lnTo>
                    <a:pt x="781623" y="21533"/>
                  </a:lnTo>
                  <a:lnTo>
                    <a:pt x="796131" y="25839"/>
                  </a:lnTo>
                  <a:lnTo>
                    <a:pt x="810412" y="30146"/>
                  </a:lnTo>
                  <a:lnTo>
                    <a:pt x="824694" y="34905"/>
                  </a:lnTo>
                  <a:lnTo>
                    <a:pt x="838975" y="40118"/>
                  </a:lnTo>
                  <a:lnTo>
                    <a:pt x="853030" y="45558"/>
                  </a:lnTo>
                  <a:lnTo>
                    <a:pt x="866858" y="51451"/>
                  </a:lnTo>
                  <a:lnTo>
                    <a:pt x="880686" y="57571"/>
                  </a:lnTo>
                  <a:lnTo>
                    <a:pt x="894514" y="64144"/>
                  </a:lnTo>
                  <a:lnTo>
                    <a:pt x="907888" y="71170"/>
                  </a:lnTo>
                  <a:lnTo>
                    <a:pt x="921263" y="78423"/>
                  </a:lnTo>
                  <a:lnTo>
                    <a:pt x="934638" y="85903"/>
                  </a:lnTo>
                  <a:lnTo>
                    <a:pt x="947786" y="93836"/>
                  </a:lnTo>
                  <a:lnTo>
                    <a:pt x="960934" y="102222"/>
                  </a:lnTo>
                  <a:lnTo>
                    <a:pt x="973401" y="110835"/>
                  </a:lnTo>
                  <a:lnTo>
                    <a:pt x="986096" y="119901"/>
                  </a:lnTo>
                  <a:lnTo>
                    <a:pt x="998791" y="129421"/>
                  </a:lnTo>
                  <a:lnTo>
                    <a:pt x="1010805" y="139167"/>
                  </a:lnTo>
                  <a:lnTo>
                    <a:pt x="1023046" y="149140"/>
                  </a:lnTo>
                  <a:lnTo>
                    <a:pt x="1034607" y="159793"/>
                  </a:lnTo>
                  <a:lnTo>
                    <a:pt x="1046395" y="170446"/>
                  </a:lnTo>
                  <a:lnTo>
                    <a:pt x="1057956" y="181779"/>
                  </a:lnTo>
                  <a:lnTo>
                    <a:pt x="1067251" y="191072"/>
                  </a:lnTo>
                  <a:lnTo>
                    <a:pt x="1076318" y="200591"/>
                  </a:lnTo>
                  <a:lnTo>
                    <a:pt x="1084932" y="210564"/>
                  </a:lnTo>
                  <a:lnTo>
                    <a:pt x="1093546" y="220310"/>
                  </a:lnTo>
                  <a:lnTo>
                    <a:pt x="1101934" y="230283"/>
                  </a:lnTo>
                  <a:lnTo>
                    <a:pt x="1110095" y="240709"/>
                  </a:lnTo>
                  <a:lnTo>
                    <a:pt x="1117802" y="250909"/>
                  </a:lnTo>
                  <a:lnTo>
                    <a:pt x="1125510" y="261108"/>
                  </a:lnTo>
                  <a:lnTo>
                    <a:pt x="1132764" y="271988"/>
                  </a:lnTo>
                  <a:lnTo>
                    <a:pt x="1139791" y="282414"/>
                  </a:lnTo>
                  <a:lnTo>
                    <a:pt x="1146592" y="293294"/>
                  </a:lnTo>
                  <a:lnTo>
                    <a:pt x="1153166" y="304173"/>
                  </a:lnTo>
                  <a:lnTo>
                    <a:pt x="1159513" y="315279"/>
                  </a:lnTo>
                  <a:lnTo>
                    <a:pt x="1165634" y="326159"/>
                  </a:lnTo>
                  <a:lnTo>
                    <a:pt x="1171527" y="337492"/>
                  </a:lnTo>
                  <a:lnTo>
                    <a:pt x="1177195" y="348598"/>
                  </a:lnTo>
                  <a:lnTo>
                    <a:pt x="1182408" y="360157"/>
                  </a:lnTo>
                  <a:lnTo>
                    <a:pt x="1187622" y="371490"/>
                  </a:lnTo>
                  <a:lnTo>
                    <a:pt x="1192610" y="383050"/>
                  </a:lnTo>
                  <a:lnTo>
                    <a:pt x="1197143" y="394609"/>
                  </a:lnTo>
                  <a:lnTo>
                    <a:pt x="1201677" y="406395"/>
                  </a:lnTo>
                  <a:lnTo>
                    <a:pt x="1205984" y="418181"/>
                  </a:lnTo>
                  <a:lnTo>
                    <a:pt x="1209611" y="429741"/>
                  </a:lnTo>
                  <a:lnTo>
                    <a:pt x="1213465" y="441754"/>
                  </a:lnTo>
                  <a:lnTo>
                    <a:pt x="1216865" y="453540"/>
                  </a:lnTo>
                  <a:lnTo>
                    <a:pt x="1219812" y="465552"/>
                  </a:lnTo>
                  <a:lnTo>
                    <a:pt x="1222986" y="477792"/>
                  </a:lnTo>
                  <a:lnTo>
                    <a:pt x="1225706" y="489578"/>
                  </a:lnTo>
                  <a:lnTo>
                    <a:pt x="1228200" y="501818"/>
                  </a:lnTo>
                  <a:lnTo>
                    <a:pt x="1230240" y="514057"/>
                  </a:lnTo>
                  <a:lnTo>
                    <a:pt x="1232280" y="526070"/>
                  </a:lnTo>
                  <a:lnTo>
                    <a:pt x="1233867" y="538536"/>
                  </a:lnTo>
                  <a:lnTo>
                    <a:pt x="1235680" y="550775"/>
                  </a:lnTo>
                  <a:lnTo>
                    <a:pt x="1236814" y="563015"/>
                  </a:lnTo>
                  <a:lnTo>
                    <a:pt x="1237720" y="575254"/>
                  </a:lnTo>
                  <a:lnTo>
                    <a:pt x="1238401" y="587720"/>
                  </a:lnTo>
                  <a:lnTo>
                    <a:pt x="1239081" y="599733"/>
                  </a:lnTo>
                  <a:lnTo>
                    <a:pt x="1239307" y="612199"/>
                  </a:lnTo>
                  <a:lnTo>
                    <a:pt x="1239307" y="624665"/>
                  </a:lnTo>
                  <a:lnTo>
                    <a:pt x="1239081" y="636678"/>
                  </a:lnTo>
                  <a:lnTo>
                    <a:pt x="1238627" y="649144"/>
                  </a:lnTo>
                  <a:lnTo>
                    <a:pt x="1237947" y="661610"/>
                  </a:lnTo>
                  <a:lnTo>
                    <a:pt x="1237040" y="673623"/>
                  </a:lnTo>
                  <a:lnTo>
                    <a:pt x="1235907" y="686089"/>
                  </a:lnTo>
                  <a:lnTo>
                    <a:pt x="1234320" y="698102"/>
                  </a:lnTo>
                  <a:lnTo>
                    <a:pt x="1232507" y="710341"/>
                  </a:lnTo>
                  <a:lnTo>
                    <a:pt x="1230693" y="722807"/>
                  </a:lnTo>
                  <a:lnTo>
                    <a:pt x="1228653" y="734820"/>
                  </a:lnTo>
                  <a:lnTo>
                    <a:pt x="1226159" y="746833"/>
                  </a:lnTo>
                  <a:lnTo>
                    <a:pt x="1223439" y="759073"/>
                  </a:lnTo>
                  <a:lnTo>
                    <a:pt x="1220719" y="771085"/>
                  </a:lnTo>
                  <a:lnTo>
                    <a:pt x="1217545" y="783098"/>
                  </a:lnTo>
                  <a:lnTo>
                    <a:pt x="1214145" y="795111"/>
                  </a:lnTo>
                  <a:lnTo>
                    <a:pt x="1210518" y="806897"/>
                  </a:lnTo>
                  <a:lnTo>
                    <a:pt x="1206664" y="818683"/>
                  </a:lnTo>
                  <a:lnTo>
                    <a:pt x="1202357" y="830469"/>
                  </a:lnTo>
                  <a:lnTo>
                    <a:pt x="1198277" y="842255"/>
                  </a:lnTo>
                  <a:lnTo>
                    <a:pt x="1193516" y="853588"/>
                  </a:lnTo>
                  <a:lnTo>
                    <a:pt x="1188529" y="865374"/>
                  </a:lnTo>
                  <a:lnTo>
                    <a:pt x="1183769" y="876934"/>
                  </a:lnTo>
                  <a:lnTo>
                    <a:pt x="1178328" y="888267"/>
                  </a:lnTo>
                  <a:lnTo>
                    <a:pt x="1172661" y="899599"/>
                  </a:lnTo>
                  <a:lnTo>
                    <a:pt x="1166767" y="910706"/>
                  </a:lnTo>
                  <a:lnTo>
                    <a:pt x="1160646" y="921812"/>
                  </a:lnTo>
                  <a:lnTo>
                    <a:pt x="1534229" y="1295115"/>
                  </a:lnTo>
                  <a:lnTo>
                    <a:pt x="1540350" y="1301461"/>
                  </a:lnTo>
                  <a:lnTo>
                    <a:pt x="1545790" y="1308034"/>
                  </a:lnTo>
                  <a:lnTo>
                    <a:pt x="1551231" y="1314607"/>
                  </a:lnTo>
                  <a:lnTo>
                    <a:pt x="1556445" y="1321407"/>
                  </a:lnTo>
                  <a:lnTo>
                    <a:pt x="1560752" y="1328433"/>
                  </a:lnTo>
                  <a:lnTo>
                    <a:pt x="1565286" y="1335460"/>
                  </a:lnTo>
                  <a:lnTo>
                    <a:pt x="1569366" y="1342713"/>
                  </a:lnTo>
                  <a:lnTo>
                    <a:pt x="1572766" y="1349966"/>
                  </a:lnTo>
                  <a:lnTo>
                    <a:pt x="1576167" y="1357219"/>
                  </a:lnTo>
                  <a:lnTo>
                    <a:pt x="1578887" y="1364698"/>
                  </a:lnTo>
                  <a:lnTo>
                    <a:pt x="1581381" y="1372178"/>
                  </a:lnTo>
                  <a:lnTo>
                    <a:pt x="1583648" y="1379658"/>
                  </a:lnTo>
                  <a:lnTo>
                    <a:pt x="1585461" y="1387137"/>
                  </a:lnTo>
                  <a:lnTo>
                    <a:pt x="1586821" y="1394617"/>
                  </a:lnTo>
                  <a:lnTo>
                    <a:pt x="1587955" y="1402323"/>
                  </a:lnTo>
                  <a:lnTo>
                    <a:pt x="1588635" y="1409803"/>
                  </a:lnTo>
                  <a:lnTo>
                    <a:pt x="1589088" y="1417283"/>
                  </a:lnTo>
                  <a:lnTo>
                    <a:pt x="1589088" y="1424762"/>
                  </a:lnTo>
                  <a:lnTo>
                    <a:pt x="1588861" y="1432242"/>
                  </a:lnTo>
                  <a:lnTo>
                    <a:pt x="1588181" y="1439495"/>
                  </a:lnTo>
                  <a:lnTo>
                    <a:pt x="1587274" y="1446748"/>
                  </a:lnTo>
                  <a:lnTo>
                    <a:pt x="1585914" y="1454001"/>
                  </a:lnTo>
                  <a:lnTo>
                    <a:pt x="1584101" y="1461027"/>
                  </a:lnTo>
                  <a:lnTo>
                    <a:pt x="1581834" y="1467827"/>
                  </a:lnTo>
                  <a:lnTo>
                    <a:pt x="1579340" y="1474627"/>
                  </a:lnTo>
                  <a:lnTo>
                    <a:pt x="1576620" y="1481200"/>
                  </a:lnTo>
                  <a:lnTo>
                    <a:pt x="1573220" y="1487773"/>
                  </a:lnTo>
                  <a:lnTo>
                    <a:pt x="1569593" y="1494119"/>
                  </a:lnTo>
                  <a:lnTo>
                    <a:pt x="1565512" y="1500239"/>
                  </a:lnTo>
                  <a:lnTo>
                    <a:pt x="1561432" y="1506132"/>
                  </a:lnTo>
                  <a:lnTo>
                    <a:pt x="1556445" y="1511572"/>
                  </a:lnTo>
                  <a:lnTo>
                    <a:pt x="1551231" y="1517011"/>
                  </a:lnTo>
                  <a:lnTo>
                    <a:pt x="1517228" y="1551237"/>
                  </a:lnTo>
                  <a:lnTo>
                    <a:pt x="1511787" y="1556223"/>
                  </a:lnTo>
                  <a:lnTo>
                    <a:pt x="1506120" y="1561209"/>
                  </a:lnTo>
                  <a:lnTo>
                    <a:pt x="1500226" y="1565516"/>
                  </a:lnTo>
                  <a:lnTo>
                    <a:pt x="1494106" y="1569369"/>
                  </a:lnTo>
                  <a:lnTo>
                    <a:pt x="1487985" y="1573222"/>
                  </a:lnTo>
                  <a:lnTo>
                    <a:pt x="1481411" y="1576395"/>
                  </a:lnTo>
                  <a:lnTo>
                    <a:pt x="1474837" y="1579342"/>
                  </a:lnTo>
                  <a:lnTo>
                    <a:pt x="1468036" y="1581835"/>
                  </a:lnTo>
                  <a:lnTo>
                    <a:pt x="1461009" y="1583875"/>
                  </a:lnTo>
                  <a:lnTo>
                    <a:pt x="1453982" y="1585688"/>
                  </a:lnTo>
                  <a:lnTo>
                    <a:pt x="1446728" y="1587275"/>
                  </a:lnTo>
                  <a:lnTo>
                    <a:pt x="1439474" y="1588182"/>
                  </a:lnTo>
                  <a:lnTo>
                    <a:pt x="1432219" y="1588862"/>
                  </a:lnTo>
                  <a:lnTo>
                    <a:pt x="1424739" y="1589088"/>
                  </a:lnTo>
                  <a:lnTo>
                    <a:pt x="1417258" y="1589088"/>
                  </a:lnTo>
                  <a:lnTo>
                    <a:pt x="1409777" y="1588862"/>
                  </a:lnTo>
                  <a:lnTo>
                    <a:pt x="1402296" y="1587955"/>
                  </a:lnTo>
                  <a:lnTo>
                    <a:pt x="1394589" y="1587048"/>
                  </a:lnTo>
                  <a:lnTo>
                    <a:pt x="1387108" y="1585235"/>
                  </a:lnTo>
                  <a:lnTo>
                    <a:pt x="1379628" y="1583422"/>
                  </a:lnTo>
                  <a:lnTo>
                    <a:pt x="1372147" y="1581382"/>
                  </a:lnTo>
                  <a:lnTo>
                    <a:pt x="1364666" y="1578662"/>
                  </a:lnTo>
                  <a:lnTo>
                    <a:pt x="1357186" y="1575942"/>
                  </a:lnTo>
                  <a:lnTo>
                    <a:pt x="1349931" y="1572769"/>
                  </a:lnTo>
                  <a:lnTo>
                    <a:pt x="1342677" y="1569142"/>
                  </a:lnTo>
                  <a:lnTo>
                    <a:pt x="1335423" y="1565289"/>
                  </a:lnTo>
                  <a:lnTo>
                    <a:pt x="1328396" y="1560756"/>
                  </a:lnTo>
                  <a:lnTo>
                    <a:pt x="1321369" y="1556223"/>
                  </a:lnTo>
                  <a:lnTo>
                    <a:pt x="1314568" y="1551237"/>
                  </a:lnTo>
                  <a:lnTo>
                    <a:pt x="1307994" y="1545797"/>
                  </a:lnTo>
                  <a:lnTo>
                    <a:pt x="1301420" y="1540130"/>
                  </a:lnTo>
                  <a:lnTo>
                    <a:pt x="1295299" y="1534011"/>
                  </a:lnTo>
                  <a:lnTo>
                    <a:pt x="921716" y="1160708"/>
                  </a:lnTo>
                  <a:lnTo>
                    <a:pt x="910835" y="1166827"/>
                  </a:lnTo>
                  <a:lnTo>
                    <a:pt x="899501" y="1172720"/>
                  </a:lnTo>
                  <a:lnTo>
                    <a:pt x="888166" y="1178160"/>
                  </a:lnTo>
                  <a:lnTo>
                    <a:pt x="876832" y="1183600"/>
                  </a:lnTo>
                  <a:lnTo>
                    <a:pt x="865498" y="1188586"/>
                  </a:lnTo>
                  <a:lnTo>
                    <a:pt x="853710" y="1193346"/>
                  </a:lnTo>
                  <a:lnTo>
                    <a:pt x="842375" y="1198106"/>
                  </a:lnTo>
                  <a:lnTo>
                    <a:pt x="830588" y="1202412"/>
                  </a:lnTo>
                  <a:lnTo>
                    <a:pt x="818573" y="1206492"/>
                  </a:lnTo>
                  <a:lnTo>
                    <a:pt x="807012" y="1210572"/>
                  </a:lnTo>
                  <a:lnTo>
                    <a:pt x="794997" y="1213972"/>
                  </a:lnTo>
                  <a:lnTo>
                    <a:pt x="783210" y="1217598"/>
                  </a:lnTo>
                  <a:lnTo>
                    <a:pt x="771195" y="1220545"/>
                  </a:lnTo>
                  <a:lnTo>
                    <a:pt x="758954" y="1223265"/>
                  </a:lnTo>
                  <a:lnTo>
                    <a:pt x="746939" y="1226211"/>
                  </a:lnTo>
                  <a:lnTo>
                    <a:pt x="734698" y="1228478"/>
                  </a:lnTo>
                  <a:lnTo>
                    <a:pt x="722457" y="1230518"/>
                  </a:lnTo>
                  <a:lnTo>
                    <a:pt x="710442" y="1232784"/>
                  </a:lnTo>
                  <a:lnTo>
                    <a:pt x="698201" y="1234371"/>
                  </a:lnTo>
                  <a:lnTo>
                    <a:pt x="685960" y="1235731"/>
                  </a:lnTo>
                  <a:lnTo>
                    <a:pt x="673719" y="1236864"/>
                  </a:lnTo>
                  <a:lnTo>
                    <a:pt x="661478" y="1237771"/>
                  </a:lnTo>
                  <a:lnTo>
                    <a:pt x="649010" y="1238451"/>
                  </a:lnTo>
                  <a:lnTo>
                    <a:pt x="636769" y="1239131"/>
                  </a:lnTo>
                  <a:lnTo>
                    <a:pt x="624527" y="1239357"/>
                  </a:lnTo>
                  <a:lnTo>
                    <a:pt x="612060" y="1239357"/>
                  </a:lnTo>
                  <a:lnTo>
                    <a:pt x="599818" y="1239131"/>
                  </a:lnTo>
                  <a:lnTo>
                    <a:pt x="587577" y="1238451"/>
                  </a:lnTo>
                  <a:lnTo>
                    <a:pt x="575109" y="1237544"/>
                  </a:lnTo>
                  <a:lnTo>
                    <a:pt x="562868" y="1236638"/>
                  </a:lnTo>
                  <a:lnTo>
                    <a:pt x="550627" y="1235504"/>
                  </a:lnTo>
                  <a:lnTo>
                    <a:pt x="538612" y="1233918"/>
                  </a:lnTo>
                  <a:lnTo>
                    <a:pt x="526145" y="1232331"/>
                  </a:lnTo>
                  <a:lnTo>
                    <a:pt x="513903" y="1230291"/>
                  </a:lnTo>
                  <a:lnTo>
                    <a:pt x="501889" y="1228025"/>
                  </a:lnTo>
                  <a:lnTo>
                    <a:pt x="489648" y="1225758"/>
                  </a:lnTo>
                  <a:lnTo>
                    <a:pt x="477633" y="1222811"/>
                  </a:lnTo>
                  <a:lnTo>
                    <a:pt x="465619" y="1219865"/>
                  </a:lnTo>
                  <a:lnTo>
                    <a:pt x="453604" y="1216918"/>
                  </a:lnTo>
                  <a:lnTo>
                    <a:pt x="441590" y="1213292"/>
                  </a:lnTo>
                  <a:lnTo>
                    <a:pt x="429802" y="1209665"/>
                  </a:lnTo>
                  <a:lnTo>
                    <a:pt x="418014" y="1205812"/>
                  </a:lnTo>
                  <a:lnTo>
                    <a:pt x="406453" y="1201506"/>
                  </a:lnTo>
                  <a:lnTo>
                    <a:pt x="394665" y="1197199"/>
                  </a:lnTo>
                  <a:lnTo>
                    <a:pt x="383104" y="1192440"/>
                  </a:lnTo>
                  <a:lnTo>
                    <a:pt x="371543" y="1187680"/>
                  </a:lnTo>
                  <a:lnTo>
                    <a:pt x="359982" y="1182467"/>
                  </a:lnTo>
                  <a:lnTo>
                    <a:pt x="348647" y="1177027"/>
                  </a:lnTo>
                  <a:lnTo>
                    <a:pt x="337313" y="1171360"/>
                  </a:lnTo>
                  <a:lnTo>
                    <a:pt x="326205" y="1165694"/>
                  </a:lnTo>
                  <a:lnTo>
                    <a:pt x="315097" y="1159574"/>
                  </a:lnTo>
                  <a:lnTo>
                    <a:pt x="304216" y="1153228"/>
                  </a:lnTo>
                  <a:lnTo>
                    <a:pt x="293109" y="1146655"/>
                  </a:lnTo>
                  <a:lnTo>
                    <a:pt x="282454" y="1139629"/>
                  </a:lnTo>
                  <a:lnTo>
                    <a:pt x="272026" y="1132602"/>
                  </a:lnTo>
                  <a:lnTo>
                    <a:pt x="261145" y="1125349"/>
                  </a:lnTo>
                  <a:lnTo>
                    <a:pt x="250944" y="1117643"/>
                  </a:lnTo>
                  <a:lnTo>
                    <a:pt x="240517" y="1109937"/>
                  </a:lnTo>
                  <a:lnTo>
                    <a:pt x="230316" y="1101777"/>
                  </a:lnTo>
                  <a:lnTo>
                    <a:pt x="220341" y="1093617"/>
                  </a:lnTo>
                  <a:lnTo>
                    <a:pt x="210367" y="1085004"/>
                  </a:lnTo>
                  <a:lnTo>
                    <a:pt x="200620" y="1076391"/>
                  </a:lnTo>
                  <a:lnTo>
                    <a:pt x="191099" y="1067099"/>
                  </a:lnTo>
                  <a:lnTo>
                    <a:pt x="181578" y="1057806"/>
                  </a:lnTo>
                  <a:lnTo>
                    <a:pt x="170470" y="1046473"/>
                  </a:lnTo>
                  <a:lnTo>
                    <a:pt x="159589" y="1034913"/>
                  </a:lnTo>
                  <a:lnTo>
                    <a:pt x="149161" y="1022901"/>
                  </a:lnTo>
                  <a:lnTo>
                    <a:pt x="139187" y="1010888"/>
                  </a:lnTo>
                  <a:lnTo>
                    <a:pt x="129213" y="998648"/>
                  </a:lnTo>
                  <a:lnTo>
                    <a:pt x="119918" y="985956"/>
                  </a:lnTo>
                  <a:lnTo>
                    <a:pt x="110851" y="973489"/>
                  </a:lnTo>
                  <a:lnTo>
                    <a:pt x="102237" y="960797"/>
                  </a:lnTo>
                  <a:lnTo>
                    <a:pt x="93849" y="947651"/>
                  </a:lnTo>
                  <a:lnTo>
                    <a:pt x="85688" y="934505"/>
                  </a:lnTo>
                  <a:lnTo>
                    <a:pt x="78208" y="921358"/>
                  </a:lnTo>
                  <a:lnTo>
                    <a:pt x="70954" y="907986"/>
                  </a:lnTo>
                  <a:lnTo>
                    <a:pt x="64153" y="894386"/>
                  </a:lnTo>
                  <a:lnTo>
                    <a:pt x="57579" y="880560"/>
                  </a:lnTo>
                  <a:lnTo>
                    <a:pt x="51232" y="866734"/>
                  </a:lnTo>
                  <a:lnTo>
                    <a:pt x="45338" y="852908"/>
                  </a:lnTo>
                  <a:lnTo>
                    <a:pt x="39897" y="838856"/>
                  </a:lnTo>
                  <a:lnTo>
                    <a:pt x="34910" y="824803"/>
                  </a:lnTo>
                  <a:lnTo>
                    <a:pt x="30150" y="810524"/>
                  </a:lnTo>
                  <a:lnTo>
                    <a:pt x="25616" y="796244"/>
                  </a:lnTo>
                  <a:lnTo>
                    <a:pt x="21535" y="781738"/>
                  </a:lnTo>
                  <a:lnTo>
                    <a:pt x="17682" y="767232"/>
                  </a:lnTo>
                  <a:lnTo>
                    <a:pt x="14508" y="752726"/>
                  </a:lnTo>
                  <a:lnTo>
                    <a:pt x="11334" y="738220"/>
                  </a:lnTo>
                  <a:lnTo>
                    <a:pt x="8841" y="723487"/>
                  </a:lnTo>
                  <a:lnTo>
                    <a:pt x="6574" y="708755"/>
                  </a:lnTo>
                  <a:lnTo>
                    <a:pt x="4307" y="694022"/>
                  </a:lnTo>
                  <a:lnTo>
                    <a:pt x="2947" y="679289"/>
                  </a:lnTo>
                  <a:lnTo>
                    <a:pt x="1587" y="664330"/>
                  </a:lnTo>
                  <a:lnTo>
                    <a:pt x="680" y="649597"/>
                  </a:lnTo>
                  <a:lnTo>
                    <a:pt x="227" y="634638"/>
                  </a:lnTo>
                  <a:lnTo>
                    <a:pt x="0" y="619905"/>
                  </a:lnTo>
                  <a:lnTo>
                    <a:pt x="227" y="604946"/>
                  </a:lnTo>
                  <a:lnTo>
                    <a:pt x="680" y="589987"/>
                  </a:lnTo>
                  <a:lnTo>
                    <a:pt x="1587" y="575254"/>
                  </a:lnTo>
                  <a:lnTo>
                    <a:pt x="2947" y="560295"/>
                  </a:lnTo>
                  <a:lnTo>
                    <a:pt x="4307" y="545562"/>
                  </a:lnTo>
                  <a:lnTo>
                    <a:pt x="6574" y="530830"/>
                  </a:lnTo>
                  <a:lnTo>
                    <a:pt x="8841" y="516097"/>
                  </a:lnTo>
                  <a:lnTo>
                    <a:pt x="11334" y="501364"/>
                  </a:lnTo>
                  <a:lnTo>
                    <a:pt x="14508" y="486858"/>
                  </a:lnTo>
                  <a:lnTo>
                    <a:pt x="17682" y="472352"/>
                  </a:lnTo>
                  <a:lnTo>
                    <a:pt x="21535" y="457846"/>
                  </a:lnTo>
                  <a:lnTo>
                    <a:pt x="25616" y="443340"/>
                  </a:lnTo>
                  <a:lnTo>
                    <a:pt x="30150" y="429061"/>
                  </a:lnTo>
                  <a:lnTo>
                    <a:pt x="34910" y="414781"/>
                  </a:lnTo>
                  <a:lnTo>
                    <a:pt x="39897" y="400502"/>
                  </a:lnTo>
                  <a:lnTo>
                    <a:pt x="45338" y="386449"/>
                  </a:lnTo>
                  <a:lnTo>
                    <a:pt x="51232" y="372850"/>
                  </a:lnTo>
                  <a:lnTo>
                    <a:pt x="57579" y="359024"/>
                  </a:lnTo>
                  <a:lnTo>
                    <a:pt x="64153" y="345198"/>
                  </a:lnTo>
                  <a:lnTo>
                    <a:pt x="70954" y="331599"/>
                  </a:lnTo>
                  <a:lnTo>
                    <a:pt x="78208" y="318226"/>
                  </a:lnTo>
                  <a:lnTo>
                    <a:pt x="85688" y="304853"/>
                  </a:lnTo>
                  <a:lnTo>
                    <a:pt x="93849" y="291934"/>
                  </a:lnTo>
                  <a:lnTo>
                    <a:pt x="102237" y="278788"/>
                  </a:lnTo>
                  <a:lnTo>
                    <a:pt x="110851" y="266095"/>
                  </a:lnTo>
                  <a:lnTo>
                    <a:pt x="119918" y="253402"/>
                  </a:lnTo>
                  <a:lnTo>
                    <a:pt x="129213" y="240936"/>
                  </a:lnTo>
                  <a:lnTo>
                    <a:pt x="139187" y="228697"/>
                  </a:lnTo>
                  <a:lnTo>
                    <a:pt x="149161" y="216457"/>
                  </a:lnTo>
                  <a:lnTo>
                    <a:pt x="159589" y="204671"/>
                  </a:lnTo>
                  <a:lnTo>
                    <a:pt x="170470" y="193111"/>
                  </a:lnTo>
                  <a:lnTo>
                    <a:pt x="181578" y="181779"/>
                  </a:lnTo>
                  <a:lnTo>
                    <a:pt x="193139" y="170446"/>
                  </a:lnTo>
                  <a:lnTo>
                    <a:pt x="204473" y="159793"/>
                  </a:lnTo>
                  <a:lnTo>
                    <a:pt x="216488" y="149140"/>
                  </a:lnTo>
                  <a:lnTo>
                    <a:pt x="228729" y="139167"/>
                  </a:lnTo>
                  <a:lnTo>
                    <a:pt x="240743" y="129421"/>
                  </a:lnTo>
                  <a:lnTo>
                    <a:pt x="253438" y="119901"/>
                  </a:lnTo>
                  <a:lnTo>
                    <a:pt x="266133" y="110835"/>
                  </a:lnTo>
                  <a:lnTo>
                    <a:pt x="278600" y="102222"/>
                  </a:lnTo>
                  <a:lnTo>
                    <a:pt x="291748" y="93836"/>
                  </a:lnTo>
                  <a:lnTo>
                    <a:pt x="304896" y="85903"/>
                  </a:lnTo>
                  <a:lnTo>
                    <a:pt x="318271" y="78423"/>
                  </a:lnTo>
                  <a:lnTo>
                    <a:pt x="331646" y="71170"/>
                  </a:lnTo>
                  <a:lnTo>
                    <a:pt x="345020" y="64144"/>
                  </a:lnTo>
                  <a:lnTo>
                    <a:pt x="358848" y="57571"/>
                  </a:lnTo>
                  <a:lnTo>
                    <a:pt x="372676" y="51451"/>
                  </a:lnTo>
                  <a:lnTo>
                    <a:pt x="386504" y="45558"/>
                  </a:lnTo>
                  <a:lnTo>
                    <a:pt x="400559" y="40118"/>
                  </a:lnTo>
                  <a:lnTo>
                    <a:pt x="414840" y="34905"/>
                  </a:lnTo>
                  <a:lnTo>
                    <a:pt x="429122" y="30146"/>
                  </a:lnTo>
                  <a:lnTo>
                    <a:pt x="443403" y="25839"/>
                  </a:lnTo>
                  <a:lnTo>
                    <a:pt x="457911" y="21533"/>
                  </a:lnTo>
                  <a:lnTo>
                    <a:pt x="472419" y="17906"/>
                  </a:lnTo>
                  <a:lnTo>
                    <a:pt x="486927" y="14506"/>
                  </a:lnTo>
                  <a:lnTo>
                    <a:pt x="501435" y="11560"/>
                  </a:lnTo>
                  <a:lnTo>
                    <a:pt x="515944" y="8840"/>
                  </a:lnTo>
                  <a:lnTo>
                    <a:pt x="530678" y="6573"/>
                  </a:lnTo>
                  <a:lnTo>
                    <a:pt x="545413" y="4533"/>
                  </a:lnTo>
                  <a:lnTo>
                    <a:pt x="560148" y="3173"/>
                  </a:lnTo>
                  <a:lnTo>
                    <a:pt x="575109" y="1587"/>
                  </a:lnTo>
                  <a:lnTo>
                    <a:pt x="589844" y="907"/>
                  </a:lnTo>
                  <a:lnTo>
                    <a:pt x="604806" y="227"/>
                  </a:lnTo>
                  <a:lnTo>
                    <a:pt x="619540" y="0"/>
                  </a:lnTo>
                  <a:close/>
                </a:path>
              </a:pathLst>
            </a:custGeom>
            <a:solidFill>
              <a:schemeClr val="bg1"/>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endParaRPr lang="zh-CN" altLang="en-US" b="1">
                <a:solidFill>
                  <a:schemeClr val="bg1"/>
                </a:solidFill>
                <a:cs typeface="+mn-ea"/>
                <a:sym typeface="+mn-ea"/>
              </a:endParaRPr>
            </a:p>
          </p:txBody>
        </p:sp>
      </p:grpSp>
      <p:grpSp>
        <p:nvGrpSpPr>
          <p:cNvPr id="20" name="组合 19"/>
          <p:cNvGrpSpPr/>
          <p:nvPr/>
        </p:nvGrpSpPr>
        <p:grpSpPr>
          <a:xfrm>
            <a:off x="4443730" y="4173220"/>
            <a:ext cx="6363335" cy="817880"/>
            <a:chOff x="6960" y="5774"/>
            <a:chExt cx="10021" cy="1288"/>
          </a:xfrm>
        </p:grpSpPr>
        <p:sp>
          <p:nvSpPr>
            <p:cNvPr id="21" name="Rectangle 13"/>
            <p:cNvSpPr>
              <a:spLocks noChangeArrowheads="1"/>
            </p:cNvSpPr>
            <p:nvPr/>
          </p:nvSpPr>
          <p:spPr bwMode="auto">
            <a:xfrm>
              <a:off x="6960" y="5774"/>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dirty="0">
                  <a:solidFill>
                    <a:schemeClr val="bg1"/>
                  </a:solidFill>
                  <a:cs typeface="+mn-ea"/>
                  <a:sym typeface="+mn-lt"/>
                </a:rPr>
                <a:t>四</a:t>
              </a:r>
            </a:p>
          </p:txBody>
        </p:sp>
        <p:sp>
          <p:nvSpPr>
            <p:cNvPr id="22" name="Rectangle 5"/>
            <p:cNvSpPr>
              <a:spLocks noChangeArrowheads="1"/>
            </p:cNvSpPr>
            <p:nvPr/>
          </p:nvSpPr>
          <p:spPr bwMode="auto">
            <a:xfrm>
              <a:off x="8389" y="5774"/>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schemeClr val="bg1"/>
                  </a:solidFill>
                  <a:cs typeface="+mn-ea"/>
                  <a:sym typeface="+mn-lt"/>
                </a:rPr>
                <a:t>   </a:t>
              </a:r>
              <a:r>
                <a:rPr lang="zh-CN" b="1" dirty="0">
                  <a:solidFill>
                    <a:schemeClr val="bg1"/>
                  </a:solidFill>
                  <a:cs typeface="+mn-ea"/>
                  <a:sym typeface="+mn-lt"/>
                </a:rPr>
                <a:t>推广价值</a:t>
              </a:r>
            </a:p>
          </p:txBody>
        </p:sp>
      </p:grpSp>
      <p:grpSp>
        <p:nvGrpSpPr>
          <p:cNvPr id="5" name="组合 4"/>
          <p:cNvGrpSpPr/>
          <p:nvPr/>
        </p:nvGrpSpPr>
        <p:grpSpPr>
          <a:xfrm>
            <a:off x="4443730" y="5076190"/>
            <a:ext cx="6363335" cy="817880"/>
            <a:chOff x="6960" y="5774"/>
            <a:chExt cx="10021" cy="1288"/>
          </a:xfrm>
        </p:grpSpPr>
        <p:sp>
          <p:nvSpPr>
            <p:cNvPr id="6" name="Rectangle 13"/>
            <p:cNvSpPr>
              <a:spLocks noChangeArrowheads="1"/>
            </p:cNvSpPr>
            <p:nvPr/>
          </p:nvSpPr>
          <p:spPr bwMode="auto">
            <a:xfrm>
              <a:off x="6960" y="5774"/>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dirty="0">
                  <a:solidFill>
                    <a:schemeClr val="bg1"/>
                  </a:solidFill>
                  <a:cs typeface="+mn-ea"/>
                  <a:sym typeface="+mn-lt"/>
                </a:rPr>
                <a:t>五</a:t>
              </a:r>
            </a:p>
          </p:txBody>
        </p:sp>
        <p:sp>
          <p:nvSpPr>
            <p:cNvPr id="7" name="Rectangle 5"/>
            <p:cNvSpPr>
              <a:spLocks noChangeArrowheads="1"/>
            </p:cNvSpPr>
            <p:nvPr/>
          </p:nvSpPr>
          <p:spPr bwMode="auto">
            <a:xfrm>
              <a:off x="8389" y="5774"/>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schemeClr val="bg1"/>
                  </a:solidFill>
                  <a:cs typeface="+mn-ea"/>
                  <a:sym typeface="+mn-lt"/>
                </a:rPr>
                <a:t>   </a:t>
              </a:r>
              <a:r>
                <a:rPr lang="zh-CN" altLang="en-US" b="1" dirty="0">
                  <a:solidFill>
                    <a:schemeClr val="bg1"/>
                  </a:solidFill>
                  <a:cs typeface="+mn-ea"/>
                  <a:sym typeface="+mn-lt"/>
                </a:rPr>
                <a:t>团队介绍</a:t>
              </a:r>
            </a:p>
          </p:txBody>
        </p:sp>
      </p:grpSp>
      <p:pic>
        <p:nvPicPr>
          <p:cNvPr id="11" name="图片 10"/>
          <p:cNvPicPr>
            <a:picLocks noChangeAspect="1"/>
          </p:cNvPicPr>
          <p:nvPr/>
        </p:nvPicPr>
        <p:blipFill rotWithShape="1">
          <a:blip r:embed="rId7" cstate="print">
            <a:extLst>
              <a:ext uri="{28A0092B-C50C-407E-A947-70E740481C1C}">
                <a14:useLocalDpi xmlns:a14="http://schemas.microsoft.com/office/drawing/2010/main" val="0"/>
              </a:ext>
            </a:extLst>
          </a:blip>
          <a:srcRect l="8513" t="19659" r="60847" b="16329"/>
          <a:stretch>
            <a:fillRect/>
          </a:stretch>
        </p:blipFill>
        <p:spPr>
          <a:xfrm>
            <a:off x="10125710" y="5100320"/>
            <a:ext cx="437515" cy="685800"/>
          </a:xfrm>
          <a:prstGeom prst="rect">
            <a:avLst/>
          </a:prstGeom>
        </p:spPr>
      </p:pic>
      <p:pic>
        <p:nvPicPr>
          <p:cNvPr id="12" name="图片 11" descr="改造世界"/>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118090" y="4316730"/>
            <a:ext cx="530225" cy="530225"/>
          </a:xfrm>
          <a:prstGeom prst="rect">
            <a:avLst/>
          </a:prstGeom>
        </p:spPr>
      </p:pic>
    </p:spTree>
    <p:custDataLst>
      <p:tags r:id="rId1"/>
    </p:custData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02" y="181637"/>
            <a:ext cx="8138082" cy="418058"/>
          </a:xfrm>
        </p:spPr>
        <p:txBody>
          <a:bodyPr>
            <a:noAutofit/>
          </a:bodyPr>
          <a:lstStyle/>
          <a:p>
            <a:r>
              <a:rPr lang="zh-CN" altLang="en-US" sz="2400"/>
              <a:t>目录</a:t>
            </a:r>
          </a:p>
        </p:txBody>
      </p:sp>
      <p:pic>
        <p:nvPicPr>
          <p:cNvPr id="18" name="图片 15"/>
          <p:cNvPicPr>
            <a:picLocks noChangeAspect="1"/>
          </p:cNvPicPr>
          <p:nvPr/>
        </p:nvPicPr>
        <p:blipFill rotWithShape="1">
          <a:blip r:embed="rId4"/>
          <a:srcRect l="11383" t="8193" r="11087" b="29077"/>
          <a:stretch>
            <a:fillRect/>
          </a:stretch>
        </p:blipFill>
        <p:spPr>
          <a:xfrm>
            <a:off x="430088" y="1593630"/>
            <a:ext cx="3511883" cy="1941322"/>
          </a:xfrm>
          <a:prstGeom prst="rect">
            <a:avLst/>
          </a:prstGeom>
        </p:spPr>
      </p:pic>
      <p:grpSp>
        <p:nvGrpSpPr>
          <p:cNvPr id="35" name="组合 34"/>
          <p:cNvGrpSpPr/>
          <p:nvPr/>
        </p:nvGrpSpPr>
        <p:grpSpPr>
          <a:xfrm>
            <a:off x="4443730" y="1464310"/>
            <a:ext cx="6363335" cy="817880"/>
            <a:chOff x="6961" y="1508"/>
            <a:chExt cx="10021" cy="1288"/>
          </a:xfrm>
        </p:grpSpPr>
        <p:sp>
          <p:nvSpPr>
            <p:cNvPr id="33" name="Rectangle 10"/>
            <p:cNvSpPr>
              <a:spLocks noChangeArrowheads="1"/>
            </p:cNvSpPr>
            <p:nvPr/>
          </p:nvSpPr>
          <p:spPr bwMode="auto">
            <a:xfrm>
              <a:off x="6961" y="1508"/>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prstClr val="white"/>
                  </a:solidFill>
                  <a:cs typeface="+mn-ea"/>
                  <a:sym typeface="+mn-lt"/>
                </a:rPr>
                <a:t>一</a:t>
              </a:r>
            </a:p>
          </p:txBody>
        </p:sp>
        <p:sp>
          <p:nvSpPr>
            <p:cNvPr id="36" name="Rectangle 9"/>
            <p:cNvSpPr>
              <a:spLocks noChangeArrowheads="1"/>
            </p:cNvSpPr>
            <p:nvPr/>
          </p:nvSpPr>
          <p:spPr bwMode="auto">
            <a:xfrm>
              <a:off x="8390" y="1508"/>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prstClr val="white"/>
                  </a:solidFill>
                  <a:cs typeface="+mn-ea"/>
                  <a:sym typeface="+mn-lt"/>
                </a:rPr>
                <a:t>  </a:t>
              </a:r>
              <a:r>
                <a:rPr lang="zh-CN" altLang="en-US" b="1" dirty="0">
                  <a:solidFill>
                    <a:prstClr val="white"/>
                  </a:solidFill>
                  <a:cs typeface="+mn-ea"/>
                  <a:sym typeface="+mn-lt"/>
                </a:rPr>
                <a:t>成果介绍</a:t>
              </a:r>
            </a:p>
          </p:txBody>
        </p:sp>
        <p:pic>
          <p:nvPicPr>
            <p:cNvPr id="29" name="图片 249"/>
            <p:cNvPicPr>
              <a:picLocks noChangeAspect="1"/>
            </p:cNvPicPr>
            <p:nvPr/>
          </p:nvPicPr>
          <p:blipFill>
            <a:blip r:embed="rId5"/>
            <a:stretch>
              <a:fillRect/>
            </a:stretch>
          </p:blipFill>
          <p:spPr bwMode="auto">
            <a:xfrm>
              <a:off x="15965" y="1802"/>
              <a:ext cx="697" cy="700"/>
            </a:xfrm>
            <a:prstGeom prst="rect">
              <a:avLst/>
            </a:prstGeom>
            <a:solidFill>
              <a:srgbClr val="CDCDCD"/>
            </a:solidFill>
            <a:ln w="12700">
              <a:noFill/>
              <a:miter lim="800000"/>
              <a:headEnd/>
              <a:tailEnd/>
            </a:ln>
          </p:spPr>
        </p:pic>
      </p:grpSp>
      <p:grpSp>
        <p:nvGrpSpPr>
          <p:cNvPr id="37" name="组合 36"/>
          <p:cNvGrpSpPr/>
          <p:nvPr/>
        </p:nvGrpSpPr>
        <p:grpSpPr>
          <a:xfrm>
            <a:off x="4443730" y="2367280"/>
            <a:ext cx="6363335" cy="817880"/>
            <a:chOff x="6961" y="2930"/>
            <a:chExt cx="10021" cy="1288"/>
          </a:xfrm>
        </p:grpSpPr>
        <p:sp>
          <p:nvSpPr>
            <p:cNvPr id="4" name="Rectangle 10"/>
            <p:cNvSpPr>
              <a:spLocks noChangeArrowheads="1"/>
            </p:cNvSpPr>
            <p:nvPr/>
          </p:nvSpPr>
          <p:spPr bwMode="auto">
            <a:xfrm>
              <a:off x="6961" y="2930"/>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schemeClr val="bg1"/>
                  </a:solidFill>
                  <a:cs typeface="+mn-ea"/>
                  <a:sym typeface="+mn-lt"/>
                </a:rPr>
                <a:t>二</a:t>
              </a:r>
            </a:p>
          </p:txBody>
        </p:sp>
        <p:sp>
          <p:nvSpPr>
            <p:cNvPr id="9" name="Rectangle 5"/>
            <p:cNvSpPr>
              <a:spLocks noChangeArrowheads="1"/>
            </p:cNvSpPr>
            <p:nvPr/>
          </p:nvSpPr>
          <p:spPr bwMode="auto">
            <a:xfrm>
              <a:off x="8390" y="2930"/>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zh-CN" altLang="en-US" b="1">
                  <a:solidFill>
                    <a:schemeClr val="bg1"/>
                  </a:solidFill>
                  <a:cs typeface="+mn-ea"/>
                  <a:sym typeface="+mn-lt"/>
                </a:rPr>
                <a:t>   解决方案</a:t>
              </a:r>
            </a:p>
          </p:txBody>
        </p:sp>
        <p:pic>
          <p:nvPicPr>
            <p:cNvPr id="30" name="图片 264"/>
            <p:cNvPicPr>
              <a:picLocks noChangeAspect="1"/>
            </p:cNvPicPr>
            <p:nvPr/>
          </p:nvPicPr>
          <p:blipFill>
            <a:blip r:embed="rId6"/>
            <a:stretch>
              <a:fillRect/>
            </a:stretch>
          </p:blipFill>
          <p:spPr bwMode="auto">
            <a:xfrm>
              <a:off x="15973" y="3233"/>
              <a:ext cx="681" cy="681"/>
            </a:xfrm>
            <a:prstGeom prst="rect">
              <a:avLst/>
            </a:prstGeom>
            <a:solidFill>
              <a:srgbClr val="CDCDCD"/>
            </a:solidFill>
            <a:ln w="12700">
              <a:noFill/>
              <a:miter lim="800000"/>
              <a:headEnd/>
              <a:tailEnd/>
            </a:ln>
          </p:spPr>
        </p:pic>
      </p:grpSp>
      <p:grpSp>
        <p:nvGrpSpPr>
          <p:cNvPr id="38" name="组合 37"/>
          <p:cNvGrpSpPr/>
          <p:nvPr/>
        </p:nvGrpSpPr>
        <p:grpSpPr>
          <a:xfrm>
            <a:off x="4443095" y="3270250"/>
            <a:ext cx="6363335" cy="817880"/>
            <a:chOff x="6960" y="4352"/>
            <a:chExt cx="10021" cy="1288"/>
          </a:xfrm>
        </p:grpSpPr>
        <p:sp>
          <p:nvSpPr>
            <p:cNvPr id="24" name="Rectangle 13"/>
            <p:cNvSpPr>
              <a:spLocks noChangeArrowheads="1"/>
            </p:cNvSpPr>
            <p:nvPr/>
          </p:nvSpPr>
          <p:spPr bwMode="auto">
            <a:xfrm>
              <a:off x="6960" y="4352"/>
              <a:ext cx="1287" cy="1288"/>
            </a:xfrm>
            <a:prstGeom prst="rect">
              <a:avLst/>
            </a:prstGeom>
            <a:solidFill>
              <a:srgbClr val="2E5495"/>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schemeClr val="bg1"/>
                  </a:solidFill>
                  <a:cs typeface="+mn-ea"/>
                  <a:sym typeface="+mn-lt"/>
                </a:rPr>
                <a:t>三</a:t>
              </a:r>
            </a:p>
          </p:txBody>
        </p:sp>
        <p:sp>
          <p:nvSpPr>
            <p:cNvPr id="25" name="Rectangle 5"/>
            <p:cNvSpPr>
              <a:spLocks noChangeArrowheads="1"/>
            </p:cNvSpPr>
            <p:nvPr/>
          </p:nvSpPr>
          <p:spPr bwMode="auto">
            <a:xfrm>
              <a:off x="8389" y="4352"/>
              <a:ext cx="8592" cy="1288"/>
            </a:xfrm>
            <a:prstGeom prst="rect">
              <a:avLst/>
            </a:prstGeom>
            <a:solidFill>
              <a:srgbClr val="2E5495"/>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a:solidFill>
                    <a:schemeClr val="bg1"/>
                  </a:solidFill>
                  <a:cs typeface="+mn-ea"/>
                  <a:sym typeface="+mn-lt"/>
                </a:rPr>
                <a:t>   </a:t>
              </a:r>
              <a:r>
                <a:rPr lang="zh-CN" altLang="en-US" b="1">
                  <a:solidFill>
                    <a:schemeClr val="bg1"/>
                  </a:solidFill>
                  <a:cs typeface="+mn-ea"/>
                  <a:sym typeface="+mn-lt"/>
                </a:rPr>
                <a:t>应用成效</a:t>
              </a:r>
            </a:p>
          </p:txBody>
        </p:sp>
        <p:sp>
          <p:nvSpPr>
            <p:cNvPr id="26" name="KSO_Shape"/>
            <p:cNvSpPr/>
            <p:nvPr/>
          </p:nvSpPr>
          <p:spPr bwMode="auto">
            <a:xfrm>
              <a:off x="15986" y="4659"/>
              <a:ext cx="656" cy="674"/>
            </a:xfrm>
            <a:custGeom>
              <a:avLst/>
              <a:gdLst>
                <a:gd name="T0" fmla="*/ 984018 w 1589088"/>
                <a:gd name="T1" fmla="*/ 589506 h 1589088"/>
                <a:gd name="T2" fmla="*/ 955171 w 1589088"/>
                <a:gd name="T3" fmla="*/ 645802 h 1589088"/>
                <a:gd name="T4" fmla="*/ 898294 w 1589088"/>
                <a:gd name="T5" fmla="*/ 673272 h 1589088"/>
                <a:gd name="T6" fmla="*/ 881422 w 1589088"/>
                <a:gd name="T7" fmla="*/ 964824 h 1589088"/>
                <a:gd name="T8" fmla="*/ 873530 w 1589088"/>
                <a:gd name="T9" fmla="*/ 1040159 h 1589088"/>
                <a:gd name="T10" fmla="*/ 824817 w 1589088"/>
                <a:gd name="T11" fmla="*/ 1084490 h 1589088"/>
                <a:gd name="T12" fmla="*/ 756238 w 1589088"/>
                <a:gd name="T13" fmla="*/ 1088026 h 1589088"/>
                <a:gd name="T14" fmla="*/ 703444 w 1589088"/>
                <a:gd name="T15" fmla="*/ 1048590 h 1589088"/>
                <a:gd name="T16" fmla="*/ 686571 w 1589088"/>
                <a:gd name="T17" fmla="*/ 985493 h 1589088"/>
                <a:gd name="T18" fmla="*/ 486007 w 1589088"/>
                <a:gd name="T19" fmla="*/ 893024 h 1589088"/>
                <a:gd name="T20" fmla="*/ 398106 w 1589088"/>
                <a:gd name="T21" fmla="*/ 820680 h 1589088"/>
                <a:gd name="T22" fmla="*/ 402189 w 1589088"/>
                <a:gd name="T23" fmla="*/ 755134 h 1589088"/>
                <a:gd name="T24" fmla="*/ 446547 w 1589088"/>
                <a:gd name="T25" fmla="*/ 706452 h 1589088"/>
                <a:gd name="T26" fmla="*/ 514037 w 1589088"/>
                <a:gd name="T27" fmla="*/ 696389 h 1589088"/>
                <a:gd name="T28" fmla="*/ 570641 w 1589088"/>
                <a:gd name="T29" fmla="*/ 730385 h 1589088"/>
                <a:gd name="T30" fmla="*/ 593501 w 1589088"/>
                <a:gd name="T31" fmla="*/ 794027 h 1589088"/>
                <a:gd name="T32" fmla="*/ 818558 w 1589088"/>
                <a:gd name="T33" fmla="*/ 648522 h 1589088"/>
                <a:gd name="T34" fmla="*/ 785901 w 1589088"/>
                <a:gd name="T35" fmla="*/ 575091 h 1589088"/>
                <a:gd name="T36" fmla="*/ 808761 w 1589088"/>
                <a:gd name="T37" fmla="*/ 511721 h 1589088"/>
                <a:gd name="T38" fmla="*/ 865365 w 1589088"/>
                <a:gd name="T39" fmla="*/ 477726 h 1589088"/>
                <a:gd name="T40" fmla="*/ 728574 w 1589088"/>
                <a:gd name="T41" fmla="*/ 144010 h 1589088"/>
                <a:gd name="T42" fmla="*/ 531280 w 1589088"/>
                <a:gd name="T43" fmla="*/ 182593 h 1589088"/>
                <a:gd name="T44" fmla="*/ 353281 w 1589088"/>
                <a:gd name="T45" fmla="*/ 288291 h 1589088"/>
                <a:gd name="T46" fmla="*/ 219577 w 1589088"/>
                <a:gd name="T47" fmla="*/ 451592 h 1589088"/>
                <a:gd name="T48" fmla="*/ 152454 w 1589088"/>
                <a:gd name="T49" fmla="*/ 642880 h 1589088"/>
                <a:gd name="T50" fmla="*/ 152454 w 1589088"/>
                <a:gd name="T51" fmla="*/ 843135 h 1589088"/>
                <a:gd name="T52" fmla="*/ 219577 w 1589088"/>
                <a:gd name="T53" fmla="*/ 1034422 h 1589088"/>
                <a:gd name="T54" fmla="*/ 353281 w 1589088"/>
                <a:gd name="T55" fmla="*/ 1197724 h 1589088"/>
                <a:gd name="T56" fmla="*/ 531280 w 1589088"/>
                <a:gd name="T57" fmla="*/ 1303421 h 1589088"/>
                <a:gd name="T58" fmla="*/ 728574 w 1589088"/>
                <a:gd name="T59" fmla="*/ 1341734 h 1589088"/>
                <a:gd name="T60" fmla="*/ 927227 w 1589088"/>
                <a:gd name="T61" fmla="*/ 1312931 h 1589088"/>
                <a:gd name="T62" fmla="*/ 1109302 w 1589088"/>
                <a:gd name="T63" fmla="*/ 1217015 h 1589088"/>
                <a:gd name="T64" fmla="*/ 1251431 w 1589088"/>
                <a:gd name="T65" fmla="*/ 1059964 h 1589088"/>
                <a:gd name="T66" fmla="*/ 1328065 w 1589088"/>
                <a:gd name="T67" fmla="*/ 871393 h 1589088"/>
                <a:gd name="T68" fmla="*/ 1337576 w 1589088"/>
                <a:gd name="T69" fmla="*/ 671410 h 1589088"/>
                <a:gd name="T70" fmla="*/ 1280237 w 1589088"/>
                <a:gd name="T71" fmla="*/ 477677 h 1589088"/>
                <a:gd name="T72" fmla="*/ 1155500 w 1589088"/>
                <a:gd name="T73" fmla="*/ 308670 h 1589088"/>
                <a:gd name="T74" fmla="*/ 981849 w 1589088"/>
                <a:gd name="T75" fmla="*/ 193462 h 1589088"/>
                <a:gd name="T76" fmla="*/ 785915 w 1589088"/>
                <a:gd name="T77" fmla="*/ 145640 h 1589088"/>
                <a:gd name="T78" fmla="*/ 902226 w 1589088"/>
                <a:gd name="T79" fmla="*/ 17390 h 1589088"/>
                <a:gd name="T80" fmla="*/ 1136207 w 1589088"/>
                <a:gd name="T81" fmla="*/ 112491 h 1589088"/>
                <a:gd name="T82" fmla="*/ 1320999 w 1589088"/>
                <a:gd name="T83" fmla="*/ 276063 h 1589088"/>
                <a:gd name="T84" fmla="*/ 1429702 w 1589088"/>
                <a:gd name="T85" fmla="*/ 459201 h 1589088"/>
                <a:gd name="T86" fmla="*/ 1481334 w 1589088"/>
                <a:gd name="T87" fmla="*/ 660270 h 1589088"/>
                <a:gd name="T88" fmla="*/ 1475356 w 1589088"/>
                <a:gd name="T89" fmla="*/ 866502 h 1589088"/>
                <a:gd name="T90" fmla="*/ 1412581 w 1589088"/>
                <a:gd name="T91" fmla="*/ 1064855 h 1589088"/>
                <a:gd name="T92" fmla="*/ 1892771 w 1589088"/>
                <a:gd name="T93" fmla="*/ 1636001 h 1589088"/>
                <a:gd name="T94" fmla="*/ 1896304 w 1589088"/>
                <a:gd name="T95" fmla="*/ 1759632 h 1589088"/>
                <a:gd name="T96" fmla="*/ 1783798 w 1589088"/>
                <a:gd name="T97" fmla="*/ 1885980 h 1589088"/>
                <a:gd name="T98" fmla="*/ 1662866 w 1589088"/>
                <a:gd name="T99" fmla="*/ 1900381 h 1589088"/>
                <a:gd name="T100" fmla="*/ 1104954 w 1589088"/>
                <a:gd name="T101" fmla="*/ 1391458 h 1589088"/>
                <a:gd name="T102" fmla="*/ 909835 w 1589088"/>
                <a:gd name="T103" fmla="*/ 1466451 h 1589088"/>
                <a:gd name="T104" fmla="*/ 704388 w 1589088"/>
                <a:gd name="T105" fmla="*/ 1484656 h 1589088"/>
                <a:gd name="T106" fmla="*/ 501116 w 1589088"/>
                <a:gd name="T107" fmla="*/ 1445528 h 1589088"/>
                <a:gd name="T108" fmla="*/ 313061 w 1589088"/>
                <a:gd name="T109" fmla="*/ 1349069 h 1589088"/>
                <a:gd name="T110" fmla="*/ 143758 w 1589088"/>
                <a:gd name="T111" fmla="*/ 1181965 h 1589088"/>
                <a:gd name="T112" fmla="*/ 30708 w 1589088"/>
                <a:gd name="T113" fmla="*/ 954538 h 1589088"/>
                <a:gd name="T114" fmla="*/ 815 w 1589088"/>
                <a:gd name="T115" fmla="*/ 707277 h 1589088"/>
                <a:gd name="T116" fmla="*/ 54351 w 1589088"/>
                <a:gd name="T117" fmla="*/ 463275 h 1589088"/>
                <a:gd name="T118" fmla="*/ 191315 w 1589088"/>
                <a:gd name="T119" fmla="*/ 245360 h 1589088"/>
                <a:gd name="T120" fmla="*/ 397577 w 1589088"/>
                <a:gd name="T121" fmla="*/ 85319 h 1589088"/>
                <a:gd name="T122" fmla="*/ 636177 w 1589088"/>
                <a:gd name="T123" fmla="*/ 7880 h 15890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589088" h="1589088">
                  <a:moveTo>
                    <a:pt x="916859" y="288925"/>
                  </a:moveTo>
                  <a:lnTo>
                    <a:pt x="954088" y="332030"/>
                  </a:lnTo>
                  <a:lnTo>
                    <a:pt x="816067" y="450682"/>
                  </a:lnTo>
                  <a:lnTo>
                    <a:pt x="817430" y="454085"/>
                  </a:lnTo>
                  <a:lnTo>
                    <a:pt x="818338" y="457488"/>
                  </a:lnTo>
                  <a:lnTo>
                    <a:pt x="819246" y="461118"/>
                  </a:lnTo>
                  <a:lnTo>
                    <a:pt x="820381" y="464748"/>
                  </a:lnTo>
                  <a:lnTo>
                    <a:pt x="820835" y="468378"/>
                  </a:lnTo>
                  <a:lnTo>
                    <a:pt x="821289" y="472008"/>
                  </a:lnTo>
                  <a:lnTo>
                    <a:pt x="821743" y="475865"/>
                  </a:lnTo>
                  <a:lnTo>
                    <a:pt x="821743" y="479722"/>
                  </a:lnTo>
                  <a:lnTo>
                    <a:pt x="821743" y="483805"/>
                  </a:lnTo>
                  <a:lnTo>
                    <a:pt x="821289" y="487662"/>
                  </a:lnTo>
                  <a:lnTo>
                    <a:pt x="820835" y="491746"/>
                  </a:lnTo>
                  <a:lnTo>
                    <a:pt x="820154" y="495602"/>
                  </a:lnTo>
                  <a:lnTo>
                    <a:pt x="819246" y="499459"/>
                  </a:lnTo>
                  <a:lnTo>
                    <a:pt x="818338" y="503089"/>
                  </a:lnTo>
                  <a:lnTo>
                    <a:pt x="816976" y="506946"/>
                  </a:lnTo>
                  <a:lnTo>
                    <a:pt x="815840" y="510349"/>
                  </a:lnTo>
                  <a:lnTo>
                    <a:pt x="814251" y="513979"/>
                  </a:lnTo>
                  <a:lnTo>
                    <a:pt x="812662" y="517382"/>
                  </a:lnTo>
                  <a:lnTo>
                    <a:pt x="810619" y="520785"/>
                  </a:lnTo>
                  <a:lnTo>
                    <a:pt x="808803" y="523961"/>
                  </a:lnTo>
                  <a:lnTo>
                    <a:pt x="806760" y="527137"/>
                  </a:lnTo>
                  <a:lnTo>
                    <a:pt x="804263" y="530313"/>
                  </a:lnTo>
                  <a:lnTo>
                    <a:pt x="801993" y="533036"/>
                  </a:lnTo>
                  <a:lnTo>
                    <a:pt x="799496" y="535985"/>
                  </a:lnTo>
                  <a:lnTo>
                    <a:pt x="796772" y="538707"/>
                  </a:lnTo>
                  <a:lnTo>
                    <a:pt x="794048" y="541203"/>
                  </a:lnTo>
                  <a:lnTo>
                    <a:pt x="791324" y="543698"/>
                  </a:lnTo>
                  <a:lnTo>
                    <a:pt x="788146" y="545967"/>
                  </a:lnTo>
                  <a:lnTo>
                    <a:pt x="785194" y="548009"/>
                  </a:lnTo>
                  <a:lnTo>
                    <a:pt x="781789" y="550051"/>
                  </a:lnTo>
                  <a:lnTo>
                    <a:pt x="778611" y="552093"/>
                  </a:lnTo>
                  <a:lnTo>
                    <a:pt x="775433" y="553908"/>
                  </a:lnTo>
                  <a:lnTo>
                    <a:pt x="771801" y="555496"/>
                  </a:lnTo>
                  <a:lnTo>
                    <a:pt x="768396" y="556857"/>
                  </a:lnTo>
                  <a:lnTo>
                    <a:pt x="764537" y="558218"/>
                  </a:lnTo>
                  <a:lnTo>
                    <a:pt x="760905" y="559352"/>
                  </a:lnTo>
                  <a:lnTo>
                    <a:pt x="757046" y="560260"/>
                  </a:lnTo>
                  <a:lnTo>
                    <a:pt x="753413" y="560940"/>
                  </a:lnTo>
                  <a:lnTo>
                    <a:pt x="749327" y="561621"/>
                  </a:lnTo>
                  <a:lnTo>
                    <a:pt x="745241" y="562075"/>
                  </a:lnTo>
                  <a:lnTo>
                    <a:pt x="692121" y="754005"/>
                  </a:lnTo>
                  <a:lnTo>
                    <a:pt x="697343" y="756728"/>
                  </a:lnTo>
                  <a:lnTo>
                    <a:pt x="702110" y="759904"/>
                  </a:lnTo>
                  <a:lnTo>
                    <a:pt x="706650" y="763080"/>
                  </a:lnTo>
                  <a:lnTo>
                    <a:pt x="710963" y="766937"/>
                  </a:lnTo>
                  <a:lnTo>
                    <a:pt x="715049" y="770794"/>
                  </a:lnTo>
                  <a:lnTo>
                    <a:pt x="718908" y="774877"/>
                  </a:lnTo>
                  <a:lnTo>
                    <a:pt x="722313" y="779188"/>
                  </a:lnTo>
                  <a:lnTo>
                    <a:pt x="725718" y="783952"/>
                  </a:lnTo>
                  <a:lnTo>
                    <a:pt x="728670" y="788943"/>
                  </a:lnTo>
                  <a:lnTo>
                    <a:pt x="731167" y="793934"/>
                  </a:lnTo>
                  <a:lnTo>
                    <a:pt x="733437" y="799379"/>
                  </a:lnTo>
                  <a:lnTo>
                    <a:pt x="735253" y="804824"/>
                  </a:lnTo>
                  <a:lnTo>
                    <a:pt x="736615" y="810496"/>
                  </a:lnTo>
                  <a:lnTo>
                    <a:pt x="737750" y="816167"/>
                  </a:lnTo>
                  <a:lnTo>
                    <a:pt x="738431" y="822066"/>
                  </a:lnTo>
                  <a:lnTo>
                    <a:pt x="738658" y="828191"/>
                  </a:lnTo>
                  <a:lnTo>
                    <a:pt x="738658" y="832729"/>
                  </a:lnTo>
                  <a:lnTo>
                    <a:pt x="738431" y="836812"/>
                  </a:lnTo>
                  <a:lnTo>
                    <a:pt x="737523" y="840896"/>
                  </a:lnTo>
                  <a:lnTo>
                    <a:pt x="736842" y="844980"/>
                  </a:lnTo>
                  <a:lnTo>
                    <a:pt x="735934" y="849063"/>
                  </a:lnTo>
                  <a:lnTo>
                    <a:pt x="734799" y="852920"/>
                  </a:lnTo>
                  <a:lnTo>
                    <a:pt x="733664" y="856777"/>
                  </a:lnTo>
                  <a:lnTo>
                    <a:pt x="732075" y="860407"/>
                  </a:lnTo>
                  <a:lnTo>
                    <a:pt x="730259" y="864263"/>
                  </a:lnTo>
                  <a:lnTo>
                    <a:pt x="728670" y="867666"/>
                  </a:lnTo>
                  <a:lnTo>
                    <a:pt x="726626" y="871296"/>
                  </a:lnTo>
                  <a:lnTo>
                    <a:pt x="724583" y="874699"/>
                  </a:lnTo>
                  <a:lnTo>
                    <a:pt x="722086" y="877876"/>
                  </a:lnTo>
                  <a:lnTo>
                    <a:pt x="719589" y="881052"/>
                  </a:lnTo>
                  <a:lnTo>
                    <a:pt x="717092" y="884228"/>
                  </a:lnTo>
                  <a:lnTo>
                    <a:pt x="714141" y="886950"/>
                  </a:lnTo>
                  <a:lnTo>
                    <a:pt x="711417" y="889673"/>
                  </a:lnTo>
                  <a:lnTo>
                    <a:pt x="708239" y="892395"/>
                  </a:lnTo>
                  <a:lnTo>
                    <a:pt x="705288" y="894891"/>
                  </a:lnTo>
                  <a:lnTo>
                    <a:pt x="702110" y="896933"/>
                  </a:lnTo>
                  <a:lnTo>
                    <a:pt x="698705" y="899428"/>
                  </a:lnTo>
                  <a:lnTo>
                    <a:pt x="695299" y="901243"/>
                  </a:lnTo>
                  <a:lnTo>
                    <a:pt x="691440" y="903058"/>
                  </a:lnTo>
                  <a:lnTo>
                    <a:pt x="688035" y="904646"/>
                  </a:lnTo>
                  <a:lnTo>
                    <a:pt x="684176" y="906234"/>
                  </a:lnTo>
                  <a:lnTo>
                    <a:pt x="680317" y="907595"/>
                  </a:lnTo>
                  <a:lnTo>
                    <a:pt x="676231" y="908730"/>
                  </a:lnTo>
                  <a:lnTo>
                    <a:pt x="672372" y="909637"/>
                  </a:lnTo>
                  <a:lnTo>
                    <a:pt x="668286" y="910318"/>
                  </a:lnTo>
                  <a:lnTo>
                    <a:pt x="664199" y="910771"/>
                  </a:lnTo>
                  <a:lnTo>
                    <a:pt x="659886" y="911225"/>
                  </a:lnTo>
                  <a:lnTo>
                    <a:pt x="655573" y="911225"/>
                  </a:lnTo>
                  <a:lnTo>
                    <a:pt x="651260" y="911225"/>
                  </a:lnTo>
                  <a:lnTo>
                    <a:pt x="646947" y="910771"/>
                  </a:lnTo>
                  <a:lnTo>
                    <a:pt x="643088" y="910318"/>
                  </a:lnTo>
                  <a:lnTo>
                    <a:pt x="638775" y="909637"/>
                  </a:lnTo>
                  <a:lnTo>
                    <a:pt x="634915" y="908730"/>
                  </a:lnTo>
                  <a:lnTo>
                    <a:pt x="630829" y="907595"/>
                  </a:lnTo>
                  <a:lnTo>
                    <a:pt x="627197" y="906234"/>
                  </a:lnTo>
                  <a:lnTo>
                    <a:pt x="623338" y="904646"/>
                  </a:lnTo>
                  <a:lnTo>
                    <a:pt x="619706" y="903058"/>
                  </a:lnTo>
                  <a:lnTo>
                    <a:pt x="616074" y="901243"/>
                  </a:lnTo>
                  <a:lnTo>
                    <a:pt x="612669" y="899428"/>
                  </a:lnTo>
                  <a:lnTo>
                    <a:pt x="609037" y="896933"/>
                  </a:lnTo>
                  <a:lnTo>
                    <a:pt x="605858" y="894891"/>
                  </a:lnTo>
                  <a:lnTo>
                    <a:pt x="602680" y="892395"/>
                  </a:lnTo>
                  <a:lnTo>
                    <a:pt x="599729" y="889673"/>
                  </a:lnTo>
                  <a:lnTo>
                    <a:pt x="596778" y="886950"/>
                  </a:lnTo>
                  <a:lnTo>
                    <a:pt x="594054" y="884228"/>
                  </a:lnTo>
                  <a:lnTo>
                    <a:pt x="591557" y="881052"/>
                  </a:lnTo>
                  <a:lnTo>
                    <a:pt x="588833" y="877876"/>
                  </a:lnTo>
                  <a:lnTo>
                    <a:pt x="586790" y="874699"/>
                  </a:lnTo>
                  <a:lnTo>
                    <a:pt x="584520" y="871296"/>
                  </a:lnTo>
                  <a:lnTo>
                    <a:pt x="582704" y="867666"/>
                  </a:lnTo>
                  <a:lnTo>
                    <a:pt x="580661" y="864263"/>
                  </a:lnTo>
                  <a:lnTo>
                    <a:pt x="579072" y="860407"/>
                  </a:lnTo>
                  <a:lnTo>
                    <a:pt x="577710" y="856777"/>
                  </a:lnTo>
                  <a:lnTo>
                    <a:pt x="576348" y="852920"/>
                  </a:lnTo>
                  <a:lnTo>
                    <a:pt x="575212" y="849063"/>
                  </a:lnTo>
                  <a:lnTo>
                    <a:pt x="574077" y="844980"/>
                  </a:lnTo>
                  <a:lnTo>
                    <a:pt x="573396" y="840896"/>
                  </a:lnTo>
                  <a:lnTo>
                    <a:pt x="572942" y="836812"/>
                  </a:lnTo>
                  <a:lnTo>
                    <a:pt x="572488" y="832729"/>
                  </a:lnTo>
                  <a:lnTo>
                    <a:pt x="572488" y="828191"/>
                  </a:lnTo>
                  <a:lnTo>
                    <a:pt x="572488" y="825242"/>
                  </a:lnTo>
                  <a:lnTo>
                    <a:pt x="572715" y="822066"/>
                  </a:lnTo>
                  <a:lnTo>
                    <a:pt x="573623" y="815940"/>
                  </a:lnTo>
                  <a:lnTo>
                    <a:pt x="574986" y="810042"/>
                  </a:lnTo>
                  <a:lnTo>
                    <a:pt x="576575" y="804370"/>
                  </a:lnTo>
                  <a:lnTo>
                    <a:pt x="454445" y="733134"/>
                  </a:lnTo>
                  <a:lnTo>
                    <a:pt x="449904" y="736083"/>
                  </a:lnTo>
                  <a:lnTo>
                    <a:pt x="444910" y="738352"/>
                  </a:lnTo>
                  <a:lnTo>
                    <a:pt x="439689" y="740166"/>
                  </a:lnTo>
                  <a:lnTo>
                    <a:pt x="434468" y="741981"/>
                  </a:lnTo>
                  <a:lnTo>
                    <a:pt x="429020" y="743569"/>
                  </a:lnTo>
                  <a:lnTo>
                    <a:pt x="423571" y="744477"/>
                  </a:lnTo>
                  <a:lnTo>
                    <a:pt x="417669" y="745158"/>
                  </a:lnTo>
                  <a:lnTo>
                    <a:pt x="412221" y="745384"/>
                  </a:lnTo>
                  <a:lnTo>
                    <a:pt x="408589" y="745158"/>
                  </a:lnTo>
                  <a:lnTo>
                    <a:pt x="405411" y="744931"/>
                  </a:lnTo>
                  <a:lnTo>
                    <a:pt x="398828" y="744023"/>
                  </a:lnTo>
                  <a:lnTo>
                    <a:pt x="305755" y="898294"/>
                  </a:lnTo>
                  <a:lnTo>
                    <a:pt x="257175" y="869255"/>
                  </a:lnTo>
                  <a:lnTo>
                    <a:pt x="349113" y="716118"/>
                  </a:lnTo>
                  <a:lnTo>
                    <a:pt x="347070" y="713396"/>
                  </a:lnTo>
                  <a:lnTo>
                    <a:pt x="344573" y="710220"/>
                  </a:lnTo>
                  <a:lnTo>
                    <a:pt x="342757" y="707497"/>
                  </a:lnTo>
                  <a:lnTo>
                    <a:pt x="340714" y="704321"/>
                  </a:lnTo>
                  <a:lnTo>
                    <a:pt x="339125" y="701145"/>
                  </a:lnTo>
                  <a:lnTo>
                    <a:pt x="337536" y="697969"/>
                  </a:lnTo>
                  <a:lnTo>
                    <a:pt x="335720" y="694793"/>
                  </a:lnTo>
                  <a:lnTo>
                    <a:pt x="334358" y="691390"/>
                  </a:lnTo>
                  <a:lnTo>
                    <a:pt x="333223" y="687987"/>
                  </a:lnTo>
                  <a:lnTo>
                    <a:pt x="332087" y="684584"/>
                  </a:lnTo>
                  <a:lnTo>
                    <a:pt x="331179" y="680954"/>
                  </a:lnTo>
                  <a:lnTo>
                    <a:pt x="330498" y="677324"/>
                  </a:lnTo>
                  <a:lnTo>
                    <a:pt x="329590" y="673467"/>
                  </a:lnTo>
                  <a:lnTo>
                    <a:pt x="329136" y="670064"/>
                  </a:lnTo>
                  <a:lnTo>
                    <a:pt x="328909" y="665981"/>
                  </a:lnTo>
                  <a:lnTo>
                    <a:pt x="328909" y="662351"/>
                  </a:lnTo>
                  <a:lnTo>
                    <a:pt x="328909" y="658040"/>
                  </a:lnTo>
                  <a:lnTo>
                    <a:pt x="329363" y="653730"/>
                  </a:lnTo>
                  <a:lnTo>
                    <a:pt x="330044" y="649646"/>
                  </a:lnTo>
                  <a:lnTo>
                    <a:pt x="330725" y="645335"/>
                  </a:lnTo>
                  <a:lnTo>
                    <a:pt x="331633" y="641479"/>
                  </a:lnTo>
                  <a:lnTo>
                    <a:pt x="332768" y="637395"/>
                  </a:lnTo>
                  <a:lnTo>
                    <a:pt x="333904" y="633765"/>
                  </a:lnTo>
                  <a:lnTo>
                    <a:pt x="335493" y="629908"/>
                  </a:lnTo>
                  <a:lnTo>
                    <a:pt x="337082" y="626279"/>
                  </a:lnTo>
                  <a:lnTo>
                    <a:pt x="339125" y="622649"/>
                  </a:lnTo>
                  <a:lnTo>
                    <a:pt x="340941" y="619246"/>
                  </a:lnTo>
                  <a:lnTo>
                    <a:pt x="342984" y="615843"/>
                  </a:lnTo>
                  <a:lnTo>
                    <a:pt x="345481" y="612666"/>
                  </a:lnTo>
                  <a:lnTo>
                    <a:pt x="347978" y="609263"/>
                  </a:lnTo>
                  <a:lnTo>
                    <a:pt x="350475" y="606314"/>
                  </a:lnTo>
                  <a:lnTo>
                    <a:pt x="353426" y="603592"/>
                  </a:lnTo>
                  <a:lnTo>
                    <a:pt x="356150" y="600642"/>
                  </a:lnTo>
                  <a:lnTo>
                    <a:pt x="359101" y="598147"/>
                  </a:lnTo>
                  <a:lnTo>
                    <a:pt x="362279" y="595878"/>
                  </a:lnTo>
                  <a:lnTo>
                    <a:pt x="365458" y="593383"/>
                  </a:lnTo>
                  <a:lnTo>
                    <a:pt x="369090" y="591341"/>
                  </a:lnTo>
                  <a:lnTo>
                    <a:pt x="372495" y="589299"/>
                  </a:lnTo>
                  <a:lnTo>
                    <a:pt x="376127" y="587484"/>
                  </a:lnTo>
                  <a:lnTo>
                    <a:pt x="379759" y="585669"/>
                  </a:lnTo>
                  <a:lnTo>
                    <a:pt x="383618" y="584308"/>
                  </a:lnTo>
                  <a:lnTo>
                    <a:pt x="387250" y="582947"/>
                  </a:lnTo>
                  <a:lnTo>
                    <a:pt x="391336" y="581812"/>
                  </a:lnTo>
                  <a:lnTo>
                    <a:pt x="395196" y="580905"/>
                  </a:lnTo>
                  <a:lnTo>
                    <a:pt x="399509" y="580224"/>
                  </a:lnTo>
                  <a:lnTo>
                    <a:pt x="403368" y="579544"/>
                  </a:lnTo>
                  <a:lnTo>
                    <a:pt x="407681" y="579317"/>
                  </a:lnTo>
                  <a:lnTo>
                    <a:pt x="412221" y="579090"/>
                  </a:lnTo>
                  <a:lnTo>
                    <a:pt x="416307" y="579317"/>
                  </a:lnTo>
                  <a:lnTo>
                    <a:pt x="420620" y="579544"/>
                  </a:lnTo>
                  <a:lnTo>
                    <a:pt x="424707" y="580224"/>
                  </a:lnTo>
                  <a:lnTo>
                    <a:pt x="428793" y="580905"/>
                  </a:lnTo>
                  <a:lnTo>
                    <a:pt x="432652" y="581812"/>
                  </a:lnTo>
                  <a:lnTo>
                    <a:pt x="436738" y="582947"/>
                  </a:lnTo>
                  <a:lnTo>
                    <a:pt x="440597" y="584308"/>
                  </a:lnTo>
                  <a:lnTo>
                    <a:pt x="444456" y="585669"/>
                  </a:lnTo>
                  <a:lnTo>
                    <a:pt x="447861" y="587484"/>
                  </a:lnTo>
                  <a:lnTo>
                    <a:pt x="451720" y="589299"/>
                  </a:lnTo>
                  <a:lnTo>
                    <a:pt x="454899" y="591341"/>
                  </a:lnTo>
                  <a:lnTo>
                    <a:pt x="458531" y="593383"/>
                  </a:lnTo>
                  <a:lnTo>
                    <a:pt x="461709" y="595878"/>
                  </a:lnTo>
                  <a:lnTo>
                    <a:pt x="464887" y="598147"/>
                  </a:lnTo>
                  <a:lnTo>
                    <a:pt x="467838" y="600642"/>
                  </a:lnTo>
                  <a:lnTo>
                    <a:pt x="470562" y="603592"/>
                  </a:lnTo>
                  <a:lnTo>
                    <a:pt x="473513" y="606314"/>
                  </a:lnTo>
                  <a:lnTo>
                    <a:pt x="476010" y="609263"/>
                  </a:lnTo>
                  <a:lnTo>
                    <a:pt x="478734" y="612666"/>
                  </a:lnTo>
                  <a:lnTo>
                    <a:pt x="481004" y="615843"/>
                  </a:lnTo>
                  <a:lnTo>
                    <a:pt x="483047" y="619246"/>
                  </a:lnTo>
                  <a:lnTo>
                    <a:pt x="484864" y="622649"/>
                  </a:lnTo>
                  <a:lnTo>
                    <a:pt x="486907" y="626279"/>
                  </a:lnTo>
                  <a:lnTo>
                    <a:pt x="488496" y="629908"/>
                  </a:lnTo>
                  <a:lnTo>
                    <a:pt x="490085" y="633765"/>
                  </a:lnTo>
                  <a:lnTo>
                    <a:pt x="491220" y="637395"/>
                  </a:lnTo>
                  <a:lnTo>
                    <a:pt x="492355" y="641479"/>
                  </a:lnTo>
                  <a:lnTo>
                    <a:pt x="493490" y="645335"/>
                  </a:lnTo>
                  <a:lnTo>
                    <a:pt x="494171" y="649646"/>
                  </a:lnTo>
                  <a:lnTo>
                    <a:pt x="494625" y="653730"/>
                  </a:lnTo>
                  <a:lnTo>
                    <a:pt x="495079" y="658040"/>
                  </a:lnTo>
                  <a:lnTo>
                    <a:pt x="495079" y="662351"/>
                  </a:lnTo>
                  <a:lnTo>
                    <a:pt x="495079" y="665527"/>
                  </a:lnTo>
                  <a:lnTo>
                    <a:pt x="494852" y="669157"/>
                  </a:lnTo>
                  <a:lnTo>
                    <a:pt x="494398" y="672333"/>
                  </a:lnTo>
                  <a:lnTo>
                    <a:pt x="493944" y="675509"/>
                  </a:lnTo>
                  <a:lnTo>
                    <a:pt x="492355" y="682088"/>
                  </a:lnTo>
                  <a:lnTo>
                    <a:pt x="490539" y="688214"/>
                  </a:lnTo>
                  <a:lnTo>
                    <a:pt x="610853" y="758543"/>
                  </a:lnTo>
                  <a:lnTo>
                    <a:pt x="616528" y="755140"/>
                  </a:lnTo>
                  <a:lnTo>
                    <a:pt x="622430" y="752417"/>
                  </a:lnTo>
                  <a:lnTo>
                    <a:pt x="628559" y="749922"/>
                  </a:lnTo>
                  <a:lnTo>
                    <a:pt x="634915" y="748107"/>
                  </a:lnTo>
                  <a:lnTo>
                    <a:pt x="690305" y="547101"/>
                  </a:lnTo>
                  <a:lnTo>
                    <a:pt x="686673" y="544152"/>
                  </a:lnTo>
                  <a:lnTo>
                    <a:pt x="682814" y="540976"/>
                  </a:lnTo>
                  <a:lnTo>
                    <a:pt x="679409" y="537800"/>
                  </a:lnTo>
                  <a:lnTo>
                    <a:pt x="676004" y="533943"/>
                  </a:lnTo>
                  <a:lnTo>
                    <a:pt x="673053" y="530540"/>
                  </a:lnTo>
                  <a:lnTo>
                    <a:pt x="670102" y="526456"/>
                  </a:lnTo>
                  <a:lnTo>
                    <a:pt x="667605" y="522373"/>
                  </a:lnTo>
                  <a:lnTo>
                    <a:pt x="665107" y="518062"/>
                  </a:lnTo>
                  <a:lnTo>
                    <a:pt x="662837" y="513979"/>
                  </a:lnTo>
                  <a:lnTo>
                    <a:pt x="661021" y="509214"/>
                  </a:lnTo>
                  <a:lnTo>
                    <a:pt x="659432" y="504450"/>
                  </a:lnTo>
                  <a:lnTo>
                    <a:pt x="658070" y="499913"/>
                  </a:lnTo>
                  <a:lnTo>
                    <a:pt x="657162" y="494922"/>
                  </a:lnTo>
                  <a:lnTo>
                    <a:pt x="656027" y="489931"/>
                  </a:lnTo>
                  <a:lnTo>
                    <a:pt x="655573" y="484940"/>
                  </a:lnTo>
                  <a:lnTo>
                    <a:pt x="655573" y="479722"/>
                  </a:lnTo>
                  <a:lnTo>
                    <a:pt x="655573" y="475411"/>
                  </a:lnTo>
                  <a:lnTo>
                    <a:pt x="655800" y="471327"/>
                  </a:lnTo>
                  <a:lnTo>
                    <a:pt x="656708" y="467017"/>
                  </a:lnTo>
                  <a:lnTo>
                    <a:pt x="657389" y="463160"/>
                  </a:lnTo>
                  <a:lnTo>
                    <a:pt x="658297" y="458850"/>
                  </a:lnTo>
                  <a:lnTo>
                    <a:pt x="659432" y="455220"/>
                  </a:lnTo>
                  <a:lnTo>
                    <a:pt x="660567" y="451136"/>
                  </a:lnTo>
                  <a:lnTo>
                    <a:pt x="661929" y="447506"/>
                  </a:lnTo>
                  <a:lnTo>
                    <a:pt x="663745" y="443649"/>
                  </a:lnTo>
                  <a:lnTo>
                    <a:pt x="665561" y="440246"/>
                  </a:lnTo>
                  <a:lnTo>
                    <a:pt x="667605" y="436617"/>
                  </a:lnTo>
                  <a:lnTo>
                    <a:pt x="669648" y="433440"/>
                  </a:lnTo>
                  <a:lnTo>
                    <a:pt x="672145" y="430037"/>
                  </a:lnTo>
                  <a:lnTo>
                    <a:pt x="674642" y="426861"/>
                  </a:lnTo>
                  <a:lnTo>
                    <a:pt x="677139" y="423912"/>
                  </a:lnTo>
                  <a:lnTo>
                    <a:pt x="679863" y="420963"/>
                  </a:lnTo>
                  <a:lnTo>
                    <a:pt x="682814" y="418240"/>
                  </a:lnTo>
                  <a:lnTo>
                    <a:pt x="685765" y="415518"/>
                  </a:lnTo>
                  <a:lnTo>
                    <a:pt x="688943" y="413249"/>
                  </a:lnTo>
                  <a:lnTo>
                    <a:pt x="692121" y="410980"/>
                  </a:lnTo>
                  <a:lnTo>
                    <a:pt x="695526" y="408712"/>
                  </a:lnTo>
                  <a:lnTo>
                    <a:pt x="698932" y="406670"/>
                  </a:lnTo>
                  <a:lnTo>
                    <a:pt x="702791" y="404855"/>
                  </a:lnTo>
                  <a:lnTo>
                    <a:pt x="706196" y="403267"/>
                  </a:lnTo>
                  <a:lnTo>
                    <a:pt x="710055" y="401679"/>
                  </a:lnTo>
                  <a:lnTo>
                    <a:pt x="713914" y="400318"/>
                  </a:lnTo>
                  <a:lnTo>
                    <a:pt x="718000" y="399410"/>
                  </a:lnTo>
                  <a:lnTo>
                    <a:pt x="721859" y="398503"/>
                  </a:lnTo>
                  <a:lnTo>
                    <a:pt x="725945" y="397595"/>
                  </a:lnTo>
                  <a:lnTo>
                    <a:pt x="730032" y="397141"/>
                  </a:lnTo>
                  <a:lnTo>
                    <a:pt x="734345" y="396915"/>
                  </a:lnTo>
                  <a:lnTo>
                    <a:pt x="738658" y="396688"/>
                  </a:lnTo>
                  <a:lnTo>
                    <a:pt x="744106" y="396915"/>
                  </a:lnTo>
                  <a:lnTo>
                    <a:pt x="749554" y="397595"/>
                  </a:lnTo>
                  <a:lnTo>
                    <a:pt x="754775" y="398276"/>
                  </a:lnTo>
                  <a:lnTo>
                    <a:pt x="759770" y="399637"/>
                  </a:lnTo>
                  <a:lnTo>
                    <a:pt x="764764" y="400998"/>
                  </a:lnTo>
                  <a:lnTo>
                    <a:pt x="769758" y="403040"/>
                  </a:lnTo>
                  <a:lnTo>
                    <a:pt x="774298" y="405082"/>
                  </a:lnTo>
                  <a:lnTo>
                    <a:pt x="778838" y="407577"/>
                  </a:lnTo>
                  <a:lnTo>
                    <a:pt x="916859" y="288925"/>
                  </a:lnTo>
                  <a:close/>
                  <a:moveTo>
                    <a:pt x="607752" y="120128"/>
                  </a:moveTo>
                  <a:lnTo>
                    <a:pt x="595738" y="120581"/>
                  </a:lnTo>
                  <a:lnTo>
                    <a:pt x="583950" y="121488"/>
                  </a:lnTo>
                  <a:lnTo>
                    <a:pt x="571936" y="122621"/>
                  </a:lnTo>
                  <a:lnTo>
                    <a:pt x="559921" y="123755"/>
                  </a:lnTo>
                  <a:lnTo>
                    <a:pt x="548133" y="125341"/>
                  </a:lnTo>
                  <a:lnTo>
                    <a:pt x="536119" y="127154"/>
                  </a:lnTo>
                  <a:lnTo>
                    <a:pt x="524331" y="129421"/>
                  </a:lnTo>
                  <a:lnTo>
                    <a:pt x="512543" y="131688"/>
                  </a:lnTo>
                  <a:lnTo>
                    <a:pt x="500755" y="134407"/>
                  </a:lnTo>
                  <a:lnTo>
                    <a:pt x="489194" y="137581"/>
                  </a:lnTo>
                  <a:lnTo>
                    <a:pt x="477406" y="140754"/>
                  </a:lnTo>
                  <a:lnTo>
                    <a:pt x="466072" y="144380"/>
                  </a:lnTo>
                  <a:lnTo>
                    <a:pt x="454511" y="148234"/>
                  </a:lnTo>
                  <a:lnTo>
                    <a:pt x="443176" y="152313"/>
                  </a:lnTo>
                  <a:lnTo>
                    <a:pt x="431615" y="156620"/>
                  </a:lnTo>
                  <a:lnTo>
                    <a:pt x="420508" y="161380"/>
                  </a:lnTo>
                  <a:lnTo>
                    <a:pt x="409400" y="166593"/>
                  </a:lnTo>
                  <a:lnTo>
                    <a:pt x="398519" y="171579"/>
                  </a:lnTo>
                  <a:lnTo>
                    <a:pt x="387411" y="177246"/>
                  </a:lnTo>
                  <a:lnTo>
                    <a:pt x="376530" y="183139"/>
                  </a:lnTo>
                  <a:lnTo>
                    <a:pt x="365876" y="189485"/>
                  </a:lnTo>
                  <a:lnTo>
                    <a:pt x="355221" y="195831"/>
                  </a:lnTo>
                  <a:lnTo>
                    <a:pt x="344794" y="202631"/>
                  </a:lnTo>
                  <a:lnTo>
                    <a:pt x="334593" y="209431"/>
                  </a:lnTo>
                  <a:lnTo>
                    <a:pt x="324392" y="216684"/>
                  </a:lnTo>
                  <a:lnTo>
                    <a:pt x="314191" y="224163"/>
                  </a:lnTo>
                  <a:lnTo>
                    <a:pt x="304443" y="232323"/>
                  </a:lnTo>
                  <a:lnTo>
                    <a:pt x="294695" y="240483"/>
                  </a:lnTo>
                  <a:lnTo>
                    <a:pt x="284948" y="248869"/>
                  </a:lnTo>
                  <a:lnTo>
                    <a:pt x="275654" y="257482"/>
                  </a:lnTo>
                  <a:lnTo>
                    <a:pt x="266359" y="266548"/>
                  </a:lnTo>
                  <a:lnTo>
                    <a:pt x="257518" y="275614"/>
                  </a:lnTo>
                  <a:lnTo>
                    <a:pt x="248678" y="285134"/>
                  </a:lnTo>
                  <a:lnTo>
                    <a:pt x="240290" y="294654"/>
                  </a:lnTo>
                  <a:lnTo>
                    <a:pt x="232129" y="304400"/>
                  </a:lnTo>
                  <a:lnTo>
                    <a:pt x="224195" y="314373"/>
                  </a:lnTo>
                  <a:lnTo>
                    <a:pt x="216714" y="324346"/>
                  </a:lnTo>
                  <a:lnTo>
                    <a:pt x="209460" y="334545"/>
                  </a:lnTo>
                  <a:lnTo>
                    <a:pt x="202433" y="344971"/>
                  </a:lnTo>
                  <a:lnTo>
                    <a:pt x="195632" y="355397"/>
                  </a:lnTo>
                  <a:lnTo>
                    <a:pt x="189058" y="366050"/>
                  </a:lnTo>
                  <a:lnTo>
                    <a:pt x="183164" y="376703"/>
                  </a:lnTo>
                  <a:lnTo>
                    <a:pt x="177271" y="387583"/>
                  </a:lnTo>
                  <a:lnTo>
                    <a:pt x="171603" y="398462"/>
                  </a:lnTo>
                  <a:lnTo>
                    <a:pt x="166390" y="409342"/>
                  </a:lnTo>
                  <a:lnTo>
                    <a:pt x="161402" y="420448"/>
                  </a:lnTo>
                  <a:lnTo>
                    <a:pt x="156642" y="431554"/>
                  </a:lnTo>
                  <a:lnTo>
                    <a:pt x="152108" y="443114"/>
                  </a:lnTo>
                  <a:lnTo>
                    <a:pt x="148028" y="454673"/>
                  </a:lnTo>
                  <a:lnTo>
                    <a:pt x="144174" y="466006"/>
                  </a:lnTo>
                  <a:lnTo>
                    <a:pt x="140774" y="477565"/>
                  </a:lnTo>
                  <a:lnTo>
                    <a:pt x="137373" y="489125"/>
                  </a:lnTo>
                  <a:lnTo>
                    <a:pt x="134426" y="500911"/>
                  </a:lnTo>
                  <a:lnTo>
                    <a:pt x="131706" y="512470"/>
                  </a:lnTo>
                  <a:lnTo>
                    <a:pt x="129213" y="524256"/>
                  </a:lnTo>
                  <a:lnTo>
                    <a:pt x="127172" y="536269"/>
                  </a:lnTo>
                  <a:lnTo>
                    <a:pt x="125359" y="548055"/>
                  </a:lnTo>
                  <a:lnTo>
                    <a:pt x="123772" y="560068"/>
                  </a:lnTo>
                  <a:lnTo>
                    <a:pt x="122185" y="571854"/>
                  </a:lnTo>
                  <a:lnTo>
                    <a:pt x="121278" y="583867"/>
                  </a:lnTo>
                  <a:lnTo>
                    <a:pt x="120598" y="595880"/>
                  </a:lnTo>
                  <a:lnTo>
                    <a:pt x="120145" y="607666"/>
                  </a:lnTo>
                  <a:lnTo>
                    <a:pt x="120145" y="619905"/>
                  </a:lnTo>
                  <a:lnTo>
                    <a:pt x="120145" y="631918"/>
                  </a:lnTo>
                  <a:lnTo>
                    <a:pt x="120598" y="643704"/>
                  </a:lnTo>
                  <a:lnTo>
                    <a:pt x="121278" y="655717"/>
                  </a:lnTo>
                  <a:lnTo>
                    <a:pt x="122185" y="667503"/>
                  </a:lnTo>
                  <a:lnTo>
                    <a:pt x="123772" y="679516"/>
                  </a:lnTo>
                  <a:lnTo>
                    <a:pt x="125359" y="691529"/>
                  </a:lnTo>
                  <a:lnTo>
                    <a:pt x="127172" y="703315"/>
                  </a:lnTo>
                  <a:lnTo>
                    <a:pt x="129213" y="715328"/>
                  </a:lnTo>
                  <a:lnTo>
                    <a:pt x="131706" y="726887"/>
                  </a:lnTo>
                  <a:lnTo>
                    <a:pt x="134426" y="738673"/>
                  </a:lnTo>
                  <a:lnTo>
                    <a:pt x="137373" y="750460"/>
                  </a:lnTo>
                  <a:lnTo>
                    <a:pt x="140774" y="762019"/>
                  </a:lnTo>
                  <a:lnTo>
                    <a:pt x="144174" y="773579"/>
                  </a:lnTo>
                  <a:lnTo>
                    <a:pt x="148028" y="784911"/>
                  </a:lnTo>
                  <a:lnTo>
                    <a:pt x="152108" y="796471"/>
                  </a:lnTo>
                  <a:lnTo>
                    <a:pt x="156642" y="807804"/>
                  </a:lnTo>
                  <a:lnTo>
                    <a:pt x="161402" y="819136"/>
                  </a:lnTo>
                  <a:lnTo>
                    <a:pt x="166390" y="830016"/>
                  </a:lnTo>
                  <a:lnTo>
                    <a:pt x="171603" y="841122"/>
                  </a:lnTo>
                  <a:lnTo>
                    <a:pt x="177271" y="852002"/>
                  </a:lnTo>
                  <a:lnTo>
                    <a:pt x="183164" y="862881"/>
                  </a:lnTo>
                  <a:lnTo>
                    <a:pt x="189058" y="873534"/>
                  </a:lnTo>
                  <a:lnTo>
                    <a:pt x="195632" y="884187"/>
                  </a:lnTo>
                  <a:lnTo>
                    <a:pt x="202433" y="894613"/>
                  </a:lnTo>
                  <a:lnTo>
                    <a:pt x="209460" y="904813"/>
                  </a:lnTo>
                  <a:lnTo>
                    <a:pt x="216714" y="915239"/>
                  </a:lnTo>
                  <a:lnTo>
                    <a:pt x="224195" y="925212"/>
                  </a:lnTo>
                  <a:lnTo>
                    <a:pt x="232129" y="934958"/>
                  </a:lnTo>
                  <a:lnTo>
                    <a:pt x="240290" y="944931"/>
                  </a:lnTo>
                  <a:lnTo>
                    <a:pt x="248678" y="954450"/>
                  </a:lnTo>
                  <a:lnTo>
                    <a:pt x="257518" y="963743"/>
                  </a:lnTo>
                  <a:lnTo>
                    <a:pt x="266359" y="973036"/>
                  </a:lnTo>
                  <a:lnTo>
                    <a:pt x="275654" y="982102"/>
                  </a:lnTo>
                  <a:lnTo>
                    <a:pt x="284948" y="990715"/>
                  </a:lnTo>
                  <a:lnTo>
                    <a:pt x="294695" y="999102"/>
                  </a:lnTo>
                  <a:lnTo>
                    <a:pt x="304443" y="1007261"/>
                  </a:lnTo>
                  <a:lnTo>
                    <a:pt x="314191" y="1015194"/>
                  </a:lnTo>
                  <a:lnTo>
                    <a:pt x="324392" y="1022674"/>
                  </a:lnTo>
                  <a:lnTo>
                    <a:pt x="334593" y="1029927"/>
                  </a:lnTo>
                  <a:lnTo>
                    <a:pt x="344794" y="1036953"/>
                  </a:lnTo>
                  <a:lnTo>
                    <a:pt x="355221" y="1043753"/>
                  </a:lnTo>
                  <a:lnTo>
                    <a:pt x="365876" y="1050099"/>
                  </a:lnTo>
                  <a:lnTo>
                    <a:pt x="376530" y="1056446"/>
                  </a:lnTo>
                  <a:lnTo>
                    <a:pt x="387411" y="1062339"/>
                  </a:lnTo>
                  <a:lnTo>
                    <a:pt x="398292" y="1067779"/>
                  </a:lnTo>
                  <a:lnTo>
                    <a:pt x="409400" y="1072992"/>
                  </a:lnTo>
                  <a:lnTo>
                    <a:pt x="420508" y="1078205"/>
                  </a:lnTo>
                  <a:lnTo>
                    <a:pt x="431615" y="1082738"/>
                  </a:lnTo>
                  <a:lnTo>
                    <a:pt x="443176" y="1087271"/>
                  </a:lnTo>
                  <a:lnTo>
                    <a:pt x="454511" y="1091351"/>
                  </a:lnTo>
                  <a:lnTo>
                    <a:pt x="466072" y="1095204"/>
                  </a:lnTo>
                  <a:lnTo>
                    <a:pt x="477406" y="1098830"/>
                  </a:lnTo>
                  <a:lnTo>
                    <a:pt x="489194" y="1102004"/>
                  </a:lnTo>
                  <a:lnTo>
                    <a:pt x="500755" y="1104950"/>
                  </a:lnTo>
                  <a:lnTo>
                    <a:pt x="512543" y="1107897"/>
                  </a:lnTo>
                  <a:lnTo>
                    <a:pt x="524331" y="1110163"/>
                  </a:lnTo>
                  <a:lnTo>
                    <a:pt x="536119" y="1112203"/>
                  </a:lnTo>
                  <a:lnTo>
                    <a:pt x="548133" y="1114243"/>
                  </a:lnTo>
                  <a:lnTo>
                    <a:pt x="559921" y="1115830"/>
                  </a:lnTo>
                  <a:lnTo>
                    <a:pt x="571936" y="1116963"/>
                  </a:lnTo>
                  <a:lnTo>
                    <a:pt x="583950" y="1118096"/>
                  </a:lnTo>
                  <a:lnTo>
                    <a:pt x="595738" y="1118776"/>
                  </a:lnTo>
                  <a:lnTo>
                    <a:pt x="607752" y="1119230"/>
                  </a:lnTo>
                  <a:lnTo>
                    <a:pt x="619540" y="1119230"/>
                  </a:lnTo>
                  <a:lnTo>
                    <a:pt x="631782" y="1119230"/>
                  </a:lnTo>
                  <a:lnTo>
                    <a:pt x="643796" y="1118776"/>
                  </a:lnTo>
                  <a:lnTo>
                    <a:pt x="655584" y="1118096"/>
                  </a:lnTo>
                  <a:lnTo>
                    <a:pt x="667598" y="1116963"/>
                  </a:lnTo>
                  <a:lnTo>
                    <a:pt x="679613" y="1115830"/>
                  </a:lnTo>
                  <a:lnTo>
                    <a:pt x="691401" y="1114243"/>
                  </a:lnTo>
                  <a:lnTo>
                    <a:pt x="703415" y="1112203"/>
                  </a:lnTo>
                  <a:lnTo>
                    <a:pt x="715203" y="1110163"/>
                  </a:lnTo>
                  <a:lnTo>
                    <a:pt x="726991" y="1107897"/>
                  </a:lnTo>
                  <a:lnTo>
                    <a:pt x="738779" y="1104950"/>
                  </a:lnTo>
                  <a:lnTo>
                    <a:pt x="750340" y="1102004"/>
                  </a:lnTo>
                  <a:lnTo>
                    <a:pt x="762128" y="1098830"/>
                  </a:lnTo>
                  <a:lnTo>
                    <a:pt x="773462" y="1095204"/>
                  </a:lnTo>
                  <a:lnTo>
                    <a:pt x="785023" y="1091351"/>
                  </a:lnTo>
                  <a:lnTo>
                    <a:pt x="796358" y="1087271"/>
                  </a:lnTo>
                  <a:lnTo>
                    <a:pt x="807692" y="1082738"/>
                  </a:lnTo>
                  <a:lnTo>
                    <a:pt x="819026" y="1078205"/>
                  </a:lnTo>
                  <a:lnTo>
                    <a:pt x="830134" y="1072992"/>
                  </a:lnTo>
                  <a:lnTo>
                    <a:pt x="841015" y="1067779"/>
                  </a:lnTo>
                  <a:lnTo>
                    <a:pt x="852123" y="1062339"/>
                  </a:lnTo>
                  <a:lnTo>
                    <a:pt x="862777" y="1056446"/>
                  </a:lnTo>
                  <a:lnTo>
                    <a:pt x="873658" y="1050099"/>
                  </a:lnTo>
                  <a:lnTo>
                    <a:pt x="884086" y="1043753"/>
                  </a:lnTo>
                  <a:lnTo>
                    <a:pt x="894740" y="1036953"/>
                  </a:lnTo>
                  <a:lnTo>
                    <a:pt x="904941" y="1029927"/>
                  </a:lnTo>
                  <a:lnTo>
                    <a:pt x="915142" y="1022674"/>
                  </a:lnTo>
                  <a:lnTo>
                    <a:pt x="925343" y="1015194"/>
                  </a:lnTo>
                  <a:lnTo>
                    <a:pt x="935091" y="1007261"/>
                  </a:lnTo>
                  <a:lnTo>
                    <a:pt x="944839" y="999102"/>
                  </a:lnTo>
                  <a:lnTo>
                    <a:pt x="954586" y="990715"/>
                  </a:lnTo>
                  <a:lnTo>
                    <a:pt x="963880" y="982102"/>
                  </a:lnTo>
                  <a:lnTo>
                    <a:pt x="972948" y="973036"/>
                  </a:lnTo>
                  <a:lnTo>
                    <a:pt x="982016" y="963743"/>
                  </a:lnTo>
                  <a:lnTo>
                    <a:pt x="990856" y="954450"/>
                  </a:lnTo>
                  <a:lnTo>
                    <a:pt x="999244" y="944931"/>
                  </a:lnTo>
                  <a:lnTo>
                    <a:pt x="1007405" y="934958"/>
                  </a:lnTo>
                  <a:lnTo>
                    <a:pt x="1015339" y="925212"/>
                  </a:lnTo>
                  <a:lnTo>
                    <a:pt x="1022820" y="915239"/>
                  </a:lnTo>
                  <a:lnTo>
                    <a:pt x="1030074" y="904813"/>
                  </a:lnTo>
                  <a:lnTo>
                    <a:pt x="1037101" y="894613"/>
                  </a:lnTo>
                  <a:lnTo>
                    <a:pt x="1043902" y="884187"/>
                  </a:lnTo>
                  <a:lnTo>
                    <a:pt x="1050249" y="873534"/>
                  </a:lnTo>
                  <a:lnTo>
                    <a:pt x="1056370" y="862881"/>
                  </a:lnTo>
                  <a:lnTo>
                    <a:pt x="1062263" y="852002"/>
                  </a:lnTo>
                  <a:lnTo>
                    <a:pt x="1067931" y="841122"/>
                  </a:lnTo>
                  <a:lnTo>
                    <a:pt x="1073144" y="830016"/>
                  </a:lnTo>
                  <a:lnTo>
                    <a:pt x="1078132" y="819136"/>
                  </a:lnTo>
                  <a:lnTo>
                    <a:pt x="1082892" y="807804"/>
                  </a:lnTo>
                  <a:lnTo>
                    <a:pt x="1087426" y="796471"/>
                  </a:lnTo>
                  <a:lnTo>
                    <a:pt x="1091280" y="784911"/>
                  </a:lnTo>
                  <a:lnTo>
                    <a:pt x="1095360" y="773579"/>
                  </a:lnTo>
                  <a:lnTo>
                    <a:pt x="1098760" y="762019"/>
                  </a:lnTo>
                  <a:lnTo>
                    <a:pt x="1102161" y="750460"/>
                  </a:lnTo>
                  <a:lnTo>
                    <a:pt x="1105108" y="738673"/>
                  </a:lnTo>
                  <a:lnTo>
                    <a:pt x="1107828" y="726887"/>
                  </a:lnTo>
                  <a:lnTo>
                    <a:pt x="1110321" y="715328"/>
                  </a:lnTo>
                  <a:lnTo>
                    <a:pt x="1112362" y="703315"/>
                  </a:lnTo>
                  <a:lnTo>
                    <a:pt x="1114175" y="691529"/>
                  </a:lnTo>
                  <a:lnTo>
                    <a:pt x="1115762" y="679516"/>
                  </a:lnTo>
                  <a:lnTo>
                    <a:pt x="1117122" y="667503"/>
                  </a:lnTo>
                  <a:lnTo>
                    <a:pt x="1118256" y="655717"/>
                  </a:lnTo>
                  <a:lnTo>
                    <a:pt x="1118936" y="643704"/>
                  </a:lnTo>
                  <a:lnTo>
                    <a:pt x="1119389" y="631918"/>
                  </a:lnTo>
                  <a:lnTo>
                    <a:pt x="1119389" y="619905"/>
                  </a:lnTo>
                  <a:lnTo>
                    <a:pt x="1119389" y="607666"/>
                  </a:lnTo>
                  <a:lnTo>
                    <a:pt x="1118936" y="595880"/>
                  </a:lnTo>
                  <a:lnTo>
                    <a:pt x="1118256" y="583867"/>
                  </a:lnTo>
                  <a:lnTo>
                    <a:pt x="1117122" y="571854"/>
                  </a:lnTo>
                  <a:lnTo>
                    <a:pt x="1115762" y="560068"/>
                  </a:lnTo>
                  <a:lnTo>
                    <a:pt x="1114175" y="548055"/>
                  </a:lnTo>
                  <a:lnTo>
                    <a:pt x="1112362" y="536269"/>
                  </a:lnTo>
                  <a:lnTo>
                    <a:pt x="1110321" y="524256"/>
                  </a:lnTo>
                  <a:lnTo>
                    <a:pt x="1107828" y="512470"/>
                  </a:lnTo>
                  <a:lnTo>
                    <a:pt x="1105108" y="500911"/>
                  </a:lnTo>
                  <a:lnTo>
                    <a:pt x="1102161" y="489125"/>
                  </a:lnTo>
                  <a:lnTo>
                    <a:pt x="1098760" y="477565"/>
                  </a:lnTo>
                  <a:lnTo>
                    <a:pt x="1095360" y="466006"/>
                  </a:lnTo>
                  <a:lnTo>
                    <a:pt x="1091280" y="454673"/>
                  </a:lnTo>
                  <a:lnTo>
                    <a:pt x="1087426" y="443114"/>
                  </a:lnTo>
                  <a:lnTo>
                    <a:pt x="1082892" y="431554"/>
                  </a:lnTo>
                  <a:lnTo>
                    <a:pt x="1078132" y="420448"/>
                  </a:lnTo>
                  <a:lnTo>
                    <a:pt x="1073144" y="409342"/>
                  </a:lnTo>
                  <a:lnTo>
                    <a:pt x="1067931" y="398462"/>
                  </a:lnTo>
                  <a:lnTo>
                    <a:pt x="1062263" y="387583"/>
                  </a:lnTo>
                  <a:lnTo>
                    <a:pt x="1056370" y="376703"/>
                  </a:lnTo>
                  <a:lnTo>
                    <a:pt x="1050249" y="366050"/>
                  </a:lnTo>
                  <a:lnTo>
                    <a:pt x="1043902" y="355397"/>
                  </a:lnTo>
                  <a:lnTo>
                    <a:pt x="1037101" y="344971"/>
                  </a:lnTo>
                  <a:lnTo>
                    <a:pt x="1030074" y="334545"/>
                  </a:lnTo>
                  <a:lnTo>
                    <a:pt x="1022820" y="324346"/>
                  </a:lnTo>
                  <a:lnTo>
                    <a:pt x="1015339" y="314373"/>
                  </a:lnTo>
                  <a:lnTo>
                    <a:pt x="1007405" y="304400"/>
                  </a:lnTo>
                  <a:lnTo>
                    <a:pt x="999244" y="294654"/>
                  </a:lnTo>
                  <a:lnTo>
                    <a:pt x="990856" y="285134"/>
                  </a:lnTo>
                  <a:lnTo>
                    <a:pt x="982016" y="275614"/>
                  </a:lnTo>
                  <a:lnTo>
                    <a:pt x="972948" y="266548"/>
                  </a:lnTo>
                  <a:lnTo>
                    <a:pt x="963880" y="257482"/>
                  </a:lnTo>
                  <a:lnTo>
                    <a:pt x="954586" y="248869"/>
                  </a:lnTo>
                  <a:lnTo>
                    <a:pt x="944839" y="240483"/>
                  </a:lnTo>
                  <a:lnTo>
                    <a:pt x="935091" y="232323"/>
                  </a:lnTo>
                  <a:lnTo>
                    <a:pt x="925343" y="224163"/>
                  </a:lnTo>
                  <a:lnTo>
                    <a:pt x="915142" y="216684"/>
                  </a:lnTo>
                  <a:lnTo>
                    <a:pt x="904941" y="209431"/>
                  </a:lnTo>
                  <a:lnTo>
                    <a:pt x="894740" y="202631"/>
                  </a:lnTo>
                  <a:lnTo>
                    <a:pt x="884086" y="195831"/>
                  </a:lnTo>
                  <a:lnTo>
                    <a:pt x="873658" y="189485"/>
                  </a:lnTo>
                  <a:lnTo>
                    <a:pt x="862777" y="183139"/>
                  </a:lnTo>
                  <a:lnTo>
                    <a:pt x="852123" y="177246"/>
                  </a:lnTo>
                  <a:lnTo>
                    <a:pt x="841015" y="171579"/>
                  </a:lnTo>
                  <a:lnTo>
                    <a:pt x="830134" y="166593"/>
                  </a:lnTo>
                  <a:lnTo>
                    <a:pt x="819026" y="161380"/>
                  </a:lnTo>
                  <a:lnTo>
                    <a:pt x="807692" y="156620"/>
                  </a:lnTo>
                  <a:lnTo>
                    <a:pt x="796358" y="152313"/>
                  </a:lnTo>
                  <a:lnTo>
                    <a:pt x="785023" y="148234"/>
                  </a:lnTo>
                  <a:lnTo>
                    <a:pt x="773462" y="144380"/>
                  </a:lnTo>
                  <a:lnTo>
                    <a:pt x="762128" y="140754"/>
                  </a:lnTo>
                  <a:lnTo>
                    <a:pt x="750340" y="137581"/>
                  </a:lnTo>
                  <a:lnTo>
                    <a:pt x="738779" y="134407"/>
                  </a:lnTo>
                  <a:lnTo>
                    <a:pt x="726991" y="131688"/>
                  </a:lnTo>
                  <a:lnTo>
                    <a:pt x="715203" y="129421"/>
                  </a:lnTo>
                  <a:lnTo>
                    <a:pt x="703415" y="127154"/>
                  </a:lnTo>
                  <a:lnTo>
                    <a:pt x="691401" y="125341"/>
                  </a:lnTo>
                  <a:lnTo>
                    <a:pt x="679613" y="123755"/>
                  </a:lnTo>
                  <a:lnTo>
                    <a:pt x="667598" y="122621"/>
                  </a:lnTo>
                  <a:lnTo>
                    <a:pt x="655584" y="121488"/>
                  </a:lnTo>
                  <a:lnTo>
                    <a:pt x="643796" y="120581"/>
                  </a:lnTo>
                  <a:lnTo>
                    <a:pt x="631782" y="120128"/>
                  </a:lnTo>
                  <a:lnTo>
                    <a:pt x="619540" y="120128"/>
                  </a:lnTo>
                  <a:lnTo>
                    <a:pt x="607752" y="120128"/>
                  </a:lnTo>
                  <a:close/>
                  <a:moveTo>
                    <a:pt x="619540" y="0"/>
                  </a:moveTo>
                  <a:lnTo>
                    <a:pt x="634502" y="227"/>
                  </a:lnTo>
                  <a:lnTo>
                    <a:pt x="649690" y="907"/>
                  </a:lnTo>
                  <a:lnTo>
                    <a:pt x="664198" y="1587"/>
                  </a:lnTo>
                  <a:lnTo>
                    <a:pt x="678933" y="3173"/>
                  </a:lnTo>
                  <a:lnTo>
                    <a:pt x="694121" y="4533"/>
                  </a:lnTo>
                  <a:lnTo>
                    <a:pt x="708629" y="6573"/>
                  </a:lnTo>
                  <a:lnTo>
                    <a:pt x="723364" y="8840"/>
                  </a:lnTo>
                  <a:lnTo>
                    <a:pt x="738098" y="11560"/>
                  </a:lnTo>
                  <a:lnTo>
                    <a:pt x="752607" y="14506"/>
                  </a:lnTo>
                  <a:lnTo>
                    <a:pt x="767115" y="17906"/>
                  </a:lnTo>
                  <a:lnTo>
                    <a:pt x="781623" y="21533"/>
                  </a:lnTo>
                  <a:lnTo>
                    <a:pt x="796131" y="25839"/>
                  </a:lnTo>
                  <a:lnTo>
                    <a:pt x="810412" y="30146"/>
                  </a:lnTo>
                  <a:lnTo>
                    <a:pt x="824694" y="34905"/>
                  </a:lnTo>
                  <a:lnTo>
                    <a:pt x="838975" y="40118"/>
                  </a:lnTo>
                  <a:lnTo>
                    <a:pt x="853030" y="45558"/>
                  </a:lnTo>
                  <a:lnTo>
                    <a:pt x="866858" y="51451"/>
                  </a:lnTo>
                  <a:lnTo>
                    <a:pt x="880686" y="57571"/>
                  </a:lnTo>
                  <a:lnTo>
                    <a:pt x="894514" y="64144"/>
                  </a:lnTo>
                  <a:lnTo>
                    <a:pt x="907888" y="71170"/>
                  </a:lnTo>
                  <a:lnTo>
                    <a:pt x="921263" y="78423"/>
                  </a:lnTo>
                  <a:lnTo>
                    <a:pt x="934638" y="85903"/>
                  </a:lnTo>
                  <a:lnTo>
                    <a:pt x="947786" y="93836"/>
                  </a:lnTo>
                  <a:lnTo>
                    <a:pt x="960934" y="102222"/>
                  </a:lnTo>
                  <a:lnTo>
                    <a:pt x="973401" y="110835"/>
                  </a:lnTo>
                  <a:lnTo>
                    <a:pt x="986096" y="119901"/>
                  </a:lnTo>
                  <a:lnTo>
                    <a:pt x="998791" y="129421"/>
                  </a:lnTo>
                  <a:lnTo>
                    <a:pt x="1010805" y="139167"/>
                  </a:lnTo>
                  <a:lnTo>
                    <a:pt x="1023046" y="149140"/>
                  </a:lnTo>
                  <a:lnTo>
                    <a:pt x="1034607" y="159793"/>
                  </a:lnTo>
                  <a:lnTo>
                    <a:pt x="1046395" y="170446"/>
                  </a:lnTo>
                  <a:lnTo>
                    <a:pt x="1057956" y="181779"/>
                  </a:lnTo>
                  <a:lnTo>
                    <a:pt x="1067251" y="191072"/>
                  </a:lnTo>
                  <a:lnTo>
                    <a:pt x="1076318" y="200591"/>
                  </a:lnTo>
                  <a:lnTo>
                    <a:pt x="1084932" y="210564"/>
                  </a:lnTo>
                  <a:lnTo>
                    <a:pt x="1093546" y="220310"/>
                  </a:lnTo>
                  <a:lnTo>
                    <a:pt x="1101934" y="230283"/>
                  </a:lnTo>
                  <a:lnTo>
                    <a:pt x="1110095" y="240709"/>
                  </a:lnTo>
                  <a:lnTo>
                    <a:pt x="1117802" y="250909"/>
                  </a:lnTo>
                  <a:lnTo>
                    <a:pt x="1125510" y="261108"/>
                  </a:lnTo>
                  <a:lnTo>
                    <a:pt x="1132764" y="271988"/>
                  </a:lnTo>
                  <a:lnTo>
                    <a:pt x="1139791" y="282414"/>
                  </a:lnTo>
                  <a:lnTo>
                    <a:pt x="1146592" y="293294"/>
                  </a:lnTo>
                  <a:lnTo>
                    <a:pt x="1153166" y="304173"/>
                  </a:lnTo>
                  <a:lnTo>
                    <a:pt x="1159513" y="315279"/>
                  </a:lnTo>
                  <a:lnTo>
                    <a:pt x="1165634" y="326159"/>
                  </a:lnTo>
                  <a:lnTo>
                    <a:pt x="1171527" y="337492"/>
                  </a:lnTo>
                  <a:lnTo>
                    <a:pt x="1177195" y="348598"/>
                  </a:lnTo>
                  <a:lnTo>
                    <a:pt x="1182408" y="360157"/>
                  </a:lnTo>
                  <a:lnTo>
                    <a:pt x="1187622" y="371490"/>
                  </a:lnTo>
                  <a:lnTo>
                    <a:pt x="1192610" y="383050"/>
                  </a:lnTo>
                  <a:lnTo>
                    <a:pt x="1197143" y="394609"/>
                  </a:lnTo>
                  <a:lnTo>
                    <a:pt x="1201677" y="406395"/>
                  </a:lnTo>
                  <a:lnTo>
                    <a:pt x="1205984" y="418181"/>
                  </a:lnTo>
                  <a:lnTo>
                    <a:pt x="1209611" y="429741"/>
                  </a:lnTo>
                  <a:lnTo>
                    <a:pt x="1213465" y="441754"/>
                  </a:lnTo>
                  <a:lnTo>
                    <a:pt x="1216865" y="453540"/>
                  </a:lnTo>
                  <a:lnTo>
                    <a:pt x="1219812" y="465552"/>
                  </a:lnTo>
                  <a:lnTo>
                    <a:pt x="1222986" y="477792"/>
                  </a:lnTo>
                  <a:lnTo>
                    <a:pt x="1225706" y="489578"/>
                  </a:lnTo>
                  <a:lnTo>
                    <a:pt x="1228200" y="501818"/>
                  </a:lnTo>
                  <a:lnTo>
                    <a:pt x="1230240" y="514057"/>
                  </a:lnTo>
                  <a:lnTo>
                    <a:pt x="1232280" y="526070"/>
                  </a:lnTo>
                  <a:lnTo>
                    <a:pt x="1233867" y="538536"/>
                  </a:lnTo>
                  <a:lnTo>
                    <a:pt x="1235680" y="550775"/>
                  </a:lnTo>
                  <a:lnTo>
                    <a:pt x="1236814" y="563015"/>
                  </a:lnTo>
                  <a:lnTo>
                    <a:pt x="1237720" y="575254"/>
                  </a:lnTo>
                  <a:lnTo>
                    <a:pt x="1238401" y="587720"/>
                  </a:lnTo>
                  <a:lnTo>
                    <a:pt x="1239081" y="599733"/>
                  </a:lnTo>
                  <a:lnTo>
                    <a:pt x="1239307" y="612199"/>
                  </a:lnTo>
                  <a:lnTo>
                    <a:pt x="1239307" y="624665"/>
                  </a:lnTo>
                  <a:lnTo>
                    <a:pt x="1239081" y="636678"/>
                  </a:lnTo>
                  <a:lnTo>
                    <a:pt x="1238627" y="649144"/>
                  </a:lnTo>
                  <a:lnTo>
                    <a:pt x="1237947" y="661610"/>
                  </a:lnTo>
                  <a:lnTo>
                    <a:pt x="1237040" y="673623"/>
                  </a:lnTo>
                  <a:lnTo>
                    <a:pt x="1235907" y="686089"/>
                  </a:lnTo>
                  <a:lnTo>
                    <a:pt x="1234320" y="698102"/>
                  </a:lnTo>
                  <a:lnTo>
                    <a:pt x="1232507" y="710341"/>
                  </a:lnTo>
                  <a:lnTo>
                    <a:pt x="1230693" y="722807"/>
                  </a:lnTo>
                  <a:lnTo>
                    <a:pt x="1228653" y="734820"/>
                  </a:lnTo>
                  <a:lnTo>
                    <a:pt x="1226159" y="746833"/>
                  </a:lnTo>
                  <a:lnTo>
                    <a:pt x="1223439" y="759073"/>
                  </a:lnTo>
                  <a:lnTo>
                    <a:pt x="1220719" y="771085"/>
                  </a:lnTo>
                  <a:lnTo>
                    <a:pt x="1217545" y="783098"/>
                  </a:lnTo>
                  <a:lnTo>
                    <a:pt x="1214145" y="795111"/>
                  </a:lnTo>
                  <a:lnTo>
                    <a:pt x="1210518" y="806897"/>
                  </a:lnTo>
                  <a:lnTo>
                    <a:pt x="1206664" y="818683"/>
                  </a:lnTo>
                  <a:lnTo>
                    <a:pt x="1202357" y="830469"/>
                  </a:lnTo>
                  <a:lnTo>
                    <a:pt x="1198277" y="842255"/>
                  </a:lnTo>
                  <a:lnTo>
                    <a:pt x="1193516" y="853588"/>
                  </a:lnTo>
                  <a:lnTo>
                    <a:pt x="1188529" y="865374"/>
                  </a:lnTo>
                  <a:lnTo>
                    <a:pt x="1183769" y="876934"/>
                  </a:lnTo>
                  <a:lnTo>
                    <a:pt x="1178328" y="888267"/>
                  </a:lnTo>
                  <a:lnTo>
                    <a:pt x="1172661" y="899599"/>
                  </a:lnTo>
                  <a:lnTo>
                    <a:pt x="1166767" y="910706"/>
                  </a:lnTo>
                  <a:lnTo>
                    <a:pt x="1160646" y="921812"/>
                  </a:lnTo>
                  <a:lnTo>
                    <a:pt x="1534229" y="1295115"/>
                  </a:lnTo>
                  <a:lnTo>
                    <a:pt x="1540350" y="1301461"/>
                  </a:lnTo>
                  <a:lnTo>
                    <a:pt x="1545790" y="1308034"/>
                  </a:lnTo>
                  <a:lnTo>
                    <a:pt x="1551231" y="1314607"/>
                  </a:lnTo>
                  <a:lnTo>
                    <a:pt x="1556445" y="1321407"/>
                  </a:lnTo>
                  <a:lnTo>
                    <a:pt x="1560752" y="1328433"/>
                  </a:lnTo>
                  <a:lnTo>
                    <a:pt x="1565286" y="1335460"/>
                  </a:lnTo>
                  <a:lnTo>
                    <a:pt x="1569366" y="1342713"/>
                  </a:lnTo>
                  <a:lnTo>
                    <a:pt x="1572766" y="1349966"/>
                  </a:lnTo>
                  <a:lnTo>
                    <a:pt x="1576167" y="1357219"/>
                  </a:lnTo>
                  <a:lnTo>
                    <a:pt x="1578887" y="1364698"/>
                  </a:lnTo>
                  <a:lnTo>
                    <a:pt x="1581381" y="1372178"/>
                  </a:lnTo>
                  <a:lnTo>
                    <a:pt x="1583648" y="1379658"/>
                  </a:lnTo>
                  <a:lnTo>
                    <a:pt x="1585461" y="1387137"/>
                  </a:lnTo>
                  <a:lnTo>
                    <a:pt x="1586821" y="1394617"/>
                  </a:lnTo>
                  <a:lnTo>
                    <a:pt x="1587955" y="1402323"/>
                  </a:lnTo>
                  <a:lnTo>
                    <a:pt x="1588635" y="1409803"/>
                  </a:lnTo>
                  <a:lnTo>
                    <a:pt x="1589088" y="1417283"/>
                  </a:lnTo>
                  <a:lnTo>
                    <a:pt x="1589088" y="1424762"/>
                  </a:lnTo>
                  <a:lnTo>
                    <a:pt x="1588861" y="1432242"/>
                  </a:lnTo>
                  <a:lnTo>
                    <a:pt x="1588181" y="1439495"/>
                  </a:lnTo>
                  <a:lnTo>
                    <a:pt x="1587274" y="1446748"/>
                  </a:lnTo>
                  <a:lnTo>
                    <a:pt x="1585914" y="1454001"/>
                  </a:lnTo>
                  <a:lnTo>
                    <a:pt x="1584101" y="1461027"/>
                  </a:lnTo>
                  <a:lnTo>
                    <a:pt x="1581834" y="1467827"/>
                  </a:lnTo>
                  <a:lnTo>
                    <a:pt x="1579340" y="1474627"/>
                  </a:lnTo>
                  <a:lnTo>
                    <a:pt x="1576620" y="1481200"/>
                  </a:lnTo>
                  <a:lnTo>
                    <a:pt x="1573220" y="1487773"/>
                  </a:lnTo>
                  <a:lnTo>
                    <a:pt x="1569593" y="1494119"/>
                  </a:lnTo>
                  <a:lnTo>
                    <a:pt x="1565512" y="1500239"/>
                  </a:lnTo>
                  <a:lnTo>
                    <a:pt x="1561432" y="1506132"/>
                  </a:lnTo>
                  <a:lnTo>
                    <a:pt x="1556445" y="1511572"/>
                  </a:lnTo>
                  <a:lnTo>
                    <a:pt x="1551231" y="1517011"/>
                  </a:lnTo>
                  <a:lnTo>
                    <a:pt x="1517228" y="1551237"/>
                  </a:lnTo>
                  <a:lnTo>
                    <a:pt x="1511787" y="1556223"/>
                  </a:lnTo>
                  <a:lnTo>
                    <a:pt x="1506120" y="1561209"/>
                  </a:lnTo>
                  <a:lnTo>
                    <a:pt x="1500226" y="1565516"/>
                  </a:lnTo>
                  <a:lnTo>
                    <a:pt x="1494106" y="1569369"/>
                  </a:lnTo>
                  <a:lnTo>
                    <a:pt x="1487985" y="1573222"/>
                  </a:lnTo>
                  <a:lnTo>
                    <a:pt x="1481411" y="1576395"/>
                  </a:lnTo>
                  <a:lnTo>
                    <a:pt x="1474837" y="1579342"/>
                  </a:lnTo>
                  <a:lnTo>
                    <a:pt x="1468036" y="1581835"/>
                  </a:lnTo>
                  <a:lnTo>
                    <a:pt x="1461009" y="1583875"/>
                  </a:lnTo>
                  <a:lnTo>
                    <a:pt x="1453982" y="1585688"/>
                  </a:lnTo>
                  <a:lnTo>
                    <a:pt x="1446728" y="1587275"/>
                  </a:lnTo>
                  <a:lnTo>
                    <a:pt x="1439474" y="1588182"/>
                  </a:lnTo>
                  <a:lnTo>
                    <a:pt x="1432219" y="1588862"/>
                  </a:lnTo>
                  <a:lnTo>
                    <a:pt x="1424739" y="1589088"/>
                  </a:lnTo>
                  <a:lnTo>
                    <a:pt x="1417258" y="1589088"/>
                  </a:lnTo>
                  <a:lnTo>
                    <a:pt x="1409777" y="1588862"/>
                  </a:lnTo>
                  <a:lnTo>
                    <a:pt x="1402296" y="1587955"/>
                  </a:lnTo>
                  <a:lnTo>
                    <a:pt x="1394589" y="1587048"/>
                  </a:lnTo>
                  <a:lnTo>
                    <a:pt x="1387108" y="1585235"/>
                  </a:lnTo>
                  <a:lnTo>
                    <a:pt x="1379628" y="1583422"/>
                  </a:lnTo>
                  <a:lnTo>
                    <a:pt x="1372147" y="1581382"/>
                  </a:lnTo>
                  <a:lnTo>
                    <a:pt x="1364666" y="1578662"/>
                  </a:lnTo>
                  <a:lnTo>
                    <a:pt x="1357186" y="1575942"/>
                  </a:lnTo>
                  <a:lnTo>
                    <a:pt x="1349931" y="1572769"/>
                  </a:lnTo>
                  <a:lnTo>
                    <a:pt x="1342677" y="1569142"/>
                  </a:lnTo>
                  <a:lnTo>
                    <a:pt x="1335423" y="1565289"/>
                  </a:lnTo>
                  <a:lnTo>
                    <a:pt x="1328396" y="1560756"/>
                  </a:lnTo>
                  <a:lnTo>
                    <a:pt x="1321369" y="1556223"/>
                  </a:lnTo>
                  <a:lnTo>
                    <a:pt x="1314568" y="1551237"/>
                  </a:lnTo>
                  <a:lnTo>
                    <a:pt x="1307994" y="1545797"/>
                  </a:lnTo>
                  <a:lnTo>
                    <a:pt x="1301420" y="1540130"/>
                  </a:lnTo>
                  <a:lnTo>
                    <a:pt x="1295299" y="1534011"/>
                  </a:lnTo>
                  <a:lnTo>
                    <a:pt x="921716" y="1160708"/>
                  </a:lnTo>
                  <a:lnTo>
                    <a:pt x="910835" y="1166827"/>
                  </a:lnTo>
                  <a:lnTo>
                    <a:pt x="899501" y="1172720"/>
                  </a:lnTo>
                  <a:lnTo>
                    <a:pt x="888166" y="1178160"/>
                  </a:lnTo>
                  <a:lnTo>
                    <a:pt x="876832" y="1183600"/>
                  </a:lnTo>
                  <a:lnTo>
                    <a:pt x="865498" y="1188586"/>
                  </a:lnTo>
                  <a:lnTo>
                    <a:pt x="853710" y="1193346"/>
                  </a:lnTo>
                  <a:lnTo>
                    <a:pt x="842375" y="1198106"/>
                  </a:lnTo>
                  <a:lnTo>
                    <a:pt x="830588" y="1202412"/>
                  </a:lnTo>
                  <a:lnTo>
                    <a:pt x="818573" y="1206492"/>
                  </a:lnTo>
                  <a:lnTo>
                    <a:pt x="807012" y="1210572"/>
                  </a:lnTo>
                  <a:lnTo>
                    <a:pt x="794997" y="1213972"/>
                  </a:lnTo>
                  <a:lnTo>
                    <a:pt x="783210" y="1217598"/>
                  </a:lnTo>
                  <a:lnTo>
                    <a:pt x="771195" y="1220545"/>
                  </a:lnTo>
                  <a:lnTo>
                    <a:pt x="758954" y="1223265"/>
                  </a:lnTo>
                  <a:lnTo>
                    <a:pt x="746939" y="1226211"/>
                  </a:lnTo>
                  <a:lnTo>
                    <a:pt x="734698" y="1228478"/>
                  </a:lnTo>
                  <a:lnTo>
                    <a:pt x="722457" y="1230518"/>
                  </a:lnTo>
                  <a:lnTo>
                    <a:pt x="710442" y="1232784"/>
                  </a:lnTo>
                  <a:lnTo>
                    <a:pt x="698201" y="1234371"/>
                  </a:lnTo>
                  <a:lnTo>
                    <a:pt x="685960" y="1235731"/>
                  </a:lnTo>
                  <a:lnTo>
                    <a:pt x="673719" y="1236864"/>
                  </a:lnTo>
                  <a:lnTo>
                    <a:pt x="661478" y="1237771"/>
                  </a:lnTo>
                  <a:lnTo>
                    <a:pt x="649010" y="1238451"/>
                  </a:lnTo>
                  <a:lnTo>
                    <a:pt x="636769" y="1239131"/>
                  </a:lnTo>
                  <a:lnTo>
                    <a:pt x="624527" y="1239357"/>
                  </a:lnTo>
                  <a:lnTo>
                    <a:pt x="612060" y="1239357"/>
                  </a:lnTo>
                  <a:lnTo>
                    <a:pt x="599818" y="1239131"/>
                  </a:lnTo>
                  <a:lnTo>
                    <a:pt x="587577" y="1238451"/>
                  </a:lnTo>
                  <a:lnTo>
                    <a:pt x="575109" y="1237544"/>
                  </a:lnTo>
                  <a:lnTo>
                    <a:pt x="562868" y="1236638"/>
                  </a:lnTo>
                  <a:lnTo>
                    <a:pt x="550627" y="1235504"/>
                  </a:lnTo>
                  <a:lnTo>
                    <a:pt x="538612" y="1233918"/>
                  </a:lnTo>
                  <a:lnTo>
                    <a:pt x="526145" y="1232331"/>
                  </a:lnTo>
                  <a:lnTo>
                    <a:pt x="513903" y="1230291"/>
                  </a:lnTo>
                  <a:lnTo>
                    <a:pt x="501889" y="1228025"/>
                  </a:lnTo>
                  <a:lnTo>
                    <a:pt x="489648" y="1225758"/>
                  </a:lnTo>
                  <a:lnTo>
                    <a:pt x="477633" y="1222811"/>
                  </a:lnTo>
                  <a:lnTo>
                    <a:pt x="465619" y="1219865"/>
                  </a:lnTo>
                  <a:lnTo>
                    <a:pt x="453604" y="1216918"/>
                  </a:lnTo>
                  <a:lnTo>
                    <a:pt x="441590" y="1213292"/>
                  </a:lnTo>
                  <a:lnTo>
                    <a:pt x="429802" y="1209665"/>
                  </a:lnTo>
                  <a:lnTo>
                    <a:pt x="418014" y="1205812"/>
                  </a:lnTo>
                  <a:lnTo>
                    <a:pt x="406453" y="1201506"/>
                  </a:lnTo>
                  <a:lnTo>
                    <a:pt x="394665" y="1197199"/>
                  </a:lnTo>
                  <a:lnTo>
                    <a:pt x="383104" y="1192440"/>
                  </a:lnTo>
                  <a:lnTo>
                    <a:pt x="371543" y="1187680"/>
                  </a:lnTo>
                  <a:lnTo>
                    <a:pt x="359982" y="1182467"/>
                  </a:lnTo>
                  <a:lnTo>
                    <a:pt x="348647" y="1177027"/>
                  </a:lnTo>
                  <a:lnTo>
                    <a:pt x="337313" y="1171360"/>
                  </a:lnTo>
                  <a:lnTo>
                    <a:pt x="326205" y="1165694"/>
                  </a:lnTo>
                  <a:lnTo>
                    <a:pt x="315097" y="1159574"/>
                  </a:lnTo>
                  <a:lnTo>
                    <a:pt x="304216" y="1153228"/>
                  </a:lnTo>
                  <a:lnTo>
                    <a:pt x="293109" y="1146655"/>
                  </a:lnTo>
                  <a:lnTo>
                    <a:pt x="282454" y="1139629"/>
                  </a:lnTo>
                  <a:lnTo>
                    <a:pt x="272026" y="1132602"/>
                  </a:lnTo>
                  <a:lnTo>
                    <a:pt x="261145" y="1125349"/>
                  </a:lnTo>
                  <a:lnTo>
                    <a:pt x="250944" y="1117643"/>
                  </a:lnTo>
                  <a:lnTo>
                    <a:pt x="240517" y="1109937"/>
                  </a:lnTo>
                  <a:lnTo>
                    <a:pt x="230316" y="1101777"/>
                  </a:lnTo>
                  <a:lnTo>
                    <a:pt x="220341" y="1093617"/>
                  </a:lnTo>
                  <a:lnTo>
                    <a:pt x="210367" y="1085004"/>
                  </a:lnTo>
                  <a:lnTo>
                    <a:pt x="200620" y="1076391"/>
                  </a:lnTo>
                  <a:lnTo>
                    <a:pt x="191099" y="1067099"/>
                  </a:lnTo>
                  <a:lnTo>
                    <a:pt x="181578" y="1057806"/>
                  </a:lnTo>
                  <a:lnTo>
                    <a:pt x="170470" y="1046473"/>
                  </a:lnTo>
                  <a:lnTo>
                    <a:pt x="159589" y="1034913"/>
                  </a:lnTo>
                  <a:lnTo>
                    <a:pt x="149161" y="1022901"/>
                  </a:lnTo>
                  <a:lnTo>
                    <a:pt x="139187" y="1010888"/>
                  </a:lnTo>
                  <a:lnTo>
                    <a:pt x="129213" y="998648"/>
                  </a:lnTo>
                  <a:lnTo>
                    <a:pt x="119918" y="985956"/>
                  </a:lnTo>
                  <a:lnTo>
                    <a:pt x="110851" y="973489"/>
                  </a:lnTo>
                  <a:lnTo>
                    <a:pt x="102237" y="960797"/>
                  </a:lnTo>
                  <a:lnTo>
                    <a:pt x="93849" y="947651"/>
                  </a:lnTo>
                  <a:lnTo>
                    <a:pt x="85688" y="934505"/>
                  </a:lnTo>
                  <a:lnTo>
                    <a:pt x="78208" y="921358"/>
                  </a:lnTo>
                  <a:lnTo>
                    <a:pt x="70954" y="907986"/>
                  </a:lnTo>
                  <a:lnTo>
                    <a:pt x="64153" y="894386"/>
                  </a:lnTo>
                  <a:lnTo>
                    <a:pt x="57579" y="880560"/>
                  </a:lnTo>
                  <a:lnTo>
                    <a:pt x="51232" y="866734"/>
                  </a:lnTo>
                  <a:lnTo>
                    <a:pt x="45338" y="852908"/>
                  </a:lnTo>
                  <a:lnTo>
                    <a:pt x="39897" y="838856"/>
                  </a:lnTo>
                  <a:lnTo>
                    <a:pt x="34910" y="824803"/>
                  </a:lnTo>
                  <a:lnTo>
                    <a:pt x="30150" y="810524"/>
                  </a:lnTo>
                  <a:lnTo>
                    <a:pt x="25616" y="796244"/>
                  </a:lnTo>
                  <a:lnTo>
                    <a:pt x="21535" y="781738"/>
                  </a:lnTo>
                  <a:lnTo>
                    <a:pt x="17682" y="767232"/>
                  </a:lnTo>
                  <a:lnTo>
                    <a:pt x="14508" y="752726"/>
                  </a:lnTo>
                  <a:lnTo>
                    <a:pt x="11334" y="738220"/>
                  </a:lnTo>
                  <a:lnTo>
                    <a:pt x="8841" y="723487"/>
                  </a:lnTo>
                  <a:lnTo>
                    <a:pt x="6574" y="708755"/>
                  </a:lnTo>
                  <a:lnTo>
                    <a:pt x="4307" y="694022"/>
                  </a:lnTo>
                  <a:lnTo>
                    <a:pt x="2947" y="679289"/>
                  </a:lnTo>
                  <a:lnTo>
                    <a:pt x="1587" y="664330"/>
                  </a:lnTo>
                  <a:lnTo>
                    <a:pt x="680" y="649597"/>
                  </a:lnTo>
                  <a:lnTo>
                    <a:pt x="227" y="634638"/>
                  </a:lnTo>
                  <a:lnTo>
                    <a:pt x="0" y="619905"/>
                  </a:lnTo>
                  <a:lnTo>
                    <a:pt x="227" y="604946"/>
                  </a:lnTo>
                  <a:lnTo>
                    <a:pt x="680" y="589987"/>
                  </a:lnTo>
                  <a:lnTo>
                    <a:pt x="1587" y="575254"/>
                  </a:lnTo>
                  <a:lnTo>
                    <a:pt x="2947" y="560295"/>
                  </a:lnTo>
                  <a:lnTo>
                    <a:pt x="4307" y="545562"/>
                  </a:lnTo>
                  <a:lnTo>
                    <a:pt x="6574" y="530830"/>
                  </a:lnTo>
                  <a:lnTo>
                    <a:pt x="8841" y="516097"/>
                  </a:lnTo>
                  <a:lnTo>
                    <a:pt x="11334" y="501364"/>
                  </a:lnTo>
                  <a:lnTo>
                    <a:pt x="14508" y="486858"/>
                  </a:lnTo>
                  <a:lnTo>
                    <a:pt x="17682" y="472352"/>
                  </a:lnTo>
                  <a:lnTo>
                    <a:pt x="21535" y="457846"/>
                  </a:lnTo>
                  <a:lnTo>
                    <a:pt x="25616" y="443340"/>
                  </a:lnTo>
                  <a:lnTo>
                    <a:pt x="30150" y="429061"/>
                  </a:lnTo>
                  <a:lnTo>
                    <a:pt x="34910" y="414781"/>
                  </a:lnTo>
                  <a:lnTo>
                    <a:pt x="39897" y="400502"/>
                  </a:lnTo>
                  <a:lnTo>
                    <a:pt x="45338" y="386449"/>
                  </a:lnTo>
                  <a:lnTo>
                    <a:pt x="51232" y="372850"/>
                  </a:lnTo>
                  <a:lnTo>
                    <a:pt x="57579" y="359024"/>
                  </a:lnTo>
                  <a:lnTo>
                    <a:pt x="64153" y="345198"/>
                  </a:lnTo>
                  <a:lnTo>
                    <a:pt x="70954" y="331599"/>
                  </a:lnTo>
                  <a:lnTo>
                    <a:pt x="78208" y="318226"/>
                  </a:lnTo>
                  <a:lnTo>
                    <a:pt x="85688" y="304853"/>
                  </a:lnTo>
                  <a:lnTo>
                    <a:pt x="93849" y="291934"/>
                  </a:lnTo>
                  <a:lnTo>
                    <a:pt x="102237" y="278788"/>
                  </a:lnTo>
                  <a:lnTo>
                    <a:pt x="110851" y="266095"/>
                  </a:lnTo>
                  <a:lnTo>
                    <a:pt x="119918" y="253402"/>
                  </a:lnTo>
                  <a:lnTo>
                    <a:pt x="129213" y="240936"/>
                  </a:lnTo>
                  <a:lnTo>
                    <a:pt x="139187" y="228697"/>
                  </a:lnTo>
                  <a:lnTo>
                    <a:pt x="149161" y="216457"/>
                  </a:lnTo>
                  <a:lnTo>
                    <a:pt x="159589" y="204671"/>
                  </a:lnTo>
                  <a:lnTo>
                    <a:pt x="170470" y="193111"/>
                  </a:lnTo>
                  <a:lnTo>
                    <a:pt x="181578" y="181779"/>
                  </a:lnTo>
                  <a:lnTo>
                    <a:pt x="193139" y="170446"/>
                  </a:lnTo>
                  <a:lnTo>
                    <a:pt x="204473" y="159793"/>
                  </a:lnTo>
                  <a:lnTo>
                    <a:pt x="216488" y="149140"/>
                  </a:lnTo>
                  <a:lnTo>
                    <a:pt x="228729" y="139167"/>
                  </a:lnTo>
                  <a:lnTo>
                    <a:pt x="240743" y="129421"/>
                  </a:lnTo>
                  <a:lnTo>
                    <a:pt x="253438" y="119901"/>
                  </a:lnTo>
                  <a:lnTo>
                    <a:pt x="266133" y="110835"/>
                  </a:lnTo>
                  <a:lnTo>
                    <a:pt x="278600" y="102222"/>
                  </a:lnTo>
                  <a:lnTo>
                    <a:pt x="291748" y="93836"/>
                  </a:lnTo>
                  <a:lnTo>
                    <a:pt x="304896" y="85903"/>
                  </a:lnTo>
                  <a:lnTo>
                    <a:pt x="318271" y="78423"/>
                  </a:lnTo>
                  <a:lnTo>
                    <a:pt x="331646" y="71170"/>
                  </a:lnTo>
                  <a:lnTo>
                    <a:pt x="345020" y="64144"/>
                  </a:lnTo>
                  <a:lnTo>
                    <a:pt x="358848" y="57571"/>
                  </a:lnTo>
                  <a:lnTo>
                    <a:pt x="372676" y="51451"/>
                  </a:lnTo>
                  <a:lnTo>
                    <a:pt x="386504" y="45558"/>
                  </a:lnTo>
                  <a:lnTo>
                    <a:pt x="400559" y="40118"/>
                  </a:lnTo>
                  <a:lnTo>
                    <a:pt x="414840" y="34905"/>
                  </a:lnTo>
                  <a:lnTo>
                    <a:pt x="429122" y="30146"/>
                  </a:lnTo>
                  <a:lnTo>
                    <a:pt x="443403" y="25839"/>
                  </a:lnTo>
                  <a:lnTo>
                    <a:pt x="457911" y="21533"/>
                  </a:lnTo>
                  <a:lnTo>
                    <a:pt x="472419" y="17906"/>
                  </a:lnTo>
                  <a:lnTo>
                    <a:pt x="486927" y="14506"/>
                  </a:lnTo>
                  <a:lnTo>
                    <a:pt x="501435" y="11560"/>
                  </a:lnTo>
                  <a:lnTo>
                    <a:pt x="515944" y="8840"/>
                  </a:lnTo>
                  <a:lnTo>
                    <a:pt x="530678" y="6573"/>
                  </a:lnTo>
                  <a:lnTo>
                    <a:pt x="545413" y="4533"/>
                  </a:lnTo>
                  <a:lnTo>
                    <a:pt x="560148" y="3173"/>
                  </a:lnTo>
                  <a:lnTo>
                    <a:pt x="575109" y="1587"/>
                  </a:lnTo>
                  <a:lnTo>
                    <a:pt x="589844" y="907"/>
                  </a:lnTo>
                  <a:lnTo>
                    <a:pt x="604806" y="227"/>
                  </a:lnTo>
                  <a:lnTo>
                    <a:pt x="619540" y="0"/>
                  </a:lnTo>
                  <a:close/>
                </a:path>
              </a:pathLst>
            </a:custGeom>
            <a:solidFill>
              <a:schemeClr val="bg1"/>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endParaRPr lang="zh-CN" altLang="en-US" b="1">
                <a:solidFill>
                  <a:schemeClr val="bg1"/>
                </a:solidFill>
                <a:cs typeface="+mn-ea"/>
                <a:sym typeface="+mn-ea"/>
              </a:endParaRPr>
            </a:p>
          </p:txBody>
        </p:sp>
      </p:grpSp>
      <p:grpSp>
        <p:nvGrpSpPr>
          <p:cNvPr id="20" name="组合 19"/>
          <p:cNvGrpSpPr/>
          <p:nvPr/>
        </p:nvGrpSpPr>
        <p:grpSpPr>
          <a:xfrm>
            <a:off x="4443730" y="4173220"/>
            <a:ext cx="6363335" cy="817880"/>
            <a:chOff x="6960" y="5774"/>
            <a:chExt cx="10021" cy="1288"/>
          </a:xfrm>
        </p:grpSpPr>
        <p:sp>
          <p:nvSpPr>
            <p:cNvPr id="21" name="Rectangle 13"/>
            <p:cNvSpPr>
              <a:spLocks noChangeArrowheads="1"/>
            </p:cNvSpPr>
            <p:nvPr/>
          </p:nvSpPr>
          <p:spPr bwMode="auto">
            <a:xfrm>
              <a:off x="6960" y="5774"/>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dirty="0">
                  <a:solidFill>
                    <a:schemeClr val="bg1"/>
                  </a:solidFill>
                  <a:cs typeface="+mn-ea"/>
                  <a:sym typeface="+mn-lt"/>
                </a:rPr>
                <a:t>四</a:t>
              </a:r>
            </a:p>
          </p:txBody>
        </p:sp>
        <p:sp>
          <p:nvSpPr>
            <p:cNvPr id="22" name="Rectangle 5"/>
            <p:cNvSpPr>
              <a:spLocks noChangeArrowheads="1"/>
            </p:cNvSpPr>
            <p:nvPr/>
          </p:nvSpPr>
          <p:spPr bwMode="auto">
            <a:xfrm>
              <a:off x="8389" y="5774"/>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schemeClr val="bg1"/>
                  </a:solidFill>
                  <a:cs typeface="+mn-ea"/>
                  <a:sym typeface="+mn-lt"/>
                </a:rPr>
                <a:t>   </a:t>
              </a:r>
              <a:r>
                <a:rPr lang="zh-CN" b="1" dirty="0">
                  <a:solidFill>
                    <a:schemeClr val="bg1"/>
                  </a:solidFill>
                  <a:cs typeface="+mn-ea"/>
                  <a:sym typeface="+mn-lt"/>
                </a:rPr>
                <a:t>推广价值</a:t>
              </a:r>
            </a:p>
          </p:txBody>
        </p:sp>
      </p:grpSp>
      <p:grpSp>
        <p:nvGrpSpPr>
          <p:cNvPr id="5" name="组合 4"/>
          <p:cNvGrpSpPr/>
          <p:nvPr/>
        </p:nvGrpSpPr>
        <p:grpSpPr>
          <a:xfrm>
            <a:off x="4443730" y="5076190"/>
            <a:ext cx="6363335" cy="817880"/>
            <a:chOff x="6960" y="5774"/>
            <a:chExt cx="10021" cy="1288"/>
          </a:xfrm>
        </p:grpSpPr>
        <p:sp>
          <p:nvSpPr>
            <p:cNvPr id="6" name="Rectangle 13"/>
            <p:cNvSpPr>
              <a:spLocks noChangeArrowheads="1"/>
            </p:cNvSpPr>
            <p:nvPr/>
          </p:nvSpPr>
          <p:spPr bwMode="auto">
            <a:xfrm>
              <a:off x="6960" y="5774"/>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dirty="0">
                  <a:solidFill>
                    <a:schemeClr val="bg1"/>
                  </a:solidFill>
                  <a:cs typeface="+mn-ea"/>
                  <a:sym typeface="+mn-lt"/>
                </a:rPr>
                <a:t>五</a:t>
              </a:r>
            </a:p>
          </p:txBody>
        </p:sp>
        <p:sp>
          <p:nvSpPr>
            <p:cNvPr id="7" name="Rectangle 5"/>
            <p:cNvSpPr>
              <a:spLocks noChangeArrowheads="1"/>
            </p:cNvSpPr>
            <p:nvPr/>
          </p:nvSpPr>
          <p:spPr bwMode="auto">
            <a:xfrm>
              <a:off x="8389" y="5774"/>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schemeClr val="bg1"/>
                  </a:solidFill>
                  <a:cs typeface="+mn-ea"/>
                  <a:sym typeface="+mn-lt"/>
                </a:rPr>
                <a:t>   </a:t>
              </a:r>
              <a:r>
                <a:rPr lang="zh-CN" altLang="en-US" b="1" dirty="0">
                  <a:solidFill>
                    <a:schemeClr val="bg1"/>
                  </a:solidFill>
                  <a:cs typeface="+mn-ea"/>
                  <a:sym typeface="+mn-lt"/>
                </a:rPr>
                <a:t>团队介绍</a:t>
              </a:r>
            </a:p>
          </p:txBody>
        </p:sp>
      </p:grpSp>
      <p:pic>
        <p:nvPicPr>
          <p:cNvPr id="11" name="图片 10"/>
          <p:cNvPicPr>
            <a:picLocks noChangeAspect="1"/>
          </p:cNvPicPr>
          <p:nvPr/>
        </p:nvPicPr>
        <p:blipFill rotWithShape="1">
          <a:blip r:embed="rId7" cstate="print">
            <a:extLst>
              <a:ext uri="{28A0092B-C50C-407E-A947-70E740481C1C}">
                <a14:useLocalDpi xmlns:a14="http://schemas.microsoft.com/office/drawing/2010/main" val="0"/>
              </a:ext>
            </a:extLst>
          </a:blip>
          <a:srcRect l="8513" t="19659" r="60847" b="16329"/>
          <a:stretch>
            <a:fillRect/>
          </a:stretch>
        </p:blipFill>
        <p:spPr>
          <a:xfrm>
            <a:off x="10125710" y="5100320"/>
            <a:ext cx="437515" cy="685800"/>
          </a:xfrm>
          <a:prstGeom prst="rect">
            <a:avLst/>
          </a:prstGeom>
        </p:spPr>
      </p:pic>
      <p:pic>
        <p:nvPicPr>
          <p:cNvPr id="12" name="图片 11" descr="改造世界"/>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118090" y="4316730"/>
            <a:ext cx="530225" cy="530225"/>
          </a:xfrm>
          <a:prstGeom prst="rect">
            <a:avLst/>
          </a:prstGeom>
        </p:spPr>
      </p:pic>
    </p:spTree>
    <p:custDataLst>
      <p:tags r:id="rId1"/>
    </p:custData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02" y="181637"/>
            <a:ext cx="8138082" cy="418058"/>
          </a:xfrm>
        </p:spPr>
        <p:txBody>
          <a:bodyPr>
            <a:noAutofit/>
          </a:bodyPr>
          <a:lstStyle/>
          <a:p>
            <a:r>
              <a:rPr lang="zh-CN" altLang="en-US" sz="2400"/>
              <a:t>目录</a:t>
            </a:r>
          </a:p>
        </p:txBody>
      </p:sp>
      <p:pic>
        <p:nvPicPr>
          <p:cNvPr id="18" name="图片 15"/>
          <p:cNvPicPr>
            <a:picLocks noChangeAspect="1"/>
          </p:cNvPicPr>
          <p:nvPr/>
        </p:nvPicPr>
        <p:blipFill rotWithShape="1">
          <a:blip r:embed="rId4"/>
          <a:srcRect l="11383" t="8193" r="11087" b="29077"/>
          <a:stretch>
            <a:fillRect/>
          </a:stretch>
        </p:blipFill>
        <p:spPr>
          <a:xfrm>
            <a:off x="430088" y="1593630"/>
            <a:ext cx="3511883" cy="1941322"/>
          </a:xfrm>
          <a:prstGeom prst="rect">
            <a:avLst/>
          </a:prstGeom>
        </p:spPr>
      </p:pic>
      <p:grpSp>
        <p:nvGrpSpPr>
          <p:cNvPr id="35" name="组合 34"/>
          <p:cNvGrpSpPr/>
          <p:nvPr/>
        </p:nvGrpSpPr>
        <p:grpSpPr>
          <a:xfrm>
            <a:off x="4443730" y="1464310"/>
            <a:ext cx="6363335" cy="817880"/>
            <a:chOff x="6961" y="1508"/>
            <a:chExt cx="10021" cy="1288"/>
          </a:xfrm>
        </p:grpSpPr>
        <p:sp>
          <p:nvSpPr>
            <p:cNvPr id="33" name="Rectangle 10"/>
            <p:cNvSpPr>
              <a:spLocks noChangeArrowheads="1"/>
            </p:cNvSpPr>
            <p:nvPr/>
          </p:nvSpPr>
          <p:spPr bwMode="auto">
            <a:xfrm>
              <a:off x="6961" y="1508"/>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prstClr val="white"/>
                  </a:solidFill>
                  <a:cs typeface="+mn-ea"/>
                  <a:sym typeface="+mn-lt"/>
                </a:rPr>
                <a:t>一</a:t>
              </a:r>
            </a:p>
          </p:txBody>
        </p:sp>
        <p:sp>
          <p:nvSpPr>
            <p:cNvPr id="36" name="Rectangle 9"/>
            <p:cNvSpPr>
              <a:spLocks noChangeArrowheads="1"/>
            </p:cNvSpPr>
            <p:nvPr/>
          </p:nvSpPr>
          <p:spPr bwMode="auto">
            <a:xfrm>
              <a:off x="8390" y="1508"/>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prstClr val="white"/>
                  </a:solidFill>
                  <a:cs typeface="+mn-ea"/>
                  <a:sym typeface="+mn-lt"/>
                </a:rPr>
                <a:t>  </a:t>
              </a:r>
              <a:r>
                <a:rPr lang="zh-CN" altLang="en-US" b="1" dirty="0">
                  <a:solidFill>
                    <a:prstClr val="white"/>
                  </a:solidFill>
                  <a:cs typeface="+mn-ea"/>
                  <a:sym typeface="+mn-lt"/>
                </a:rPr>
                <a:t>成果介绍</a:t>
              </a:r>
            </a:p>
          </p:txBody>
        </p:sp>
        <p:pic>
          <p:nvPicPr>
            <p:cNvPr id="29" name="图片 249"/>
            <p:cNvPicPr>
              <a:picLocks noChangeAspect="1"/>
            </p:cNvPicPr>
            <p:nvPr/>
          </p:nvPicPr>
          <p:blipFill>
            <a:blip r:embed="rId5"/>
            <a:stretch>
              <a:fillRect/>
            </a:stretch>
          </p:blipFill>
          <p:spPr bwMode="auto">
            <a:xfrm>
              <a:off x="15965" y="1802"/>
              <a:ext cx="697" cy="700"/>
            </a:xfrm>
            <a:prstGeom prst="rect">
              <a:avLst/>
            </a:prstGeom>
            <a:solidFill>
              <a:srgbClr val="CDCDCD"/>
            </a:solidFill>
            <a:ln w="12700">
              <a:noFill/>
              <a:miter lim="800000"/>
              <a:headEnd/>
              <a:tailEnd/>
            </a:ln>
          </p:spPr>
        </p:pic>
      </p:grpSp>
      <p:grpSp>
        <p:nvGrpSpPr>
          <p:cNvPr id="37" name="组合 36"/>
          <p:cNvGrpSpPr/>
          <p:nvPr/>
        </p:nvGrpSpPr>
        <p:grpSpPr>
          <a:xfrm>
            <a:off x="4443730" y="2367280"/>
            <a:ext cx="6363335" cy="817880"/>
            <a:chOff x="6961" y="2930"/>
            <a:chExt cx="10021" cy="1288"/>
          </a:xfrm>
        </p:grpSpPr>
        <p:sp>
          <p:nvSpPr>
            <p:cNvPr id="4" name="Rectangle 10"/>
            <p:cNvSpPr>
              <a:spLocks noChangeArrowheads="1"/>
            </p:cNvSpPr>
            <p:nvPr/>
          </p:nvSpPr>
          <p:spPr bwMode="auto">
            <a:xfrm>
              <a:off x="6961" y="2930"/>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schemeClr val="bg1"/>
                  </a:solidFill>
                  <a:cs typeface="+mn-ea"/>
                  <a:sym typeface="+mn-lt"/>
                </a:rPr>
                <a:t>二</a:t>
              </a:r>
            </a:p>
          </p:txBody>
        </p:sp>
        <p:sp>
          <p:nvSpPr>
            <p:cNvPr id="9" name="Rectangle 5"/>
            <p:cNvSpPr>
              <a:spLocks noChangeArrowheads="1"/>
            </p:cNvSpPr>
            <p:nvPr/>
          </p:nvSpPr>
          <p:spPr bwMode="auto">
            <a:xfrm>
              <a:off x="8390" y="2930"/>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zh-CN" altLang="en-US" b="1">
                  <a:solidFill>
                    <a:schemeClr val="bg1"/>
                  </a:solidFill>
                  <a:cs typeface="+mn-ea"/>
                  <a:sym typeface="+mn-lt"/>
                </a:rPr>
                <a:t>   解决方案</a:t>
              </a:r>
            </a:p>
          </p:txBody>
        </p:sp>
        <p:pic>
          <p:nvPicPr>
            <p:cNvPr id="30" name="图片 264"/>
            <p:cNvPicPr>
              <a:picLocks noChangeAspect="1"/>
            </p:cNvPicPr>
            <p:nvPr/>
          </p:nvPicPr>
          <p:blipFill>
            <a:blip r:embed="rId6"/>
            <a:stretch>
              <a:fillRect/>
            </a:stretch>
          </p:blipFill>
          <p:spPr bwMode="auto">
            <a:xfrm>
              <a:off x="15973" y="3233"/>
              <a:ext cx="681" cy="681"/>
            </a:xfrm>
            <a:prstGeom prst="rect">
              <a:avLst/>
            </a:prstGeom>
            <a:solidFill>
              <a:srgbClr val="CDCDCD"/>
            </a:solidFill>
            <a:ln w="12700">
              <a:noFill/>
              <a:miter lim="800000"/>
              <a:headEnd/>
              <a:tailEnd/>
            </a:ln>
          </p:spPr>
        </p:pic>
      </p:grpSp>
      <p:grpSp>
        <p:nvGrpSpPr>
          <p:cNvPr id="38" name="组合 37"/>
          <p:cNvGrpSpPr/>
          <p:nvPr/>
        </p:nvGrpSpPr>
        <p:grpSpPr>
          <a:xfrm>
            <a:off x="4443095" y="3270250"/>
            <a:ext cx="6363335" cy="817880"/>
            <a:chOff x="6960" y="4352"/>
            <a:chExt cx="10021" cy="1288"/>
          </a:xfrm>
        </p:grpSpPr>
        <p:sp>
          <p:nvSpPr>
            <p:cNvPr id="24" name="Rectangle 13"/>
            <p:cNvSpPr>
              <a:spLocks noChangeArrowheads="1"/>
            </p:cNvSpPr>
            <p:nvPr/>
          </p:nvSpPr>
          <p:spPr bwMode="auto">
            <a:xfrm>
              <a:off x="6960" y="4352"/>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schemeClr val="bg1"/>
                  </a:solidFill>
                  <a:cs typeface="+mn-ea"/>
                  <a:sym typeface="+mn-lt"/>
                </a:rPr>
                <a:t>三</a:t>
              </a:r>
            </a:p>
          </p:txBody>
        </p:sp>
        <p:sp>
          <p:nvSpPr>
            <p:cNvPr id="25" name="Rectangle 5"/>
            <p:cNvSpPr>
              <a:spLocks noChangeArrowheads="1"/>
            </p:cNvSpPr>
            <p:nvPr/>
          </p:nvSpPr>
          <p:spPr bwMode="auto">
            <a:xfrm>
              <a:off x="8389" y="4352"/>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a:solidFill>
                    <a:schemeClr val="bg1"/>
                  </a:solidFill>
                  <a:cs typeface="+mn-ea"/>
                  <a:sym typeface="+mn-lt"/>
                </a:rPr>
                <a:t>   </a:t>
              </a:r>
              <a:r>
                <a:rPr lang="zh-CN" altLang="en-US" b="1">
                  <a:solidFill>
                    <a:schemeClr val="bg1"/>
                  </a:solidFill>
                  <a:cs typeface="+mn-ea"/>
                  <a:sym typeface="+mn-lt"/>
                </a:rPr>
                <a:t>应用成效</a:t>
              </a:r>
            </a:p>
          </p:txBody>
        </p:sp>
        <p:sp>
          <p:nvSpPr>
            <p:cNvPr id="26" name="KSO_Shape"/>
            <p:cNvSpPr/>
            <p:nvPr/>
          </p:nvSpPr>
          <p:spPr bwMode="auto">
            <a:xfrm>
              <a:off x="15986" y="4659"/>
              <a:ext cx="656" cy="674"/>
            </a:xfrm>
            <a:custGeom>
              <a:avLst/>
              <a:gdLst>
                <a:gd name="T0" fmla="*/ 984018 w 1589088"/>
                <a:gd name="T1" fmla="*/ 589506 h 1589088"/>
                <a:gd name="T2" fmla="*/ 955171 w 1589088"/>
                <a:gd name="T3" fmla="*/ 645802 h 1589088"/>
                <a:gd name="T4" fmla="*/ 898294 w 1589088"/>
                <a:gd name="T5" fmla="*/ 673272 h 1589088"/>
                <a:gd name="T6" fmla="*/ 881422 w 1589088"/>
                <a:gd name="T7" fmla="*/ 964824 h 1589088"/>
                <a:gd name="T8" fmla="*/ 873530 w 1589088"/>
                <a:gd name="T9" fmla="*/ 1040159 h 1589088"/>
                <a:gd name="T10" fmla="*/ 824817 w 1589088"/>
                <a:gd name="T11" fmla="*/ 1084490 h 1589088"/>
                <a:gd name="T12" fmla="*/ 756238 w 1589088"/>
                <a:gd name="T13" fmla="*/ 1088026 h 1589088"/>
                <a:gd name="T14" fmla="*/ 703444 w 1589088"/>
                <a:gd name="T15" fmla="*/ 1048590 h 1589088"/>
                <a:gd name="T16" fmla="*/ 686571 w 1589088"/>
                <a:gd name="T17" fmla="*/ 985493 h 1589088"/>
                <a:gd name="T18" fmla="*/ 486007 w 1589088"/>
                <a:gd name="T19" fmla="*/ 893024 h 1589088"/>
                <a:gd name="T20" fmla="*/ 398106 w 1589088"/>
                <a:gd name="T21" fmla="*/ 820680 h 1589088"/>
                <a:gd name="T22" fmla="*/ 402189 w 1589088"/>
                <a:gd name="T23" fmla="*/ 755134 h 1589088"/>
                <a:gd name="T24" fmla="*/ 446547 w 1589088"/>
                <a:gd name="T25" fmla="*/ 706452 h 1589088"/>
                <a:gd name="T26" fmla="*/ 514037 w 1589088"/>
                <a:gd name="T27" fmla="*/ 696389 h 1589088"/>
                <a:gd name="T28" fmla="*/ 570641 w 1589088"/>
                <a:gd name="T29" fmla="*/ 730385 h 1589088"/>
                <a:gd name="T30" fmla="*/ 593501 w 1589088"/>
                <a:gd name="T31" fmla="*/ 794027 h 1589088"/>
                <a:gd name="T32" fmla="*/ 818558 w 1589088"/>
                <a:gd name="T33" fmla="*/ 648522 h 1589088"/>
                <a:gd name="T34" fmla="*/ 785901 w 1589088"/>
                <a:gd name="T35" fmla="*/ 575091 h 1589088"/>
                <a:gd name="T36" fmla="*/ 808761 w 1589088"/>
                <a:gd name="T37" fmla="*/ 511721 h 1589088"/>
                <a:gd name="T38" fmla="*/ 865365 w 1589088"/>
                <a:gd name="T39" fmla="*/ 477726 h 1589088"/>
                <a:gd name="T40" fmla="*/ 728574 w 1589088"/>
                <a:gd name="T41" fmla="*/ 144010 h 1589088"/>
                <a:gd name="T42" fmla="*/ 531280 w 1589088"/>
                <a:gd name="T43" fmla="*/ 182593 h 1589088"/>
                <a:gd name="T44" fmla="*/ 353281 w 1589088"/>
                <a:gd name="T45" fmla="*/ 288291 h 1589088"/>
                <a:gd name="T46" fmla="*/ 219577 w 1589088"/>
                <a:gd name="T47" fmla="*/ 451592 h 1589088"/>
                <a:gd name="T48" fmla="*/ 152454 w 1589088"/>
                <a:gd name="T49" fmla="*/ 642880 h 1589088"/>
                <a:gd name="T50" fmla="*/ 152454 w 1589088"/>
                <a:gd name="T51" fmla="*/ 843135 h 1589088"/>
                <a:gd name="T52" fmla="*/ 219577 w 1589088"/>
                <a:gd name="T53" fmla="*/ 1034422 h 1589088"/>
                <a:gd name="T54" fmla="*/ 353281 w 1589088"/>
                <a:gd name="T55" fmla="*/ 1197724 h 1589088"/>
                <a:gd name="T56" fmla="*/ 531280 w 1589088"/>
                <a:gd name="T57" fmla="*/ 1303421 h 1589088"/>
                <a:gd name="T58" fmla="*/ 728574 w 1589088"/>
                <a:gd name="T59" fmla="*/ 1341734 h 1589088"/>
                <a:gd name="T60" fmla="*/ 927227 w 1589088"/>
                <a:gd name="T61" fmla="*/ 1312931 h 1589088"/>
                <a:gd name="T62" fmla="*/ 1109302 w 1589088"/>
                <a:gd name="T63" fmla="*/ 1217015 h 1589088"/>
                <a:gd name="T64" fmla="*/ 1251431 w 1589088"/>
                <a:gd name="T65" fmla="*/ 1059964 h 1589088"/>
                <a:gd name="T66" fmla="*/ 1328065 w 1589088"/>
                <a:gd name="T67" fmla="*/ 871393 h 1589088"/>
                <a:gd name="T68" fmla="*/ 1337576 w 1589088"/>
                <a:gd name="T69" fmla="*/ 671410 h 1589088"/>
                <a:gd name="T70" fmla="*/ 1280237 w 1589088"/>
                <a:gd name="T71" fmla="*/ 477677 h 1589088"/>
                <a:gd name="T72" fmla="*/ 1155500 w 1589088"/>
                <a:gd name="T73" fmla="*/ 308670 h 1589088"/>
                <a:gd name="T74" fmla="*/ 981849 w 1589088"/>
                <a:gd name="T75" fmla="*/ 193462 h 1589088"/>
                <a:gd name="T76" fmla="*/ 785915 w 1589088"/>
                <a:gd name="T77" fmla="*/ 145640 h 1589088"/>
                <a:gd name="T78" fmla="*/ 902226 w 1589088"/>
                <a:gd name="T79" fmla="*/ 17390 h 1589088"/>
                <a:gd name="T80" fmla="*/ 1136207 w 1589088"/>
                <a:gd name="T81" fmla="*/ 112491 h 1589088"/>
                <a:gd name="T82" fmla="*/ 1320999 w 1589088"/>
                <a:gd name="T83" fmla="*/ 276063 h 1589088"/>
                <a:gd name="T84" fmla="*/ 1429702 w 1589088"/>
                <a:gd name="T85" fmla="*/ 459201 h 1589088"/>
                <a:gd name="T86" fmla="*/ 1481334 w 1589088"/>
                <a:gd name="T87" fmla="*/ 660270 h 1589088"/>
                <a:gd name="T88" fmla="*/ 1475356 w 1589088"/>
                <a:gd name="T89" fmla="*/ 866502 h 1589088"/>
                <a:gd name="T90" fmla="*/ 1412581 w 1589088"/>
                <a:gd name="T91" fmla="*/ 1064855 h 1589088"/>
                <a:gd name="T92" fmla="*/ 1892771 w 1589088"/>
                <a:gd name="T93" fmla="*/ 1636001 h 1589088"/>
                <a:gd name="T94" fmla="*/ 1896304 w 1589088"/>
                <a:gd name="T95" fmla="*/ 1759632 h 1589088"/>
                <a:gd name="T96" fmla="*/ 1783798 w 1589088"/>
                <a:gd name="T97" fmla="*/ 1885980 h 1589088"/>
                <a:gd name="T98" fmla="*/ 1662866 w 1589088"/>
                <a:gd name="T99" fmla="*/ 1900381 h 1589088"/>
                <a:gd name="T100" fmla="*/ 1104954 w 1589088"/>
                <a:gd name="T101" fmla="*/ 1391458 h 1589088"/>
                <a:gd name="T102" fmla="*/ 909835 w 1589088"/>
                <a:gd name="T103" fmla="*/ 1466451 h 1589088"/>
                <a:gd name="T104" fmla="*/ 704388 w 1589088"/>
                <a:gd name="T105" fmla="*/ 1484656 h 1589088"/>
                <a:gd name="T106" fmla="*/ 501116 w 1589088"/>
                <a:gd name="T107" fmla="*/ 1445528 h 1589088"/>
                <a:gd name="T108" fmla="*/ 313061 w 1589088"/>
                <a:gd name="T109" fmla="*/ 1349069 h 1589088"/>
                <a:gd name="T110" fmla="*/ 143758 w 1589088"/>
                <a:gd name="T111" fmla="*/ 1181965 h 1589088"/>
                <a:gd name="T112" fmla="*/ 30708 w 1589088"/>
                <a:gd name="T113" fmla="*/ 954538 h 1589088"/>
                <a:gd name="T114" fmla="*/ 815 w 1589088"/>
                <a:gd name="T115" fmla="*/ 707277 h 1589088"/>
                <a:gd name="T116" fmla="*/ 54351 w 1589088"/>
                <a:gd name="T117" fmla="*/ 463275 h 1589088"/>
                <a:gd name="T118" fmla="*/ 191315 w 1589088"/>
                <a:gd name="T119" fmla="*/ 245360 h 1589088"/>
                <a:gd name="T120" fmla="*/ 397577 w 1589088"/>
                <a:gd name="T121" fmla="*/ 85319 h 1589088"/>
                <a:gd name="T122" fmla="*/ 636177 w 1589088"/>
                <a:gd name="T123" fmla="*/ 7880 h 15890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589088" h="1589088">
                  <a:moveTo>
                    <a:pt x="916859" y="288925"/>
                  </a:moveTo>
                  <a:lnTo>
                    <a:pt x="954088" y="332030"/>
                  </a:lnTo>
                  <a:lnTo>
                    <a:pt x="816067" y="450682"/>
                  </a:lnTo>
                  <a:lnTo>
                    <a:pt x="817430" y="454085"/>
                  </a:lnTo>
                  <a:lnTo>
                    <a:pt x="818338" y="457488"/>
                  </a:lnTo>
                  <a:lnTo>
                    <a:pt x="819246" y="461118"/>
                  </a:lnTo>
                  <a:lnTo>
                    <a:pt x="820381" y="464748"/>
                  </a:lnTo>
                  <a:lnTo>
                    <a:pt x="820835" y="468378"/>
                  </a:lnTo>
                  <a:lnTo>
                    <a:pt x="821289" y="472008"/>
                  </a:lnTo>
                  <a:lnTo>
                    <a:pt x="821743" y="475865"/>
                  </a:lnTo>
                  <a:lnTo>
                    <a:pt x="821743" y="479722"/>
                  </a:lnTo>
                  <a:lnTo>
                    <a:pt x="821743" y="483805"/>
                  </a:lnTo>
                  <a:lnTo>
                    <a:pt x="821289" y="487662"/>
                  </a:lnTo>
                  <a:lnTo>
                    <a:pt x="820835" y="491746"/>
                  </a:lnTo>
                  <a:lnTo>
                    <a:pt x="820154" y="495602"/>
                  </a:lnTo>
                  <a:lnTo>
                    <a:pt x="819246" y="499459"/>
                  </a:lnTo>
                  <a:lnTo>
                    <a:pt x="818338" y="503089"/>
                  </a:lnTo>
                  <a:lnTo>
                    <a:pt x="816976" y="506946"/>
                  </a:lnTo>
                  <a:lnTo>
                    <a:pt x="815840" y="510349"/>
                  </a:lnTo>
                  <a:lnTo>
                    <a:pt x="814251" y="513979"/>
                  </a:lnTo>
                  <a:lnTo>
                    <a:pt x="812662" y="517382"/>
                  </a:lnTo>
                  <a:lnTo>
                    <a:pt x="810619" y="520785"/>
                  </a:lnTo>
                  <a:lnTo>
                    <a:pt x="808803" y="523961"/>
                  </a:lnTo>
                  <a:lnTo>
                    <a:pt x="806760" y="527137"/>
                  </a:lnTo>
                  <a:lnTo>
                    <a:pt x="804263" y="530313"/>
                  </a:lnTo>
                  <a:lnTo>
                    <a:pt x="801993" y="533036"/>
                  </a:lnTo>
                  <a:lnTo>
                    <a:pt x="799496" y="535985"/>
                  </a:lnTo>
                  <a:lnTo>
                    <a:pt x="796772" y="538707"/>
                  </a:lnTo>
                  <a:lnTo>
                    <a:pt x="794048" y="541203"/>
                  </a:lnTo>
                  <a:lnTo>
                    <a:pt x="791324" y="543698"/>
                  </a:lnTo>
                  <a:lnTo>
                    <a:pt x="788146" y="545967"/>
                  </a:lnTo>
                  <a:lnTo>
                    <a:pt x="785194" y="548009"/>
                  </a:lnTo>
                  <a:lnTo>
                    <a:pt x="781789" y="550051"/>
                  </a:lnTo>
                  <a:lnTo>
                    <a:pt x="778611" y="552093"/>
                  </a:lnTo>
                  <a:lnTo>
                    <a:pt x="775433" y="553908"/>
                  </a:lnTo>
                  <a:lnTo>
                    <a:pt x="771801" y="555496"/>
                  </a:lnTo>
                  <a:lnTo>
                    <a:pt x="768396" y="556857"/>
                  </a:lnTo>
                  <a:lnTo>
                    <a:pt x="764537" y="558218"/>
                  </a:lnTo>
                  <a:lnTo>
                    <a:pt x="760905" y="559352"/>
                  </a:lnTo>
                  <a:lnTo>
                    <a:pt x="757046" y="560260"/>
                  </a:lnTo>
                  <a:lnTo>
                    <a:pt x="753413" y="560940"/>
                  </a:lnTo>
                  <a:lnTo>
                    <a:pt x="749327" y="561621"/>
                  </a:lnTo>
                  <a:lnTo>
                    <a:pt x="745241" y="562075"/>
                  </a:lnTo>
                  <a:lnTo>
                    <a:pt x="692121" y="754005"/>
                  </a:lnTo>
                  <a:lnTo>
                    <a:pt x="697343" y="756728"/>
                  </a:lnTo>
                  <a:lnTo>
                    <a:pt x="702110" y="759904"/>
                  </a:lnTo>
                  <a:lnTo>
                    <a:pt x="706650" y="763080"/>
                  </a:lnTo>
                  <a:lnTo>
                    <a:pt x="710963" y="766937"/>
                  </a:lnTo>
                  <a:lnTo>
                    <a:pt x="715049" y="770794"/>
                  </a:lnTo>
                  <a:lnTo>
                    <a:pt x="718908" y="774877"/>
                  </a:lnTo>
                  <a:lnTo>
                    <a:pt x="722313" y="779188"/>
                  </a:lnTo>
                  <a:lnTo>
                    <a:pt x="725718" y="783952"/>
                  </a:lnTo>
                  <a:lnTo>
                    <a:pt x="728670" y="788943"/>
                  </a:lnTo>
                  <a:lnTo>
                    <a:pt x="731167" y="793934"/>
                  </a:lnTo>
                  <a:lnTo>
                    <a:pt x="733437" y="799379"/>
                  </a:lnTo>
                  <a:lnTo>
                    <a:pt x="735253" y="804824"/>
                  </a:lnTo>
                  <a:lnTo>
                    <a:pt x="736615" y="810496"/>
                  </a:lnTo>
                  <a:lnTo>
                    <a:pt x="737750" y="816167"/>
                  </a:lnTo>
                  <a:lnTo>
                    <a:pt x="738431" y="822066"/>
                  </a:lnTo>
                  <a:lnTo>
                    <a:pt x="738658" y="828191"/>
                  </a:lnTo>
                  <a:lnTo>
                    <a:pt x="738658" y="832729"/>
                  </a:lnTo>
                  <a:lnTo>
                    <a:pt x="738431" y="836812"/>
                  </a:lnTo>
                  <a:lnTo>
                    <a:pt x="737523" y="840896"/>
                  </a:lnTo>
                  <a:lnTo>
                    <a:pt x="736842" y="844980"/>
                  </a:lnTo>
                  <a:lnTo>
                    <a:pt x="735934" y="849063"/>
                  </a:lnTo>
                  <a:lnTo>
                    <a:pt x="734799" y="852920"/>
                  </a:lnTo>
                  <a:lnTo>
                    <a:pt x="733664" y="856777"/>
                  </a:lnTo>
                  <a:lnTo>
                    <a:pt x="732075" y="860407"/>
                  </a:lnTo>
                  <a:lnTo>
                    <a:pt x="730259" y="864263"/>
                  </a:lnTo>
                  <a:lnTo>
                    <a:pt x="728670" y="867666"/>
                  </a:lnTo>
                  <a:lnTo>
                    <a:pt x="726626" y="871296"/>
                  </a:lnTo>
                  <a:lnTo>
                    <a:pt x="724583" y="874699"/>
                  </a:lnTo>
                  <a:lnTo>
                    <a:pt x="722086" y="877876"/>
                  </a:lnTo>
                  <a:lnTo>
                    <a:pt x="719589" y="881052"/>
                  </a:lnTo>
                  <a:lnTo>
                    <a:pt x="717092" y="884228"/>
                  </a:lnTo>
                  <a:lnTo>
                    <a:pt x="714141" y="886950"/>
                  </a:lnTo>
                  <a:lnTo>
                    <a:pt x="711417" y="889673"/>
                  </a:lnTo>
                  <a:lnTo>
                    <a:pt x="708239" y="892395"/>
                  </a:lnTo>
                  <a:lnTo>
                    <a:pt x="705288" y="894891"/>
                  </a:lnTo>
                  <a:lnTo>
                    <a:pt x="702110" y="896933"/>
                  </a:lnTo>
                  <a:lnTo>
                    <a:pt x="698705" y="899428"/>
                  </a:lnTo>
                  <a:lnTo>
                    <a:pt x="695299" y="901243"/>
                  </a:lnTo>
                  <a:lnTo>
                    <a:pt x="691440" y="903058"/>
                  </a:lnTo>
                  <a:lnTo>
                    <a:pt x="688035" y="904646"/>
                  </a:lnTo>
                  <a:lnTo>
                    <a:pt x="684176" y="906234"/>
                  </a:lnTo>
                  <a:lnTo>
                    <a:pt x="680317" y="907595"/>
                  </a:lnTo>
                  <a:lnTo>
                    <a:pt x="676231" y="908730"/>
                  </a:lnTo>
                  <a:lnTo>
                    <a:pt x="672372" y="909637"/>
                  </a:lnTo>
                  <a:lnTo>
                    <a:pt x="668286" y="910318"/>
                  </a:lnTo>
                  <a:lnTo>
                    <a:pt x="664199" y="910771"/>
                  </a:lnTo>
                  <a:lnTo>
                    <a:pt x="659886" y="911225"/>
                  </a:lnTo>
                  <a:lnTo>
                    <a:pt x="655573" y="911225"/>
                  </a:lnTo>
                  <a:lnTo>
                    <a:pt x="651260" y="911225"/>
                  </a:lnTo>
                  <a:lnTo>
                    <a:pt x="646947" y="910771"/>
                  </a:lnTo>
                  <a:lnTo>
                    <a:pt x="643088" y="910318"/>
                  </a:lnTo>
                  <a:lnTo>
                    <a:pt x="638775" y="909637"/>
                  </a:lnTo>
                  <a:lnTo>
                    <a:pt x="634915" y="908730"/>
                  </a:lnTo>
                  <a:lnTo>
                    <a:pt x="630829" y="907595"/>
                  </a:lnTo>
                  <a:lnTo>
                    <a:pt x="627197" y="906234"/>
                  </a:lnTo>
                  <a:lnTo>
                    <a:pt x="623338" y="904646"/>
                  </a:lnTo>
                  <a:lnTo>
                    <a:pt x="619706" y="903058"/>
                  </a:lnTo>
                  <a:lnTo>
                    <a:pt x="616074" y="901243"/>
                  </a:lnTo>
                  <a:lnTo>
                    <a:pt x="612669" y="899428"/>
                  </a:lnTo>
                  <a:lnTo>
                    <a:pt x="609037" y="896933"/>
                  </a:lnTo>
                  <a:lnTo>
                    <a:pt x="605858" y="894891"/>
                  </a:lnTo>
                  <a:lnTo>
                    <a:pt x="602680" y="892395"/>
                  </a:lnTo>
                  <a:lnTo>
                    <a:pt x="599729" y="889673"/>
                  </a:lnTo>
                  <a:lnTo>
                    <a:pt x="596778" y="886950"/>
                  </a:lnTo>
                  <a:lnTo>
                    <a:pt x="594054" y="884228"/>
                  </a:lnTo>
                  <a:lnTo>
                    <a:pt x="591557" y="881052"/>
                  </a:lnTo>
                  <a:lnTo>
                    <a:pt x="588833" y="877876"/>
                  </a:lnTo>
                  <a:lnTo>
                    <a:pt x="586790" y="874699"/>
                  </a:lnTo>
                  <a:lnTo>
                    <a:pt x="584520" y="871296"/>
                  </a:lnTo>
                  <a:lnTo>
                    <a:pt x="582704" y="867666"/>
                  </a:lnTo>
                  <a:lnTo>
                    <a:pt x="580661" y="864263"/>
                  </a:lnTo>
                  <a:lnTo>
                    <a:pt x="579072" y="860407"/>
                  </a:lnTo>
                  <a:lnTo>
                    <a:pt x="577710" y="856777"/>
                  </a:lnTo>
                  <a:lnTo>
                    <a:pt x="576348" y="852920"/>
                  </a:lnTo>
                  <a:lnTo>
                    <a:pt x="575212" y="849063"/>
                  </a:lnTo>
                  <a:lnTo>
                    <a:pt x="574077" y="844980"/>
                  </a:lnTo>
                  <a:lnTo>
                    <a:pt x="573396" y="840896"/>
                  </a:lnTo>
                  <a:lnTo>
                    <a:pt x="572942" y="836812"/>
                  </a:lnTo>
                  <a:lnTo>
                    <a:pt x="572488" y="832729"/>
                  </a:lnTo>
                  <a:lnTo>
                    <a:pt x="572488" y="828191"/>
                  </a:lnTo>
                  <a:lnTo>
                    <a:pt x="572488" y="825242"/>
                  </a:lnTo>
                  <a:lnTo>
                    <a:pt x="572715" y="822066"/>
                  </a:lnTo>
                  <a:lnTo>
                    <a:pt x="573623" y="815940"/>
                  </a:lnTo>
                  <a:lnTo>
                    <a:pt x="574986" y="810042"/>
                  </a:lnTo>
                  <a:lnTo>
                    <a:pt x="576575" y="804370"/>
                  </a:lnTo>
                  <a:lnTo>
                    <a:pt x="454445" y="733134"/>
                  </a:lnTo>
                  <a:lnTo>
                    <a:pt x="449904" y="736083"/>
                  </a:lnTo>
                  <a:lnTo>
                    <a:pt x="444910" y="738352"/>
                  </a:lnTo>
                  <a:lnTo>
                    <a:pt x="439689" y="740166"/>
                  </a:lnTo>
                  <a:lnTo>
                    <a:pt x="434468" y="741981"/>
                  </a:lnTo>
                  <a:lnTo>
                    <a:pt x="429020" y="743569"/>
                  </a:lnTo>
                  <a:lnTo>
                    <a:pt x="423571" y="744477"/>
                  </a:lnTo>
                  <a:lnTo>
                    <a:pt x="417669" y="745158"/>
                  </a:lnTo>
                  <a:lnTo>
                    <a:pt x="412221" y="745384"/>
                  </a:lnTo>
                  <a:lnTo>
                    <a:pt x="408589" y="745158"/>
                  </a:lnTo>
                  <a:lnTo>
                    <a:pt x="405411" y="744931"/>
                  </a:lnTo>
                  <a:lnTo>
                    <a:pt x="398828" y="744023"/>
                  </a:lnTo>
                  <a:lnTo>
                    <a:pt x="305755" y="898294"/>
                  </a:lnTo>
                  <a:lnTo>
                    <a:pt x="257175" y="869255"/>
                  </a:lnTo>
                  <a:lnTo>
                    <a:pt x="349113" y="716118"/>
                  </a:lnTo>
                  <a:lnTo>
                    <a:pt x="347070" y="713396"/>
                  </a:lnTo>
                  <a:lnTo>
                    <a:pt x="344573" y="710220"/>
                  </a:lnTo>
                  <a:lnTo>
                    <a:pt x="342757" y="707497"/>
                  </a:lnTo>
                  <a:lnTo>
                    <a:pt x="340714" y="704321"/>
                  </a:lnTo>
                  <a:lnTo>
                    <a:pt x="339125" y="701145"/>
                  </a:lnTo>
                  <a:lnTo>
                    <a:pt x="337536" y="697969"/>
                  </a:lnTo>
                  <a:lnTo>
                    <a:pt x="335720" y="694793"/>
                  </a:lnTo>
                  <a:lnTo>
                    <a:pt x="334358" y="691390"/>
                  </a:lnTo>
                  <a:lnTo>
                    <a:pt x="333223" y="687987"/>
                  </a:lnTo>
                  <a:lnTo>
                    <a:pt x="332087" y="684584"/>
                  </a:lnTo>
                  <a:lnTo>
                    <a:pt x="331179" y="680954"/>
                  </a:lnTo>
                  <a:lnTo>
                    <a:pt x="330498" y="677324"/>
                  </a:lnTo>
                  <a:lnTo>
                    <a:pt x="329590" y="673467"/>
                  </a:lnTo>
                  <a:lnTo>
                    <a:pt x="329136" y="670064"/>
                  </a:lnTo>
                  <a:lnTo>
                    <a:pt x="328909" y="665981"/>
                  </a:lnTo>
                  <a:lnTo>
                    <a:pt x="328909" y="662351"/>
                  </a:lnTo>
                  <a:lnTo>
                    <a:pt x="328909" y="658040"/>
                  </a:lnTo>
                  <a:lnTo>
                    <a:pt x="329363" y="653730"/>
                  </a:lnTo>
                  <a:lnTo>
                    <a:pt x="330044" y="649646"/>
                  </a:lnTo>
                  <a:lnTo>
                    <a:pt x="330725" y="645335"/>
                  </a:lnTo>
                  <a:lnTo>
                    <a:pt x="331633" y="641479"/>
                  </a:lnTo>
                  <a:lnTo>
                    <a:pt x="332768" y="637395"/>
                  </a:lnTo>
                  <a:lnTo>
                    <a:pt x="333904" y="633765"/>
                  </a:lnTo>
                  <a:lnTo>
                    <a:pt x="335493" y="629908"/>
                  </a:lnTo>
                  <a:lnTo>
                    <a:pt x="337082" y="626279"/>
                  </a:lnTo>
                  <a:lnTo>
                    <a:pt x="339125" y="622649"/>
                  </a:lnTo>
                  <a:lnTo>
                    <a:pt x="340941" y="619246"/>
                  </a:lnTo>
                  <a:lnTo>
                    <a:pt x="342984" y="615843"/>
                  </a:lnTo>
                  <a:lnTo>
                    <a:pt x="345481" y="612666"/>
                  </a:lnTo>
                  <a:lnTo>
                    <a:pt x="347978" y="609263"/>
                  </a:lnTo>
                  <a:lnTo>
                    <a:pt x="350475" y="606314"/>
                  </a:lnTo>
                  <a:lnTo>
                    <a:pt x="353426" y="603592"/>
                  </a:lnTo>
                  <a:lnTo>
                    <a:pt x="356150" y="600642"/>
                  </a:lnTo>
                  <a:lnTo>
                    <a:pt x="359101" y="598147"/>
                  </a:lnTo>
                  <a:lnTo>
                    <a:pt x="362279" y="595878"/>
                  </a:lnTo>
                  <a:lnTo>
                    <a:pt x="365458" y="593383"/>
                  </a:lnTo>
                  <a:lnTo>
                    <a:pt x="369090" y="591341"/>
                  </a:lnTo>
                  <a:lnTo>
                    <a:pt x="372495" y="589299"/>
                  </a:lnTo>
                  <a:lnTo>
                    <a:pt x="376127" y="587484"/>
                  </a:lnTo>
                  <a:lnTo>
                    <a:pt x="379759" y="585669"/>
                  </a:lnTo>
                  <a:lnTo>
                    <a:pt x="383618" y="584308"/>
                  </a:lnTo>
                  <a:lnTo>
                    <a:pt x="387250" y="582947"/>
                  </a:lnTo>
                  <a:lnTo>
                    <a:pt x="391336" y="581812"/>
                  </a:lnTo>
                  <a:lnTo>
                    <a:pt x="395196" y="580905"/>
                  </a:lnTo>
                  <a:lnTo>
                    <a:pt x="399509" y="580224"/>
                  </a:lnTo>
                  <a:lnTo>
                    <a:pt x="403368" y="579544"/>
                  </a:lnTo>
                  <a:lnTo>
                    <a:pt x="407681" y="579317"/>
                  </a:lnTo>
                  <a:lnTo>
                    <a:pt x="412221" y="579090"/>
                  </a:lnTo>
                  <a:lnTo>
                    <a:pt x="416307" y="579317"/>
                  </a:lnTo>
                  <a:lnTo>
                    <a:pt x="420620" y="579544"/>
                  </a:lnTo>
                  <a:lnTo>
                    <a:pt x="424707" y="580224"/>
                  </a:lnTo>
                  <a:lnTo>
                    <a:pt x="428793" y="580905"/>
                  </a:lnTo>
                  <a:lnTo>
                    <a:pt x="432652" y="581812"/>
                  </a:lnTo>
                  <a:lnTo>
                    <a:pt x="436738" y="582947"/>
                  </a:lnTo>
                  <a:lnTo>
                    <a:pt x="440597" y="584308"/>
                  </a:lnTo>
                  <a:lnTo>
                    <a:pt x="444456" y="585669"/>
                  </a:lnTo>
                  <a:lnTo>
                    <a:pt x="447861" y="587484"/>
                  </a:lnTo>
                  <a:lnTo>
                    <a:pt x="451720" y="589299"/>
                  </a:lnTo>
                  <a:lnTo>
                    <a:pt x="454899" y="591341"/>
                  </a:lnTo>
                  <a:lnTo>
                    <a:pt x="458531" y="593383"/>
                  </a:lnTo>
                  <a:lnTo>
                    <a:pt x="461709" y="595878"/>
                  </a:lnTo>
                  <a:lnTo>
                    <a:pt x="464887" y="598147"/>
                  </a:lnTo>
                  <a:lnTo>
                    <a:pt x="467838" y="600642"/>
                  </a:lnTo>
                  <a:lnTo>
                    <a:pt x="470562" y="603592"/>
                  </a:lnTo>
                  <a:lnTo>
                    <a:pt x="473513" y="606314"/>
                  </a:lnTo>
                  <a:lnTo>
                    <a:pt x="476010" y="609263"/>
                  </a:lnTo>
                  <a:lnTo>
                    <a:pt x="478734" y="612666"/>
                  </a:lnTo>
                  <a:lnTo>
                    <a:pt x="481004" y="615843"/>
                  </a:lnTo>
                  <a:lnTo>
                    <a:pt x="483047" y="619246"/>
                  </a:lnTo>
                  <a:lnTo>
                    <a:pt x="484864" y="622649"/>
                  </a:lnTo>
                  <a:lnTo>
                    <a:pt x="486907" y="626279"/>
                  </a:lnTo>
                  <a:lnTo>
                    <a:pt x="488496" y="629908"/>
                  </a:lnTo>
                  <a:lnTo>
                    <a:pt x="490085" y="633765"/>
                  </a:lnTo>
                  <a:lnTo>
                    <a:pt x="491220" y="637395"/>
                  </a:lnTo>
                  <a:lnTo>
                    <a:pt x="492355" y="641479"/>
                  </a:lnTo>
                  <a:lnTo>
                    <a:pt x="493490" y="645335"/>
                  </a:lnTo>
                  <a:lnTo>
                    <a:pt x="494171" y="649646"/>
                  </a:lnTo>
                  <a:lnTo>
                    <a:pt x="494625" y="653730"/>
                  </a:lnTo>
                  <a:lnTo>
                    <a:pt x="495079" y="658040"/>
                  </a:lnTo>
                  <a:lnTo>
                    <a:pt x="495079" y="662351"/>
                  </a:lnTo>
                  <a:lnTo>
                    <a:pt x="495079" y="665527"/>
                  </a:lnTo>
                  <a:lnTo>
                    <a:pt x="494852" y="669157"/>
                  </a:lnTo>
                  <a:lnTo>
                    <a:pt x="494398" y="672333"/>
                  </a:lnTo>
                  <a:lnTo>
                    <a:pt x="493944" y="675509"/>
                  </a:lnTo>
                  <a:lnTo>
                    <a:pt x="492355" y="682088"/>
                  </a:lnTo>
                  <a:lnTo>
                    <a:pt x="490539" y="688214"/>
                  </a:lnTo>
                  <a:lnTo>
                    <a:pt x="610853" y="758543"/>
                  </a:lnTo>
                  <a:lnTo>
                    <a:pt x="616528" y="755140"/>
                  </a:lnTo>
                  <a:lnTo>
                    <a:pt x="622430" y="752417"/>
                  </a:lnTo>
                  <a:lnTo>
                    <a:pt x="628559" y="749922"/>
                  </a:lnTo>
                  <a:lnTo>
                    <a:pt x="634915" y="748107"/>
                  </a:lnTo>
                  <a:lnTo>
                    <a:pt x="690305" y="547101"/>
                  </a:lnTo>
                  <a:lnTo>
                    <a:pt x="686673" y="544152"/>
                  </a:lnTo>
                  <a:lnTo>
                    <a:pt x="682814" y="540976"/>
                  </a:lnTo>
                  <a:lnTo>
                    <a:pt x="679409" y="537800"/>
                  </a:lnTo>
                  <a:lnTo>
                    <a:pt x="676004" y="533943"/>
                  </a:lnTo>
                  <a:lnTo>
                    <a:pt x="673053" y="530540"/>
                  </a:lnTo>
                  <a:lnTo>
                    <a:pt x="670102" y="526456"/>
                  </a:lnTo>
                  <a:lnTo>
                    <a:pt x="667605" y="522373"/>
                  </a:lnTo>
                  <a:lnTo>
                    <a:pt x="665107" y="518062"/>
                  </a:lnTo>
                  <a:lnTo>
                    <a:pt x="662837" y="513979"/>
                  </a:lnTo>
                  <a:lnTo>
                    <a:pt x="661021" y="509214"/>
                  </a:lnTo>
                  <a:lnTo>
                    <a:pt x="659432" y="504450"/>
                  </a:lnTo>
                  <a:lnTo>
                    <a:pt x="658070" y="499913"/>
                  </a:lnTo>
                  <a:lnTo>
                    <a:pt x="657162" y="494922"/>
                  </a:lnTo>
                  <a:lnTo>
                    <a:pt x="656027" y="489931"/>
                  </a:lnTo>
                  <a:lnTo>
                    <a:pt x="655573" y="484940"/>
                  </a:lnTo>
                  <a:lnTo>
                    <a:pt x="655573" y="479722"/>
                  </a:lnTo>
                  <a:lnTo>
                    <a:pt x="655573" y="475411"/>
                  </a:lnTo>
                  <a:lnTo>
                    <a:pt x="655800" y="471327"/>
                  </a:lnTo>
                  <a:lnTo>
                    <a:pt x="656708" y="467017"/>
                  </a:lnTo>
                  <a:lnTo>
                    <a:pt x="657389" y="463160"/>
                  </a:lnTo>
                  <a:lnTo>
                    <a:pt x="658297" y="458850"/>
                  </a:lnTo>
                  <a:lnTo>
                    <a:pt x="659432" y="455220"/>
                  </a:lnTo>
                  <a:lnTo>
                    <a:pt x="660567" y="451136"/>
                  </a:lnTo>
                  <a:lnTo>
                    <a:pt x="661929" y="447506"/>
                  </a:lnTo>
                  <a:lnTo>
                    <a:pt x="663745" y="443649"/>
                  </a:lnTo>
                  <a:lnTo>
                    <a:pt x="665561" y="440246"/>
                  </a:lnTo>
                  <a:lnTo>
                    <a:pt x="667605" y="436617"/>
                  </a:lnTo>
                  <a:lnTo>
                    <a:pt x="669648" y="433440"/>
                  </a:lnTo>
                  <a:lnTo>
                    <a:pt x="672145" y="430037"/>
                  </a:lnTo>
                  <a:lnTo>
                    <a:pt x="674642" y="426861"/>
                  </a:lnTo>
                  <a:lnTo>
                    <a:pt x="677139" y="423912"/>
                  </a:lnTo>
                  <a:lnTo>
                    <a:pt x="679863" y="420963"/>
                  </a:lnTo>
                  <a:lnTo>
                    <a:pt x="682814" y="418240"/>
                  </a:lnTo>
                  <a:lnTo>
                    <a:pt x="685765" y="415518"/>
                  </a:lnTo>
                  <a:lnTo>
                    <a:pt x="688943" y="413249"/>
                  </a:lnTo>
                  <a:lnTo>
                    <a:pt x="692121" y="410980"/>
                  </a:lnTo>
                  <a:lnTo>
                    <a:pt x="695526" y="408712"/>
                  </a:lnTo>
                  <a:lnTo>
                    <a:pt x="698932" y="406670"/>
                  </a:lnTo>
                  <a:lnTo>
                    <a:pt x="702791" y="404855"/>
                  </a:lnTo>
                  <a:lnTo>
                    <a:pt x="706196" y="403267"/>
                  </a:lnTo>
                  <a:lnTo>
                    <a:pt x="710055" y="401679"/>
                  </a:lnTo>
                  <a:lnTo>
                    <a:pt x="713914" y="400318"/>
                  </a:lnTo>
                  <a:lnTo>
                    <a:pt x="718000" y="399410"/>
                  </a:lnTo>
                  <a:lnTo>
                    <a:pt x="721859" y="398503"/>
                  </a:lnTo>
                  <a:lnTo>
                    <a:pt x="725945" y="397595"/>
                  </a:lnTo>
                  <a:lnTo>
                    <a:pt x="730032" y="397141"/>
                  </a:lnTo>
                  <a:lnTo>
                    <a:pt x="734345" y="396915"/>
                  </a:lnTo>
                  <a:lnTo>
                    <a:pt x="738658" y="396688"/>
                  </a:lnTo>
                  <a:lnTo>
                    <a:pt x="744106" y="396915"/>
                  </a:lnTo>
                  <a:lnTo>
                    <a:pt x="749554" y="397595"/>
                  </a:lnTo>
                  <a:lnTo>
                    <a:pt x="754775" y="398276"/>
                  </a:lnTo>
                  <a:lnTo>
                    <a:pt x="759770" y="399637"/>
                  </a:lnTo>
                  <a:lnTo>
                    <a:pt x="764764" y="400998"/>
                  </a:lnTo>
                  <a:lnTo>
                    <a:pt x="769758" y="403040"/>
                  </a:lnTo>
                  <a:lnTo>
                    <a:pt x="774298" y="405082"/>
                  </a:lnTo>
                  <a:lnTo>
                    <a:pt x="778838" y="407577"/>
                  </a:lnTo>
                  <a:lnTo>
                    <a:pt x="916859" y="288925"/>
                  </a:lnTo>
                  <a:close/>
                  <a:moveTo>
                    <a:pt x="607752" y="120128"/>
                  </a:moveTo>
                  <a:lnTo>
                    <a:pt x="595738" y="120581"/>
                  </a:lnTo>
                  <a:lnTo>
                    <a:pt x="583950" y="121488"/>
                  </a:lnTo>
                  <a:lnTo>
                    <a:pt x="571936" y="122621"/>
                  </a:lnTo>
                  <a:lnTo>
                    <a:pt x="559921" y="123755"/>
                  </a:lnTo>
                  <a:lnTo>
                    <a:pt x="548133" y="125341"/>
                  </a:lnTo>
                  <a:lnTo>
                    <a:pt x="536119" y="127154"/>
                  </a:lnTo>
                  <a:lnTo>
                    <a:pt x="524331" y="129421"/>
                  </a:lnTo>
                  <a:lnTo>
                    <a:pt x="512543" y="131688"/>
                  </a:lnTo>
                  <a:lnTo>
                    <a:pt x="500755" y="134407"/>
                  </a:lnTo>
                  <a:lnTo>
                    <a:pt x="489194" y="137581"/>
                  </a:lnTo>
                  <a:lnTo>
                    <a:pt x="477406" y="140754"/>
                  </a:lnTo>
                  <a:lnTo>
                    <a:pt x="466072" y="144380"/>
                  </a:lnTo>
                  <a:lnTo>
                    <a:pt x="454511" y="148234"/>
                  </a:lnTo>
                  <a:lnTo>
                    <a:pt x="443176" y="152313"/>
                  </a:lnTo>
                  <a:lnTo>
                    <a:pt x="431615" y="156620"/>
                  </a:lnTo>
                  <a:lnTo>
                    <a:pt x="420508" y="161380"/>
                  </a:lnTo>
                  <a:lnTo>
                    <a:pt x="409400" y="166593"/>
                  </a:lnTo>
                  <a:lnTo>
                    <a:pt x="398519" y="171579"/>
                  </a:lnTo>
                  <a:lnTo>
                    <a:pt x="387411" y="177246"/>
                  </a:lnTo>
                  <a:lnTo>
                    <a:pt x="376530" y="183139"/>
                  </a:lnTo>
                  <a:lnTo>
                    <a:pt x="365876" y="189485"/>
                  </a:lnTo>
                  <a:lnTo>
                    <a:pt x="355221" y="195831"/>
                  </a:lnTo>
                  <a:lnTo>
                    <a:pt x="344794" y="202631"/>
                  </a:lnTo>
                  <a:lnTo>
                    <a:pt x="334593" y="209431"/>
                  </a:lnTo>
                  <a:lnTo>
                    <a:pt x="324392" y="216684"/>
                  </a:lnTo>
                  <a:lnTo>
                    <a:pt x="314191" y="224163"/>
                  </a:lnTo>
                  <a:lnTo>
                    <a:pt x="304443" y="232323"/>
                  </a:lnTo>
                  <a:lnTo>
                    <a:pt x="294695" y="240483"/>
                  </a:lnTo>
                  <a:lnTo>
                    <a:pt x="284948" y="248869"/>
                  </a:lnTo>
                  <a:lnTo>
                    <a:pt x="275654" y="257482"/>
                  </a:lnTo>
                  <a:lnTo>
                    <a:pt x="266359" y="266548"/>
                  </a:lnTo>
                  <a:lnTo>
                    <a:pt x="257518" y="275614"/>
                  </a:lnTo>
                  <a:lnTo>
                    <a:pt x="248678" y="285134"/>
                  </a:lnTo>
                  <a:lnTo>
                    <a:pt x="240290" y="294654"/>
                  </a:lnTo>
                  <a:lnTo>
                    <a:pt x="232129" y="304400"/>
                  </a:lnTo>
                  <a:lnTo>
                    <a:pt x="224195" y="314373"/>
                  </a:lnTo>
                  <a:lnTo>
                    <a:pt x="216714" y="324346"/>
                  </a:lnTo>
                  <a:lnTo>
                    <a:pt x="209460" y="334545"/>
                  </a:lnTo>
                  <a:lnTo>
                    <a:pt x="202433" y="344971"/>
                  </a:lnTo>
                  <a:lnTo>
                    <a:pt x="195632" y="355397"/>
                  </a:lnTo>
                  <a:lnTo>
                    <a:pt x="189058" y="366050"/>
                  </a:lnTo>
                  <a:lnTo>
                    <a:pt x="183164" y="376703"/>
                  </a:lnTo>
                  <a:lnTo>
                    <a:pt x="177271" y="387583"/>
                  </a:lnTo>
                  <a:lnTo>
                    <a:pt x="171603" y="398462"/>
                  </a:lnTo>
                  <a:lnTo>
                    <a:pt x="166390" y="409342"/>
                  </a:lnTo>
                  <a:lnTo>
                    <a:pt x="161402" y="420448"/>
                  </a:lnTo>
                  <a:lnTo>
                    <a:pt x="156642" y="431554"/>
                  </a:lnTo>
                  <a:lnTo>
                    <a:pt x="152108" y="443114"/>
                  </a:lnTo>
                  <a:lnTo>
                    <a:pt x="148028" y="454673"/>
                  </a:lnTo>
                  <a:lnTo>
                    <a:pt x="144174" y="466006"/>
                  </a:lnTo>
                  <a:lnTo>
                    <a:pt x="140774" y="477565"/>
                  </a:lnTo>
                  <a:lnTo>
                    <a:pt x="137373" y="489125"/>
                  </a:lnTo>
                  <a:lnTo>
                    <a:pt x="134426" y="500911"/>
                  </a:lnTo>
                  <a:lnTo>
                    <a:pt x="131706" y="512470"/>
                  </a:lnTo>
                  <a:lnTo>
                    <a:pt x="129213" y="524256"/>
                  </a:lnTo>
                  <a:lnTo>
                    <a:pt x="127172" y="536269"/>
                  </a:lnTo>
                  <a:lnTo>
                    <a:pt x="125359" y="548055"/>
                  </a:lnTo>
                  <a:lnTo>
                    <a:pt x="123772" y="560068"/>
                  </a:lnTo>
                  <a:lnTo>
                    <a:pt x="122185" y="571854"/>
                  </a:lnTo>
                  <a:lnTo>
                    <a:pt x="121278" y="583867"/>
                  </a:lnTo>
                  <a:lnTo>
                    <a:pt x="120598" y="595880"/>
                  </a:lnTo>
                  <a:lnTo>
                    <a:pt x="120145" y="607666"/>
                  </a:lnTo>
                  <a:lnTo>
                    <a:pt x="120145" y="619905"/>
                  </a:lnTo>
                  <a:lnTo>
                    <a:pt x="120145" y="631918"/>
                  </a:lnTo>
                  <a:lnTo>
                    <a:pt x="120598" y="643704"/>
                  </a:lnTo>
                  <a:lnTo>
                    <a:pt x="121278" y="655717"/>
                  </a:lnTo>
                  <a:lnTo>
                    <a:pt x="122185" y="667503"/>
                  </a:lnTo>
                  <a:lnTo>
                    <a:pt x="123772" y="679516"/>
                  </a:lnTo>
                  <a:lnTo>
                    <a:pt x="125359" y="691529"/>
                  </a:lnTo>
                  <a:lnTo>
                    <a:pt x="127172" y="703315"/>
                  </a:lnTo>
                  <a:lnTo>
                    <a:pt x="129213" y="715328"/>
                  </a:lnTo>
                  <a:lnTo>
                    <a:pt x="131706" y="726887"/>
                  </a:lnTo>
                  <a:lnTo>
                    <a:pt x="134426" y="738673"/>
                  </a:lnTo>
                  <a:lnTo>
                    <a:pt x="137373" y="750460"/>
                  </a:lnTo>
                  <a:lnTo>
                    <a:pt x="140774" y="762019"/>
                  </a:lnTo>
                  <a:lnTo>
                    <a:pt x="144174" y="773579"/>
                  </a:lnTo>
                  <a:lnTo>
                    <a:pt x="148028" y="784911"/>
                  </a:lnTo>
                  <a:lnTo>
                    <a:pt x="152108" y="796471"/>
                  </a:lnTo>
                  <a:lnTo>
                    <a:pt x="156642" y="807804"/>
                  </a:lnTo>
                  <a:lnTo>
                    <a:pt x="161402" y="819136"/>
                  </a:lnTo>
                  <a:lnTo>
                    <a:pt x="166390" y="830016"/>
                  </a:lnTo>
                  <a:lnTo>
                    <a:pt x="171603" y="841122"/>
                  </a:lnTo>
                  <a:lnTo>
                    <a:pt x="177271" y="852002"/>
                  </a:lnTo>
                  <a:lnTo>
                    <a:pt x="183164" y="862881"/>
                  </a:lnTo>
                  <a:lnTo>
                    <a:pt x="189058" y="873534"/>
                  </a:lnTo>
                  <a:lnTo>
                    <a:pt x="195632" y="884187"/>
                  </a:lnTo>
                  <a:lnTo>
                    <a:pt x="202433" y="894613"/>
                  </a:lnTo>
                  <a:lnTo>
                    <a:pt x="209460" y="904813"/>
                  </a:lnTo>
                  <a:lnTo>
                    <a:pt x="216714" y="915239"/>
                  </a:lnTo>
                  <a:lnTo>
                    <a:pt x="224195" y="925212"/>
                  </a:lnTo>
                  <a:lnTo>
                    <a:pt x="232129" y="934958"/>
                  </a:lnTo>
                  <a:lnTo>
                    <a:pt x="240290" y="944931"/>
                  </a:lnTo>
                  <a:lnTo>
                    <a:pt x="248678" y="954450"/>
                  </a:lnTo>
                  <a:lnTo>
                    <a:pt x="257518" y="963743"/>
                  </a:lnTo>
                  <a:lnTo>
                    <a:pt x="266359" y="973036"/>
                  </a:lnTo>
                  <a:lnTo>
                    <a:pt x="275654" y="982102"/>
                  </a:lnTo>
                  <a:lnTo>
                    <a:pt x="284948" y="990715"/>
                  </a:lnTo>
                  <a:lnTo>
                    <a:pt x="294695" y="999102"/>
                  </a:lnTo>
                  <a:lnTo>
                    <a:pt x="304443" y="1007261"/>
                  </a:lnTo>
                  <a:lnTo>
                    <a:pt x="314191" y="1015194"/>
                  </a:lnTo>
                  <a:lnTo>
                    <a:pt x="324392" y="1022674"/>
                  </a:lnTo>
                  <a:lnTo>
                    <a:pt x="334593" y="1029927"/>
                  </a:lnTo>
                  <a:lnTo>
                    <a:pt x="344794" y="1036953"/>
                  </a:lnTo>
                  <a:lnTo>
                    <a:pt x="355221" y="1043753"/>
                  </a:lnTo>
                  <a:lnTo>
                    <a:pt x="365876" y="1050099"/>
                  </a:lnTo>
                  <a:lnTo>
                    <a:pt x="376530" y="1056446"/>
                  </a:lnTo>
                  <a:lnTo>
                    <a:pt x="387411" y="1062339"/>
                  </a:lnTo>
                  <a:lnTo>
                    <a:pt x="398292" y="1067779"/>
                  </a:lnTo>
                  <a:lnTo>
                    <a:pt x="409400" y="1072992"/>
                  </a:lnTo>
                  <a:lnTo>
                    <a:pt x="420508" y="1078205"/>
                  </a:lnTo>
                  <a:lnTo>
                    <a:pt x="431615" y="1082738"/>
                  </a:lnTo>
                  <a:lnTo>
                    <a:pt x="443176" y="1087271"/>
                  </a:lnTo>
                  <a:lnTo>
                    <a:pt x="454511" y="1091351"/>
                  </a:lnTo>
                  <a:lnTo>
                    <a:pt x="466072" y="1095204"/>
                  </a:lnTo>
                  <a:lnTo>
                    <a:pt x="477406" y="1098830"/>
                  </a:lnTo>
                  <a:lnTo>
                    <a:pt x="489194" y="1102004"/>
                  </a:lnTo>
                  <a:lnTo>
                    <a:pt x="500755" y="1104950"/>
                  </a:lnTo>
                  <a:lnTo>
                    <a:pt x="512543" y="1107897"/>
                  </a:lnTo>
                  <a:lnTo>
                    <a:pt x="524331" y="1110163"/>
                  </a:lnTo>
                  <a:lnTo>
                    <a:pt x="536119" y="1112203"/>
                  </a:lnTo>
                  <a:lnTo>
                    <a:pt x="548133" y="1114243"/>
                  </a:lnTo>
                  <a:lnTo>
                    <a:pt x="559921" y="1115830"/>
                  </a:lnTo>
                  <a:lnTo>
                    <a:pt x="571936" y="1116963"/>
                  </a:lnTo>
                  <a:lnTo>
                    <a:pt x="583950" y="1118096"/>
                  </a:lnTo>
                  <a:lnTo>
                    <a:pt x="595738" y="1118776"/>
                  </a:lnTo>
                  <a:lnTo>
                    <a:pt x="607752" y="1119230"/>
                  </a:lnTo>
                  <a:lnTo>
                    <a:pt x="619540" y="1119230"/>
                  </a:lnTo>
                  <a:lnTo>
                    <a:pt x="631782" y="1119230"/>
                  </a:lnTo>
                  <a:lnTo>
                    <a:pt x="643796" y="1118776"/>
                  </a:lnTo>
                  <a:lnTo>
                    <a:pt x="655584" y="1118096"/>
                  </a:lnTo>
                  <a:lnTo>
                    <a:pt x="667598" y="1116963"/>
                  </a:lnTo>
                  <a:lnTo>
                    <a:pt x="679613" y="1115830"/>
                  </a:lnTo>
                  <a:lnTo>
                    <a:pt x="691401" y="1114243"/>
                  </a:lnTo>
                  <a:lnTo>
                    <a:pt x="703415" y="1112203"/>
                  </a:lnTo>
                  <a:lnTo>
                    <a:pt x="715203" y="1110163"/>
                  </a:lnTo>
                  <a:lnTo>
                    <a:pt x="726991" y="1107897"/>
                  </a:lnTo>
                  <a:lnTo>
                    <a:pt x="738779" y="1104950"/>
                  </a:lnTo>
                  <a:lnTo>
                    <a:pt x="750340" y="1102004"/>
                  </a:lnTo>
                  <a:lnTo>
                    <a:pt x="762128" y="1098830"/>
                  </a:lnTo>
                  <a:lnTo>
                    <a:pt x="773462" y="1095204"/>
                  </a:lnTo>
                  <a:lnTo>
                    <a:pt x="785023" y="1091351"/>
                  </a:lnTo>
                  <a:lnTo>
                    <a:pt x="796358" y="1087271"/>
                  </a:lnTo>
                  <a:lnTo>
                    <a:pt x="807692" y="1082738"/>
                  </a:lnTo>
                  <a:lnTo>
                    <a:pt x="819026" y="1078205"/>
                  </a:lnTo>
                  <a:lnTo>
                    <a:pt x="830134" y="1072992"/>
                  </a:lnTo>
                  <a:lnTo>
                    <a:pt x="841015" y="1067779"/>
                  </a:lnTo>
                  <a:lnTo>
                    <a:pt x="852123" y="1062339"/>
                  </a:lnTo>
                  <a:lnTo>
                    <a:pt x="862777" y="1056446"/>
                  </a:lnTo>
                  <a:lnTo>
                    <a:pt x="873658" y="1050099"/>
                  </a:lnTo>
                  <a:lnTo>
                    <a:pt x="884086" y="1043753"/>
                  </a:lnTo>
                  <a:lnTo>
                    <a:pt x="894740" y="1036953"/>
                  </a:lnTo>
                  <a:lnTo>
                    <a:pt x="904941" y="1029927"/>
                  </a:lnTo>
                  <a:lnTo>
                    <a:pt x="915142" y="1022674"/>
                  </a:lnTo>
                  <a:lnTo>
                    <a:pt x="925343" y="1015194"/>
                  </a:lnTo>
                  <a:lnTo>
                    <a:pt x="935091" y="1007261"/>
                  </a:lnTo>
                  <a:lnTo>
                    <a:pt x="944839" y="999102"/>
                  </a:lnTo>
                  <a:lnTo>
                    <a:pt x="954586" y="990715"/>
                  </a:lnTo>
                  <a:lnTo>
                    <a:pt x="963880" y="982102"/>
                  </a:lnTo>
                  <a:lnTo>
                    <a:pt x="972948" y="973036"/>
                  </a:lnTo>
                  <a:lnTo>
                    <a:pt x="982016" y="963743"/>
                  </a:lnTo>
                  <a:lnTo>
                    <a:pt x="990856" y="954450"/>
                  </a:lnTo>
                  <a:lnTo>
                    <a:pt x="999244" y="944931"/>
                  </a:lnTo>
                  <a:lnTo>
                    <a:pt x="1007405" y="934958"/>
                  </a:lnTo>
                  <a:lnTo>
                    <a:pt x="1015339" y="925212"/>
                  </a:lnTo>
                  <a:lnTo>
                    <a:pt x="1022820" y="915239"/>
                  </a:lnTo>
                  <a:lnTo>
                    <a:pt x="1030074" y="904813"/>
                  </a:lnTo>
                  <a:lnTo>
                    <a:pt x="1037101" y="894613"/>
                  </a:lnTo>
                  <a:lnTo>
                    <a:pt x="1043902" y="884187"/>
                  </a:lnTo>
                  <a:lnTo>
                    <a:pt x="1050249" y="873534"/>
                  </a:lnTo>
                  <a:lnTo>
                    <a:pt x="1056370" y="862881"/>
                  </a:lnTo>
                  <a:lnTo>
                    <a:pt x="1062263" y="852002"/>
                  </a:lnTo>
                  <a:lnTo>
                    <a:pt x="1067931" y="841122"/>
                  </a:lnTo>
                  <a:lnTo>
                    <a:pt x="1073144" y="830016"/>
                  </a:lnTo>
                  <a:lnTo>
                    <a:pt x="1078132" y="819136"/>
                  </a:lnTo>
                  <a:lnTo>
                    <a:pt x="1082892" y="807804"/>
                  </a:lnTo>
                  <a:lnTo>
                    <a:pt x="1087426" y="796471"/>
                  </a:lnTo>
                  <a:lnTo>
                    <a:pt x="1091280" y="784911"/>
                  </a:lnTo>
                  <a:lnTo>
                    <a:pt x="1095360" y="773579"/>
                  </a:lnTo>
                  <a:lnTo>
                    <a:pt x="1098760" y="762019"/>
                  </a:lnTo>
                  <a:lnTo>
                    <a:pt x="1102161" y="750460"/>
                  </a:lnTo>
                  <a:lnTo>
                    <a:pt x="1105108" y="738673"/>
                  </a:lnTo>
                  <a:lnTo>
                    <a:pt x="1107828" y="726887"/>
                  </a:lnTo>
                  <a:lnTo>
                    <a:pt x="1110321" y="715328"/>
                  </a:lnTo>
                  <a:lnTo>
                    <a:pt x="1112362" y="703315"/>
                  </a:lnTo>
                  <a:lnTo>
                    <a:pt x="1114175" y="691529"/>
                  </a:lnTo>
                  <a:lnTo>
                    <a:pt x="1115762" y="679516"/>
                  </a:lnTo>
                  <a:lnTo>
                    <a:pt x="1117122" y="667503"/>
                  </a:lnTo>
                  <a:lnTo>
                    <a:pt x="1118256" y="655717"/>
                  </a:lnTo>
                  <a:lnTo>
                    <a:pt x="1118936" y="643704"/>
                  </a:lnTo>
                  <a:lnTo>
                    <a:pt x="1119389" y="631918"/>
                  </a:lnTo>
                  <a:lnTo>
                    <a:pt x="1119389" y="619905"/>
                  </a:lnTo>
                  <a:lnTo>
                    <a:pt x="1119389" y="607666"/>
                  </a:lnTo>
                  <a:lnTo>
                    <a:pt x="1118936" y="595880"/>
                  </a:lnTo>
                  <a:lnTo>
                    <a:pt x="1118256" y="583867"/>
                  </a:lnTo>
                  <a:lnTo>
                    <a:pt x="1117122" y="571854"/>
                  </a:lnTo>
                  <a:lnTo>
                    <a:pt x="1115762" y="560068"/>
                  </a:lnTo>
                  <a:lnTo>
                    <a:pt x="1114175" y="548055"/>
                  </a:lnTo>
                  <a:lnTo>
                    <a:pt x="1112362" y="536269"/>
                  </a:lnTo>
                  <a:lnTo>
                    <a:pt x="1110321" y="524256"/>
                  </a:lnTo>
                  <a:lnTo>
                    <a:pt x="1107828" y="512470"/>
                  </a:lnTo>
                  <a:lnTo>
                    <a:pt x="1105108" y="500911"/>
                  </a:lnTo>
                  <a:lnTo>
                    <a:pt x="1102161" y="489125"/>
                  </a:lnTo>
                  <a:lnTo>
                    <a:pt x="1098760" y="477565"/>
                  </a:lnTo>
                  <a:lnTo>
                    <a:pt x="1095360" y="466006"/>
                  </a:lnTo>
                  <a:lnTo>
                    <a:pt x="1091280" y="454673"/>
                  </a:lnTo>
                  <a:lnTo>
                    <a:pt x="1087426" y="443114"/>
                  </a:lnTo>
                  <a:lnTo>
                    <a:pt x="1082892" y="431554"/>
                  </a:lnTo>
                  <a:lnTo>
                    <a:pt x="1078132" y="420448"/>
                  </a:lnTo>
                  <a:lnTo>
                    <a:pt x="1073144" y="409342"/>
                  </a:lnTo>
                  <a:lnTo>
                    <a:pt x="1067931" y="398462"/>
                  </a:lnTo>
                  <a:lnTo>
                    <a:pt x="1062263" y="387583"/>
                  </a:lnTo>
                  <a:lnTo>
                    <a:pt x="1056370" y="376703"/>
                  </a:lnTo>
                  <a:lnTo>
                    <a:pt x="1050249" y="366050"/>
                  </a:lnTo>
                  <a:lnTo>
                    <a:pt x="1043902" y="355397"/>
                  </a:lnTo>
                  <a:lnTo>
                    <a:pt x="1037101" y="344971"/>
                  </a:lnTo>
                  <a:lnTo>
                    <a:pt x="1030074" y="334545"/>
                  </a:lnTo>
                  <a:lnTo>
                    <a:pt x="1022820" y="324346"/>
                  </a:lnTo>
                  <a:lnTo>
                    <a:pt x="1015339" y="314373"/>
                  </a:lnTo>
                  <a:lnTo>
                    <a:pt x="1007405" y="304400"/>
                  </a:lnTo>
                  <a:lnTo>
                    <a:pt x="999244" y="294654"/>
                  </a:lnTo>
                  <a:lnTo>
                    <a:pt x="990856" y="285134"/>
                  </a:lnTo>
                  <a:lnTo>
                    <a:pt x="982016" y="275614"/>
                  </a:lnTo>
                  <a:lnTo>
                    <a:pt x="972948" y="266548"/>
                  </a:lnTo>
                  <a:lnTo>
                    <a:pt x="963880" y="257482"/>
                  </a:lnTo>
                  <a:lnTo>
                    <a:pt x="954586" y="248869"/>
                  </a:lnTo>
                  <a:lnTo>
                    <a:pt x="944839" y="240483"/>
                  </a:lnTo>
                  <a:lnTo>
                    <a:pt x="935091" y="232323"/>
                  </a:lnTo>
                  <a:lnTo>
                    <a:pt x="925343" y="224163"/>
                  </a:lnTo>
                  <a:lnTo>
                    <a:pt x="915142" y="216684"/>
                  </a:lnTo>
                  <a:lnTo>
                    <a:pt x="904941" y="209431"/>
                  </a:lnTo>
                  <a:lnTo>
                    <a:pt x="894740" y="202631"/>
                  </a:lnTo>
                  <a:lnTo>
                    <a:pt x="884086" y="195831"/>
                  </a:lnTo>
                  <a:lnTo>
                    <a:pt x="873658" y="189485"/>
                  </a:lnTo>
                  <a:lnTo>
                    <a:pt x="862777" y="183139"/>
                  </a:lnTo>
                  <a:lnTo>
                    <a:pt x="852123" y="177246"/>
                  </a:lnTo>
                  <a:lnTo>
                    <a:pt x="841015" y="171579"/>
                  </a:lnTo>
                  <a:lnTo>
                    <a:pt x="830134" y="166593"/>
                  </a:lnTo>
                  <a:lnTo>
                    <a:pt x="819026" y="161380"/>
                  </a:lnTo>
                  <a:lnTo>
                    <a:pt x="807692" y="156620"/>
                  </a:lnTo>
                  <a:lnTo>
                    <a:pt x="796358" y="152313"/>
                  </a:lnTo>
                  <a:lnTo>
                    <a:pt x="785023" y="148234"/>
                  </a:lnTo>
                  <a:lnTo>
                    <a:pt x="773462" y="144380"/>
                  </a:lnTo>
                  <a:lnTo>
                    <a:pt x="762128" y="140754"/>
                  </a:lnTo>
                  <a:lnTo>
                    <a:pt x="750340" y="137581"/>
                  </a:lnTo>
                  <a:lnTo>
                    <a:pt x="738779" y="134407"/>
                  </a:lnTo>
                  <a:lnTo>
                    <a:pt x="726991" y="131688"/>
                  </a:lnTo>
                  <a:lnTo>
                    <a:pt x="715203" y="129421"/>
                  </a:lnTo>
                  <a:lnTo>
                    <a:pt x="703415" y="127154"/>
                  </a:lnTo>
                  <a:lnTo>
                    <a:pt x="691401" y="125341"/>
                  </a:lnTo>
                  <a:lnTo>
                    <a:pt x="679613" y="123755"/>
                  </a:lnTo>
                  <a:lnTo>
                    <a:pt x="667598" y="122621"/>
                  </a:lnTo>
                  <a:lnTo>
                    <a:pt x="655584" y="121488"/>
                  </a:lnTo>
                  <a:lnTo>
                    <a:pt x="643796" y="120581"/>
                  </a:lnTo>
                  <a:lnTo>
                    <a:pt x="631782" y="120128"/>
                  </a:lnTo>
                  <a:lnTo>
                    <a:pt x="619540" y="120128"/>
                  </a:lnTo>
                  <a:lnTo>
                    <a:pt x="607752" y="120128"/>
                  </a:lnTo>
                  <a:close/>
                  <a:moveTo>
                    <a:pt x="619540" y="0"/>
                  </a:moveTo>
                  <a:lnTo>
                    <a:pt x="634502" y="227"/>
                  </a:lnTo>
                  <a:lnTo>
                    <a:pt x="649690" y="907"/>
                  </a:lnTo>
                  <a:lnTo>
                    <a:pt x="664198" y="1587"/>
                  </a:lnTo>
                  <a:lnTo>
                    <a:pt x="678933" y="3173"/>
                  </a:lnTo>
                  <a:lnTo>
                    <a:pt x="694121" y="4533"/>
                  </a:lnTo>
                  <a:lnTo>
                    <a:pt x="708629" y="6573"/>
                  </a:lnTo>
                  <a:lnTo>
                    <a:pt x="723364" y="8840"/>
                  </a:lnTo>
                  <a:lnTo>
                    <a:pt x="738098" y="11560"/>
                  </a:lnTo>
                  <a:lnTo>
                    <a:pt x="752607" y="14506"/>
                  </a:lnTo>
                  <a:lnTo>
                    <a:pt x="767115" y="17906"/>
                  </a:lnTo>
                  <a:lnTo>
                    <a:pt x="781623" y="21533"/>
                  </a:lnTo>
                  <a:lnTo>
                    <a:pt x="796131" y="25839"/>
                  </a:lnTo>
                  <a:lnTo>
                    <a:pt x="810412" y="30146"/>
                  </a:lnTo>
                  <a:lnTo>
                    <a:pt x="824694" y="34905"/>
                  </a:lnTo>
                  <a:lnTo>
                    <a:pt x="838975" y="40118"/>
                  </a:lnTo>
                  <a:lnTo>
                    <a:pt x="853030" y="45558"/>
                  </a:lnTo>
                  <a:lnTo>
                    <a:pt x="866858" y="51451"/>
                  </a:lnTo>
                  <a:lnTo>
                    <a:pt x="880686" y="57571"/>
                  </a:lnTo>
                  <a:lnTo>
                    <a:pt x="894514" y="64144"/>
                  </a:lnTo>
                  <a:lnTo>
                    <a:pt x="907888" y="71170"/>
                  </a:lnTo>
                  <a:lnTo>
                    <a:pt x="921263" y="78423"/>
                  </a:lnTo>
                  <a:lnTo>
                    <a:pt x="934638" y="85903"/>
                  </a:lnTo>
                  <a:lnTo>
                    <a:pt x="947786" y="93836"/>
                  </a:lnTo>
                  <a:lnTo>
                    <a:pt x="960934" y="102222"/>
                  </a:lnTo>
                  <a:lnTo>
                    <a:pt x="973401" y="110835"/>
                  </a:lnTo>
                  <a:lnTo>
                    <a:pt x="986096" y="119901"/>
                  </a:lnTo>
                  <a:lnTo>
                    <a:pt x="998791" y="129421"/>
                  </a:lnTo>
                  <a:lnTo>
                    <a:pt x="1010805" y="139167"/>
                  </a:lnTo>
                  <a:lnTo>
                    <a:pt x="1023046" y="149140"/>
                  </a:lnTo>
                  <a:lnTo>
                    <a:pt x="1034607" y="159793"/>
                  </a:lnTo>
                  <a:lnTo>
                    <a:pt x="1046395" y="170446"/>
                  </a:lnTo>
                  <a:lnTo>
                    <a:pt x="1057956" y="181779"/>
                  </a:lnTo>
                  <a:lnTo>
                    <a:pt x="1067251" y="191072"/>
                  </a:lnTo>
                  <a:lnTo>
                    <a:pt x="1076318" y="200591"/>
                  </a:lnTo>
                  <a:lnTo>
                    <a:pt x="1084932" y="210564"/>
                  </a:lnTo>
                  <a:lnTo>
                    <a:pt x="1093546" y="220310"/>
                  </a:lnTo>
                  <a:lnTo>
                    <a:pt x="1101934" y="230283"/>
                  </a:lnTo>
                  <a:lnTo>
                    <a:pt x="1110095" y="240709"/>
                  </a:lnTo>
                  <a:lnTo>
                    <a:pt x="1117802" y="250909"/>
                  </a:lnTo>
                  <a:lnTo>
                    <a:pt x="1125510" y="261108"/>
                  </a:lnTo>
                  <a:lnTo>
                    <a:pt x="1132764" y="271988"/>
                  </a:lnTo>
                  <a:lnTo>
                    <a:pt x="1139791" y="282414"/>
                  </a:lnTo>
                  <a:lnTo>
                    <a:pt x="1146592" y="293294"/>
                  </a:lnTo>
                  <a:lnTo>
                    <a:pt x="1153166" y="304173"/>
                  </a:lnTo>
                  <a:lnTo>
                    <a:pt x="1159513" y="315279"/>
                  </a:lnTo>
                  <a:lnTo>
                    <a:pt x="1165634" y="326159"/>
                  </a:lnTo>
                  <a:lnTo>
                    <a:pt x="1171527" y="337492"/>
                  </a:lnTo>
                  <a:lnTo>
                    <a:pt x="1177195" y="348598"/>
                  </a:lnTo>
                  <a:lnTo>
                    <a:pt x="1182408" y="360157"/>
                  </a:lnTo>
                  <a:lnTo>
                    <a:pt x="1187622" y="371490"/>
                  </a:lnTo>
                  <a:lnTo>
                    <a:pt x="1192610" y="383050"/>
                  </a:lnTo>
                  <a:lnTo>
                    <a:pt x="1197143" y="394609"/>
                  </a:lnTo>
                  <a:lnTo>
                    <a:pt x="1201677" y="406395"/>
                  </a:lnTo>
                  <a:lnTo>
                    <a:pt x="1205984" y="418181"/>
                  </a:lnTo>
                  <a:lnTo>
                    <a:pt x="1209611" y="429741"/>
                  </a:lnTo>
                  <a:lnTo>
                    <a:pt x="1213465" y="441754"/>
                  </a:lnTo>
                  <a:lnTo>
                    <a:pt x="1216865" y="453540"/>
                  </a:lnTo>
                  <a:lnTo>
                    <a:pt x="1219812" y="465552"/>
                  </a:lnTo>
                  <a:lnTo>
                    <a:pt x="1222986" y="477792"/>
                  </a:lnTo>
                  <a:lnTo>
                    <a:pt x="1225706" y="489578"/>
                  </a:lnTo>
                  <a:lnTo>
                    <a:pt x="1228200" y="501818"/>
                  </a:lnTo>
                  <a:lnTo>
                    <a:pt x="1230240" y="514057"/>
                  </a:lnTo>
                  <a:lnTo>
                    <a:pt x="1232280" y="526070"/>
                  </a:lnTo>
                  <a:lnTo>
                    <a:pt x="1233867" y="538536"/>
                  </a:lnTo>
                  <a:lnTo>
                    <a:pt x="1235680" y="550775"/>
                  </a:lnTo>
                  <a:lnTo>
                    <a:pt x="1236814" y="563015"/>
                  </a:lnTo>
                  <a:lnTo>
                    <a:pt x="1237720" y="575254"/>
                  </a:lnTo>
                  <a:lnTo>
                    <a:pt x="1238401" y="587720"/>
                  </a:lnTo>
                  <a:lnTo>
                    <a:pt x="1239081" y="599733"/>
                  </a:lnTo>
                  <a:lnTo>
                    <a:pt x="1239307" y="612199"/>
                  </a:lnTo>
                  <a:lnTo>
                    <a:pt x="1239307" y="624665"/>
                  </a:lnTo>
                  <a:lnTo>
                    <a:pt x="1239081" y="636678"/>
                  </a:lnTo>
                  <a:lnTo>
                    <a:pt x="1238627" y="649144"/>
                  </a:lnTo>
                  <a:lnTo>
                    <a:pt x="1237947" y="661610"/>
                  </a:lnTo>
                  <a:lnTo>
                    <a:pt x="1237040" y="673623"/>
                  </a:lnTo>
                  <a:lnTo>
                    <a:pt x="1235907" y="686089"/>
                  </a:lnTo>
                  <a:lnTo>
                    <a:pt x="1234320" y="698102"/>
                  </a:lnTo>
                  <a:lnTo>
                    <a:pt x="1232507" y="710341"/>
                  </a:lnTo>
                  <a:lnTo>
                    <a:pt x="1230693" y="722807"/>
                  </a:lnTo>
                  <a:lnTo>
                    <a:pt x="1228653" y="734820"/>
                  </a:lnTo>
                  <a:lnTo>
                    <a:pt x="1226159" y="746833"/>
                  </a:lnTo>
                  <a:lnTo>
                    <a:pt x="1223439" y="759073"/>
                  </a:lnTo>
                  <a:lnTo>
                    <a:pt x="1220719" y="771085"/>
                  </a:lnTo>
                  <a:lnTo>
                    <a:pt x="1217545" y="783098"/>
                  </a:lnTo>
                  <a:lnTo>
                    <a:pt x="1214145" y="795111"/>
                  </a:lnTo>
                  <a:lnTo>
                    <a:pt x="1210518" y="806897"/>
                  </a:lnTo>
                  <a:lnTo>
                    <a:pt x="1206664" y="818683"/>
                  </a:lnTo>
                  <a:lnTo>
                    <a:pt x="1202357" y="830469"/>
                  </a:lnTo>
                  <a:lnTo>
                    <a:pt x="1198277" y="842255"/>
                  </a:lnTo>
                  <a:lnTo>
                    <a:pt x="1193516" y="853588"/>
                  </a:lnTo>
                  <a:lnTo>
                    <a:pt x="1188529" y="865374"/>
                  </a:lnTo>
                  <a:lnTo>
                    <a:pt x="1183769" y="876934"/>
                  </a:lnTo>
                  <a:lnTo>
                    <a:pt x="1178328" y="888267"/>
                  </a:lnTo>
                  <a:lnTo>
                    <a:pt x="1172661" y="899599"/>
                  </a:lnTo>
                  <a:lnTo>
                    <a:pt x="1166767" y="910706"/>
                  </a:lnTo>
                  <a:lnTo>
                    <a:pt x="1160646" y="921812"/>
                  </a:lnTo>
                  <a:lnTo>
                    <a:pt x="1534229" y="1295115"/>
                  </a:lnTo>
                  <a:lnTo>
                    <a:pt x="1540350" y="1301461"/>
                  </a:lnTo>
                  <a:lnTo>
                    <a:pt x="1545790" y="1308034"/>
                  </a:lnTo>
                  <a:lnTo>
                    <a:pt x="1551231" y="1314607"/>
                  </a:lnTo>
                  <a:lnTo>
                    <a:pt x="1556445" y="1321407"/>
                  </a:lnTo>
                  <a:lnTo>
                    <a:pt x="1560752" y="1328433"/>
                  </a:lnTo>
                  <a:lnTo>
                    <a:pt x="1565286" y="1335460"/>
                  </a:lnTo>
                  <a:lnTo>
                    <a:pt x="1569366" y="1342713"/>
                  </a:lnTo>
                  <a:lnTo>
                    <a:pt x="1572766" y="1349966"/>
                  </a:lnTo>
                  <a:lnTo>
                    <a:pt x="1576167" y="1357219"/>
                  </a:lnTo>
                  <a:lnTo>
                    <a:pt x="1578887" y="1364698"/>
                  </a:lnTo>
                  <a:lnTo>
                    <a:pt x="1581381" y="1372178"/>
                  </a:lnTo>
                  <a:lnTo>
                    <a:pt x="1583648" y="1379658"/>
                  </a:lnTo>
                  <a:lnTo>
                    <a:pt x="1585461" y="1387137"/>
                  </a:lnTo>
                  <a:lnTo>
                    <a:pt x="1586821" y="1394617"/>
                  </a:lnTo>
                  <a:lnTo>
                    <a:pt x="1587955" y="1402323"/>
                  </a:lnTo>
                  <a:lnTo>
                    <a:pt x="1588635" y="1409803"/>
                  </a:lnTo>
                  <a:lnTo>
                    <a:pt x="1589088" y="1417283"/>
                  </a:lnTo>
                  <a:lnTo>
                    <a:pt x="1589088" y="1424762"/>
                  </a:lnTo>
                  <a:lnTo>
                    <a:pt x="1588861" y="1432242"/>
                  </a:lnTo>
                  <a:lnTo>
                    <a:pt x="1588181" y="1439495"/>
                  </a:lnTo>
                  <a:lnTo>
                    <a:pt x="1587274" y="1446748"/>
                  </a:lnTo>
                  <a:lnTo>
                    <a:pt x="1585914" y="1454001"/>
                  </a:lnTo>
                  <a:lnTo>
                    <a:pt x="1584101" y="1461027"/>
                  </a:lnTo>
                  <a:lnTo>
                    <a:pt x="1581834" y="1467827"/>
                  </a:lnTo>
                  <a:lnTo>
                    <a:pt x="1579340" y="1474627"/>
                  </a:lnTo>
                  <a:lnTo>
                    <a:pt x="1576620" y="1481200"/>
                  </a:lnTo>
                  <a:lnTo>
                    <a:pt x="1573220" y="1487773"/>
                  </a:lnTo>
                  <a:lnTo>
                    <a:pt x="1569593" y="1494119"/>
                  </a:lnTo>
                  <a:lnTo>
                    <a:pt x="1565512" y="1500239"/>
                  </a:lnTo>
                  <a:lnTo>
                    <a:pt x="1561432" y="1506132"/>
                  </a:lnTo>
                  <a:lnTo>
                    <a:pt x="1556445" y="1511572"/>
                  </a:lnTo>
                  <a:lnTo>
                    <a:pt x="1551231" y="1517011"/>
                  </a:lnTo>
                  <a:lnTo>
                    <a:pt x="1517228" y="1551237"/>
                  </a:lnTo>
                  <a:lnTo>
                    <a:pt x="1511787" y="1556223"/>
                  </a:lnTo>
                  <a:lnTo>
                    <a:pt x="1506120" y="1561209"/>
                  </a:lnTo>
                  <a:lnTo>
                    <a:pt x="1500226" y="1565516"/>
                  </a:lnTo>
                  <a:lnTo>
                    <a:pt x="1494106" y="1569369"/>
                  </a:lnTo>
                  <a:lnTo>
                    <a:pt x="1487985" y="1573222"/>
                  </a:lnTo>
                  <a:lnTo>
                    <a:pt x="1481411" y="1576395"/>
                  </a:lnTo>
                  <a:lnTo>
                    <a:pt x="1474837" y="1579342"/>
                  </a:lnTo>
                  <a:lnTo>
                    <a:pt x="1468036" y="1581835"/>
                  </a:lnTo>
                  <a:lnTo>
                    <a:pt x="1461009" y="1583875"/>
                  </a:lnTo>
                  <a:lnTo>
                    <a:pt x="1453982" y="1585688"/>
                  </a:lnTo>
                  <a:lnTo>
                    <a:pt x="1446728" y="1587275"/>
                  </a:lnTo>
                  <a:lnTo>
                    <a:pt x="1439474" y="1588182"/>
                  </a:lnTo>
                  <a:lnTo>
                    <a:pt x="1432219" y="1588862"/>
                  </a:lnTo>
                  <a:lnTo>
                    <a:pt x="1424739" y="1589088"/>
                  </a:lnTo>
                  <a:lnTo>
                    <a:pt x="1417258" y="1589088"/>
                  </a:lnTo>
                  <a:lnTo>
                    <a:pt x="1409777" y="1588862"/>
                  </a:lnTo>
                  <a:lnTo>
                    <a:pt x="1402296" y="1587955"/>
                  </a:lnTo>
                  <a:lnTo>
                    <a:pt x="1394589" y="1587048"/>
                  </a:lnTo>
                  <a:lnTo>
                    <a:pt x="1387108" y="1585235"/>
                  </a:lnTo>
                  <a:lnTo>
                    <a:pt x="1379628" y="1583422"/>
                  </a:lnTo>
                  <a:lnTo>
                    <a:pt x="1372147" y="1581382"/>
                  </a:lnTo>
                  <a:lnTo>
                    <a:pt x="1364666" y="1578662"/>
                  </a:lnTo>
                  <a:lnTo>
                    <a:pt x="1357186" y="1575942"/>
                  </a:lnTo>
                  <a:lnTo>
                    <a:pt x="1349931" y="1572769"/>
                  </a:lnTo>
                  <a:lnTo>
                    <a:pt x="1342677" y="1569142"/>
                  </a:lnTo>
                  <a:lnTo>
                    <a:pt x="1335423" y="1565289"/>
                  </a:lnTo>
                  <a:lnTo>
                    <a:pt x="1328396" y="1560756"/>
                  </a:lnTo>
                  <a:lnTo>
                    <a:pt x="1321369" y="1556223"/>
                  </a:lnTo>
                  <a:lnTo>
                    <a:pt x="1314568" y="1551237"/>
                  </a:lnTo>
                  <a:lnTo>
                    <a:pt x="1307994" y="1545797"/>
                  </a:lnTo>
                  <a:lnTo>
                    <a:pt x="1301420" y="1540130"/>
                  </a:lnTo>
                  <a:lnTo>
                    <a:pt x="1295299" y="1534011"/>
                  </a:lnTo>
                  <a:lnTo>
                    <a:pt x="921716" y="1160708"/>
                  </a:lnTo>
                  <a:lnTo>
                    <a:pt x="910835" y="1166827"/>
                  </a:lnTo>
                  <a:lnTo>
                    <a:pt x="899501" y="1172720"/>
                  </a:lnTo>
                  <a:lnTo>
                    <a:pt x="888166" y="1178160"/>
                  </a:lnTo>
                  <a:lnTo>
                    <a:pt x="876832" y="1183600"/>
                  </a:lnTo>
                  <a:lnTo>
                    <a:pt x="865498" y="1188586"/>
                  </a:lnTo>
                  <a:lnTo>
                    <a:pt x="853710" y="1193346"/>
                  </a:lnTo>
                  <a:lnTo>
                    <a:pt x="842375" y="1198106"/>
                  </a:lnTo>
                  <a:lnTo>
                    <a:pt x="830588" y="1202412"/>
                  </a:lnTo>
                  <a:lnTo>
                    <a:pt x="818573" y="1206492"/>
                  </a:lnTo>
                  <a:lnTo>
                    <a:pt x="807012" y="1210572"/>
                  </a:lnTo>
                  <a:lnTo>
                    <a:pt x="794997" y="1213972"/>
                  </a:lnTo>
                  <a:lnTo>
                    <a:pt x="783210" y="1217598"/>
                  </a:lnTo>
                  <a:lnTo>
                    <a:pt x="771195" y="1220545"/>
                  </a:lnTo>
                  <a:lnTo>
                    <a:pt x="758954" y="1223265"/>
                  </a:lnTo>
                  <a:lnTo>
                    <a:pt x="746939" y="1226211"/>
                  </a:lnTo>
                  <a:lnTo>
                    <a:pt x="734698" y="1228478"/>
                  </a:lnTo>
                  <a:lnTo>
                    <a:pt x="722457" y="1230518"/>
                  </a:lnTo>
                  <a:lnTo>
                    <a:pt x="710442" y="1232784"/>
                  </a:lnTo>
                  <a:lnTo>
                    <a:pt x="698201" y="1234371"/>
                  </a:lnTo>
                  <a:lnTo>
                    <a:pt x="685960" y="1235731"/>
                  </a:lnTo>
                  <a:lnTo>
                    <a:pt x="673719" y="1236864"/>
                  </a:lnTo>
                  <a:lnTo>
                    <a:pt x="661478" y="1237771"/>
                  </a:lnTo>
                  <a:lnTo>
                    <a:pt x="649010" y="1238451"/>
                  </a:lnTo>
                  <a:lnTo>
                    <a:pt x="636769" y="1239131"/>
                  </a:lnTo>
                  <a:lnTo>
                    <a:pt x="624527" y="1239357"/>
                  </a:lnTo>
                  <a:lnTo>
                    <a:pt x="612060" y="1239357"/>
                  </a:lnTo>
                  <a:lnTo>
                    <a:pt x="599818" y="1239131"/>
                  </a:lnTo>
                  <a:lnTo>
                    <a:pt x="587577" y="1238451"/>
                  </a:lnTo>
                  <a:lnTo>
                    <a:pt x="575109" y="1237544"/>
                  </a:lnTo>
                  <a:lnTo>
                    <a:pt x="562868" y="1236638"/>
                  </a:lnTo>
                  <a:lnTo>
                    <a:pt x="550627" y="1235504"/>
                  </a:lnTo>
                  <a:lnTo>
                    <a:pt x="538612" y="1233918"/>
                  </a:lnTo>
                  <a:lnTo>
                    <a:pt x="526145" y="1232331"/>
                  </a:lnTo>
                  <a:lnTo>
                    <a:pt x="513903" y="1230291"/>
                  </a:lnTo>
                  <a:lnTo>
                    <a:pt x="501889" y="1228025"/>
                  </a:lnTo>
                  <a:lnTo>
                    <a:pt x="489648" y="1225758"/>
                  </a:lnTo>
                  <a:lnTo>
                    <a:pt x="477633" y="1222811"/>
                  </a:lnTo>
                  <a:lnTo>
                    <a:pt x="465619" y="1219865"/>
                  </a:lnTo>
                  <a:lnTo>
                    <a:pt x="453604" y="1216918"/>
                  </a:lnTo>
                  <a:lnTo>
                    <a:pt x="441590" y="1213292"/>
                  </a:lnTo>
                  <a:lnTo>
                    <a:pt x="429802" y="1209665"/>
                  </a:lnTo>
                  <a:lnTo>
                    <a:pt x="418014" y="1205812"/>
                  </a:lnTo>
                  <a:lnTo>
                    <a:pt x="406453" y="1201506"/>
                  </a:lnTo>
                  <a:lnTo>
                    <a:pt x="394665" y="1197199"/>
                  </a:lnTo>
                  <a:lnTo>
                    <a:pt x="383104" y="1192440"/>
                  </a:lnTo>
                  <a:lnTo>
                    <a:pt x="371543" y="1187680"/>
                  </a:lnTo>
                  <a:lnTo>
                    <a:pt x="359982" y="1182467"/>
                  </a:lnTo>
                  <a:lnTo>
                    <a:pt x="348647" y="1177027"/>
                  </a:lnTo>
                  <a:lnTo>
                    <a:pt x="337313" y="1171360"/>
                  </a:lnTo>
                  <a:lnTo>
                    <a:pt x="326205" y="1165694"/>
                  </a:lnTo>
                  <a:lnTo>
                    <a:pt x="315097" y="1159574"/>
                  </a:lnTo>
                  <a:lnTo>
                    <a:pt x="304216" y="1153228"/>
                  </a:lnTo>
                  <a:lnTo>
                    <a:pt x="293109" y="1146655"/>
                  </a:lnTo>
                  <a:lnTo>
                    <a:pt x="282454" y="1139629"/>
                  </a:lnTo>
                  <a:lnTo>
                    <a:pt x="272026" y="1132602"/>
                  </a:lnTo>
                  <a:lnTo>
                    <a:pt x="261145" y="1125349"/>
                  </a:lnTo>
                  <a:lnTo>
                    <a:pt x="250944" y="1117643"/>
                  </a:lnTo>
                  <a:lnTo>
                    <a:pt x="240517" y="1109937"/>
                  </a:lnTo>
                  <a:lnTo>
                    <a:pt x="230316" y="1101777"/>
                  </a:lnTo>
                  <a:lnTo>
                    <a:pt x="220341" y="1093617"/>
                  </a:lnTo>
                  <a:lnTo>
                    <a:pt x="210367" y="1085004"/>
                  </a:lnTo>
                  <a:lnTo>
                    <a:pt x="200620" y="1076391"/>
                  </a:lnTo>
                  <a:lnTo>
                    <a:pt x="191099" y="1067099"/>
                  </a:lnTo>
                  <a:lnTo>
                    <a:pt x="181578" y="1057806"/>
                  </a:lnTo>
                  <a:lnTo>
                    <a:pt x="170470" y="1046473"/>
                  </a:lnTo>
                  <a:lnTo>
                    <a:pt x="159589" y="1034913"/>
                  </a:lnTo>
                  <a:lnTo>
                    <a:pt x="149161" y="1022901"/>
                  </a:lnTo>
                  <a:lnTo>
                    <a:pt x="139187" y="1010888"/>
                  </a:lnTo>
                  <a:lnTo>
                    <a:pt x="129213" y="998648"/>
                  </a:lnTo>
                  <a:lnTo>
                    <a:pt x="119918" y="985956"/>
                  </a:lnTo>
                  <a:lnTo>
                    <a:pt x="110851" y="973489"/>
                  </a:lnTo>
                  <a:lnTo>
                    <a:pt x="102237" y="960797"/>
                  </a:lnTo>
                  <a:lnTo>
                    <a:pt x="93849" y="947651"/>
                  </a:lnTo>
                  <a:lnTo>
                    <a:pt x="85688" y="934505"/>
                  </a:lnTo>
                  <a:lnTo>
                    <a:pt x="78208" y="921358"/>
                  </a:lnTo>
                  <a:lnTo>
                    <a:pt x="70954" y="907986"/>
                  </a:lnTo>
                  <a:lnTo>
                    <a:pt x="64153" y="894386"/>
                  </a:lnTo>
                  <a:lnTo>
                    <a:pt x="57579" y="880560"/>
                  </a:lnTo>
                  <a:lnTo>
                    <a:pt x="51232" y="866734"/>
                  </a:lnTo>
                  <a:lnTo>
                    <a:pt x="45338" y="852908"/>
                  </a:lnTo>
                  <a:lnTo>
                    <a:pt x="39897" y="838856"/>
                  </a:lnTo>
                  <a:lnTo>
                    <a:pt x="34910" y="824803"/>
                  </a:lnTo>
                  <a:lnTo>
                    <a:pt x="30150" y="810524"/>
                  </a:lnTo>
                  <a:lnTo>
                    <a:pt x="25616" y="796244"/>
                  </a:lnTo>
                  <a:lnTo>
                    <a:pt x="21535" y="781738"/>
                  </a:lnTo>
                  <a:lnTo>
                    <a:pt x="17682" y="767232"/>
                  </a:lnTo>
                  <a:lnTo>
                    <a:pt x="14508" y="752726"/>
                  </a:lnTo>
                  <a:lnTo>
                    <a:pt x="11334" y="738220"/>
                  </a:lnTo>
                  <a:lnTo>
                    <a:pt x="8841" y="723487"/>
                  </a:lnTo>
                  <a:lnTo>
                    <a:pt x="6574" y="708755"/>
                  </a:lnTo>
                  <a:lnTo>
                    <a:pt x="4307" y="694022"/>
                  </a:lnTo>
                  <a:lnTo>
                    <a:pt x="2947" y="679289"/>
                  </a:lnTo>
                  <a:lnTo>
                    <a:pt x="1587" y="664330"/>
                  </a:lnTo>
                  <a:lnTo>
                    <a:pt x="680" y="649597"/>
                  </a:lnTo>
                  <a:lnTo>
                    <a:pt x="227" y="634638"/>
                  </a:lnTo>
                  <a:lnTo>
                    <a:pt x="0" y="619905"/>
                  </a:lnTo>
                  <a:lnTo>
                    <a:pt x="227" y="604946"/>
                  </a:lnTo>
                  <a:lnTo>
                    <a:pt x="680" y="589987"/>
                  </a:lnTo>
                  <a:lnTo>
                    <a:pt x="1587" y="575254"/>
                  </a:lnTo>
                  <a:lnTo>
                    <a:pt x="2947" y="560295"/>
                  </a:lnTo>
                  <a:lnTo>
                    <a:pt x="4307" y="545562"/>
                  </a:lnTo>
                  <a:lnTo>
                    <a:pt x="6574" y="530830"/>
                  </a:lnTo>
                  <a:lnTo>
                    <a:pt x="8841" y="516097"/>
                  </a:lnTo>
                  <a:lnTo>
                    <a:pt x="11334" y="501364"/>
                  </a:lnTo>
                  <a:lnTo>
                    <a:pt x="14508" y="486858"/>
                  </a:lnTo>
                  <a:lnTo>
                    <a:pt x="17682" y="472352"/>
                  </a:lnTo>
                  <a:lnTo>
                    <a:pt x="21535" y="457846"/>
                  </a:lnTo>
                  <a:lnTo>
                    <a:pt x="25616" y="443340"/>
                  </a:lnTo>
                  <a:lnTo>
                    <a:pt x="30150" y="429061"/>
                  </a:lnTo>
                  <a:lnTo>
                    <a:pt x="34910" y="414781"/>
                  </a:lnTo>
                  <a:lnTo>
                    <a:pt x="39897" y="400502"/>
                  </a:lnTo>
                  <a:lnTo>
                    <a:pt x="45338" y="386449"/>
                  </a:lnTo>
                  <a:lnTo>
                    <a:pt x="51232" y="372850"/>
                  </a:lnTo>
                  <a:lnTo>
                    <a:pt x="57579" y="359024"/>
                  </a:lnTo>
                  <a:lnTo>
                    <a:pt x="64153" y="345198"/>
                  </a:lnTo>
                  <a:lnTo>
                    <a:pt x="70954" y="331599"/>
                  </a:lnTo>
                  <a:lnTo>
                    <a:pt x="78208" y="318226"/>
                  </a:lnTo>
                  <a:lnTo>
                    <a:pt x="85688" y="304853"/>
                  </a:lnTo>
                  <a:lnTo>
                    <a:pt x="93849" y="291934"/>
                  </a:lnTo>
                  <a:lnTo>
                    <a:pt x="102237" y="278788"/>
                  </a:lnTo>
                  <a:lnTo>
                    <a:pt x="110851" y="266095"/>
                  </a:lnTo>
                  <a:lnTo>
                    <a:pt x="119918" y="253402"/>
                  </a:lnTo>
                  <a:lnTo>
                    <a:pt x="129213" y="240936"/>
                  </a:lnTo>
                  <a:lnTo>
                    <a:pt x="139187" y="228697"/>
                  </a:lnTo>
                  <a:lnTo>
                    <a:pt x="149161" y="216457"/>
                  </a:lnTo>
                  <a:lnTo>
                    <a:pt x="159589" y="204671"/>
                  </a:lnTo>
                  <a:lnTo>
                    <a:pt x="170470" y="193111"/>
                  </a:lnTo>
                  <a:lnTo>
                    <a:pt x="181578" y="181779"/>
                  </a:lnTo>
                  <a:lnTo>
                    <a:pt x="193139" y="170446"/>
                  </a:lnTo>
                  <a:lnTo>
                    <a:pt x="204473" y="159793"/>
                  </a:lnTo>
                  <a:lnTo>
                    <a:pt x="216488" y="149140"/>
                  </a:lnTo>
                  <a:lnTo>
                    <a:pt x="228729" y="139167"/>
                  </a:lnTo>
                  <a:lnTo>
                    <a:pt x="240743" y="129421"/>
                  </a:lnTo>
                  <a:lnTo>
                    <a:pt x="253438" y="119901"/>
                  </a:lnTo>
                  <a:lnTo>
                    <a:pt x="266133" y="110835"/>
                  </a:lnTo>
                  <a:lnTo>
                    <a:pt x="278600" y="102222"/>
                  </a:lnTo>
                  <a:lnTo>
                    <a:pt x="291748" y="93836"/>
                  </a:lnTo>
                  <a:lnTo>
                    <a:pt x="304896" y="85903"/>
                  </a:lnTo>
                  <a:lnTo>
                    <a:pt x="318271" y="78423"/>
                  </a:lnTo>
                  <a:lnTo>
                    <a:pt x="331646" y="71170"/>
                  </a:lnTo>
                  <a:lnTo>
                    <a:pt x="345020" y="64144"/>
                  </a:lnTo>
                  <a:lnTo>
                    <a:pt x="358848" y="57571"/>
                  </a:lnTo>
                  <a:lnTo>
                    <a:pt x="372676" y="51451"/>
                  </a:lnTo>
                  <a:lnTo>
                    <a:pt x="386504" y="45558"/>
                  </a:lnTo>
                  <a:lnTo>
                    <a:pt x="400559" y="40118"/>
                  </a:lnTo>
                  <a:lnTo>
                    <a:pt x="414840" y="34905"/>
                  </a:lnTo>
                  <a:lnTo>
                    <a:pt x="429122" y="30146"/>
                  </a:lnTo>
                  <a:lnTo>
                    <a:pt x="443403" y="25839"/>
                  </a:lnTo>
                  <a:lnTo>
                    <a:pt x="457911" y="21533"/>
                  </a:lnTo>
                  <a:lnTo>
                    <a:pt x="472419" y="17906"/>
                  </a:lnTo>
                  <a:lnTo>
                    <a:pt x="486927" y="14506"/>
                  </a:lnTo>
                  <a:lnTo>
                    <a:pt x="501435" y="11560"/>
                  </a:lnTo>
                  <a:lnTo>
                    <a:pt x="515944" y="8840"/>
                  </a:lnTo>
                  <a:lnTo>
                    <a:pt x="530678" y="6573"/>
                  </a:lnTo>
                  <a:lnTo>
                    <a:pt x="545413" y="4533"/>
                  </a:lnTo>
                  <a:lnTo>
                    <a:pt x="560148" y="3173"/>
                  </a:lnTo>
                  <a:lnTo>
                    <a:pt x="575109" y="1587"/>
                  </a:lnTo>
                  <a:lnTo>
                    <a:pt x="589844" y="907"/>
                  </a:lnTo>
                  <a:lnTo>
                    <a:pt x="604806" y="227"/>
                  </a:lnTo>
                  <a:lnTo>
                    <a:pt x="619540" y="0"/>
                  </a:lnTo>
                  <a:close/>
                </a:path>
              </a:pathLst>
            </a:custGeom>
            <a:solidFill>
              <a:schemeClr val="bg1"/>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endParaRPr lang="zh-CN" altLang="en-US" b="1">
                <a:solidFill>
                  <a:schemeClr val="bg1"/>
                </a:solidFill>
                <a:cs typeface="+mn-ea"/>
                <a:sym typeface="+mn-ea"/>
              </a:endParaRPr>
            </a:p>
          </p:txBody>
        </p:sp>
      </p:grpSp>
      <p:grpSp>
        <p:nvGrpSpPr>
          <p:cNvPr id="20" name="组合 19"/>
          <p:cNvGrpSpPr/>
          <p:nvPr/>
        </p:nvGrpSpPr>
        <p:grpSpPr>
          <a:xfrm>
            <a:off x="4443730" y="4173220"/>
            <a:ext cx="6363335" cy="817880"/>
            <a:chOff x="6960" y="5774"/>
            <a:chExt cx="10021" cy="1288"/>
          </a:xfrm>
        </p:grpSpPr>
        <p:sp>
          <p:nvSpPr>
            <p:cNvPr id="21" name="Rectangle 13"/>
            <p:cNvSpPr>
              <a:spLocks noChangeArrowheads="1"/>
            </p:cNvSpPr>
            <p:nvPr/>
          </p:nvSpPr>
          <p:spPr bwMode="auto">
            <a:xfrm>
              <a:off x="6960" y="5774"/>
              <a:ext cx="1287" cy="1288"/>
            </a:xfrm>
            <a:prstGeom prst="rect">
              <a:avLst/>
            </a:prstGeom>
            <a:solidFill>
              <a:srgbClr val="2E5495"/>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dirty="0">
                  <a:solidFill>
                    <a:schemeClr val="bg1"/>
                  </a:solidFill>
                  <a:cs typeface="+mn-ea"/>
                  <a:sym typeface="+mn-lt"/>
                </a:rPr>
                <a:t>四</a:t>
              </a:r>
            </a:p>
          </p:txBody>
        </p:sp>
        <p:sp>
          <p:nvSpPr>
            <p:cNvPr id="22" name="Rectangle 5"/>
            <p:cNvSpPr>
              <a:spLocks noChangeArrowheads="1"/>
            </p:cNvSpPr>
            <p:nvPr/>
          </p:nvSpPr>
          <p:spPr bwMode="auto">
            <a:xfrm>
              <a:off x="8389" y="5774"/>
              <a:ext cx="8592" cy="1288"/>
            </a:xfrm>
            <a:prstGeom prst="rect">
              <a:avLst/>
            </a:prstGeom>
            <a:solidFill>
              <a:srgbClr val="2E5495"/>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schemeClr val="bg1"/>
                  </a:solidFill>
                  <a:cs typeface="+mn-ea"/>
                  <a:sym typeface="+mn-lt"/>
                </a:rPr>
                <a:t>   </a:t>
              </a:r>
              <a:r>
                <a:rPr lang="zh-CN" b="1" dirty="0">
                  <a:solidFill>
                    <a:schemeClr val="bg1"/>
                  </a:solidFill>
                  <a:cs typeface="+mn-ea"/>
                  <a:sym typeface="+mn-lt"/>
                </a:rPr>
                <a:t>推广价值</a:t>
              </a:r>
            </a:p>
          </p:txBody>
        </p:sp>
      </p:grpSp>
      <p:grpSp>
        <p:nvGrpSpPr>
          <p:cNvPr id="5" name="组合 4"/>
          <p:cNvGrpSpPr/>
          <p:nvPr/>
        </p:nvGrpSpPr>
        <p:grpSpPr>
          <a:xfrm>
            <a:off x="4443730" y="5076190"/>
            <a:ext cx="6363335" cy="817880"/>
            <a:chOff x="6960" y="5774"/>
            <a:chExt cx="10021" cy="1288"/>
          </a:xfrm>
        </p:grpSpPr>
        <p:sp>
          <p:nvSpPr>
            <p:cNvPr id="6" name="Rectangle 13"/>
            <p:cNvSpPr>
              <a:spLocks noChangeArrowheads="1"/>
            </p:cNvSpPr>
            <p:nvPr/>
          </p:nvSpPr>
          <p:spPr bwMode="auto">
            <a:xfrm>
              <a:off x="6960" y="5774"/>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dirty="0">
                  <a:solidFill>
                    <a:schemeClr val="bg1"/>
                  </a:solidFill>
                  <a:cs typeface="+mn-ea"/>
                  <a:sym typeface="+mn-lt"/>
                </a:rPr>
                <a:t>五</a:t>
              </a:r>
            </a:p>
          </p:txBody>
        </p:sp>
        <p:sp>
          <p:nvSpPr>
            <p:cNvPr id="7" name="Rectangle 5"/>
            <p:cNvSpPr>
              <a:spLocks noChangeArrowheads="1"/>
            </p:cNvSpPr>
            <p:nvPr/>
          </p:nvSpPr>
          <p:spPr bwMode="auto">
            <a:xfrm>
              <a:off x="8389" y="5774"/>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schemeClr val="bg1"/>
                  </a:solidFill>
                  <a:cs typeface="+mn-ea"/>
                  <a:sym typeface="+mn-lt"/>
                </a:rPr>
                <a:t>   </a:t>
              </a:r>
              <a:r>
                <a:rPr lang="zh-CN" altLang="en-US" b="1" dirty="0">
                  <a:solidFill>
                    <a:schemeClr val="bg1"/>
                  </a:solidFill>
                  <a:cs typeface="+mn-ea"/>
                  <a:sym typeface="+mn-lt"/>
                </a:rPr>
                <a:t>团队介绍</a:t>
              </a:r>
            </a:p>
          </p:txBody>
        </p:sp>
      </p:grpSp>
      <p:pic>
        <p:nvPicPr>
          <p:cNvPr id="11" name="图片 10"/>
          <p:cNvPicPr>
            <a:picLocks noChangeAspect="1"/>
          </p:cNvPicPr>
          <p:nvPr/>
        </p:nvPicPr>
        <p:blipFill rotWithShape="1">
          <a:blip r:embed="rId7" cstate="print">
            <a:extLst>
              <a:ext uri="{28A0092B-C50C-407E-A947-70E740481C1C}">
                <a14:useLocalDpi xmlns:a14="http://schemas.microsoft.com/office/drawing/2010/main" val="0"/>
              </a:ext>
            </a:extLst>
          </a:blip>
          <a:srcRect l="8513" t="19659" r="60847" b="16329"/>
          <a:stretch>
            <a:fillRect/>
          </a:stretch>
        </p:blipFill>
        <p:spPr>
          <a:xfrm>
            <a:off x="10125710" y="5100320"/>
            <a:ext cx="437515" cy="685800"/>
          </a:xfrm>
          <a:prstGeom prst="rect">
            <a:avLst/>
          </a:prstGeom>
        </p:spPr>
      </p:pic>
      <p:pic>
        <p:nvPicPr>
          <p:cNvPr id="12" name="图片 11" descr="改造世界"/>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118090" y="4316730"/>
            <a:ext cx="530225" cy="530225"/>
          </a:xfrm>
          <a:prstGeom prst="rect">
            <a:avLst/>
          </a:prstGeom>
        </p:spPr>
      </p:pic>
    </p:spTree>
    <p:custDataLst>
      <p:tags r:id="rId1"/>
    </p:custData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02" y="181637"/>
            <a:ext cx="8138082" cy="418058"/>
          </a:xfrm>
        </p:spPr>
        <p:txBody>
          <a:bodyPr>
            <a:noAutofit/>
          </a:bodyPr>
          <a:lstStyle/>
          <a:p>
            <a:r>
              <a:rPr lang="zh-CN" altLang="en-US" sz="2400"/>
              <a:t>目录</a:t>
            </a:r>
          </a:p>
        </p:txBody>
      </p:sp>
      <p:pic>
        <p:nvPicPr>
          <p:cNvPr id="18" name="图片 15"/>
          <p:cNvPicPr>
            <a:picLocks noChangeAspect="1"/>
          </p:cNvPicPr>
          <p:nvPr/>
        </p:nvPicPr>
        <p:blipFill rotWithShape="1">
          <a:blip r:embed="rId4"/>
          <a:srcRect l="11383" t="8193" r="11087" b="29077"/>
          <a:stretch>
            <a:fillRect/>
          </a:stretch>
        </p:blipFill>
        <p:spPr>
          <a:xfrm>
            <a:off x="430088" y="1593630"/>
            <a:ext cx="3511883" cy="1941322"/>
          </a:xfrm>
          <a:prstGeom prst="rect">
            <a:avLst/>
          </a:prstGeom>
        </p:spPr>
      </p:pic>
      <p:grpSp>
        <p:nvGrpSpPr>
          <p:cNvPr id="35" name="组合 34"/>
          <p:cNvGrpSpPr/>
          <p:nvPr/>
        </p:nvGrpSpPr>
        <p:grpSpPr>
          <a:xfrm>
            <a:off x="4443730" y="1464310"/>
            <a:ext cx="6363335" cy="817880"/>
            <a:chOff x="6961" y="1508"/>
            <a:chExt cx="10021" cy="1288"/>
          </a:xfrm>
        </p:grpSpPr>
        <p:sp>
          <p:nvSpPr>
            <p:cNvPr id="33" name="Rectangle 10"/>
            <p:cNvSpPr>
              <a:spLocks noChangeArrowheads="1"/>
            </p:cNvSpPr>
            <p:nvPr/>
          </p:nvSpPr>
          <p:spPr bwMode="auto">
            <a:xfrm>
              <a:off x="6961" y="1508"/>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prstClr val="white"/>
                  </a:solidFill>
                  <a:cs typeface="+mn-ea"/>
                  <a:sym typeface="+mn-lt"/>
                </a:rPr>
                <a:t>一</a:t>
              </a:r>
            </a:p>
          </p:txBody>
        </p:sp>
        <p:sp>
          <p:nvSpPr>
            <p:cNvPr id="36" name="Rectangle 9"/>
            <p:cNvSpPr>
              <a:spLocks noChangeArrowheads="1"/>
            </p:cNvSpPr>
            <p:nvPr/>
          </p:nvSpPr>
          <p:spPr bwMode="auto">
            <a:xfrm>
              <a:off x="8390" y="1508"/>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prstClr val="white"/>
                  </a:solidFill>
                  <a:cs typeface="+mn-ea"/>
                  <a:sym typeface="+mn-lt"/>
                </a:rPr>
                <a:t>  </a:t>
              </a:r>
              <a:r>
                <a:rPr lang="zh-CN" altLang="en-US" b="1" dirty="0">
                  <a:solidFill>
                    <a:prstClr val="white"/>
                  </a:solidFill>
                  <a:cs typeface="+mn-ea"/>
                  <a:sym typeface="+mn-lt"/>
                </a:rPr>
                <a:t>成果介绍</a:t>
              </a:r>
            </a:p>
          </p:txBody>
        </p:sp>
        <p:pic>
          <p:nvPicPr>
            <p:cNvPr id="29" name="图片 249"/>
            <p:cNvPicPr>
              <a:picLocks noChangeAspect="1"/>
            </p:cNvPicPr>
            <p:nvPr/>
          </p:nvPicPr>
          <p:blipFill>
            <a:blip r:embed="rId5"/>
            <a:stretch>
              <a:fillRect/>
            </a:stretch>
          </p:blipFill>
          <p:spPr bwMode="auto">
            <a:xfrm>
              <a:off x="15965" y="1802"/>
              <a:ext cx="697" cy="700"/>
            </a:xfrm>
            <a:prstGeom prst="rect">
              <a:avLst/>
            </a:prstGeom>
            <a:solidFill>
              <a:srgbClr val="CDCDCD"/>
            </a:solidFill>
            <a:ln w="12700">
              <a:noFill/>
              <a:miter lim="800000"/>
              <a:headEnd/>
              <a:tailEnd/>
            </a:ln>
          </p:spPr>
        </p:pic>
      </p:grpSp>
      <p:grpSp>
        <p:nvGrpSpPr>
          <p:cNvPr id="37" name="组合 36"/>
          <p:cNvGrpSpPr/>
          <p:nvPr/>
        </p:nvGrpSpPr>
        <p:grpSpPr>
          <a:xfrm>
            <a:off x="4443730" y="2367280"/>
            <a:ext cx="6363335" cy="817880"/>
            <a:chOff x="6961" y="2930"/>
            <a:chExt cx="10021" cy="1288"/>
          </a:xfrm>
        </p:grpSpPr>
        <p:sp>
          <p:nvSpPr>
            <p:cNvPr id="4" name="Rectangle 10"/>
            <p:cNvSpPr>
              <a:spLocks noChangeArrowheads="1"/>
            </p:cNvSpPr>
            <p:nvPr/>
          </p:nvSpPr>
          <p:spPr bwMode="auto">
            <a:xfrm>
              <a:off x="6961" y="2930"/>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schemeClr val="bg1"/>
                  </a:solidFill>
                  <a:cs typeface="+mn-ea"/>
                  <a:sym typeface="+mn-lt"/>
                </a:rPr>
                <a:t>二</a:t>
              </a:r>
            </a:p>
          </p:txBody>
        </p:sp>
        <p:sp>
          <p:nvSpPr>
            <p:cNvPr id="9" name="Rectangle 5"/>
            <p:cNvSpPr>
              <a:spLocks noChangeArrowheads="1"/>
            </p:cNvSpPr>
            <p:nvPr/>
          </p:nvSpPr>
          <p:spPr bwMode="auto">
            <a:xfrm>
              <a:off x="8390" y="2930"/>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zh-CN" altLang="en-US" b="1">
                  <a:solidFill>
                    <a:schemeClr val="bg1"/>
                  </a:solidFill>
                  <a:cs typeface="+mn-ea"/>
                  <a:sym typeface="+mn-lt"/>
                </a:rPr>
                <a:t>   解决方案</a:t>
              </a:r>
            </a:p>
          </p:txBody>
        </p:sp>
        <p:pic>
          <p:nvPicPr>
            <p:cNvPr id="30" name="图片 264"/>
            <p:cNvPicPr>
              <a:picLocks noChangeAspect="1"/>
            </p:cNvPicPr>
            <p:nvPr/>
          </p:nvPicPr>
          <p:blipFill>
            <a:blip r:embed="rId6"/>
            <a:stretch>
              <a:fillRect/>
            </a:stretch>
          </p:blipFill>
          <p:spPr bwMode="auto">
            <a:xfrm>
              <a:off x="15973" y="3233"/>
              <a:ext cx="681" cy="681"/>
            </a:xfrm>
            <a:prstGeom prst="rect">
              <a:avLst/>
            </a:prstGeom>
            <a:solidFill>
              <a:srgbClr val="CDCDCD"/>
            </a:solidFill>
            <a:ln w="12700">
              <a:noFill/>
              <a:miter lim="800000"/>
              <a:headEnd/>
              <a:tailEnd/>
            </a:ln>
          </p:spPr>
        </p:pic>
      </p:grpSp>
      <p:grpSp>
        <p:nvGrpSpPr>
          <p:cNvPr id="38" name="组合 37"/>
          <p:cNvGrpSpPr/>
          <p:nvPr/>
        </p:nvGrpSpPr>
        <p:grpSpPr>
          <a:xfrm>
            <a:off x="4443095" y="3270250"/>
            <a:ext cx="6363335" cy="817880"/>
            <a:chOff x="6960" y="4352"/>
            <a:chExt cx="10021" cy="1288"/>
          </a:xfrm>
        </p:grpSpPr>
        <p:sp>
          <p:nvSpPr>
            <p:cNvPr id="24" name="Rectangle 13"/>
            <p:cNvSpPr>
              <a:spLocks noChangeArrowheads="1"/>
            </p:cNvSpPr>
            <p:nvPr/>
          </p:nvSpPr>
          <p:spPr bwMode="auto">
            <a:xfrm>
              <a:off x="6960" y="4352"/>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a:solidFill>
                    <a:schemeClr val="bg1"/>
                  </a:solidFill>
                  <a:cs typeface="+mn-ea"/>
                  <a:sym typeface="+mn-lt"/>
                </a:rPr>
                <a:t>三</a:t>
              </a:r>
            </a:p>
          </p:txBody>
        </p:sp>
        <p:sp>
          <p:nvSpPr>
            <p:cNvPr id="25" name="Rectangle 5"/>
            <p:cNvSpPr>
              <a:spLocks noChangeArrowheads="1"/>
            </p:cNvSpPr>
            <p:nvPr/>
          </p:nvSpPr>
          <p:spPr bwMode="auto">
            <a:xfrm>
              <a:off x="8389" y="4352"/>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a:solidFill>
                    <a:schemeClr val="bg1"/>
                  </a:solidFill>
                  <a:cs typeface="+mn-ea"/>
                  <a:sym typeface="+mn-lt"/>
                </a:rPr>
                <a:t>   </a:t>
              </a:r>
              <a:r>
                <a:rPr lang="zh-CN" altLang="en-US" b="1">
                  <a:solidFill>
                    <a:schemeClr val="bg1"/>
                  </a:solidFill>
                  <a:cs typeface="+mn-ea"/>
                  <a:sym typeface="+mn-lt"/>
                </a:rPr>
                <a:t>应用成效</a:t>
              </a:r>
            </a:p>
          </p:txBody>
        </p:sp>
        <p:sp>
          <p:nvSpPr>
            <p:cNvPr id="26" name="KSO_Shape"/>
            <p:cNvSpPr/>
            <p:nvPr/>
          </p:nvSpPr>
          <p:spPr bwMode="auto">
            <a:xfrm>
              <a:off x="15986" y="4659"/>
              <a:ext cx="656" cy="674"/>
            </a:xfrm>
            <a:custGeom>
              <a:avLst/>
              <a:gdLst>
                <a:gd name="T0" fmla="*/ 984018 w 1589088"/>
                <a:gd name="T1" fmla="*/ 589506 h 1589088"/>
                <a:gd name="T2" fmla="*/ 955171 w 1589088"/>
                <a:gd name="T3" fmla="*/ 645802 h 1589088"/>
                <a:gd name="T4" fmla="*/ 898294 w 1589088"/>
                <a:gd name="T5" fmla="*/ 673272 h 1589088"/>
                <a:gd name="T6" fmla="*/ 881422 w 1589088"/>
                <a:gd name="T7" fmla="*/ 964824 h 1589088"/>
                <a:gd name="T8" fmla="*/ 873530 w 1589088"/>
                <a:gd name="T9" fmla="*/ 1040159 h 1589088"/>
                <a:gd name="T10" fmla="*/ 824817 w 1589088"/>
                <a:gd name="T11" fmla="*/ 1084490 h 1589088"/>
                <a:gd name="T12" fmla="*/ 756238 w 1589088"/>
                <a:gd name="T13" fmla="*/ 1088026 h 1589088"/>
                <a:gd name="T14" fmla="*/ 703444 w 1589088"/>
                <a:gd name="T15" fmla="*/ 1048590 h 1589088"/>
                <a:gd name="T16" fmla="*/ 686571 w 1589088"/>
                <a:gd name="T17" fmla="*/ 985493 h 1589088"/>
                <a:gd name="T18" fmla="*/ 486007 w 1589088"/>
                <a:gd name="T19" fmla="*/ 893024 h 1589088"/>
                <a:gd name="T20" fmla="*/ 398106 w 1589088"/>
                <a:gd name="T21" fmla="*/ 820680 h 1589088"/>
                <a:gd name="T22" fmla="*/ 402189 w 1589088"/>
                <a:gd name="T23" fmla="*/ 755134 h 1589088"/>
                <a:gd name="T24" fmla="*/ 446547 w 1589088"/>
                <a:gd name="T25" fmla="*/ 706452 h 1589088"/>
                <a:gd name="T26" fmla="*/ 514037 w 1589088"/>
                <a:gd name="T27" fmla="*/ 696389 h 1589088"/>
                <a:gd name="T28" fmla="*/ 570641 w 1589088"/>
                <a:gd name="T29" fmla="*/ 730385 h 1589088"/>
                <a:gd name="T30" fmla="*/ 593501 w 1589088"/>
                <a:gd name="T31" fmla="*/ 794027 h 1589088"/>
                <a:gd name="T32" fmla="*/ 818558 w 1589088"/>
                <a:gd name="T33" fmla="*/ 648522 h 1589088"/>
                <a:gd name="T34" fmla="*/ 785901 w 1589088"/>
                <a:gd name="T35" fmla="*/ 575091 h 1589088"/>
                <a:gd name="T36" fmla="*/ 808761 w 1589088"/>
                <a:gd name="T37" fmla="*/ 511721 h 1589088"/>
                <a:gd name="T38" fmla="*/ 865365 w 1589088"/>
                <a:gd name="T39" fmla="*/ 477726 h 1589088"/>
                <a:gd name="T40" fmla="*/ 728574 w 1589088"/>
                <a:gd name="T41" fmla="*/ 144010 h 1589088"/>
                <a:gd name="T42" fmla="*/ 531280 w 1589088"/>
                <a:gd name="T43" fmla="*/ 182593 h 1589088"/>
                <a:gd name="T44" fmla="*/ 353281 w 1589088"/>
                <a:gd name="T45" fmla="*/ 288291 h 1589088"/>
                <a:gd name="T46" fmla="*/ 219577 w 1589088"/>
                <a:gd name="T47" fmla="*/ 451592 h 1589088"/>
                <a:gd name="T48" fmla="*/ 152454 w 1589088"/>
                <a:gd name="T49" fmla="*/ 642880 h 1589088"/>
                <a:gd name="T50" fmla="*/ 152454 w 1589088"/>
                <a:gd name="T51" fmla="*/ 843135 h 1589088"/>
                <a:gd name="T52" fmla="*/ 219577 w 1589088"/>
                <a:gd name="T53" fmla="*/ 1034422 h 1589088"/>
                <a:gd name="T54" fmla="*/ 353281 w 1589088"/>
                <a:gd name="T55" fmla="*/ 1197724 h 1589088"/>
                <a:gd name="T56" fmla="*/ 531280 w 1589088"/>
                <a:gd name="T57" fmla="*/ 1303421 h 1589088"/>
                <a:gd name="T58" fmla="*/ 728574 w 1589088"/>
                <a:gd name="T59" fmla="*/ 1341734 h 1589088"/>
                <a:gd name="T60" fmla="*/ 927227 w 1589088"/>
                <a:gd name="T61" fmla="*/ 1312931 h 1589088"/>
                <a:gd name="T62" fmla="*/ 1109302 w 1589088"/>
                <a:gd name="T63" fmla="*/ 1217015 h 1589088"/>
                <a:gd name="T64" fmla="*/ 1251431 w 1589088"/>
                <a:gd name="T65" fmla="*/ 1059964 h 1589088"/>
                <a:gd name="T66" fmla="*/ 1328065 w 1589088"/>
                <a:gd name="T67" fmla="*/ 871393 h 1589088"/>
                <a:gd name="T68" fmla="*/ 1337576 w 1589088"/>
                <a:gd name="T69" fmla="*/ 671410 h 1589088"/>
                <a:gd name="T70" fmla="*/ 1280237 w 1589088"/>
                <a:gd name="T71" fmla="*/ 477677 h 1589088"/>
                <a:gd name="T72" fmla="*/ 1155500 w 1589088"/>
                <a:gd name="T73" fmla="*/ 308670 h 1589088"/>
                <a:gd name="T74" fmla="*/ 981849 w 1589088"/>
                <a:gd name="T75" fmla="*/ 193462 h 1589088"/>
                <a:gd name="T76" fmla="*/ 785915 w 1589088"/>
                <a:gd name="T77" fmla="*/ 145640 h 1589088"/>
                <a:gd name="T78" fmla="*/ 902226 w 1589088"/>
                <a:gd name="T79" fmla="*/ 17390 h 1589088"/>
                <a:gd name="T80" fmla="*/ 1136207 w 1589088"/>
                <a:gd name="T81" fmla="*/ 112491 h 1589088"/>
                <a:gd name="T82" fmla="*/ 1320999 w 1589088"/>
                <a:gd name="T83" fmla="*/ 276063 h 1589088"/>
                <a:gd name="T84" fmla="*/ 1429702 w 1589088"/>
                <a:gd name="T85" fmla="*/ 459201 h 1589088"/>
                <a:gd name="T86" fmla="*/ 1481334 w 1589088"/>
                <a:gd name="T87" fmla="*/ 660270 h 1589088"/>
                <a:gd name="T88" fmla="*/ 1475356 w 1589088"/>
                <a:gd name="T89" fmla="*/ 866502 h 1589088"/>
                <a:gd name="T90" fmla="*/ 1412581 w 1589088"/>
                <a:gd name="T91" fmla="*/ 1064855 h 1589088"/>
                <a:gd name="T92" fmla="*/ 1892771 w 1589088"/>
                <a:gd name="T93" fmla="*/ 1636001 h 1589088"/>
                <a:gd name="T94" fmla="*/ 1896304 w 1589088"/>
                <a:gd name="T95" fmla="*/ 1759632 h 1589088"/>
                <a:gd name="T96" fmla="*/ 1783798 w 1589088"/>
                <a:gd name="T97" fmla="*/ 1885980 h 1589088"/>
                <a:gd name="T98" fmla="*/ 1662866 w 1589088"/>
                <a:gd name="T99" fmla="*/ 1900381 h 1589088"/>
                <a:gd name="T100" fmla="*/ 1104954 w 1589088"/>
                <a:gd name="T101" fmla="*/ 1391458 h 1589088"/>
                <a:gd name="T102" fmla="*/ 909835 w 1589088"/>
                <a:gd name="T103" fmla="*/ 1466451 h 1589088"/>
                <a:gd name="T104" fmla="*/ 704388 w 1589088"/>
                <a:gd name="T105" fmla="*/ 1484656 h 1589088"/>
                <a:gd name="T106" fmla="*/ 501116 w 1589088"/>
                <a:gd name="T107" fmla="*/ 1445528 h 1589088"/>
                <a:gd name="T108" fmla="*/ 313061 w 1589088"/>
                <a:gd name="T109" fmla="*/ 1349069 h 1589088"/>
                <a:gd name="T110" fmla="*/ 143758 w 1589088"/>
                <a:gd name="T111" fmla="*/ 1181965 h 1589088"/>
                <a:gd name="T112" fmla="*/ 30708 w 1589088"/>
                <a:gd name="T113" fmla="*/ 954538 h 1589088"/>
                <a:gd name="T114" fmla="*/ 815 w 1589088"/>
                <a:gd name="T115" fmla="*/ 707277 h 1589088"/>
                <a:gd name="T116" fmla="*/ 54351 w 1589088"/>
                <a:gd name="T117" fmla="*/ 463275 h 1589088"/>
                <a:gd name="T118" fmla="*/ 191315 w 1589088"/>
                <a:gd name="T119" fmla="*/ 245360 h 1589088"/>
                <a:gd name="T120" fmla="*/ 397577 w 1589088"/>
                <a:gd name="T121" fmla="*/ 85319 h 1589088"/>
                <a:gd name="T122" fmla="*/ 636177 w 1589088"/>
                <a:gd name="T123" fmla="*/ 7880 h 15890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589088" h="1589088">
                  <a:moveTo>
                    <a:pt x="916859" y="288925"/>
                  </a:moveTo>
                  <a:lnTo>
                    <a:pt x="954088" y="332030"/>
                  </a:lnTo>
                  <a:lnTo>
                    <a:pt x="816067" y="450682"/>
                  </a:lnTo>
                  <a:lnTo>
                    <a:pt x="817430" y="454085"/>
                  </a:lnTo>
                  <a:lnTo>
                    <a:pt x="818338" y="457488"/>
                  </a:lnTo>
                  <a:lnTo>
                    <a:pt x="819246" y="461118"/>
                  </a:lnTo>
                  <a:lnTo>
                    <a:pt x="820381" y="464748"/>
                  </a:lnTo>
                  <a:lnTo>
                    <a:pt x="820835" y="468378"/>
                  </a:lnTo>
                  <a:lnTo>
                    <a:pt x="821289" y="472008"/>
                  </a:lnTo>
                  <a:lnTo>
                    <a:pt x="821743" y="475865"/>
                  </a:lnTo>
                  <a:lnTo>
                    <a:pt x="821743" y="479722"/>
                  </a:lnTo>
                  <a:lnTo>
                    <a:pt x="821743" y="483805"/>
                  </a:lnTo>
                  <a:lnTo>
                    <a:pt x="821289" y="487662"/>
                  </a:lnTo>
                  <a:lnTo>
                    <a:pt x="820835" y="491746"/>
                  </a:lnTo>
                  <a:lnTo>
                    <a:pt x="820154" y="495602"/>
                  </a:lnTo>
                  <a:lnTo>
                    <a:pt x="819246" y="499459"/>
                  </a:lnTo>
                  <a:lnTo>
                    <a:pt x="818338" y="503089"/>
                  </a:lnTo>
                  <a:lnTo>
                    <a:pt x="816976" y="506946"/>
                  </a:lnTo>
                  <a:lnTo>
                    <a:pt x="815840" y="510349"/>
                  </a:lnTo>
                  <a:lnTo>
                    <a:pt x="814251" y="513979"/>
                  </a:lnTo>
                  <a:lnTo>
                    <a:pt x="812662" y="517382"/>
                  </a:lnTo>
                  <a:lnTo>
                    <a:pt x="810619" y="520785"/>
                  </a:lnTo>
                  <a:lnTo>
                    <a:pt x="808803" y="523961"/>
                  </a:lnTo>
                  <a:lnTo>
                    <a:pt x="806760" y="527137"/>
                  </a:lnTo>
                  <a:lnTo>
                    <a:pt x="804263" y="530313"/>
                  </a:lnTo>
                  <a:lnTo>
                    <a:pt x="801993" y="533036"/>
                  </a:lnTo>
                  <a:lnTo>
                    <a:pt x="799496" y="535985"/>
                  </a:lnTo>
                  <a:lnTo>
                    <a:pt x="796772" y="538707"/>
                  </a:lnTo>
                  <a:lnTo>
                    <a:pt x="794048" y="541203"/>
                  </a:lnTo>
                  <a:lnTo>
                    <a:pt x="791324" y="543698"/>
                  </a:lnTo>
                  <a:lnTo>
                    <a:pt x="788146" y="545967"/>
                  </a:lnTo>
                  <a:lnTo>
                    <a:pt x="785194" y="548009"/>
                  </a:lnTo>
                  <a:lnTo>
                    <a:pt x="781789" y="550051"/>
                  </a:lnTo>
                  <a:lnTo>
                    <a:pt x="778611" y="552093"/>
                  </a:lnTo>
                  <a:lnTo>
                    <a:pt x="775433" y="553908"/>
                  </a:lnTo>
                  <a:lnTo>
                    <a:pt x="771801" y="555496"/>
                  </a:lnTo>
                  <a:lnTo>
                    <a:pt x="768396" y="556857"/>
                  </a:lnTo>
                  <a:lnTo>
                    <a:pt x="764537" y="558218"/>
                  </a:lnTo>
                  <a:lnTo>
                    <a:pt x="760905" y="559352"/>
                  </a:lnTo>
                  <a:lnTo>
                    <a:pt x="757046" y="560260"/>
                  </a:lnTo>
                  <a:lnTo>
                    <a:pt x="753413" y="560940"/>
                  </a:lnTo>
                  <a:lnTo>
                    <a:pt x="749327" y="561621"/>
                  </a:lnTo>
                  <a:lnTo>
                    <a:pt x="745241" y="562075"/>
                  </a:lnTo>
                  <a:lnTo>
                    <a:pt x="692121" y="754005"/>
                  </a:lnTo>
                  <a:lnTo>
                    <a:pt x="697343" y="756728"/>
                  </a:lnTo>
                  <a:lnTo>
                    <a:pt x="702110" y="759904"/>
                  </a:lnTo>
                  <a:lnTo>
                    <a:pt x="706650" y="763080"/>
                  </a:lnTo>
                  <a:lnTo>
                    <a:pt x="710963" y="766937"/>
                  </a:lnTo>
                  <a:lnTo>
                    <a:pt x="715049" y="770794"/>
                  </a:lnTo>
                  <a:lnTo>
                    <a:pt x="718908" y="774877"/>
                  </a:lnTo>
                  <a:lnTo>
                    <a:pt x="722313" y="779188"/>
                  </a:lnTo>
                  <a:lnTo>
                    <a:pt x="725718" y="783952"/>
                  </a:lnTo>
                  <a:lnTo>
                    <a:pt x="728670" y="788943"/>
                  </a:lnTo>
                  <a:lnTo>
                    <a:pt x="731167" y="793934"/>
                  </a:lnTo>
                  <a:lnTo>
                    <a:pt x="733437" y="799379"/>
                  </a:lnTo>
                  <a:lnTo>
                    <a:pt x="735253" y="804824"/>
                  </a:lnTo>
                  <a:lnTo>
                    <a:pt x="736615" y="810496"/>
                  </a:lnTo>
                  <a:lnTo>
                    <a:pt x="737750" y="816167"/>
                  </a:lnTo>
                  <a:lnTo>
                    <a:pt x="738431" y="822066"/>
                  </a:lnTo>
                  <a:lnTo>
                    <a:pt x="738658" y="828191"/>
                  </a:lnTo>
                  <a:lnTo>
                    <a:pt x="738658" y="832729"/>
                  </a:lnTo>
                  <a:lnTo>
                    <a:pt x="738431" y="836812"/>
                  </a:lnTo>
                  <a:lnTo>
                    <a:pt x="737523" y="840896"/>
                  </a:lnTo>
                  <a:lnTo>
                    <a:pt x="736842" y="844980"/>
                  </a:lnTo>
                  <a:lnTo>
                    <a:pt x="735934" y="849063"/>
                  </a:lnTo>
                  <a:lnTo>
                    <a:pt x="734799" y="852920"/>
                  </a:lnTo>
                  <a:lnTo>
                    <a:pt x="733664" y="856777"/>
                  </a:lnTo>
                  <a:lnTo>
                    <a:pt x="732075" y="860407"/>
                  </a:lnTo>
                  <a:lnTo>
                    <a:pt x="730259" y="864263"/>
                  </a:lnTo>
                  <a:lnTo>
                    <a:pt x="728670" y="867666"/>
                  </a:lnTo>
                  <a:lnTo>
                    <a:pt x="726626" y="871296"/>
                  </a:lnTo>
                  <a:lnTo>
                    <a:pt x="724583" y="874699"/>
                  </a:lnTo>
                  <a:lnTo>
                    <a:pt x="722086" y="877876"/>
                  </a:lnTo>
                  <a:lnTo>
                    <a:pt x="719589" y="881052"/>
                  </a:lnTo>
                  <a:lnTo>
                    <a:pt x="717092" y="884228"/>
                  </a:lnTo>
                  <a:lnTo>
                    <a:pt x="714141" y="886950"/>
                  </a:lnTo>
                  <a:lnTo>
                    <a:pt x="711417" y="889673"/>
                  </a:lnTo>
                  <a:lnTo>
                    <a:pt x="708239" y="892395"/>
                  </a:lnTo>
                  <a:lnTo>
                    <a:pt x="705288" y="894891"/>
                  </a:lnTo>
                  <a:lnTo>
                    <a:pt x="702110" y="896933"/>
                  </a:lnTo>
                  <a:lnTo>
                    <a:pt x="698705" y="899428"/>
                  </a:lnTo>
                  <a:lnTo>
                    <a:pt x="695299" y="901243"/>
                  </a:lnTo>
                  <a:lnTo>
                    <a:pt x="691440" y="903058"/>
                  </a:lnTo>
                  <a:lnTo>
                    <a:pt x="688035" y="904646"/>
                  </a:lnTo>
                  <a:lnTo>
                    <a:pt x="684176" y="906234"/>
                  </a:lnTo>
                  <a:lnTo>
                    <a:pt x="680317" y="907595"/>
                  </a:lnTo>
                  <a:lnTo>
                    <a:pt x="676231" y="908730"/>
                  </a:lnTo>
                  <a:lnTo>
                    <a:pt x="672372" y="909637"/>
                  </a:lnTo>
                  <a:lnTo>
                    <a:pt x="668286" y="910318"/>
                  </a:lnTo>
                  <a:lnTo>
                    <a:pt x="664199" y="910771"/>
                  </a:lnTo>
                  <a:lnTo>
                    <a:pt x="659886" y="911225"/>
                  </a:lnTo>
                  <a:lnTo>
                    <a:pt x="655573" y="911225"/>
                  </a:lnTo>
                  <a:lnTo>
                    <a:pt x="651260" y="911225"/>
                  </a:lnTo>
                  <a:lnTo>
                    <a:pt x="646947" y="910771"/>
                  </a:lnTo>
                  <a:lnTo>
                    <a:pt x="643088" y="910318"/>
                  </a:lnTo>
                  <a:lnTo>
                    <a:pt x="638775" y="909637"/>
                  </a:lnTo>
                  <a:lnTo>
                    <a:pt x="634915" y="908730"/>
                  </a:lnTo>
                  <a:lnTo>
                    <a:pt x="630829" y="907595"/>
                  </a:lnTo>
                  <a:lnTo>
                    <a:pt x="627197" y="906234"/>
                  </a:lnTo>
                  <a:lnTo>
                    <a:pt x="623338" y="904646"/>
                  </a:lnTo>
                  <a:lnTo>
                    <a:pt x="619706" y="903058"/>
                  </a:lnTo>
                  <a:lnTo>
                    <a:pt x="616074" y="901243"/>
                  </a:lnTo>
                  <a:lnTo>
                    <a:pt x="612669" y="899428"/>
                  </a:lnTo>
                  <a:lnTo>
                    <a:pt x="609037" y="896933"/>
                  </a:lnTo>
                  <a:lnTo>
                    <a:pt x="605858" y="894891"/>
                  </a:lnTo>
                  <a:lnTo>
                    <a:pt x="602680" y="892395"/>
                  </a:lnTo>
                  <a:lnTo>
                    <a:pt x="599729" y="889673"/>
                  </a:lnTo>
                  <a:lnTo>
                    <a:pt x="596778" y="886950"/>
                  </a:lnTo>
                  <a:lnTo>
                    <a:pt x="594054" y="884228"/>
                  </a:lnTo>
                  <a:lnTo>
                    <a:pt x="591557" y="881052"/>
                  </a:lnTo>
                  <a:lnTo>
                    <a:pt x="588833" y="877876"/>
                  </a:lnTo>
                  <a:lnTo>
                    <a:pt x="586790" y="874699"/>
                  </a:lnTo>
                  <a:lnTo>
                    <a:pt x="584520" y="871296"/>
                  </a:lnTo>
                  <a:lnTo>
                    <a:pt x="582704" y="867666"/>
                  </a:lnTo>
                  <a:lnTo>
                    <a:pt x="580661" y="864263"/>
                  </a:lnTo>
                  <a:lnTo>
                    <a:pt x="579072" y="860407"/>
                  </a:lnTo>
                  <a:lnTo>
                    <a:pt x="577710" y="856777"/>
                  </a:lnTo>
                  <a:lnTo>
                    <a:pt x="576348" y="852920"/>
                  </a:lnTo>
                  <a:lnTo>
                    <a:pt x="575212" y="849063"/>
                  </a:lnTo>
                  <a:lnTo>
                    <a:pt x="574077" y="844980"/>
                  </a:lnTo>
                  <a:lnTo>
                    <a:pt x="573396" y="840896"/>
                  </a:lnTo>
                  <a:lnTo>
                    <a:pt x="572942" y="836812"/>
                  </a:lnTo>
                  <a:lnTo>
                    <a:pt x="572488" y="832729"/>
                  </a:lnTo>
                  <a:lnTo>
                    <a:pt x="572488" y="828191"/>
                  </a:lnTo>
                  <a:lnTo>
                    <a:pt x="572488" y="825242"/>
                  </a:lnTo>
                  <a:lnTo>
                    <a:pt x="572715" y="822066"/>
                  </a:lnTo>
                  <a:lnTo>
                    <a:pt x="573623" y="815940"/>
                  </a:lnTo>
                  <a:lnTo>
                    <a:pt x="574986" y="810042"/>
                  </a:lnTo>
                  <a:lnTo>
                    <a:pt x="576575" y="804370"/>
                  </a:lnTo>
                  <a:lnTo>
                    <a:pt x="454445" y="733134"/>
                  </a:lnTo>
                  <a:lnTo>
                    <a:pt x="449904" y="736083"/>
                  </a:lnTo>
                  <a:lnTo>
                    <a:pt x="444910" y="738352"/>
                  </a:lnTo>
                  <a:lnTo>
                    <a:pt x="439689" y="740166"/>
                  </a:lnTo>
                  <a:lnTo>
                    <a:pt x="434468" y="741981"/>
                  </a:lnTo>
                  <a:lnTo>
                    <a:pt x="429020" y="743569"/>
                  </a:lnTo>
                  <a:lnTo>
                    <a:pt x="423571" y="744477"/>
                  </a:lnTo>
                  <a:lnTo>
                    <a:pt x="417669" y="745158"/>
                  </a:lnTo>
                  <a:lnTo>
                    <a:pt x="412221" y="745384"/>
                  </a:lnTo>
                  <a:lnTo>
                    <a:pt x="408589" y="745158"/>
                  </a:lnTo>
                  <a:lnTo>
                    <a:pt x="405411" y="744931"/>
                  </a:lnTo>
                  <a:lnTo>
                    <a:pt x="398828" y="744023"/>
                  </a:lnTo>
                  <a:lnTo>
                    <a:pt x="305755" y="898294"/>
                  </a:lnTo>
                  <a:lnTo>
                    <a:pt x="257175" y="869255"/>
                  </a:lnTo>
                  <a:lnTo>
                    <a:pt x="349113" y="716118"/>
                  </a:lnTo>
                  <a:lnTo>
                    <a:pt x="347070" y="713396"/>
                  </a:lnTo>
                  <a:lnTo>
                    <a:pt x="344573" y="710220"/>
                  </a:lnTo>
                  <a:lnTo>
                    <a:pt x="342757" y="707497"/>
                  </a:lnTo>
                  <a:lnTo>
                    <a:pt x="340714" y="704321"/>
                  </a:lnTo>
                  <a:lnTo>
                    <a:pt x="339125" y="701145"/>
                  </a:lnTo>
                  <a:lnTo>
                    <a:pt x="337536" y="697969"/>
                  </a:lnTo>
                  <a:lnTo>
                    <a:pt x="335720" y="694793"/>
                  </a:lnTo>
                  <a:lnTo>
                    <a:pt x="334358" y="691390"/>
                  </a:lnTo>
                  <a:lnTo>
                    <a:pt x="333223" y="687987"/>
                  </a:lnTo>
                  <a:lnTo>
                    <a:pt x="332087" y="684584"/>
                  </a:lnTo>
                  <a:lnTo>
                    <a:pt x="331179" y="680954"/>
                  </a:lnTo>
                  <a:lnTo>
                    <a:pt x="330498" y="677324"/>
                  </a:lnTo>
                  <a:lnTo>
                    <a:pt x="329590" y="673467"/>
                  </a:lnTo>
                  <a:lnTo>
                    <a:pt x="329136" y="670064"/>
                  </a:lnTo>
                  <a:lnTo>
                    <a:pt x="328909" y="665981"/>
                  </a:lnTo>
                  <a:lnTo>
                    <a:pt x="328909" y="662351"/>
                  </a:lnTo>
                  <a:lnTo>
                    <a:pt x="328909" y="658040"/>
                  </a:lnTo>
                  <a:lnTo>
                    <a:pt x="329363" y="653730"/>
                  </a:lnTo>
                  <a:lnTo>
                    <a:pt x="330044" y="649646"/>
                  </a:lnTo>
                  <a:lnTo>
                    <a:pt x="330725" y="645335"/>
                  </a:lnTo>
                  <a:lnTo>
                    <a:pt x="331633" y="641479"/>
                  </a:lnTo>
                  <a:lnTo>
                    <a:pt x="332768" y="637395"/>
                  </a:lnTo>
                  <a:lnTo>
                    <a:pt x="333904" y="633765"/>
                  </a:lnTo>
                  <a:lnTo>
                    <a:pt x="335493" y="629908"/>
                  </a:lnTo>
                  <a:lnTo>
                    <a:pt x="337082" y="626279"/>
                  </a:lnTo>
                  <a:lnTo>
                    <a:pt x="339125" y="622649"/>
                  </a:lnTo>
                  <a:lnTo>
                    <a:pt x="340941" y="619246"/>
                  </a:lnTo>
                  <a:lnTo>
                    <a:pt x="342984" y="615843"/>
                  </a:lnTo>
                  <a:lnTo>
                    <a:pt x="345481" y="612666"/>
                  </a:lnTo>
                  <a:lnTo>
                    <a:pt x="347978" y="609263"/>
                  </a:lnTo>
                  <a:lnTo>
                    <a:pt x="350475" y="606314"/>
                  </a:lnTo>
                  <a:lnTo>
                    <a:pt x="353426" y="603592"/>
                  </a:lnTo>
                  <a:lnTo>
                    <a:pt x="356150" y="600642"/>
                  </a:lnTo>
                  <a:lnTo>
                    <a:pt x="359101" y="598147"/>
                  </a:lnTo>
                  <a:lnTo>
                    <a:pt x="362279" y="595878"/>
                  </a:lnTo>
                  <a:lnTo>
                    <a:pt x="365458" y="593383"/>
                  </a:lnTo>
                  <a:lnTo>
                    <a:pt x="369090" y="591341"/>
                  </a:lnTo>
                  <a:lnTo>
                    <a:pt x="372495" y="589299"/>
                  </a:lnTo>
                  <a:lnTo>
                    <a:pt x="376127" y="587484"/>
                  </a:lnTo>
                  <a:lnTo>
                    <a:pt x="379759" y="585669"/>
                  </a:lnTo>
                  <a:lnTo>
                    <a:pt x="383618" y="584308"/>
                  </a:lnTo>
                  <a:lnTo>
                    <a:pt x="387250" y="582947"/>
                  </a:lnTo>
                  <a:lnTo>
                    <a:pt x="391336" y="581812"/>
                  </a:lnTo>
                  <a:lnTo>
                    <a:pt x="395196" y="580905"/>
                  </a:lnTo>
                  <a:lnTo>
                    <a:pt x="399509" y="580224"/>
                  </a:lnTo>
                  <a:lnTo>
                    <a:pt x="403368" y="579544"/>
                  </a:lnTo>
                  <a:lnTo>
                    <a:pt x="407681" y="579317"/>
                  </a:lnTo>
                  <a:lnTo>
                    <a:pt x="412221" y="579090"/>
                  </a:lnTo>
                  <a:lnTo>
                    <a:pt x="416307" y="579317"/>
                  </a:lnTo>
                  <a:lnTo>
                    <a:pt x="420620" y="579544"/>
                  </a:lnTo>
                  <a:lnTo>
                    <a:pt x="424707" y="580224"/>
                  </a:lnTo>
                  <a:lnTo>
                    <a:pt x="428793" y="580905"/>
                  </a:lnTo>
                  <a:lnTo>
                    <a:pt x="432652" y="581812"/>
                  </a:lnTo>
                  <a:lnTo>
                    <a:pt x="436738" y="582947"/>
                  </a:lnTo>
                  <a:lnTo>
                    <a:pt x="440597" y="584308"/>
                  </a:lnTo>
                  <a:lnTo>
                    <a:pt x="444456" y="585669"/>
                  </a:lnTo>
                  <a:lnTo>
                    <a:pt x="447861" y="587484"/>
                  </a:lnTo>
                  <a:lnTo>
                    <a:pt x="451720" y="589299"/>
                  </a:lnTo>
                  <a:lnTo>
                    <a:pt x="454899" y="591341"/>
                  </a:lnTo>
                  <a:lnTo>
                    <a:pt x="458531" y="593383"/>
                  </a:lnTo>
                  <a:lnTo>
                    <a:pt x="461709" y="595878"/>
                  </a:lnTo>
                  <a:lnTo>
                    <a:pt x="464887" y="598147"/>
                  </a:lnTo>
                  <a:lnTo>
                    <a:pt x="467838" y="600642"/>
                  </a:lnTo>
                  <a:lnTo>
                    <a:pt x="470562" y="603592"/>
                  </a:lnTo>
                  <a:lnTo>
                    <a:pt x="473513" y="606314"/>
                  </a:lnTo>
                  <a:lnTo>
                    <a:pt x="476010" y="609263"/>
                  </a:lnTo>
                  <a:lnTo>
                    <a:pt x="478734" y="612666"/>
                  </a:lnTo>
                  <a:lnTo>
                    <a:pt x="481004" y="615843"/>
                  </a:lnTo>
                  <a:lnTo>
                    <a:pt x="483047" y="619246"/>
                  </a:lnTo>
                  <a:lnTo>
                    <a:pt x="484864" y="622649"/>
                  </a:lnTo>
                  <a:lnTo>
                    <a:pt x="486907" y="626279"/>
                  </a:lnTo>
                  <a:lnTo>
                    <a:pt x="488496" y="629908"/>
                  </a:lnTo>
                  <a:lnTo>
                    <a:pt x="490085" y="633765"/>
                  </a:lnTo>
                  <a:lnTo>
                    <a:pt x="491220" y="637395"/>
                  </a:lnTo>
                  <a:lnTo>
                    <a:pt x="492355" y="641479"/>
                  </a:lnTo>
                  <a:lnTo>
                    <a:pt x="493490" y="645335"/>
                  </a:lnTo>
                  <a:lnTo>
                    <a:pt x="494171" y="649646"/>
                  </a:lnTo>
                  <a:lnTo>
                    <a:pt x="494625" y="653730"/>
                  </a:lnTo>
                  <a:lnTo>
                    <a:pt x="495079" y="658040"/>
                  </a:lnTo>
                  <a:lnTo>
                    <a:pt x="495079" y="662351"/>
                  </a:lnTo>
                  <a:lnTo>
                    <a:pt x="495079" y="665527"/>
                  </a:lnTo>
                  <a:lnTo>
                    <a:pt x="494852" y="669157"/>
                  </a:lnTo>
                  <a:lnTo>
                    <a:pt x="494398" y="672333"/>
                  </a:lnTo>
                  <a:lnTo>
                    <a:pt x="493944" y="675509"/>
                  </a:lnTo>
                  <a:lnTo>
                    <a:pt x="492355" y="682088"/>
                  </a:lnTo>
                  <a:lnTo>
                    <a:pt x="490539" y="688214"/>
                  </a:lnTo>
                  <a:lnTo>
                    <a:pt x="610853" y="758543"/>
                  </a:lnTo>
                  <a:lnTo>
                    <a:pt x="616528" y="755140"/>
                  </a:lnTo>
                  <a:lnTo>
                    <a:pt x="622430" y="752417"/>
                  </a:lnTo>
                  <a:lnTo>
                    <a:pt x="628559" y="749922"/>
                  </a:lnTo>
                  <a:lnTo>
                    <a:pt x="634915" y="748107"/>
                  </a:lnTo>
                  <a:lnTo>
                    <a:pt x="690305" y="547101"/>
                  </a:lnTo>
                  <a:lnTo>
                    <a:pt x="686673" y="544152"/>
                  </a:lnTo>
                  <a:lnTo>
                    <a:pt x="682814" y="540976"/>
                  </a:lnTo>
                  <a:lnTo>
                    <a:pt x="679409" y="537800"/>
                  </a:lnTo>
                  <a:lnTo>
                    <a:pt x="676004" y="533943"/>
                  </a:lnTo>
                  <a:lnTo>
                    <a:pt x="673053" y="530540"/>
                  </a:lnTo>
                  <a:lnTo>
                    <a:pt x="670102" y="526456"/>
                  </a:lnTo>
                  <a:lnTo>
                    <a:pt x="667605" y="522373"/>
                  </a:lnTo>
                  <a:lnTo>
                    <a:pt x="665107" y="518062"/>
                  </a:lnTo>
                  <a:lnTo>
                    <a:pt x="662837" y="513979"/>
                  </a:lnTo>
                  <a:lnTo>
                    <a:pt x="661021" y="509214"/>
                  </a:lnTo>
                  <a:lnTo>
                    <a:pt x="659432" y="504450"/>
                  </a:lnTo>
                  <a:lnTo>
                    <a:pt x="658070" y="499913"/>
                  </a:lnTo>
                  <a:lnTo>
                    <a:pt x="657162" y="494922"/>
                  </a:lnTo>
                  <a:lnTo>
                    <a:pt x="656027" y="489931"/>
                  </a:lnTo>
                  <a:lnTo>
                    <a:pt x="655573" y="484940"/>
                  </a:lnTo>
                  <a:lnTo>
                    <a:pt x="655573" y="479722"/>
                  </a:lnTo>
                  <a:lnTo>
                    <a:pt x="655573" y="475411"/>
                  </a:lnTo>
                  <a:lnTo>
                    <a:pt x="655800" y="471327"/>
                  </a:lnTo>
                  <a:lnTo>
                    <a:pt x="656708" y="467017"/>
                  </a:lnTo>
                  <a:lnTo>
                    <a:pt x="657389" y="463160"/>
                  </a:lnTo>
                  <a:lnTo>
                    <a:pt x="658297" y="458850"/>
                  </a:lnTo>
                  <a:lnTo>
                    <a:pt x="659432" y="455220"/>
                  </a:lnTo>
                  <a:lnTo>
                    <a:pt x="660567" y="451136"/>
                  </a:lnTo>
                  <a:lnTo>
                    <a:pt x="661929" y="447506"/>
                  </a:lnTo>
                  <a:lnTo>
                    <a:pt x="663745" y="443649"/>
                  </a:lnTo>
                  <a:lnTo>
                    <a:pt x="665561" y="440246"/>
                  </a:lnTo>
                  <a:lnTo>
                    <a:pt x="667605" y="436617"/>
                  </a:lnTo>
                  <a:lnTo>
                    <a:pt x="669648" y="433440"/>
                  </a:lnTo>
                  <a:lnTo>
                    <a:pt x="672145" y="430037"/>
                  </a:lnTo>
                  <a:lnTo>
                    <a:pt x="674642" y="426861"/>
                  </a:lnTo>
                  <a:lnTo>
                    <a:pt x="677139" y="423912"/>
                  </a:lnTo>
                  <a:lnTo>
                    <a:pt x="679863" y="420963"/>
                  </a:lnTo>
                  <a:lnTo>
                    <a:pt x="682814" y="418240"/>
                  </a:lnTo>
                  <a:lnTo>
                    <a:pt x="685765" y="415518"/>
                  </a:lnTo>
                  <a:lnTo>
                    <a:pt x="688943" y="413249"/>
                  </a:lnTo>
                  <a:lnTo>
                    <a:pt x="692121" y="410980"/>
                  </a:lnTo>
                  <a:lnTo>
                    <a:pt x="695526" y="408712"/>
                  </a:lnTo>
                  <a:lnTo>
                    <a:pt x="698932" y="406670"/>
                  </a:lnTo>
                  <a:lnTo>
                    <a:pt x="702791" y="404855"/>
                  </a:lnTo>
                  <a:lnTo>
                    <a:pt x="706196" y="403267"/>
                  </a:lnTo>
                  <a:lnTo>
                    <a:pt x="710055" y="401679"/>
                  </a:lnTo>
                  <a:lnTo>
                    <a:pt x="713914" y="400318"/>
                  </a:lnTo>
                  <a:lnTo>
                    <a:pt x="718000" y="399410"/>
                  </a:lnTo>
                  <a:lnTo>
                    <a:pt x="721859" y="398503"/>
                  </a:lnTo>
                  <a:lnTo>
                    <a:pt x="725945" y="397595"/>
                  </a:lnTo>
                  <a:lnTo>
                    <a:pt x="730032" y="397141"/>
                  </a:lnTo>
                  <a:lnTo>
                    <a:pt x="734345" y="396915"/>
                  </a:lnTo>
                  <a:lnTo>
                    <a:pt x="738658" y="396688"/>
                  </a:lnTo>
                  <a:lnTo>
                    <a:pt x="744106" y="396915"/>
                  </a:lnTo>
                  <a:lnTo>
                    <a:pt x="749554" y="397595"/>
                  </a:lnTo>
                  <a:lnTo>
                    <a:pt x="754775" y="398276"/>
                  </a:lnTo>
                  <a:lnTo>
                    <a:pt x="759770" y="399637"/>
                  </a:lnTo>
                  <a:lnTo>
                    <a:pt x="764764" y="400998"/>
                  </a:lnTo>
                  <a:lnTo>
                    <a:pt x="769758" y="403040"/>
                  </a:lnTo>
                  <a:lnTo>
                    <a:pt x="774298" y="405082"/>
                  </a:lnTo>
                  <a:lnTo>
                    <a:pt x="778838" y="407577"/>
                  </a:lnTo>
                  <a:lnTo>
                    <a:pt x="916859" y="288925"/>
                  </a:lnTo>
                  <a:close/>
                  <a:moveTo>
                    <a:pt x="607752" y="120128"/>
                  </a:moveTo>
                  <a:lnTo>
                    <a:pt x="595738" y="120581"/>
                  </a:lnTo>
                  <a:lnTo>
                    <a:pt x="583950" y="121488"/>
                  </a:lnTo>
                  <a:lnTo>
                    <a:pt x="571936" y="122621"/>
                  </a:lnTo>
                  <a:lnTo>
                    <a:pt x="559921" y="123755"/>
                  </a:lnTo>
                  <a:lnTo>
                    <a:pt x="548133" y="125341"/>
                  </a:lnTo>
                  <a:lnTo>
                    <a:pt x="536119" y="127154"/>
                  </a:lnTo>
                  <a:lnTo>
                    <a:pt x="524331" y="129421"/>
                  </a:lnTo>
                  <a:lnTo>
                    <a:pt x="512543" y="131688"/>
                  </a:lnTo>
                  <a:lnTo>
                    <a:pt x="500755" y="134407"/>
                  </a:lnTo>
                  <a:lnTo>
                    <a:pt x="489194" y="137581"/>
                  </a:lnTo>
                  <a:lnTo>
                    <a:pt x="477406" y="140754"/>
                  </a:lnTo>
                  <a:lnTo>
                    <a:pt x="466072" y="144380"/>
                  </a:lnTo>
                  <a:lnTo>
                    <a:pt x="454511" y="148234"/>
                  </a:lnTo>
                  <a:lnTo>
                    <a:pt x="443176" y="152313"/>
                  </a:lnTo>
                  <a:lnTo>
                    <a:pt x="431615" y="156620"/>
                  </a:lnTo>
                  <a:lnTo>
                    <a:pt x="420508" y="161380"/>
                  </a:lnTo>
                  <a:lnTo>
                    <a:pt x="409400" y="166593"/>
                  </a:lnTo>
                  <a:lnTo>
                    <a:pt x="398519" y="171579"/>
                  </a:lnTo>
                  <a:lnTo>
                    <a:pt x="387411" y="177246"/>
                  </a:lnTo>
                  <a:lnTo>
                    <a:pt x="376530" y="183139"/>
                  </a:lnTo>
                  <a:lnTo>
                    <a:pt x="365876" y="189485"/>
                  </a:lnTo>
                  <a:lnTo>
                    <a:pt x="355221" y="195831"/>
                  </a:lnTo>
                  <a:lnTo>
                    <a:pt x="344794" y="202631"/>
                  </a:lnTo>
                  <a:lnTo>
                    <a:pt x="334593" y="209431"/>
                  </a:lnTo>
                  <a:lnTo>
                    <a:pt x="324392" y="216684"/>
                  </a:lnTo>
                  <a:lnTo>
                    <a:pt x="314191" y="224163"/>
                  </a:lnTo>
                  <a:lnTo>
                    <a:pt x="304443" y="232323"/>
                  </a:lnTo>
                  <a:lnTo>
                    <a:pt x="294695" y="240483"/>
                  </a:lnTo>
                  <a:lnTo>
                    <a:pt x="284948" y="248869"/>
                  </a:lnTo>
                  <a:lnTo>
                    <a:pt x="275654" y="257482"/>
                  </a:lnTo>
                  <a:lnTo>
                    <a:pt x="266359" y="266548"/>
                  </a:lnTo>
                  <a:lnTo>
                    <a:pt x="257518" y="275614"/>
                  </a:lnTo>
                  <a:lnTo>
                    <a:pt x="248678" y="285134"/>
                  </a:lnTo>
                  <a:lnTo>
                    <a:pt x="240290" y="294654"/>
                  </a:lnTo>
                  <a:lnTo>
                    <a:pt x="232129" y="304400"/>
                  </a:lnTo>
                  <a:lnTo>
                    <a:pt x="224195" y="314373"/>
                  </a:lnTo>
                  <a:lnTo>
                    <a:pt x="216714" y="324346"/>
                  </a:lnTo>
                  <a:lnTo>
                    <a:pt x="209460" y="334545"/>
                  </a:lnTo>
                  <a:lnTo>
                    <a:pt x="202433" y="344971"/>
                  </a:lnTo>
                  <a:lnTo>
                    <a:pt x="195632" y="355397"/>
                  </a:lnTo>
                  <a:lnTo>
                    <a:pt x="189058" y="366050"/>
                  </a:lnTo>
                  <a:lnTo>
                    <a:pt x="183164" y="376703"/>
                  </a:lnTo>
                  <a:lnTo>
                    <a:pt x="177271" y="387583"/>
                  </a:lnTo>
                  <a:lnTo>
                    <a:pt x="171603" y="398462"/>
                  </a:lnTo>
                  <a:lnTo>
                    <a:pt x="166390" y="409342"/>
                  </a:lnTo>
                  <a:lnTo>
                    <a:pt x="161402" y="420448"/>
                  </a:lnTo>
                  <a:lnTo>
                    <a:pt x="156642" y="431554"/>
                  </a:lnTo>
                  <a:lnTo>
                    <a:pt x="152108" y="443114"/>
                  </a:lnTo>
                  <a:lnTo>
                    <a:pt x="148028" y="454673"/>
                  </a:lnTo>
                  <a:lnTo>
                    <a:pt x="144174" y="466006"/>
                  </a:lnTo>
                  <a:lnTo>
                    <a:pt x="140774" y="477565"/>
                  </a:lnTo>
                  <a:lnTo>
                    <a:pt x="137373" y="489125"/>
                  </a:lnTo>
                  <a:lnTo>
                    <a:pt x="134426" y="500911"/>
                  </a:lnTo>
                  <a:lnTo>
                    <a:pt x="131706" y="512470"/>
                  </a:lnTo>
                  <a:lnTo>
                    <a:pt x="129213" y="524256"/>
                  </a:lnTo>
                  <a:lnTo>
                    <a:pt x="127172" y="536269"/>
                  </a:lnTo>
                  <a:lnTo>
                    <a:pt x="125359" y="548055"/>
                  </a:lnTo>
                  <a:lnTo>
                    <a:pt x="123772" y="560068"/>
                  </a:lnTo>
                  <a:lnTo>
                    <a:pt x="122185" y="571854"/>
                  </a:lnTo>
                  <a:lnTo>
                    <a:pt x="121278" y="583867"/>
                  </a:lnTo>
                  <a:lnTo>
                    <a:pt x="120598" y="595880"/>
                  </a:lnTo>
                  <a:lnTo>
                    <a:pt x="120145" y="607666"/>
                  </a:lnTo>
                  <a:lnTo>
                    <a:pt x="120145" y="619905"/>
                  </a:lnTo>
                  <a:lnTo>
                    <a:pt x="120145" y="631918"/>
                  </a:lnTo>
                  <a:lnTo>
                    <a:pt x="120598" y="643704"/>
                  </a:lnTo>
                  <a:lnTo>
                    <a:pt x="121278" y="655717"/>
                  </a:lnTo>
                  <a:lnTo>
                    <a:pt x="122185" y="667503"/>
                  </a:lnTo>
                  <a:lnTo>
                    <a:pt x="123772" y="679516"/>
                  </a:lnTo>
                  <a:lnTo>
                    <a:pt x="125359" y="691529"/>
                  </a:lnTo>
                  <a:lnTo>
                    <a:pt x="127172" y="703315"/>
                  </a:lnTo>
                  <a:lnTo>
                    <a:pt x="129213" y="715328"/>
                  </a:lnTo>
                  <a:lnTo>
                    <a:pt x="131706" y="726887"/>
                  </a:lnTo>
                  <a:lnTo>
                    <a:pt x="134426" y="738673"/>
                  </a:lnTo>
                  <a:lnTo>
                    <a:pt x="137373" y="750460"/>
                  </a:lnTo>
                  <a:lnTo>
                    <a:pt x="140774" y="762019"/>
                  </a:lnTo>
                  <a:lnTo>
                    <a:pt x="144174" y="773579"/>
                  </a:lnTo>
                  <a:lnTo>
                    <a:pt x="148028" y="784911"/>
                  </a:lnTo>
                  <a:lnTo>
                    <a:pt x="152108" y="796471"/>
                  </a:lnTo>
                  <a:lnTo>
                    <a:pt x="156642" y="807804"/>
                  </a:lnTo>
                  <a:lnTo>
                    <a:pt x="161402" y="819136"/>
                  </a:lnTo>
                  <a:lnTo>
                    <a:pt x="166390" y="830016"/>
                  </a:lnTo>
                  <a:lnTo>
                    <a:pt x="171603" y="841122"/>
                  </a:lnTo>
                  <a:lnTo>
                    <a:pt x="177271" y="852002"/>
                  </a:lnTo>
                  <a:lnTo>
                    <a:pt x="183164" y="862881"/>
                  </a:lnTo>
                  <a:lnTo>
                    <a:pt x="189058" y="873534"/>
                  </a:lnTo>
                  <a:lnTo>
                    <a:pt x="195632" y="884187"/>
                  </a:lnTo>
                  <a:lnTo>
                    <a:pt x="202433" y="894613"/>
                  </a:lnTo>
                  <a:lnTo>
                    <a:pt x="209460" y="904813"/>
                  </a:lnTo>
                  <a:lnTo>
                    <a:pt x="216714" y="915239"/>
                  </a:lnTo>
                  <a:lnTo>
                    <a:pt x="224195" y="925212"/>
                  </a:lnTo>
                  <a:lnTo>
                    <a:pt x="232129" y="934958"/>
                  </a:lnTo>
                  <a:lnTo>
                    <a:pt x="240290" y="944931"/>
                  </a:lnTo>
                  <a:lnTo>
                    <a:pt x="248678" y="954450"/>
                  </a:lnTo>
                  <a:lnTo>
                    <a:pt x="257518" y="963743"/>
                  </a:lnTo>
                  <a:lnTo>
                    <a:pt x="266359" y="973036"/>
                  </a:lnTo>
                  <a:lnTo>
                    <a:pt x="275654" y="982102"/>
                  </a:lnTo>
                  <a:lnTo>
                    <a:pt x="284948" y="990715"/>
                  </a:lnTo>
                  <a:lnTo>
                    <a:pt x="294695" y="999102"/>
                  </a:lnTo>
                  <a:lnTo>
                    <a:pt x="304443" y="1007261"/>
                  </a:lnTo>
                  <a:lnTo>
                    <a:pt x="314191" y="1015194"/>
                  </a:lnTo>
                  <a:lnTo>
                    <a:pt x="324392" y="1022674"/>
                  </a:lnTo>
                  <a:lnTo>
                    <a:pt x="334593" y="1029927"/>
                  </a:lnTo>
                  <a:lnTo>
                    <a:pt x="344794" y="1036953"/>
                  </a:lnTo>
                  <a:lnTo>
                    <a:pt x="355221" y="1043753"/>
                  </a:lnTo>
                  <a:lnTo>
                    <a:pt x="365876" y="1050099"/>
                  </a:lnTo>
                  <a:lnTo>
                    <a:pt x="376530" y="1056446"/>
                  </a:lnTo>
                  <a:lnTo>
                    <a:pt x="387411" y="1062339"/>
                  </a:lnTo>
                  <a:lnTo>
                    <a:pt x="398292" y="1067779"/>
                  </a:lnTo>
                  <a:lnTo>
                    <a:pt x="409400" y="1072992"/>
                  </a:lnTo>
                  <a:lnTo>
                    <a:pt x="420508" y="1078205"/>
                  </a:lnTo>
                  <a:lnTo>
                    <a:pt x="431615" y="1082738"/>
                  </a:lnTo>
                  <a:lnTo>
                    <a:pt x="443176" y="1087271"/>
                  </a:lnTo>
                  <a:lnTo>
                    <a:pt x="454511" y="1091351"/>
                  </a:lnTo>
                  <a:lnTo>
                    <a:pt x="466072" y="1095204"/>
                  </a:lnTo>
                  <a:lnTo>
                    <a:pt x="477406" y="1098830"/>
                  </a:lnTo>
                  <a:lnTo>
                    <a:pt x="489194" y="1102004"/>
                  </a:lnTo>
                  <a:lnTo>
                    <a:pt x="500755" y="1104950"/>
                  </a:lnTo>
                  <a:lnTo>
                    <a:pt x="512543" y="1107897"/>
                  </a:lnTo>
                  <a:lnTo>
                    <a:pt x="524331" y="1110163"/>
                  </a:lnTo>
                  <a:lnTo>
                    <a:pt x="536119" y="1112203"/>
                  </a:lnTo>
                  <a:lnTo>
                    <a:pt x="548133" y="1114243"/>
                  </a:lnTo>
                  <a:lnTo>
                    <a:pt x="559921" y="1115830"/>
                  </a:lnTo>
                  <a:lnTo>
                    <a:pt x="571936" y="1116963"/>
                  </a:lnTo>
                  <a:lnTo>
                    <a:pt x="583950" y="1118096"/>
                  </a:lnTo>
                  <a:lnTo>
                    <a:pt x="595738" y="1118776"/>
                  </a:lnTo>
                  <a:lnTo>
                    <a:pt x="607752" y="1119230"/>
                  </a:lnTo>
                  <a:lnTo>
                    <a:pt x="619540" y="1119230"/>
                  </a:lnTo>
                  <a:lnTo>
                    <a:pt x="631782" y="1119230"/>
                  </a:lnTo>
                  <a:lnTo>
                    <a:pt x="643796" y="1118776"/>
                  </a:lnTo>
                  <a:lnTo>
                    <a:pt x="655584" y="1118096"/>
                  </a:lnTo>
                  <a:lnTo>
                    <a:pt x="667598" y="1116963"/>
                  </a:lnTo>
                  <a:lnTo>
                    <a:pt x="679613" y="1115830"/>
                  </a:lnTo>
                  <a:lnTo>
                    <a:pt x="691401" y="1114243"/>
                  </a:lnTo>
                  <a:lnTo>
                    <a:pt x="703415" y="1112203"/>
                  </a:lnTo>
                  <a:lnTo>
                    <a:pt x="715203" y="1110163"/>
                  </a:lnTo>
                  <a:lnTo>
                    <a:pt x="726991" y="1107897"/>
                  </a:lnTo>
                  <a:lnTo>
                    <a:pt x="738779" y="1104950"/>
                  </a:lnTo>
                  <a:lnTo>
                    <a:pt x="750340" y="1102004"/>
                  </a:lnTo>
                  <a:lnTo>
                    <a:pt x="762128" y="1098830"/>
                  </a:lnTo>
                  <a:lnTo>
                    <a:pt x="773462" y="1095204"/>
                  </a:lnTo>
                  <a:lnTo>
                    <a:pt x="785023" y="1091351"/>
                  </a:lnTo>
                  <a:lnTo>
                    <a:pt x="796358" y="1087271"/>
                  </a:lnTo>
                  <a:lnTo>
                    <a:pt x="807692" y="1082738"/>
                  </a:lnTo>
                  <a:lnTo>
                    <a:pt x="819026" y="1078205"/>
                  </a:lnTo>
                  <a:lnTo>
                    <a:pt x="830134" y="1072992"/>
                  </a:lnTo>
                  <a:lnTo>
                    <a:pt x="841015" y="1067779"/>
                  </a:lnTo>
                  <a:lnTo>
                    <a:pt x="852123" y="1062339"/>
                  </a:lnTo>
                  <a:lnTo>
                    <a:pt x="862777" y="1056446"/>
                  </a:lnTo>
                  <a:lnTo>
                    <a:pt x="873658" y="1050099"/>
                  </a:lnTo>
                  <a:lnTo>
                    <a:pt x="884086" y="1043753"/>
                  </a:lnTo>
                  <a:lnTo>
                    <a:pt x="894740" y="1036953"/>
                  </a:lnTo>
                  <a:lnTo>
                    <a:pt x="904941" y="1029927"/>
                  </a:lnTo>
                  <a:lnTo>
                    <a:pt x="915142" y="1022674"/>
                  </a:lnTo>
                  <a:lnTo>
                    <a:pt x="925343" y="1015194"/>
                  </a:lnTo>
                  <a:lnTo>
                    <a:pt x="935091" y="1007261"/>
                  </a:lnTo>
                  <a:lnTo>
                    <a:pt x="944839" y="999102"/>
                  </a:lnTo>
                  <a:lnTo>
                    <a:pt x="954586" y="990715"/>
                  </a:lnTo>
                  <a:lnTo>
                    <a:pt x="963880" y="982102"/>
                  </a:lnTo>
                  <a:lnTo>
                    <a:pt x="972948" y="973036"/>
                  </a:lnTo>
                  <a:lnTo>
                    <a:pt x="982016" y="963743"/>
                  </a:lnTo>
                  <a:lnTo>
                    <a:pt x="990856" y="954450"/>
                  </a:lnTo>
                  <a:lnTo>
                    <a:pt x="999244" y="944931"/>
                  </a:lnTo>
                  <a:lnTo>
                    <a:pt x="1007405" y="934958"/>
                  </a:lnTo>
                  <a:lnTo>
                    <a:pt x="1015339" y="925212"/>
                  </a:lnTo>
                  <a:lnTo>
                    <a:pt x="1022820" y="915239"/>
                  </a:lnTo>
                  <a:lnTo>
                    <a:pt x="1030074" y="904813"/>
                  </a:lnTo>
                  <a:lnTo>
                    <a:pt x="1037101" y="894613"/>
                  </a:lnTo>
                  <a:lnTo>
                    <a:pt x="1043902" y="884187"/>
                  </a:lnTo>
                  <a:lnTo>
                    <a:pt x="1050249" y="873534"/>
                  </a:lnTo>
                  <a:lnTo>
                    <a:pt x="1056370" y="862881"/>
                  </a:lnTo>
                  <a:lnTo>
                    <a:pt x="1062263" y="852002"/>
                  </a:lnTo>
                  <a:lnTo>
                    <a:pt x="1067931" y="841122"/>
                  </a:lnTo>
                  <a:lnTo>
                    <a:pt x="1073144" y="830016"/>
                  </a:lnTo>
                  <a:lnTo>
                    <a:pt x="1078132" y="819136"/>
                  </a:lnTo>
                  <a:lnTo>
                    <a:pt x="1082892" y="807804"/>
                  </a:lnTo>
                  <a:lnTo>
                    <a:pt x="1087426" y="796471"/>
                  </a:lnTo>
                  <a:lnTo>
                    <a:pt x="1091280" y="784911"/>
                  </a:lnTo>
                  <a:lnTo>
                    <a:pt x="1095360" y="773579"/>
                  </a:lnTo>
                  <a:lnTo>
                    <a:pt x="1098760" y="762019"/>
                  </a:lnTo>
                  <a:lnTo>
                    <a:pt x="1102161" y="750460"/>
                  </a:lnTo>
                  <a:lnTo>
                    <a:pt x="1105108" y="738673"/>
                  </a:lnTo>
                  <a:lnTo>
                    <a:pt x="1107828" y="726887"/>
                  </a:lnTo>
                  <a:lnTo>
                    <a:pt x="1110321" y="715328"/>
                  </a:lnTo>
                  <a:lnTo>
                    <a:pt x="1112362" y="703315"/>
                  </a:lnTo>
                  <a:lnTo>
                    <a:pt x="1114175" y="691529"/>
                  </a:lnTo>
                  <a:lnTo>
                    <a:pt x="1115762" y="679516"/>
                  </a:lnTo>
                  <a:lnTo>
                    <a:pt x="1117122" y="667503"/>
                  </a:lnTo>
                  <a:lnTo>
                    <a:pt x="1118256" y="655717"/>
                  </a:lnTo>
                  <a:lnTo>
                    <a:pt x="1118936" y="643704"/>
                  </a:lnTo>
                  <a:lnTo>
                    <a:pt x="1119389" y="631918"/>
                  </a:lnTo>
                  <a:lnTo>
                    <a:pt x="1119389" y="619905"/>
                  </a:lnTo>
                  <a:lnTo>
                    <a:pt x="1119389" y="607666"/>
                  </a:lnTo>
                  <a:lnTo>
                    <a:pt x="1118936" y="595880"/>
                  </a:lnTo>
                  <a:lnTo>
                    <a:pt x="1118256" y="583867"/>
                  </a:lnTo>
                  <a:lnTo>
                    <a:pt x="1117122" y="571854"/>
                  </a:lnTo>
                  <a:lnTo>
                    <a:pt x="1115762" y="560068"/>
                  </a:lnTo>
                  <a:lnTo>
                    <a:pt x="1114175" y="548055"/>
                  </a:lnTo>
                  <a:lnTo>
                    <a:pt x="1112362" y="536269"/>
                  </a:lnTo>
                  <a:lnTo>
                    <a:pt x="1110321" y="524256"/>
                  </a:lnTo>
                  <a:lnTo>
                    <a:pt x="1107828" y="512470"/>
                  </a:lnTo>
                  <a:lnTo>
                    <a:pt x="1105108" y="500911"/>
                  </a:lnTo>
                  <a:lnTo>
                    <a:pt x="1102161" y="489125"/>
                  </a:lnTo>
                  <a:lnTo>
                    <a:pt x="1098760" y="477565"/>
                  </a:lnTo>
                  <a:lnTo>
                    <a:pt x="1095360" y="466006"/>
                  </a:lnTo>
                  <a:lnTo>
                    <a:pt x="1091280" y="454673"/>
                  </a:lnTo>
                  <a:lnTo>
                    <a:pt x="1087426" y="443114"/>
                  </a:lnTo>
                  <a:lnTo>
                    <a:pt x="1082892" y="431554"/>
                  </a:lnTo>
                  <a:lnTo>
                    <a:pt x="1078132" y="420448"/>
                  </a:lnTo>
                  <a:lnTo>
                    <a:pt x="1073144" y="409342"/>
                  </a:lnTo>
                  <a:lnTo>
                    <a:pt x="1067931" y="398462"/>
                  </a:lnTo>
                  <a:lnTo>
                    <a:pt x="1062263" y="387583"/>
                  </a:lnTo>
                  <a:lnTo>
                    <a:pt x="1056370" y="376703"/>
                  </a:lnTo>
                  <a:lnTo>
                    <a:pt x="1050249" y="366050"/>
                  </a:lnTo>
                  <a:lnTo>
                    <a:pt x="1043902" y="355397"/>
                  </a:lnTo>
                  <a:lnTo>
                    <a:pt x="1037101" y="344971"/>
                  </a:lnTo>
                  <a:lnTo>
                    <a:pt x="1030074" y="334545"/>
                  </a:lnTo>
                  <a:lnTo>
                    <a:pt x="1022820" y="324346"/>
                  </a:lnTo>
                  <a:lnTo>
                    <a:pt x="1015339" y="314373"/>
                  </a:lnTo>
                  <a:lnTo>
                    <a:pt x="1007405" y="304400"/>
                  </a:lnTo>
                  <a:lnTo>
                    <a:pt x="999244" y="294654"/>
                  </a:lnTo>
                  <a:lnTo>
                    <a:pt x="990856" y="285134"/>
                  </a:lnTo>
                  <a:lnTo>
                    <a:pt x="982016" y="275614"/>
                  </a:lnTo>
                  <a:lnTo>
                    <a:pt x="972948" y="266548"/>
                  </a:lnTo>
                  <a:lnTo>
                    <a:pt x="963880" y="257482"/>
                  </a:lnTo>
                  <a:lnTo>
                    <a:pt x="954586" y="248869"/>
                  </a:lnTo>
                  <a:lnTo>
                    <a:pt x="944839" y="240483"/>
                  </a:lnTo>
                  <a:lnTo>
                    <a:pt x="935091" y="232323"/>
                  </a:lnTo>
                  <a:lnTo>
                    <a:pt x="925343" y="224163"/>
                  </a:lnTo>
                  <a:lnTo>
                    <a:pt x="915142" y="216684"/>
                  </a:lnTo>
                  <a:lnTo>
                    <a:pt x="904941" y="209431"/>
                  </a:lnTo>
                  <a:lnTo>
                    <a:pt x="894740" y="202631"/>
                  </a:lnTo>
                  <a:lnTo>
                    <a:pt x="884086" y="195831"/>
                  </a:lnTo>
                  <a:lnTo>
                    <a:pt x="873658" y="189485"/>
                  </a:lnTo>
                  <a:lnTo>
                    <a:pt x="862777" y="183139"/>
                  </a:lnTo>
                  <a:lnTo>
                    <a:pt x="852123" y="177246"/>
                  </a:lnTo>
                  <a:lnTo>
                    <a:pt x="841015" y="171579"/>
                  </a:lnTo>
                  <a:lnTo>
                    <a:pt x="830134" y="166593"/>
                  </a:lnTo>
                  <a:lnTo>
                    <a:pt x="819026" y="161380"/>
                  </a:lnTo>
                  <a:lnTo>
                    <a:pt x="807692" y="156620"/>
                  </a:lnTo>
                  <a:lnTo>
                    <a:pt x="796358" y="152313"/>
                  </a:lnTo>
                  <a:lnTo>
                    <a:pt x="785023" y="148234"/>
                  </a:lnTo>
                  <a:lnTo>
                    <a:pt x="773462" y="144380"/>
                  </a:lnTo>
                  <a:lnTo>
                    <a:pt x="762128" y="140754"/>
                  </a:lnTo>
                  <a:lnTo>
                    <a:pt x="750340" y="137581"/>
                  </a:lnTo>
                  <a:lnTo>
                    <a:pt x="738779" y="134407"/>
                  </a:lnTo>
                  <a:lnTo>
                    <a:pt x="726991" y="131688"/>
                  </a:lnTo>
                  <a:lnTo>
                    <a:pt x="715203" y="129421"/>
                  </a:lnTo>
                  <a:lnTo>
                    <a:pt x="703415" y="127154"/>
                  </a:lnTo>
                  <a:lnTo>
                    <a:pt x="691401" y="125341"/>
                  </a:lnTo>
                  <a:lnTo>
                    <a:pt x="679613" y="123755"/>
                  </a:lnTo>
                  <a:lnTo>
                    <a:pt x="667598" y="122621"/>
                  </a:lnTo>
                  <a:lnTo>
                    <a:pt x="655584" y="121488"/>
                  </a:lnTo>
                  <a:lnTo>
                    <a:pt x="643796" y="120581"/>
                  </a:lnTo>
                  <a:lnTo>
                    <a:pt x="631782" y="120128"/>
                  </a:lnTo>
                  <a:lnTo>
                    <a:pt x="619540" y="120128"/>
                  </a:lnTo>
                  <a:lnTo>
                    <a:pt x="607752" y="120128"/>
                  </a:lnTo>
                  <a:close/>
                  <a:moveTo>
                    <a:pt x="619540" y="0"/>
                  </a:moveTo>
                  <a:lnTo>
                    <a:pt x="634502" y="227"/>
                  </a:lnTo>
                  <a:lnTo>
                    <a:pt x="649690" y="907"/>
                  </a:lnTo>
                  <a:lnTo>
                    <a:pt x="664198" y="1587"/>
                  </a:lnTo>
                  <a:lnTo>
                    <a:pt x="678933" y="3173"/>
                  </a:lnTo>
                  <a:lnTo>
                    <a:pt x="694121" y="4533"/>
                  </a:lnTo>
                  <a:lnTo>
                    <a:pt x="708629" y="6573"/>
                  </a:lnTo>
                  <a:lnTo>
                    <a:pt x="723364" y="8840"/>
                  </a:lnTo>
                  <a:lnTo>
                    <a:pt x="738098" y="11560"/>
                  </a:lnTo>
                  <a:lnTo>
                    <a:pt x="752607" y="14506"/>
                  </a:lnTo>
                  <a:lnTo>
                    <a:pt x="767115" y="17906"/>
                  </a:lnTo>
                  <a:lnTo>
                    <a:pt x="781623" y="21533"/>
                  </a:lnTo>
                  <a:lnTo>
                    <a:pt x="796131" y="25839"/>
                  </a:lnTo>
                  <a:lnTo>
                    <a:pt x="810412" y="30146"/>
                  </a:lnTo>
                  <a:lnTo>
                    <a:pt x="824694" y="34905"/>
                  </a:lnTo>
                  <a:lnTo>
                    <a:pt x="838975" y="40118"/>
                  </a:lnTo>
                  <a:lnTo>
                    <a:pt x="853030" y="45558"/>
                  </a:lnTo>
                  <a:lnTo>
                    <a:pt x="866858" y="51451"/>
                  </a:lnTo>
                  <a:lnTo>
                    <a:pt x="880686" y="57571"/>
                  </a:lnTo>
                  <a:lnTo>
                    <a:pt x="894514" y="64144"/>
                  </a:lnTo>
                  <a:lnTo>
                    <a:pt x="907888" y="71170"/>
                  </a:lnTo>
                  <a:lnTo>
                    <a:pt x="921263" y="78423"/>
                  </a:lnTo>
                  <a:lnTo>
                    <a:pt x="934638" y="85903"/>
                  </a:lnTo>
                  <a:lnTo>
                    <a:pt x="947786" y="93836"/>
                  </a:lnTo>
                  <a:lnTo>
                    <a:pt x="960934" y="102222"/>
                  </a:lnTo>
                  <a:lnTo>
                    <a:pt x="973401" y="110835"/>
                  </a:lnTo>
                  <a:lnTo>
                    <a:pt x="986096" y="119901"/>
                  </a:lnTo>
                  <a:lnTo>
                    <a:pt x="998791" y="129421"/>
                  </a:lnTo>
                  <a:lnTo>
                    <a:pt x="1010805" y="139167"/>
                  </a:lnTo>
                  <a:lnTo>
                    <a:pt x="1023046" y="149140"/>
                  </a:lnTo>
                  <a:lnTo>
                    <a:pt x="1034607" y="159793"/>
                  </a:lnTo>
                  <a:lnTo>
                    <a:pt x="1046395" y="170446"/>
                  </a:lnTo>
                  <a:lnTo>
                    <a:pt x="1057956" y="181779"/>
                  </a:lnTo>
                  <a:lnTo>
                    <a:pt x="1067251" y="191072"/>
                  </a:lnTo>
                  <a:lnTo>
                    <a:pt x="1076318" y="200591"/>
                  </a:lnTo>
                  <a:lnTo>
                    <a:pt x="1084932" y="210564"/>
                  </a:lnTo>
                  <a:lnTo>
                    <a:pt x="1093546" y="220310"/>
                  </a:lnTo>
                  <a:lnTo>
                    <a:pt x="1101934" y="230283"/>
                  </a:lnTo>
                  <a:lnTo>
                    <a:pt x="1110095" y="240709"/>
                  </a:lnTo>
                  <a:lnTo>
                    <a:pt x="1117802" y="250909"/>
                  </a:lnTo>
                  <a:lnTo>
                    <a:pt x="1125510" y="261108"/>
                  </a:lnTo>
                  <a:lnTo>
                    <a:pt x="1132764" y="271988"/>
                  </a:lnTo>
                  <a:lnTo>
                    <a:pt x="1139791" y="282414"/>
                  </a:lnTo>
                  <a:lnTo>
                    <a:pt x="1146592" y="293294"/>
                  </a:lnTo>
                  <a:lnTo>
                    <a:pt x="1153166" y="304173"/>
                  </a:lnTo>
                  <a:lnTo>
                    <a:pt x="1159513" y="315279"/>
                  </a:lnTo>
                  <a:lnTo>
                    <a:pt x="1165634" y="326159"/>
                  </a:lnTo>
                  <a:lnTo>
                    <a:pt x="1171527" y="337492"/>
                  </a:lnTo>
                  <a:lnTo>
                    <a:pt x="1177195" y="348598"/>
                  </a:lnTo>
                  <a:lnTo>
                    <a:pt x="1182408" y="360157"/>
                  </a:lnTo>
                  <a:lnTo>
                    <a:pt x="1187622" y="371490"/>
                  </a:lnTo>
                  <a:lnTo>
                    <a:pt x="1192610" y="383050"/>
                  </a:lnTo>
                  <a:lnTo>
                    <a:pt x="1197143" y="394609"/>
                  </a:lnTo>
                  <a:lnTo>
                    <a:pt x="1201677" y="406395"/>
                  </a:lnTo>
                  <a:lnTo>
                    <a:pt x="1205984" y="418181"/>
                  </a:lnTo>
                  <a:lnTo>
                    <a:pt x="1209611" y="429741"/>
                  </a:lnTo>
                  <a:lnTo>
                    <a:pt x="1213465" y="441754"/>
                  </a:lnTo>
                  <a:lnTo>
                    <a:pt x="1216865" y="453540"/>
                  </a:lnTo>
                  <a:lnTo>
                    <a:pt x="1219812" y="465552"/>
                  </a:lnTo>
                  <a:lnTo>
                    <a:pt x="1222986" y="477792"/>
                  </a:lnTo>
                  <a:lnTo>
                    <a:pt x="1225706" y="489578"/>
                  </a:lnTo>
                  <a:lnTo>
                    <a:pt x="1228200" y="501818"/>
                  </a:lnTo>
                  <a:lnTo>
                    <a:pt x="1230240" y="514057"/>
                  </a:lnTo>
                  <a:lnTo>
                    <a:pt x="1232280" y="526070"/>
                  </a:lnTo>
                  <a:lnTo>
                    <a:pt x="1233867" y="538536"/>
                  </a:lnTo>
                  <a:lnTo>
                    <a:pt x="1235680" y="550775"/>
                  </a:lnTo>
                  <a:lnTo>
                    <a:pt x="1236814" y="563015"/>
                  </a:lnTo>
                  <a:lnTo>
                    <a:pt x="1237720" y="575254"/>
                  </a:lnTo>
                  <a:lnTo>
                    <a:pt x="1238401" y="587720"/>
                  </a:lnTo>
                  <a:lnTo>
                    <a:pt x="1239081" y="599733"/>
                  </a:lnTo>
                  <a:lnTo>
                    <a:pt x="1239307" y="612199"/>
                  </a:lnTo>
                  <a:lnTo>
                    <a:pt x="1239307" y="624665"/>
                  </a:lnTo>
                  <a:lnTo>
                    <a:pt x="1239081" y="636678"/>
                  </a:lnTo>
                  <a:lnTo>
                    <a:pt x="1238627" y="649144"/>
                  </a:lnTo>
                  <a:lnTo>
                    <a:pt x="1237947" y="661610"/>
                  </a:lnTo>
                  <a:lnTo>
                    <a:pt x="1237040" y="673623"/>
                  </a:lnTo>
                  <a:lnTo>
                    <a:pt x="1235907" y="686089"/>
                  </a:lnTo>
                  <a:lnTo>
                    <a:pt x="1234320" y="698102"/>
                  </a:lnTo>
                  <a:lnTo>
                    <a:pt x="1232507" y="710341"/>
                  </a:lnTo>
                  <a:lnTo>
                    <a:pt x="1230693" y="722807"/>
                  </a:lnTo>
                  <a:lnTo>
                    <a:pt x="1228653" y="734820"/>
                  </a:lnTo>
                  <a:lnTo>
                    <a:pt x="1226159" y="746833"/>
                  </a:lnTo>
                  <a:lnTo>
                    <a:pt x="1223439" y="759073"/>
                  </a:lnTo>
                  <a:lnTo>
                    <a:pt x="1220719" y="771085"/>
                  </a:lnTo>
                  <a:lnTo>
                    <a:pt x="1217545" y="783098"/>
                  </a:lnTo>
                  <a:lnTo>
                    <a:pt x="1214145" y="795111"/>
                  </a:lnTo>
                  <a:lnTo>
                    <a:pt x="1210518" y="806897"/>
                  </a:lnTo>
                  <a:lnTo>
                    <a:pt x="1206664" y="818683"/>
                  </a:lnTo>
                  <a:lnTo>
                    <a:pt x="1202357" y="830469"/>
                  </a:lnTo>
                  <a:lnTo>
                    <a:pt x="1198277" y="842255"/>
                  </a:lnTo>
                  <a:lnTo>
                    <a:pt x="1193516" y="853588"/>
                  </a:lnTo>
                  <a:lnTo>
                    <a:pt x="1188529" y="865374"/>
                  </a:lnTo>
                  <a:lnTo>
                    <a:pt x="1183769" y="876934"/>
                  </a:lnTo>
                  <a:lnTo>
                    <a:pt x="1178328" y="888267"/>
                  </a:lnTo>
                  <a:lnTo>
                    <a:pt x="1172661" y="899599"/>
                  </a:lnTo>
                  <a:lnTo>
                    <a:pt x="1166767" y="910706"/>
                  </a:lnTo>
                  <a:lnTo>
                    <a:pt x="1160646" y="921812"/>
                  </a:lnTo>
                  <a:lnTo>
                    <a:pt x="1534229" y="1295115"/>
                  </a:lnTo>
                  <a:lnTo>
                    <a:pt x="1540350" y="1301461"/>
                  </a:lnTo>
                  <a:lnTo>
                    <a:pt x="1545790" y="1308034"/>
                  </a:lnTo>
                  <a:lnTo>
                    <a:pt x="1551231" y="1314607"/>
                  </a:lnTo>
                  <a:lnTo>
                    <a:pt x="1556445" y="1321407"/>
                  </a:lnTo>
                  <a:lnTo>
                    <a:pt x="1560752" y="1328433"/>
                  </a:lnTo>
                  <a:lnTo>
                    <a:pt x="1565286" y="1335460"/>
                  </a:lnTo>
                  <a:lnTo>
                    <a:pt x="1569366" y="1342713"/>
                  </a:lnTo>
                  <a:lnTo>
                    <a:pt x="1572766" y="1349966"/>
                  </a:lnTo>
                  <a:lnTo>
                    <a:pt x="1576167" y="1357219"/>
                  </a:lnTo>
                  <a:lnTo>
                    <a:pt x="1578887" y="1364698"/>
                  </a:lnTo>
                  <a:lnTo>
                    <a:pt x="1581381" y="1372178"/>
                  </a:lnTo>
                  <a:lnTo>
                    <a:pt x="1583648" y="1379658"/>
                  </a:lnTo>
                  <a:lnTo>
                    <a:pt x="1585461" y="1387137"/>
                  </a:lnTo>
                  <a:lnTo>
                    <a:pt x="1586821" y="1394617"/>
                  </a:lnTo>
                  <a:lnTo>
                    <a:pt x="1587955" y="1402323"/>
                  </a:lnTo>
                  <a:lnTo>
                    <a:pt x="1588635" y="1409803"/>
                  </a:lnTo>
                  <a:lnTo>
                    <a:pt x="1589088" y="1417283"/>
                  </a:lnTo>
                  <a:lnTo>
                    <a:pt x="1589088" y="1424762"/>
                  </a:lnTo>
                  <a:lnTo>
                    <a:pt x="1588861" y="1432242"/>
                  </a:lnTo>
                  <a:lnTo>
                    <a:pt x="1588181" y="1439495"/>
                  </a:lnTo>
                  <a:lnTo>
                    <a:pt x="1587274" y="1446748"/>
                  </a:lnTo>
                  <a:lnTo>
                    <a:pt x="1585914" y="1454001"/>
                  </a:lnTo>
                  <a:lnTo>
                    <a:pt x="1584101" y="1461027"/>
                  </a:lnTo>
                  <a:lnTo>
                    <a:pt x="1581834" y="1467827"/>
                  </a:lnTo>
                  <a:lnTo>
                    <a:pt x="1579340" y="1474627"/>
                  </a:lnTo>
                  <a:lnTo>
                    <a:pt x="1576620" y="1481200"/>
                  </a:lnTo>
                  <a:lnTo>
                    <a:pt x="1573220" y="1487773"/>
                  </a:lnTo>
                  <a:lnTo>
                    <a:pt x="1569593" y="1494119"/>
                  </a:lnTo>
                  <a:lnTo>
                    <a:pt x="1565512" y="1500239"/>
                  </a:lnTo>
                  <a:lnTo>
                    <a:pt x="1561432" y="1506132"/>
                  </a:lnTo>
                  <a:lnTo>
                    <a:pt x="1556445" y="1511572"/>
                  </a:lnTo>
                  <a:lnTo>
                    <a:pt x="1551231" y="1517011"/>
                  </a:lnTo>
                  <a:lnTo>
                    <a:pt x="1517228" y="1551237"/>
                  </a:lnTo>
                  <a:lnTo>
                    <a:pt x="1511787" y="1556223"/>
                  </a:lnTo>
                  <a:lnTo>
                    <a:pt x="1506120" y="1561209"/>
                  </a:lnTo>
                  <a:lnTo>
                    <a:pt x="1500226" y="1565516"/>
                  </a:lnTo>
                  <a:lnTo>
                    <a:pt x="1494106" y="1569369"/>
                  </a:lnTo>
                  <a:lnTo>
                    <a:pt x="1487985" y="1573222"/>
                  </a:lnTo>
                  <a:lnTo>
                    <a:pt x="1481411" y="1576395"/>
                  </a:lnTo>
                  <a:lnTo>
                    <a:pt x="1474837" y="1579342"/>
                  </a:lnTo>
                  <a:lnTo>
                    <a:pt x="1468036" y="1581835"/>
                  </a:lnTo>
                  <a:lnTo>
                    <a:pt x="1461009" y="1583875"/>
                  </a:lnTo>
                  <a:lnTo>
                    <a:pt x="1453982" y="1585688"/>
                  </a:lnTo>
                  <a:lnTo>
                    <a:pt x="1446728" y="1587275"/>
                  </a:lnTo>
                  <a:lnTo>
                    <a:pt x="1439474" y="1588182"/>
                  </a:lnTo>
                  <a:lnTo>
                    <a:pt x="1432219" y="1588862"/>
                  </a:lnTo>
                  <a:lnTo>
                    <a:pt x="1424739" y="1589088"/>
                  </a:lnTo>
                  <a:lnTo>
                    <a:pt x="1417258" y="1589088"/>
                  </a:lnTo>
                  <a:lnTo>
                    <a:pt x="1409777" y="1588862"/>
                  </a:lnTo>
                  <a:lnTo>
                    <a:pt x="1402296" y="1587955"/>
                  </a:lnTo>
                  <a:lnTo>
                    <a:pt x="1394589" y="1587048"/>
                  </a:lnTo>
                  <a:lnTo>
                    <a:pt x="1387108" y="1585235"/>
                  </a:lnTo>
                  <a:lnTo>
                    <a:pt x="1379628" y="1583422"/>
                  </a:lnTo>
                  <a:lnTo>
                    <a:pt x="1372147" y="1581382"/>
                  </a:lnTo>
                  <a:lnTo>
                    <a:pt x="1364666" y="1578662"/>
                  </a:lnTo>
                  <a:lnTo>
                    <a:pt x="1357186" y="1575942"/>
                  </a:lnTo>
                  <a:lnTo>
                    <a:pt x="1349931" y="1572769"/>
                  </a:lnTo>
                  <a:lnTo>
                    <a:pt x="1342677" y="1569142"/>
                  </a:lnTo>
                  <a:lnTo>
                    <a:pt x="1335423" y="1565289"/>
                  </a:lnTo>
                  <a:lnTo>
                    <a:pt x="1328396" y="1560756"/>
                  </a:lnTo>
                  <a:lnTo>
                    <a:pt x="1321369" y="1556223"/>
                  </a:lnTo>
                  <a:lnTo>
                    <a:pt x="1314568" y="1551237"/>
                  </a:lnTo>
                  <a:lnTo>
                    <a:pt x="1307994" y="1545797"/>
                  </a:lnTo>
                  <a:lnTo>
                    <a:pt x="1301420" y="1540130"/>
                  </a:lnTo>
                  <a:lnTo>
                    <a:pt x="1295299" y="1534011"/>
                  </a:lnTo>
                  <a:lnTo>
                    <a:pt x="921716" y="1160708"/>
                  </a:lnTo>
                  <a:lnTo>
                    <a:pt x="910835" y="1166827"/>
                  </a:lnTo>
                  <a:lnTo>
                    <a:pt x="899501" y="1172720"/>
                  </a:lnTo>
                  <a:lnTo>
                    <a:pt x="888166" y="1178160"/>
                  </a:lnTo>
                  <a:lnTo>
                    <a:pt x="876832" y="1183600"/>
                  </a:lnTo>
                  <a:lnTo>
                    <a:pt x="865498" y="1188586"/>
                  </a:lnTo>
                  <a:lnTo>
                    <a:pt x="853710" y="1193346"/>
                  </a:lnTo>
                  <a:lnTo>
                    <a:pt x="842375" y="1198106"/>
                  </a:lnTo>
                  <a:lnTo>
                    <a:pt x="830588" y="1202412"/>
                  </a:lnTo>
                  <a:lnTo>
                    <a:pt x="818573" y="1206492"/>
                  </a:lnTo>
                  <a:lnTo>
                    <a:pt x="807012" y="1210572"/>
                  </a:lnTo>
                  <a:lnTo>
                    <a:pt x="794997" y="1213972"/>
                  </a:lnTo>
                  <a:lnTo>
                    <a:pt x="783210" y="1217598"/>
                  </a:lnTo>
                  <a:lnTo>
                    <a:pt x="771195" y="1220545"/>
                  </a:lnTo>
                  <a:lnTo>
                    <a:pt x="758954" y="1223265"/>
                  </a:lnTo>
                  <a:lnTo>
                    <a:pt x="746939" y="1226211"/>
                  </a:lnTo>
                  <a:lnTo>
                    <a:pt x="734698" y="1228478"/>
                  </a:lnTo>
                  <a:lnTo>
                    <a:pt x="722457" y="1230518"/>
                  </a:lnTo>
                  <a:lnTo>
                    <a:pt x="710442" y="1232784"/>
                  </a:lnTo>
                  <a:lnTo>
                    <a:pt x="698201" y="1234371"/>
                  </a:lnTo>
                  <a:lnTo>
                    <a:pt x="685960" y="1235731"/>
                  </a:lnTo>
                  <a:lnTo>
                    <a:pt x="673719" y="1236864"/>
                  </a:lnTo>
                  <a:lnTo>
                    <a:pt x="661478" y="1237771"/>
                  </a:lnTo>
                  <a:lnTo>
                    <a:pt x="649010" y="1238451"/>
                  </a:lnTo>
                  <a:lnTo>
                    <a:pt x="636769" y="1239131"/>
                  </a:lnTo>
                  <a:lnTo>
                    <a:pt x="624527" y="1239357"/>
                  </a:lnTo>
                  <a:lnTo>
                    <a:pt x="612060" y="1239357"/>
                  </a:lnTo>
                  <a:lnTo>
                    <a:pt x="599818" y="1239131"/>
                  </a:lnTo>
                  <a:lnTo>
                    <a:pt x="587577" y="1238451"/>
                  </a:lnTo>
                  <a:lnTo>
                    <a:pt x="575109" y="1237544"/>
                  </a:lnTo>
                  <a:lnTo>
                    <a:pt x="562868" y="1236638"/>
                  </a:lnTo>
                  <a:lnTo>
                    <a:pt x="550627" y="1235504"/>
                  </a:lnTo>
                  <a:lnTo>
                    <a:pt x="538612" y="1233918"/>
                  </a:lnTo>
                  <a:lnTo>
                    <a:pt x="526145" y="1232331"/>
                  </a:lnTo>
                  <a:lnTo>
                    <a:pt x="513903" y="1230291"/>
                  </a:lnTo>
                  <a:lnTo>
                    <a:pt x="501889" y="1228025"/>
                  </a:lnTo>
                  <a:lnTo>
                    <a:pt x="489648" y="1225758"/>
                  </a:lnTo>
                  <a:lnTo>
                    <a:pt x="477633" y="1222811"/>
                  </a:lnTo>
                  <a:lnTo>
                    <a:pt x="465619" y="1219865"/>
                  </a:lnTo>
                  <a:lnTo>
                    <a:pt x="453604" y="1216918"/>
                  </a:lnTo>
                  <a:lnTo>
                    <a:pt x="441590" y="1213292"/>
                  </a:lnTo>
                  <a:lnTo>
                    <a:pt x="429802" y="1209665"/>
                  </a:lnTo>
                  <a:lnTo>
                    <a:pt x="418014" y="1205812"/>
                  </a:lnTo>
                  <a:lnTo>
                    <a:pt x="406453" y="1201506"/>
                  </a:lnTo>
                  <a:lnTo>
                    <a:pt x="394665" y="1197199"/>
                  </a:lnTo>
                  <a:lnTo>
                    <a:pt x="383104" y="1192440"/>
                  </a:lnTo>
                  <a:lnTo>
                    <a:pt x="371543" y="1187680"/>
                  </a:lnTo>
                  <a:lnTo>
                    <a:pt x="359982" y="1182467"/>
                  </a:lnTo>
                  <a:lnTo>
                    <a:pt x="348647" y="1177027"/>
                  </a:lnTo>
                  <a:lnTo>
                    <a:pt x="337313" y="1171360"/>
                  </a:lnTo>
                  <a:lnTo>
                    <a:pt x="326205" y="1165694"/>
                  </a:lnTo>
                  <a:lnTo>
                    <a:pt x="315097" y="1159574"/>
                  </a:lnTo>
                  <a:lnTo>
                    <a:pt x="304216" y="1153228"/>
                  </a:lnTo>
                  <a:lnTo>
                    <a:pt x="293109" y="1146655"/>
                  </a:lnTo>
                  <a:lnTo>
                    <a:pt x="282454" y="1139629"/>
                  </a:lnTo>
                  <a:lnTo>
                    <a:pt x="272026" y="1132602"/>
                  </a:lnTo>
                  <a:lnTo>
                    <a:pt x="261145" y="1125349"/>
                  </a:lnTo>
                  <a:lnTo>
                    <a:pt x="250944" y="1117643"/>
                  </a:lnTo>
                  <a:lnTo>
                    <a:pt x="240517" y="1109937"/>
                  </a:lnTo>
                  <a:lnTo>
                    <a:pt x="230316" y="1101777"/>
                  </a:lnTo>
                  <a:lnTo>
                    <a:pt x="220341" y="1093617"/>
                  </a:lnTo>
                  <a:lnTo>
                    <a:pt x="210367" y="1085004"/>
                  </a:lnTo>
                  <a:lnTo>
                    <a:pt x="200620" y="1076391"/>
                  </a:lnTo>
                  <a:lnTo>
                    <a:pt x="191099" y="1067099"/>
                  </a:lnTo>
                  <a:lnTo>
                    <a:pt x="181578" y="1057806"/>
                  </a:lnTo>
                  <a:lnTo>
                    <a:pt x="170470" y="1046473"/>
                  </a:lnTo>
                  <a:lnTo>
                    <a:pt x="159589" y="1034913"/>
                  </a:lnTo>
                  <a:lnTo>
                    <a:pt x="149161" y="1022901"/>
                  </a:lnTo>
                  <a:lnTo>
                    <a:pt x="139187" y="1010888"/>
                  </a:lnTo>
                  <a:lnTo>
                    <a:pt x="129213" y="998648"/>
                  </a:lnTo>
                  <a:lnTo>
                    <a:pt x="119918" y="985956"/>
                  </a:lnTo>
                  <a:lnTo>
                    <a:pt x="110851" y="973489"/>
                  </a:lnTo>
                  <a:lnTo>
                    <a:pt x="102237" y="960797"/>
                  </a:lnTo>
                  <a:lnTo>
                    <a:pt x="93849" y="947651"/>
                  </a:lnTo>
                  <a:lnTo>
                    <a:pt x="85688" y="934505"/>
                  </a:lnTo>
                  <a:lnTo>
                    <a:pt x="78208" y="921358"/>
                  </a:lnTo>
                  <a:lnTo>
                    <a:pt x="70954" y="907986"/>
                  </a:lnTo>
                  <a:lnTo>
                    <a:pt x="64153" y="894386"/>
                  </a:lnTo>
                  <a:lnTo>
                    <a:pt x="57579" y="880560"/>
                  </a:lnTo>
                  <a:lnTo>
                    <a:pt x="51232" y="866734"/>
                  </a:lnTo>
                  <a:lnTo>
                    <a:pt x="45338" y="852908"/>
                  </a:lnTo>
                  <a:lnTo>
                    <a:pt x="39897" y="838856"/>
                  </a:lnTo>
                  <a:lnTo>
                    <a:pt x="34910" y="824803"/>
                  </a:lnTo>
                  <a:lnTo>
                    <a:pt x="30150" y="810524"/>
                  </a:lnTo>
                  <a:lnTo>
                    <a:pt x="25616" y="796244"/>
                  </a:lnTo>
                  <a:lnTo>
                    <a:pt x="21535" y="781738"/>
                  </a:lnTo>
                  <a:lnTo>
                    <a:pt x="17682" y="767232"/>
                  </a:lnTo>
                  <a:lnTo>
                    <a:pt x="14508" y="752726"/>
                  </a:lnTo>
                  <a:lnTo>
                    <a:pt x="11334" y="738220"/>
                  </a:lnTo>
                  <a:lnTo>
                    <a:pt x="8841" y="723487"/>
                  </a:lnTo>
                  <a:lnTo>
                    <a:pt x="6574" y="708755"/>
                  </a:lnTo>
                  <a:lnTo>
                    <a:pt x="4307" y="694022"/>
                  </a:lnTo>
                  <a:lnTo>
                    <a:pt x="2947" y="679289"/>
                  </a:lnTo>
                  <a:lnTo>
                    <a:pt x="1587" y="664330"/>
                  </a:lnTo>
                  <a:lnTo>
                    <a:pt x="680" y="649597"/>
                  </a:lnTo>
                  <a:lnTo>
                    <a:pt x="227" y="634638"/>
                  </a:lnTo>
                  <a:lnTo>
                    <a:pt x="0" y="619905"/>
                  </a:lnTo>
                  <a:lnTo>
                    <a:pt x="227" y="604946"/>
                  </a:lnTo>
                  <a:lnTo>
                    <a:pt x="680" y="589987"/>
                  </a:lnTo>
                  <a:lnTo>
                    <a:pt x="1587" y="575254"/>
                  </a:lnTo>
                  <a:lnTo>
                    <a:pt x="2947" y="560295"/>
                  </a:lnTo>
                  <a:lnTo>
                    <a:pt x="4307" y="545562"/>
                  </a:lnTo>
                  <a:lnTo>
                    <a:pt x="6574" y="530830"/>
                  </a:lnTo>
                  <a:lnTo>
                    <a:pt x="8841" y="516097"/>
                  </a:lnTo>
                  <a:lnTo>
                    <a:pt x="11334" y="501364"/>
                  </a:lnTo>
                  <a:lnTo>
                    <a:pt x="14508" y="486858"/>
                  </a:lnTo>
                  <a:lnTo>
                    <a:pt x="17682" y="472352"/>
                  </a:lnTo>
                  <a:lnTo>
                    <a:pt x="21535" y="457846"/>
                  </a:lnTo>
                  <a:lnTo>
                    <a:pt x="25616" y="443340"/>
                  </a:lnTo>
                  <a:lnTo>
                    <a:pt x="30150" y="429061"/>
                  </a:lnTo>
                  <a:lnTo>
                    <a:pt x="34910" y="414781"/>
                  </a:lnTo>
                  <a:lnTo>
                    <a:pt x="39897" y="400502"/>
                  </a:lnTo>
                  <a:lnTo>
                    <a:pt x="45338" y="386449"/>
                  </a:lnTo>
                  <a:lnTo>
                    <a:pt x="51232" y="372850"/>
                  </a:lnTo>
                  <a:lnTo>
                    <a:pt x="57579" y="359024"/>
                  </a:lnTo>
                  <a:lnTo>
                    <a:pt x="64153" y="345198"/>
                  </a:lnTo>
                  <a:lnTo>
                    <a:pt x="70954" y="331599"/>
                  </a:lnTo>
                  <a:lnTo>
                    <a:pt x="78208" y="318226"/>
                  </a:lnTo>
                  <a:lnTo>
                    <a:pt x="85688" y="304853"/>
                  </a:lnTo>
                  <a:lnTo>
                    <a:pt x="93849" y="291934"/>
                  </a:lnTo>
                  <a:lnTo>
                    <a:pt x="102237" y="278788"/>
                  </a:lnTo>
                  <a:lnTo>
                    <a:pt x="110851" y="266095"/>
                  </a:lnTo>
                  <a:lnTo>
                    <a:pt x="119918" y="253402"/>
                  </a:lnTo>
                  <a:lnTo>
                    <a:pt x="129213" y="240936"/>
                  </a:lnTo>
                  <a:lnTo>
                    <a:pt x="139187" y="228697"/>
                  </a:lnTo>
                  <a:lnTo>
                    <a:pt x="149161" y="216457"/>
                  </a:lnTo>
                  <a:lnTo>
                    <a:pt x="159589" y="204671"/>
                  </a:lnTo>
                  <a:lnTo>
                    <a:pt x="170470" y="193111"/>
                  </a:lnTo>
                  <a:lnTo>
                    <a:pt x="181578" y="181779"/>
                  </a:lnTo>
                  <a:lnTo>
                    <a:pt x="193139" y="170446"/>
                  </a:lnTo>
                  <a:lnTo>
                    <a:pt x="204473" y="159793"/>
                  </a:lnTo>
                  <a:lnTo>
                    <a:pt x="216488" y="149140"/>
                  </a:lnTo>
                  <a:lnTo>
                    <a:pt x="228729" y="139167"/>
                  </a:lnTo>
                  <a:lnTo>
                    <a:pt x="240743" y="129421"/>
                  </a:lnTo>
                  <a:lnTo>
                    <a:pt x="253438" y="119901"/>
                  </a:lnTo>
                  <a:lnTo>
                    <a:pt x="266133" y="110835"/>
                  </a:lnTo>
                  <a:lnTo>
                    <a:pt x="278600" y="102222"/>
                  </a:lnTo>
                  <a:lnTo>
                    <a:pt x="291748" y="93836"/>
                  </a:lnTo>
                  <a:lnTo>
                    <a:pt x="304896" y="85903"/>
                  </a:lnTo>
                  <a:lnTo>
                    <a:pt x="318271" y="78423"/>
                  </a:lnTo>
                  <a:lnTo>
                    <a:pt x="331646" y="71170"/>
                  </a:lnTo>
                  <a:lnTo>
                    <a:pt x="345020" y="64144"/>
                  </a:lnTo>
                  <a:lnTo>
                    <a:pt x="358848" y="57571"/>
                  </a:lnTo>
                  <a:lnTo>
                    <a:pt x="372676" y="51451"/>
                  </a:lnTo>
                  <a:lnTo>
                    <a:pt x="386504" y="45558"/>
                  </a:lnTo>
                  <a:lnTo>
                    <a:pt x="400559" y="40118"/>
                  </a:lnTo>
                  <a:lnTo>
                    <a:pt x="414840" y="34905"/>
                  </a:lnTo>
                  <a:lnTo>
                    <a:pt x="429122" y="30146"/>
                  </a:lnTo>
                  <a:lnTo>
                    <a:pt x="443403" y="25839"/>
                  </a:lnTo>
                  <a:lnTo>
                    <a:pt x="457911" y="21533"/>
                  </a:lnTo>
                  <a:lnTo>
                    <a:pt x="472419" y="17906"/>
                  </a:lnTo>
                  <a:lnTo>
                    <a:pt x="486927" y="14506"/>
                  </a:lnTo>
                  <a:lnTo>
                    <a:pt x="501435" y="11560"/>
                  </a:lnTo>
                  <a:lnTo>
                    <a:pt x="515944" y="8840"/>
                  </a:lnTo>
                  <a:lnTo>
                    <a:pt x="530678" y="6573"/>
                  </a:lnTo>
                  <a:lnTo>
                    <a:pt x="545413" y="4533"/>
                  </a:lnTo>
                  <a:lnTo>
                    <a:pt x="560148" y="3173"/>
                  </a:lnTo>
                  <a:lnTo>
                    <a:pt x="575109" y="1587"/>
                  </a:lnTo>
                  <a:lnTo>
                    <a:pt x="589844" y="907"/>
                  </a:lnTo>
                  <a:lnTo>
                    <a:pt x="604806" y="227"/>
                  </a:lnTo>
                  <a:lnTo>
                    <a:pt x="619540" y="0"/>
                  </a:lnTo>
                  <a:close/>
                </a:path>
              </a:pathLst>
            </a:custGeom>
            <a:solidFill>
              <a:schemeClr val="bg1"/>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endParaRPr lang="zh-CN" altLang="en-US" b="1">
                <a:solidFill>
                  <a:schemeClr val="bg1"/>
                </a:solidFill>
                <a:cs typeface="+mn-ea"/>
                <a:sym typeface="+mn-ea"/>
              </a:endParaRPr>
            </a:p>
          </p:txBody>
        </p:sp>
      </p:grpSp>
      <p:grpSp>
        <p:nvGrpSpPr>
          <p:cNvPr id="20" name="组合 19"/>
          <p:cNvGrpSpPr/>
          <p:nvPr/>
        </p:nvGrpSpPr>
        <p:grpSpPr>
          <a:xfrm>
            <a:off x="4443730" y="4173220"/>
            <a:ext cx="6363335" cy="817880"/>
            <a:chOff x="6960" y="5774"/>
            <a:chExt cx="10021" cy="1288"/>
          </a:xfrm>
        </p:grpSpPr>
        <p:sp>
          <p:nvSpPr>
            <p:cNvPr id="21" name="Rectangle 13"/>
            <p:cNvSpPr>
              <a:spLocks noChangeArrowheads="1"/>
            </p:cNvSpPr>
            <p:nvPr/>
          </p:nvSpPr>
          <p:spPr bwMode="auto">
            <a:xfrm>
              <a:off x="6960" y="5774"/>
              <a:ext cx="1287"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dirty="0">
                  <a:solidFill>
                    <a:schemeClr val="bg1"/>
                  </a:solidFill>
                  <a:cs typeface="+mn-ea"/>
                  <a:sym typeface="+mn-lt"/>
                </a:rPr>
                <a:t>四</a:t>
              </a:r>
            </a:p>
          </p:txBody>
        </p:sp>
        <p:sp>
          <p:nvSpPr>
            <p:cNvPr id="22" name="Rectangle 5"/>
            <p:cNvSpPr>
              <a:spLocks noChangeArrowheads="1"/>
            </p:cNvSpPr>
            <p:nvPr/>
          </p:nvSpPr>
          <p:spPr bwMode="auto">
            <a:xfrm>
              <a:off x="8389" y="5774"/>
              <a:ext cx="8592" cy="1288"/>
            </a:xfrm>
            <a:prstGeom prst="rect">
              <a:avLst/>
            </a:prstGeom>
            <a:solidFill>
              <a:srgbClr val="CDCDCD"/>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schemeClr val="bg1"/>
                  </a:solidFill>
                  <a:cs typeface="+mn-ea"/>
                  <a:sym typeface="+mn-lt"/>
                </a:rPr>
                <a:t>   </a:t>
              </a:r>
              <a:r>
                <a:rPr lang="zh-CN" b="1" dirty="0">
                  <a:solidFill>
                    <a:schemeClr val="bg1"/>
                  </a:solidFill>
                  <a:cs typeface="+mn-ea"/>
                  <a:sym typeface="+mn-lt"/>
                </a:rPr>
                <a:t>推广价值</a:t>
              </a:r>
            </a:p>
          </p:txBody>
        </p:sp>
      </p:grpSp>
      <p:grpSp>
        <p:nvGrpSpPr>
          <p:cNvPr id="5" name="组合 4"/>
          <p:cNvGrpSpPr/>
          <p:nvPr/>
        </p:nvGrpSpPr>
        <p:grpSpPr>
          <a:xfrm>
            <a:off x="4443730" y="5076190"/>
            <a:ext cx="6363335" cy="817880"/>
            <a:chOff x="6960" y="5774"/>
            <a:chExt cx="10021" cy="1288"/>
          </a:xfrm>
        </p:grpSpPr>
        <p:sp>
          <p:nvSpPr>
            <p:cNvPr id="6" name="Rectangle 13"/>
            <p:cNvSpPr>
              <a:spLocks noChangeArrowheads="1"/>
            </p:cNvSpPr>
            <p:nvPr/>
          </p:nvSpPr>
          <p:spPr bwMode="auto">
            <a:xfrm>
              <a:off x="6960" y="5774"/>
              <a:ext cx="1287" cy="1288"/>
            </a:xfrm>
            <a:prstGeom prst="rect">
              <a:avLst/>
            </a:prstGeom>
            <a:solidFill>
              <a:srgbClr val="2E5495"/>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ctr">
                <a:spcAft>
                  <a:spcPct val="50000"/>
                </a:spcAft>
                <a:buClrTx/>
                <a:buSzTx/>
                <a:buNone/>
                <a:defRPr/>
              </a:pPr>
              <a:r>
                <a:rPr lang="zh-CN" altLang="en-US" b="1" dirty="0">
                  <a:solidFill>
                    <a:schemeClr val="bg1"/>
                  </a:solidFill>
                  <a:cs typeface="+mn-ea"/>
                  <a:sym typeface="+mn-lt"/>
                </a:rPr>
                <a:t>五</a:t>
              </a:r>
            </a:p>
          </p:txBody>
        </p:sp>
        <p:sp>
          <p:nvSpPr>
            <p:cNvPr id="7" name="Rectangle 5"/>
            <p:cNvSpPr>
              <a:spLocks noChangeArrowheads="1"/>
            </p:cNvSpPr>
            <p:nvPr/>
          </p:nvSpPr>
          <p:spPr bwMode="auto">
            <a:xfrm>
              <a:off x="8389" y="5774"/>
              <a:ext cx="8592" cy="1288"/>
            </a:xfrm>
            <a:prstGeom prst="rect">
              <a:avLst/>
            </a:prstGeom>
            <a:solidFill>
              <a:srgbClr val="2E5495"/>
            </a:solidFill>
            <a:ln w="12700">
              <a:noFill/>
              <a:miter lim="800000"/>
            </a:ln>
          </p:spPr>
          <p:txBody>
            <a:bodyPr wrap="none" lIns="0" tIns="46800" rIns="0" bIns="46800" anchor="ctr">
              <a:noAutofit/>
            </a:bodyPr>
            <a:lstStyle>
              <a:lvl1pPr marL="182880" indent="-182880">
                <a:spcBef>
                  <a:spcPct val="20000"/>
                </a:spcBef>
                <a:buFont typeface="Wingdings" panose="05000000000000000000" pitchFamily="2" charset="2"/>
                <a:buChar char="q"/>
                <a:defRPr sz="2000">
                  <a:solidFill>
                    <a:schemeClr val="tx1"/>
                  </a:solidFill>
                  <a:latin typeface="微软雅黑" panose="020B0503020204020204" charset="-122"/>
                  <a:ea typeface="微软雅黑" panose="020B0503020204020204" charset="-122"/>
                  <a:sym typeface="微软雅黑" panose="020B0503020204020204" charset="-122"/>
                </a:defRPr>
              </a:lvl1pPr>
              <a:lvl2pPr marL="742950" indent="-285750">
                <a:spcBef>
                  <a:spcPct val="20000"/>
                </a:spcBef>
                <a:buFont typeface="Wingdings" panose="05000000000000000000" pitchFamily="2" charset="2"/>
                <a:buChar char="–"/>
                <a:defRPr sz="2800">
                  <a:solidFill>
                    <a:schemeClr val="tx1"/>
                  </a:solidFill>
                  <a:latin typeface="微软雅黑" panose="020B0503020204020204" charset="-122"/>
                  <a:ea typeface="微软雅黑" panose="020B0503020204020204" charset="-122"/>
                  <a:sym typeface="微软雅黑" panose="020B0503020204020204" charset="-122"/>
                </a:defRPr>
              </a:lvl2pPr>
              <a:lvl3pPr marL="1143000" indent="-228600">
                <a:spcBef>
                  <a:spcPct val="20000"/>
                </a:spcBef>
                <a:buFont typeface="Wingdings" panose="05000000000000000000" pitchFamily="2" charset="2"/>
                <a:buChar char="•"/>
                <a:defRPr sz="1600">
                  <a:solidFill>
                    <a:schemeClr val="tx1"/>
                  </a:solidFill>
                  <a:latin typeface="微软雅黑" panose="020B0503020204020204" charset="-122"/>
                  <a:ea typeface="微软雅黑" panose="020B0503020204020204" charset="-122"/>
                  <a:sym typeface="微软雅黑" panose="020B0503020204020204" charset="-122"/>
                </a:defRPr>
              </a:lvl3pPr>
              <a:lvl4pPr marL="16002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4pPr>
              <a:lvl5pPr marL="2057400" indent="-228600">
                <a:spcBef>
                  <a:spcPct val="20000"/>
                </a:spcBef>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5pPr>
              <a:lvl6pPr marL="25146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6pPr>
              <a:lvl7pPr marL="29718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7pPr>
              <a:lvl8pPr marL="34290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8pPr>
              <a:lvl9pPr marL="3886200" indent="-228600" eaLnBrk="0" fontAlgn="base" hangingPunct="0">
                <a:spcBef>
                  <a:spcPct val="20000"/>
                </a:spcBef>
                <a:spcAft>
                  <a:spcPct val="0"/>
                </a:spcAft>
                <a:buFont typeface="Wingdings" panose="05000000000000000000" pitchFamily="2" charset="2"/>
                <a:buChar char="»"/>
                <a:defRPr sz="1400">
                  <a:solidFill>
                    <a:schemeClr val="tx1"/>
                  </a:solidFill>
                  <a:latin typeface="微软雅黑" panose="020B0503020204020204" charset="-122"/>
                  <a:ea typeface="微软雅黑" panose="020B0503020204020204" charset="-122"/>
                  <a:sym typeface="微软雅黑" panose="020B0503020204020204" charset="-122"/>
                </a:defRPr>
              </a:lvl9pPr>
            </a:lstStyle>
            <a:p>
              <a:pPr lvl="0" algn="l">
                <a:spcAft>
                  <a:spcPct val="50000"/>
                </a:spcAft>
                <a:buClrTx/>
                <a:buSzTx/>
                <a:buNone/>
                <a:defRPr/>
              </a:pPr>
              <a:r>
                <a:rPr lang="en-US" altLang="zh-CN" b="1" dirty="0">
                  <a:solidFill>
                    <a:schemeClr val="bg1"/>
                  </a:solidFill>
                  <a:cs typeface="+mn-ea"/>
                  <a:sym typeface="+mn-lt"/>
                </a:rPr>
                <a:t>   </a:t>
              </a:r>
              <a:r>
                <a:rPr lang="zh-CN" altLang="en-US" b="1" dirty="0">
                  <a:solidFill>
                    <a:schemeClr val="bg1"/>
                  </a:solidFill>
                  <a:cs typeface="+mn-ea"/>
                  <a:sym typeface="+mn-lt"/>
                </a:rPr>
                <a:t>团队介绍</a:t>
              </a:r>
            </a:p>
          </p:txBody>
        </p:sp>
      </p:grpSp>
      <p:pic>
        <p:nvPicPr>
          <p:cNvPr id="11" name="图片 10"/>
          <p:cNvPicPr>
            <a:picLocks noChangeAspect="1"/>
          </p:cNvPicPr>
          <p:nvPr/>
        </p:nvPicPr>
        <p:blipFill rotWithShape="1">
          <a:blip r:embed="rId7" cstate="print">
            <a:extLst>
              <a:ext uri="{28A0092B-C50C-407E-A947-70E740481C1C}">
                <a14:useLocalDpi xmlns:a14="http://schemas.microsoft.com/office/drawing/2010/main" val="0"/>
              </a:ext>
            </a:extLst>
          </a:blip>
          <a:srcRect l="8513" t="19659" r="60847" b="16329"/>
          <a:stretch>
            <a:fillRect/>
          </a:stretch>
        </p:blipFill>
        <p:spPr>
          <a:xfrm>
            <a:off x="10125710" y="5100320"/>
            <a:ext cx="437515" cy="685800"/>
          </a:xfrm>
          <a:prstGeom prst="rect">
            <a:avLst/>
          </a:prstGeom>
        </p:spPr>
      </p:pic>
      <p:pic>
        <p:nvPicPr>
          <p:cNvPr id="12" name="图片 11" descr="改造世界"/>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118090" y="4316730"/>
            <a:ext cx="530225" cy="530225"/>
          </a:xfrm>
          <a:prstGeom prst="rect">
            <a:avLst/>
          </a:prstGeom>
        </p:spPr>
      </p:pic>
    </p:spTree>
    <p:custDataLst>
      <p:tags r:id="rId1"/>
    </p:custData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29" name="图片 5"/>
          <p:cNvPicPr>
            <a:picLocks noChangeAspect="1"/>
          </p:cNvPicPr>
          <p:nvPr/>
        </p:nvPicPr>
        <p:blipFill>
          <a:blip r:embed="rId3" cstate="print"/>
          <a:srcRect t="7291" r="8459" b="21506"/>
          <a:stretch>
            <a:fillRect/>
          </a:stretch>
        </p:blipFill>
        <p:spPr>
          <a:xfrm>
            <a:off x="883" y="716280"/>
            <a:ext cx="12223750" cy="6141720"/>
          </a:xfrm>
          <a:prstGeom prst="rect">
            <a:avLst/>
          </a:prstGeom>
          <a:noFill/>
          <a:ln w="9525">
            <a:noFill/>
          </a:ln>
        </p:spPr>
      </p:pic>
      <p:sp>
        <p:nvSpPr>
          <p:cNvPr id="52" name="Rectangle 17"/>
          <p:cNvSpPr/>
          <p:nvPr/>
        </p:nvSpPr>
        <p:spPr>
          <a:xfrm>
            <a:off x="8397578" y="2957195"/>
            <a:ext cx="3281012" cy="829945"/>
          </a:xfrm>
          <a:prstGeom prst="rect">
            <a:avLst/>
          </a:prstGeom>
        </p:spPr>
        <p:txBody>
          <a:bodyPr wrap="square">
            <a:spAutoFit/>
          </a:bodyPr>
          <a:lstStyle/>
          <a:p>
            <a:pPr algn="ctr"/>
            <a:r>
              <a:rPr lang="zh-CN" altLang="en-US" sz="4800" b="1" dirty="0">
                <a:solidFill>
                  <a:schemeClr val="bg1"/>
                </a:solidFill>
                <a:latin typeface="微软雅黑" panose="020B0503020204020204" charset="-122"/>
                <a:ea typeface="微软雅黑" panose="020B0503020204020204" charset="-122"/>
              </a:rPr>
              <a:t>汇报完毕</a:t>
            </a:r>
            <a:r>
              <a:rPr lang="en-US" altLang="zh-CN" sz="4800" b="1" dirty="0">
                <a:solidFill>
                  <a:schemeClr val="bg1"/>
                </a:solidFill>
                <a:latin typeface="微软雅黑" panose="020B0503020204020204" charset="-122"/>
                <a:ea typeface="微软雅黑" panose="020B0503020204020204" charset="-122"/>
              </a:rPr>
              <a:t>!</a:t>
            </a:r>
            <a:endParaRPr lang="en-US" sz="4800" b="1" dirty="0">
              <a:solidFill>
                <a:schemeClr val="bg1"/>
              </a:solidFill>
              <a:latin typeface="微软雅黑" panose="020B0503020204020204" charset="-122"/>
              <a:ea typeface="微软雅黑" panose="020B0503020204020204" charset="-122"/>
            </a:endParaRPr>
          </a:p>
        </p:txBody>
      </p:sp>
      <p:sp>
        <p:nvSpPr>
          <p:cNvPr id="5" name="îṣľïde"/>
          <p:cNvSpPr>
            <a:spLocks noGrp="1"/>
          </p:cNvSpPr>
          <p:nvPr>
            <p:ph type="ctrTitle" idx="4294967295"/>
          </p:nvPr>
        </p:nvSpPr>
        <p:spPr>
          <a:xfrm>
            <a:off x="0" y="4311015"/>
            <a:ext cx="6322695" cy="1621155"/>
          </a:xfrm>
          <a:prstGeom prst="rect">
            <a:avLst/>
          </a:prstGeom>
        </p:spPr>
        <p:txBody>
          <a:bodyPr>
            <a:normAutofit fontScale="90000"/>
          </a:bodyPr>
          <a:lstStyle/>
          <a:p>
            <a:pPr algn="ctr"/>
            <a:r>
              <a:rPr lang="en-US" altLang="zh-CN" sz="9800" spc="-150" dirty="0">
                <a:solidFill>
                  <a:schemeClr val="bg1"/>
                </a:solidFill>
              </a:rPr>
              <a:t>THANKS</a:t>
            </a:r>
            <a:br>
              <a:rPr lang="en-US" altLang="zh-CN" dirty="0">
                <a:solidFill>
                  <a:schemeClr val="bg1"/>
                </a:solidFill>
              </a:rPr>
            </a:br>
            <a:r>
              <a:rPr lang="zh-CN" altLang="en-US" b="0" spc="600" dirty="0">
                <a:solidFill>
                  <a:schemeClr val="bg1"/>
                </a:solidFill>
              </a:rPr>
              <a:t>高效班组管理助手项目组</a:t>
            </a:r>
          </a:p>
        </p:txBody>
      </p:sp>
      <p:grpSp>
        <p:nvGrpSpPr>
          <p:cNvPr id="3" name="组合 2"/>
          <p:cNvGrpSpPr/>
          <p:nvPr/>
        </p:nvGrpSpPr>
        <p:grpSpPr>
          <a:xfrm>
            <a:off x="1413828" y="6110605"/>
            <a:ext cx="3495040" cy="307340"/>
            <a:chOff x="2430" y="6635"/>
            <a:chExt cx="5504" cy="484"/>
          </a:xfrm>
        </p:grpSpPr>
        <p:sp>
          <p:nvSpPr>
            <p:cNvPr id="24" name="文本框 23"/>
            <p:cNvSpPr txBox="1"/>
            <p:nvPr/>
          </p:nvSpPr>
          <p:spPr>
            <a:xfrm>
              <a:off x="2430" y="6635"/>
              <a:ext cx="2420" cy="485"/>
            </a:xfrm>
            <a:prstGeom prst="rect">
              <a:avLst/>
            </a:prstGeom>
            <a:noFill/>
          </p:spPr>
          <p:txBody>
            <a:bodyPr wrap="non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汇报人：</a:t>
              </a:r>
              <a:r>
                <a:rPr kumimoji="0" lang="en-US" altLang="zh-CN" sz="1400" b="0"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（填写姓名）</a:t>
              </a:r>
            </a:p>
          </p:txBody>
        </p:sp>
        <p:sp>
          <p:nvSpPr>
            <p:cNvPr id="25" name="文本框 24"/>
            <p:cNvSpPr txBox="1"/>
            <p:nvPr/>
          </p:nvSpPr>
          <p:spPr>
            <a:xfrm>
              <a:off x="5312" y="6635"/>
              <a:ext cx="2622" cy="485"/>
            </a:xfrm>
            <a:prstGeom prst="rect">
              <a:avLst/>
            </a:prstGeom>
            <a:noFill/>
          </p:spPr>
          <p:txBody>
            <a:bodyPr wrap="non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时间：</a:t>
              </a:r>
              <a:r>
                <a:rPr kumimoji="0" lang="en-US" altLang="zh-CN" sz="1400" b="0"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2026 年 10 月</a:t>
              </a:r>
              <a:r>
                <a:rPr kumimoji="0" lang="zh-CN" altLang="en-US" sz="1400" b="0"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
              </a:r>
              <a:r>
                <a:rPr kumimoji="0" lang="en-US" altLang="zh-CN" sz="1400" b="0"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
              </a:r>
              <a:r>
                <a:rPr kumimoji="0" lang="zh-CN" altLang="en-US" sz="1400" b="0" i="0" u="none" strike="noStrike" kern="1200" cap="none" spc="0" normalizeH="0" baseline="0" noProof="0" dirty="0">
                  <a:ln>
                    <a:noFill/>
                  </a:ln>
                  <a:solidFill>
                    <a:schemeClr val="bg1"/>
                  </a:solidFill>
                  <a:effectLst/>
                  <a:uLnTx/>
                  <a:uFillTx/>
                  <a:latin typeface="Arial" panose="020B0604020202020204"/>
                  <a:ea typeface="微软雅黑" panose="020B0503020204020204" charset="-122"/>
                  <a:cs typeface="+mn-cs"/>
                </a:rPr>
                <a:t/>
              </a:r>
            </a:p>
          </p:txBody>
        </p:sp>
      </p:grpSp>
    </p:spTree>
  </p:cSld>
  <p:clrMapOvr>
    <a:masterClrMapping/>
  </p:clrMapOvr>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一、成果介绍</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应用介绍 · 业务需求来源及需求内容</a:t>
            </a:r>
          </a:p>
        </p:txBody>
      </p:sp>
      <p:sp>
        <p:nvSpPr>
          <p:cNvPr id="5" name="Rectangle 4"/>
          <p:cNvSpPr/>
          <p:nvPr/>
        </p:nvSpPr>
        <p:spPr>
          <a:xfrm>
            <a:off x="320040" y="1371600"/>
            <a:ext cx="2770632"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班组是最基层的生产组织</a:t>
            </a:r>
          </a:p>
        </p:txBody>
      </p:sp>
      <p:sp>
        <p:nvSpPr>
          <p:cNvPr id="6" name="Rectangle 5"/>
          <p:cNvSpPr/>
          <p:nvPr/>
        </p:nvSpPr>
        <p:spPr>
          <a:xfrm>
            <a:off x="320040" y="1755648"/>
            <a:ext cx="2770632" cy="185623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93192" y="1828800"/>
            <a:ext cx="2624327" cy="1709928"/>
          </a:xfrm>
          <a:prstGeom prst="rect">
            <a:avLst/>
          </a:prstGeom>
          <a:noFill/>
        </p:spPr>
        <p:txBody>
          <a:bodyPr wrap="square" anchor="t" lIns="73152" rIns="73152" tIns="27432" bIns="27432">
            <a:spAutoFit/>
          </a:bodyPr>
          <a:lstStyle/>
          <a:p>
            <a:pPr algn="l">
              <a:lnSpc>
                <a:spcPct val="115000"/>
              </a:lnSpc>
            </a:pPr>
            <a:r>
              <a:rPr sz="1200" b="0" lang="zh-CN" altLang="en-US">
                <a:solidFill>
                  <a:srgbClr val="262626"/>
                </a:solidFill>
                <a:latin typeface="微软雅黑"/>
                <a:ea typeface="微软雅黑"/>
                <a:cs typeface="微软雅黑"/>
              </a:rPr>
              <a:t>电网企业各项管理要求最终落地的地方。班组强则公司强，班组层是数字化转型的最后一公里。</a:t>
            </a:r>
          </a:p>
        </p:txBody>
      </p:sp>
      <p:sp>
        <p:nvSpPr>
          <p:cNvPr id="8" name="Rectangle 7"/>
          <p:cNvSpPr/>
          <p:nvPr/>
        </p:nvSpPr>
        <p:spPr>
          <a:xfrm>
            <a:off x="3246120" y="1371600"/>
            <a:ext cx="2770632"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系统已数字化，班组层仍分散</a:t>
            </a:r>
          </a:p>
        </p:txBody>
      </p:sp>
      <p:sp>
        <p:nvSpPr>
          <p:cNvPr id="9" name="Rectangle 8"/>
          <p:cNvSpPr/>
          <p:nvPr/>
        </p:nvSpPr>
        <p:spPr>
          <a:xfrm>
            <a:off x="3246120" y="1755648"/>
            <a:ext cx="2770632" cy="185623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319272" y="1828800"/>
            <a:ext cx="2624327" cy="1709928"/>
          </a:xfrm>
          <a:prstGeom prst="rect">
            <a:avLst/>
          </a:prstGeom>
          <a:noFill/>
        </p:spPr>
        <p:txBody>
          <a:bodyPr wrap="square" anchor="t" lIns="73152" rIns="73152" tIns="27432" bIns="27432">
            <a:spAutoFit/>
          </a:bodyPr>
          <a:lstStyle/>
          <a:p>
            <a:pPr algn="l">
              <a:lnSpc>
                <a:spcPct val="115000"/>
              </a:lnSpc>
            </a:pPr>
            <a:r>
              <a:rPr sz="1200" b="0" lang="zh-CN" altLang="en-US">
                <a:solidFill>
                  <a:srgbClr val="262626"/>
                </a:solidFill>
                <a:latin typeface="微软雅黑"/>
                <a:ea typeface="微软雅黑"/>
                <a:cs typeface="微软雅黑"/>
              </a:rPr>
              <a:t>南方电网公司持续推进数字化转型与数字电网建设，人资系统、工分制考核、OMS、OCS、电网管理平台、党建系统已各自数字化，到班组这一级仍是一本本台账。</a:t>
            </a:r>
          </a:p>
        </p:txBody>
      </p:sp>
      <p:sp>
        <p:nvSpPr>
          <p:cNvPr id="11" name="Rectangle 10"/>
          <p:cNvSpPr/>
          <p:nvPr/>
        </p:nvSpPr>
        <p:spPr>
          <a:xfrm>
            <a:off x="6172200" y="1371600"/>
            <a:ext cx="2770632"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班组长靠查数、抄数、汇编</a:t>
            </a:r>
          </a:p>
        </p:txBody>
      </p:sp>
      <p:sp>
        <p:nvSpPr>
          <p:cNvPr id="12" name="Rectangle 11"/>
          <p:cNvSpPr/>
          <p:nvPr/>
        </p:nvSpPr>
        <p:spPr>
          <a:xfrm>
            <a:off x="6172200" y="1755648"/>
            <a:ext cx="2770632" cy="185623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245352" y="1828800"/>
            <a:ext cx="2624327" cy="1709928"/>
          </a:xfrm>
          <a:prstGeom prst="rect">
            <a:avLst/>
          </a:prstGeom>
          <a:noFill/>
        </p:spPr>
        <p:txBody>
          <a:bodyPr wrap="square" anchor="t" lIns="73152" rIns="73152" tIns="27432" bIns="27432">
            <a:spAutoFit/>
          </a:bodyPr>
          <a:lstStyle/>
          <a:p>
            <a:pPr algn="l">
              <a:lnSpc>
                <a:spcPct val="115000"/>
              </a:lnSpc>
            </a:pPr>
            <a:r>
              <a:rPr sz="1200" b="0" lang="zh-CN" altLang="en-US">
                <a:solidFill>
                  <a:srgbClr val="262626"/>
                </a:solidFill>
                <a:latin typeface="微软雅黑"/>
                <a:ea typeface="微软雅黑"/>
                <a:cs typeface="微软雅黑"/>
              </a:rPr>
              <a:t>派工看证书、授权、工时、冲突；考评看履职证据与工作量；星级对照标准找差距。逐系统查看后手工汇编，依据难留痕。</a:t>
            </a:r>
          </a:p>
        </p:txBody>
      </p:sp>
      <p:sp>
        <p:nvSpPr>
          <p:cNvPr id="14" name="Rectangle 13"/>
          <p:cNvSpPr/>
          <p:nvPr/>
        </p:nvSpPr>
        <p:spPr>
          <a:xfrm>
            <a:off x="9098280" y="1371600"/>
            <a:ext cx="2770632"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转型落到基层的标志</a:t>
            </a:r>
          </a:p>
        </p:txBody>
      </p:sp>
      <p:sp>
        <p:nvSpPr>
          <p:cNvPr id="15" name="Rectangle 14"/>
          <p:cNvSpPr/>
          <p:nvPr/>
        </p:nvSpPr>
        <p:spPr>
          <a:xfrm>
            <a:off x="9098280" y="1755648"/>
            <a:ext cx="2770632" cy="185623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71432" y="1828800"/>
            <a:ext cx="2624327" cy="1709928"/>
          </a:xfrm>
          <a:prstGeom prst="rect">
            <a:avLst/>
          </a:prstGeom>
          <a:noFill/>
        </p:spPr>
        <p:txBody>
          <a:bodyPr wrap="square" anchor="t" lIns="73152" rIns="73152" tIns="27432" bIns="27432">
            <a:spAutoFit/>
          </a:bodyPr>
          <a:lstStyle/>
          <a:p>
            <a:pPr algn="l">
              <a:lnSpc>
                <a:spcPct val="115000"/>
              </a:lnSpc>
            </a:pPr>
            <a:r>
              <a:rPr sz="1200" b="0" lang="zh-CN" altLang="en-US">
                <a:solidFill>
                  <a:srgbClr val="262626"/>
                </a:solidFill>
                <a:latin typeface="微软雅黑"/>
                <a:ea typeface="微软雅黑"/>
                <a:cs typeface="微软雅黑"/>
              </a:rPr>
              <a:t>班组长不再抄数，而是在一屏画像上做判断；部门对所辖班组的队伍状态有统一视图。</a:t>
            </a:r>
          </a:p>
        </p:txBody>
      </p:sp>
      <p:sp>
        <p:nvSpPr>
          <p:cNvPr id="17" name="Rectangle 16"/>
          <p:cNvSpPr/>
          <p:nvPr/>
        </p:nvSpPr>
        <p:spPr>
          <a:xfrm>
            <a:off x="320040" y="3840480"/>
            <a:ext cx="1371600" cy="41148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需求内容</a:t>
            </a:r>
          </a:p>
        </p:txBody>
      </p:sp>
      <p:sp>
        <p:nvSpPr>
          <p:cNvPr id="18" name="Rectangle 17"/>
          <p:cNvSpPr/>
          <p:nvPr/>
        </p:nvSpPr>
        <p:spPr>
          <a:xfrm>
            <a:off x="1783080" y="3840480"/>
            <a:ext cx="1609344" cy="4114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lang="zh-CN" altLang="en-US">
                <a:solidFill>
                  <a:srgbClr val="262626"/>
                </a:solidFill>
                <a:latin typeface="微软雅黑"/>
                <a:ea typeface="微软雅黑"/>
                <a:cs typeface="微软雅黑"/>
              </a:rPr>
              <a:t>班组整体画像</a:t>
            </a:r>
          </a:p>
        </p:txBody>
      </p:sp>
      <p:sp>
        <p:nvSpPr>
          <p:cNvPr id="19" name="Rectangle 18"/>
          <p:cNvSpPr/>
          <p:nvPr/>
        </p:nvSpPr>
        <p:spPr>
          <a:xfrm>
            <a:off x="3465576" y="3840480"/>
            <a:ext cx="1609344" cy="4114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lang="zh-CN" altLang="en-US">
                <a:solidFill>
                  <a:srgbClr val="262626"/>
                </a:solidFill>
                <a:latin typeface="微软雅黑"/>
                <a:ea typeface="微软雅黑"/>
                <a:cs typeface="微软雅黑"/>
              </a:rPr>
              <a:t>班员画像与作业授权认证</a:t>
            </a:r>
          </a:p>
        </p:txBody>
      </p:sp>
      <p:sp>
        <p:nvSpPr>
          <p:cNvPr id="20" name="Rectangle 19"/>
          <p:cNvSpPr/>
          <p:nvPr/>
        </p:nvSpPr>
        <p:spPr>
          <a:xfrm>
            <a:off x="5148072" y="3840480"/>
            <a:ext cx="1609344" cy="4114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lang="zh-CN" altLang="en-US">
                <a:solidFill>
                  <a:srgbClr val="262626"/>
                </a:solidFill>
                <a:latin typeface="微软雅黑"/>
                <a:ea typeface="微软雅黑"/>
                <a:cs typeface="微软雅黑"/>
              </a:rPr>
              <a:t>派工推荐与审票</a:t>
            </a:r>
          </a:p>
        </p:txBody>
      </p:sp>
      <p:sp>
        <p:nvSpPr>
          <p:cNvPr id="21" name="Rectangle 20"/>
          <p:cNvSpPr/>
          <p:nvPr/>
        </p:nvSpPr>
        <p:spPr>
          <a:xfrm>
            <a:off x="6830568" y="3840480"/>
            <a:ext cx="1609344" cy="4114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lang="zh-CN" altLang="en-US">
                <a:solidFill>
                  <a:srgbClr val="262626"/>
                </a:solidFill>
                <a:latin typeface="微软雅黑"/>
                <a:ea typeface="微软雅黑"/>
                <a:cs typeface="微软雅黑"/>
              </a:rPr>
              <a:t>绩效系数与激励分配</a:t>
            </a:r>
          </a:p>
        </p:txBody>
      </p:sp>
      <p:sp>
        <p:nvSpPr>
          <p:cNvPr id="22" name="Rectangle 21"/>
          <p:cNvSpPr/>
          <p:nvPr/>
        </p:nvSpPr>
        <p:spPr>
          <a:xfrm>
            <a:off x="8513064" y="3840480"/>
            <a:ext cx="1609344" cy="4114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lang="zh-CN" altLang="en-US">
                <a:solidFill>
                  <a:srgbClr val="262626"/>
                </a:solidFill>
                <a:latin typeface="微软雅黑"/>
                <a:ea typeface="微软雅黑"/>
                <a:cs typeface="微软雅黑"/>
              </a:rPr>
              <a:t>关怀提醒与风险处置</a:t>
            </a:r>
          </a:p>
        </p:txBody>
      </p:sp>
      <p:sp>
        <p:nvSpPr>
          <p:cNvPr id="23" name="Rectangle 22"/>
          <p:cNvSpPr/>
          <p:nvPr/>
        </p:nvSpPr>
        <p:spPr>
          <a:xfrm>
            <a:off x="10195560" y="3840480"/>
            <a:ext cx="1609344" cy="4114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lang="zh-CN" altLang="en-US">
                <a:solidFill>
                  <a:srgbClr val="262626"/>
                </a:solidFill>
                <a:latin typeface="微软雅黑"/>
                <a:ea typeface="微软雅黑"/>
                <a:cs typeface="微软雅黑"/>
              </a:rPr>
              <a:t>部门考核指标与班长绩效</a:t>
            </a:r>
          </a:p>
        </p:txBody>
      </p:sp>
      <p:sp>
        <p:nvSpPr>
          <p:cNvPr id="24" name="Rectangle 23"/>
          <p:cNvSpPr/>
          <p:nvPr/>
        </p:nvSpPr>
        <p:spPr>
          <a:xfrm>
            <a:off x="320040" y="4434840"/>
            <a:ext cx="1371600" cy="41148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需求来源</a:t>
            </a:r>
          </a:p>
        </p:txBody>
      </p:sp>
      <p:sp>
        <p:nvSpPr>
          <p:cNvPr id="25" name="TextBox 24"/>
          <p:cNvSpPr txBox="1"/>
          <p:nvPr/>
        </p:nvSpPr>
        <p:spPr>
          <a:xfrm>
            <a:off x="1783080" y="4389120"/>
            <a:ext cx="10058400" cy="548640"/>
          </a:xfrm>
          <a:prstGeom prst="rect">
            <a:avLst/>
          </a:prstGeom>
          <a:noFill/>
        </p:spPr>
        <p:txBody>
          <a:bodyPr wrap="square" anchor="ctr" lIns="45720" rIns="45720" tIns="27432" bIns="27432">
            <a:spAutoFit/>
          </a:bodyPr>
          <a:lstStyle/>
          <a:p>
            <a:pPr algn="l">
              <a:lnSpc>
                <a:spcPct val="115000"/>
              </a:lnSpc>
            </a:pPr>
            <a:r>
              <a:rPr sz="1150" b="0" lang="zh-CN" altLang="en-US">
                <a:solidFill>
                  <a:srgbClr val="262626"/>
                </a:solidFill>
                <a:latin typeface="微软雅黑"/>
                <a:ea typeface="微软雅黑"/>
                <a:cs typeface="微软雅黑"/>
              </a:rPr>
              <a:t>光明供电局配网资产部三个班组的现场调研与业务部门提供的制度、台账材料；《星级班组评价标准》；《技能类岗位胜任能力评价作业授权认证表》；2026 年度员工业绩责任书；工分制考核办法；配网自动化运行周报。</a:t>
            </a:r>
          </a:p>
        </p:txBody>
      </p:sp>
      <p:sp>
        <p:nvSpPr>
          <p:cNvPr id="26" name="Rectangle 25"/>
          <p:cNvSpPr/>
          <p:nvPr/>
        </p:nvSpPr>
        <p:spPr>
          <a:xfrm>
            <a:off x="320040" y="5120640"/>
            <a:ext cx="11548872" cy="10058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57200" y="5166360"/>
            <a:ext cx="11247120" cy="914400"/>
          </a:xfrm>
          <a:prstGeom prst="rect">
            <a:avLst/>
          </a:prstGeom>
          <a:noFill/>
        </p:spPr>
        <p:txBody>
          <a:bodyPr wrap="square" anchor="ctr" lIns="45720" rIns="45720" tIns="27432" bIns="27432">
            <a:spAutoFit/>
          </a:bodyPr>
          <a:lstStyle/>
          <a:p>
            <a:pPr algn="l">
              <a:lnSpc>
                <a:spcPct val="115000"/>
              </a:lnSpc>
            </a:pPr>
            <a:r>
              <a:rPr sz="1250" b="1" lang="zh-CN" altLang="en-US">
                <a:solidFill>
                  <a:srgbClr val="002060"/>
                </a:solidFill>
                <a:latin typeface="微软雅黑"/>
                <a:ea typeface="微软雅黑"/>
                <a:cs typeface="微软雅黑"/>
              </a:rPr>
              <a:t>问题归因</a:t>
            </a:r>
          </a:p>
          <a:p>
            <a:pPr algn="l">
              <a:lnSpc>
                <a:spcPct val="115000"/>
              </a:lnSpc>
            </a:pPr>
            <a:r>
              <a:rPr sz="1150" b="0" lang="zh-CN" altLang="en-US">
                <a:solidFill>
                  <a:srgbClr val="262626"/>
                </a:solidFill>
                <a:latin typeface="微软雅黑"/>
                <a:ea typeface="微软雅黑"/>
                <a:cs typeface="微软雅黑"/>
              </a:rPr>
              <a:t>数据分散在系统与台账之间，班组这一级没有一屏画像，判断与依据分离。班组长要“派得准、带得好、评得公、管得住”，部门要“看得全、督得到、配得动”，目前依靠逐个系统、逐本台账查看后手工汇编。</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一、成果介绍</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应用介绍 · 适用的业务场景和目标用户</a:t>
            </a:r>
          </a:p>
        </p:txBody>
      </p:sp>
      <p:sp>
        <p:nvSpPr>
          <p:cNvPr id="5" name="Rectangle 4"/>
          <p:cNvSpPr/>
          <p:nvPr/>
        </p:nvSpPr>
        <p:spPr>
          <a:xfrm>
            <a:off x="320040" y="1371600"/>
            <a:ext cx="3931920"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业务场景</a:t>
            </a:r>
          </a:p>
        </p:txBody>
      </p:sp>
      <p:sp>
        <p:nvSpPr>
          <p:cNvPr id="6" name="Rectangle 5"/>
          <p:cNvSpPr/>
          <p:nvPr/>
        </p:nvSpPr>
        <p:spPr>
          <a:xfrm>
            <a:off x="320040" y="1755648"/>
            <a:ext cx="3931920" cy="85039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93192" y="1828800"/>
            <a:ext cx="3785615" cy="704088"/>
          </a:xfrm>
          <a:prstGeom prst="rect">
            <a:avLst/>
          </a:prstGeom>
          <a:noFill/>
        </p:spPr>
        <p:txBody>
          <a:bodyPr wrap="square" anchor="t" lIns="73152" rIns="73152" tIns="27432" bIns="27432">
            <a:spAutoFit/>
          </a:bodyPr>
          <a:lstStyle/>
          <a:p>
            <a:pPr algn="l">
              <a:lnSpc>
                <a:spcPct val="115000"/>
              </a:lnSpc>
            </a:pPr>
            <a:r>
              <a:rPr sz="1150" b="0" lang="zh-CN" altLang="en-US">
                <a:solidFill>
                  <a:srgbClr val="262626"/>
                </a:solidFill>
                <a:latin typeface="微软雅黑"/>
                <a:ea typeface="微软雅黑"/>
                <a:cs typeface="微软雅黑"/>
              </a:rPr>
              <a:t>光明供电局配网资产部 · 配电自动化班 / 试验班 / 配电运维一班 · 31 人。演示数据按班组真实业务框架脱敏构建。</a:t>
            </a:r>
          </a:p>
        </p:txBody>
      </p:sp>
      <p:sp>
        <p:nvSpPr>
          <p:cNvPr id="8" name="Rectangle 7"/>
          <p:cNvSpPr/>
          <p:nvPr/>
        </p:nvSpPr>
        <p:spPr>
          <a:xfrm>
            <a:off x="320040" y="2743200"/>
            <a:ext cx="3931920"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目标用户一：班组长</a:t>
            </a:r>
          </a:p>
        </p:txBody>
      </p:sp>
      <p:sp>
        <p:nvSpPr>
          <p:cNvPr id="9" name="Rectangle 8"/>
          <p:cNvSpPr/>
          <p:nvPr/>
        </p:nvSpPr>
        <p:spPr>
          <a:xfrm>
            <a:off x="320040" y="3127248"/>
            <a:ext cx="3931920" cy="117043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93192" y="3200400"/>
            <a:ext cx="3785615" cy="1024128"/>
          </a:xfrm>
          <a:prstGeom prst="rect">
            <a:avLst/>
          </a:prstGeom>
          <a:noFill/>
        </p:spPr>
        <p:txBody>
          <a:bodyPr wrap="square" anchor="t" lIns="73152" rIns="73152" tIns="27432" bIns="27432">
            <a:spAutoFit/>
          </a:bodyPr>
          <a:lstStyle/>
          <a:p>
            <a:pPr algn="l">
              <a:lnSpc>
                <a:spcPct val="115000"/>
              </a:lnSpc>
            </a:pPr>
            <a:r>
              <a:rPr sz="1100" b="0" lang="zh-CN" altLang="en-US">
                <a:solidFill>
                  <a:srgbClr val="262626"/>
                </a:solidFill>
                <a:latin typeface="微软雅黑"/>
                <a:ea typeface="微软雅黑"/>
                <a:cs typeface="微软雅黑"/>
              </a:rPr>
              <a:t>12 个功能页，按“班组整体 → 人员情况 → 日常业务”故事线组织：班组画像；班员画像、授权认证、培养与梯队、绩效与激励、关怀与文化、分析参谋；今日工作台、用工安排、知识库、台账中心、问大瓦特。</a:t>
            </a:r>
          </a:p>
        </p:txBody>
      </p:sp>
      <p:sp>
        <p:nvSpPr>
          <p:cNvPr id="11" name="Rectangle 10"/>
          <p:cNvSpPr/>
          <p:nvPr/>
        </p:nvSpPr>
        <p:spPr>
          <a:xfrm>
            <a:off x="320040" y="4434840"/>
            <a:ext cx="3931920"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目标用户二：部门管理者</a:t>
            </a:r>
          </a:p>
        </p:txBody>
      </p:sp>
      <p:sp>
        <p:nvSpPr>
          <p:cNvPr id="12" name="Rectangle 11"/>
          <p:cNvSpPr/>
          <p:nvPr/>
        </p:nvSpPr>
        <p:spPr>
          <a:xfrm>
            <a:off x="320040" y="4818888"/>
            <a:ext cx="3931920" cy="98755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93192" y="4892040"/>
            <a:ext cx="3785615" cy="841248"/>
          </a:xfrm>
          <a:prstGeom prst="rect">
            <a:avLst/>
          </a:prstGeom>
          <a:noFill/>
        </p:spPr>
        <p:txBody>
          <a:bodyPr wrap="square" anchor="t" lIns="73152" rIns="73152" tIns="27432" bIns="27432">
            <a:spAutoFit/>
          </a:bodyPr>
          <a:lstStyle/>
          <a:p>
            <a:pPr algn="l">
              <a:lnSpc>
                <a:spcPct val="115000"/>
              </a:lnSpc>
            </a:pPr>
            <a:r>
              <a:rPr sz="1100" b="0" lang="zh-CN" altLang="en-US">
                <a:solidFill>
                  <a:srgbClr val="262626"/>
                </a:solidFill>
                <a:latin typeface="微软雅黑"/>
                <a:ea typeface="微软雅黑"/>
                <a:cs typeface="微软雅黑"/>
              </a:rPr>
              <a:t>9 个功能页，“业务指标 + 队伍管理”两条主线：考核指标、班组横向对比；团队画像总览、班长绩效、人员总览、班组结构对比、团队风险画像、员工关怀、分析参谋。</a:t>
            </a:r>
          </a:p>
        </p:txBody>
      </p:sp>
      <p:sp>
        <p:nvSpPr>
          <p:cNvPr id="14" name="TextBox 13"/>
          <p:cNvSpPr txBox="1"/>
          <p:nvPr/>
        </p:nvSpPr>
        <p:spPr>
          <a:xfrm>
            <a:off x="320040" y="5897880"/>
            <a:ext cx="3931920" cy="365760"/>
          </a:xfrm>
          <a:prstGeom prst="rect">
            <a:avLst/>
          </a:prstGeom>
          <a:noFill/>
        </p:spPr>
        <p:txBody>
          <a:bodyPr wrap="square" anchor="t" lIns="45720" rIns="45720" tIns="27432" bIns="27432">
            <a:spAutoFit/>
          </a:bodyPr>
          <a:lstStyle/>
          <a:p>
            <a:pPr algn="l">
              <a:lnSpc>
                <a:spcPct val="110000"/>
              </a:lnSpc>
            </a:pPr>
            <a:r>
              <a:rPr sz="1050" b="0" lang="zh-CN" altLang="en-US">
                <a:solidFill>
                  <a:srgbClr val="595959"/>
                </a:solidFill>
                <a:latin typeface="微软雅黑"/>
                <a:ea typeface="微软雅黑"/>
                <a:cs typeface="微软雅黑"/>
              </a:rPr>
              <a:t>共用十七张台账的数据底座；大瓦特 AI 助手贯穿两端；管理者的每个动作落到班组长的通知或确认。</a:t>
            </a:r>
          </a:p>
        </p:txBody>
      </p:sp>
      <p:pic>
        <p:nvPicPr>
          <p:cNvPr id="15" name="Picture 14" descr="高效班组管理助手_业务架构.png"/>
          <p:cNvPicPr>
            <a:picLocks noChangeAspect="1"/>
          </p:cNvPicPr>
          <p:nvPr/>
        </p:nvPicPr>
        <p:blipFill>
          <a:blip r:embed="rId3"/>
          <a:stretch>
            <a:fillRect/>
          </a:stretch>
        </p:blipFill>
        <p:spPr>
          <a:xfrm>
            <a:off x="4434840" y="1371600"/>
            <a:ext cx="7434072" cy="4762452"/>
          </a:xfrm>
          <a:prstGeom prst="rect">
            <a:avLst/>
          </a:prstGeom>
          <a:ln w="9525">
            <a:solidFill>
              <a:srgbClr val="BFBFBF"/>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一、成果介绍</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应用介绍 · 应用核心优势</a:t>
            </a:r>
          </a:p>
        </p:txBody>
      </p:sp>
      <p:sp>
        <p:nvSpPr>
          <p:cNvPr id="5" name="Rectangle 4"/>
          <p:cNvSpPr/>
          <p:nvPr/>
        </p:nvSpPr>
        <p:spPr>
          <a:xfrm>
            <a:off x="320040" y="1371600"/>
            <a:ext cx="2221992" cy="25146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320040" y="1371600"/>
            <a:ext cx="2221992" cy="7315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57200" y="1554480"/>
            <a:ext cx="1947672" cy="731520"/>
          </a:xfrm>
          <a:prstGeom prst="rect">
            <a:avLst/>
          </a:prstGeom>
          <a:noFill/>
        </p:spPr>
        <p:txBody>
          <a:bodyPr wrap="none" anchor="ctr">
            <a:spAutoFit/>
          </a:bodyPr>
          <a:lstStyle/>
          <a:p>
            <a:r>
              <a:rPr sz="3600" b="1" lang="zh-CN" altLang="en-US">
                <a:solidFill>
                  <a:srgbClr val="2E5495"/>
                </a:solidFill>
                <a:latin typeface="Arial"/>
                <a:ea typeface="微软雅黑"/>
                <a:cs typeface="微软雅黑"/>
              </a:rPr>
              <a:t>17</a:t>
            </a:r>
            <a:r>
              <a:rPr sz="1300" b="1" lang="zh-CN" altLang="en-US">
                <a:solidFill>
                  <a:srgbClr val="002060"/>
                </a:solidFill>
                <a:latin typeface="微软雅黑"/>
                <a:ea typeface="微软雅黑"/>
                <a:cs typeface="微软雅黑"/>
              </a:rPr>
              <a:t>  张</a:t>
            </a:r>
          </a:p>
        </p:txBody>
      </p:sp>
      <p:sp>
        <p:nvSpPr>
          <p:cNvPr id="8" name="TextBox 7"/>
          <p:cNvSpPr txBox="1"/>
          <p:nvPr/>
        </p:nvSpPr>
        <p:spPr>
          <a:xfrm>
            <a:off x="457200" y="2331720"/>
            <a:ext cx="1947672" cy="365760"/>
          </a:xfrm>
          <a:prstGeom prst="rect">
            <a:avLst/>
          </a:prstGeom>
          <a:noFill/>
        </p:spPr>
        <p:txBody>
          <a:bodyPr wrap="square" anchor="ctr" lIns="45720" rIns="45720" tIns="27432" bIns="27432">
            <a:spAutoFit/>
          </a:bodyPr>
          <a:lstStyle/>
          <a:p>
            <a:pPr algn="l"/>
            <a:r>
              <a:rPr sz="1300" b="1" lang="zh-CN" altLang="en-US">
                <a:solidFill>
                  <a:srgbClr val="262626"/>
                </a:solidFill>
                <a:latin typeface="微软雅黑"/>
                <a:ea typeface="微软雅黑"/>
                <a:cs typeface="微软雅黑"/>
              </a:rPr>
              <a:t>台账同源</a:t>
            </a:r>
          </a:p>
        </p:txBody>
      </p:sp>
      <p:sp>
        <p:nvSpPr>
          <p:cNvPr id="9" name="TextBox 8"/>
          <p:cNvSpPr txBox="1"/>
          <p:nvPr/>
        </p:nvSpPr>
        <p:spPr>
          <a:xfrm>
            <a:off x="457200" y="2697480"/>
            <a:ext cx="1947672" cy="1097280"/>
          </a:xfrm>
          <a:prstGeom prst="rect">
            <a:avLst/>
          </a:prstGeom>
          <a:noFill/>
        </p:spPr>
        <p:txBody>
          <a:bodyPr wrap="square" anchor="t" lIns="45720" rIns="45720" tIns="27432" bIns="27432">
            <a:spAutoFit/>
          </a:bodyPr>
          <a:lstStyle/>
          <a:p>
            <a:pPr algn="l">
              <a:lnSpc>
                <a:spcPct val="112000"/>
              </a:lnSpc>
            </a:pPr>
            <a:r>
              <a:rPr sz="1050" b="0" lang="zh-CN" altLang="en-US">
                <a:solidFill>
                  <a:srgbClr val="595959"/>
                </a:solidFill>
                <a:latin typeface="微软雅黑"/>
                <a:ea typeface="微软雅黑"/>
                <a:cs typeface="微软雅黑"/>
              </a:rPr>
              <a:t>画像、看板、文稿中的每个数字可点开回溯至台账原始行</a:t>
            </a:r>
          </a:p>
        </p:txBody>
      </p:sp>
      <p:sp>
        <p:nvSpPr>
          <p:cNvPr id="10" name="Rectangle 9"/>
          <p:cNvSpPr/>
          <p:nvPr/>
        </p:nvSpPr>
        <p:spPr>
          <a:xfrm>
            <a:off x="2670048" y="1371600"/>
            <a:ext cx="2221992" cy="25146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670048" y="1371600"/>
            <a:ext cx="2221992" cy="7315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807208" y="1554480"/>
            <a:ext cx="1947672" cy="731520"/>
          </a:xfrm>
          <a:prstGeom prst="rect">
            <a:avLst/>
          </a:prstGeom>
          <a:noFill/>
        </p:spPr>
        <p:txBody>
          <a:bodyPr wrap="none" anchor="ctr">
            <a:spAutoFit/>
          </a:bodyPr>
          <a:lstStyle/>
          <a:p>
            <a:r>
              <a:rPr sz="3600" b="1" lang="zh-CN" altLang="en-US">
                <a:solidFill>
                  <a:srgbClr val="2E5495"/>
                </a:solidFill>
                <a:latin typeface="Arial"/>
                <a:ea typeface="微软雅黑"/>
                <a:cs typeface="微软雅黑"/>
              </a:rPr>
              <a:t>4</a:t>
            </a:r>
            <a:r>
              <a:rPr sz="1300" b="1" lang="zh-CN" altLang="en-US">
                <a:solidFill>
                  <a:srgbClr val="002060"/>
                </a:solidFill>
                <a:latin typeface="微软雅黑"/>
                <a:ea typeface="微软雅黑"/>
                <a:cs typeface="微软雅黑"/>
              </a:rPr>
              <a:t>  条</a:t>
            </a:r>
          </a:p>
        </p:txBody>
      </p:sp>
      <p:sp>
        <p:nvSpPr>
          <p:cNvPr id="13" name="TextBox 12"/>
          <p:cNvSpPr txBox="1"/>
          <p:nvPr/>
        </p:nvSpPr>
        <p:spPr>
          <a:xfrm>
            <a:off x="2807208" y="2331720"/>
            <a:ext cx="1947672" cy="365760"/>
          </a:xfrm>
          <a:prstGeom prst="rect">
            <a:avLst/>
          </a:prstGeom>
          <a:noFill/>
        </p:spPr>
        <p:txBody>
          <a:bodyPr wrap="square" anchor="ctr" lIns="45720" rIns="45720" tIns="27432" bIns="27432">
            <a:spAutoFit/>
          </a:bodyPr>
          <a:lstStyle/>
          <a:p>
            <a:pPr algn="l"/>
            <a:r>
              <a:rPr sz="1300" b="1" lang="zh-CN" altLang="en-US">
                <a:solidFill>
                  <a:srgbClr val="262626"/>
                </a:solidFill>
                <a:latin typeface="微软雅黑"/>
                <a:ea typeface="微软雅黑"/>
                <a:cs typeface="微软雅黑"/>
              </a:rPr>
              <a:t>派工规则可解释</a:t>
            </a:r>
          </a:p>
        </p:txBody>
      </p:sp>
      <p:sp>
        <p:nvSpPr>
          <p:cNvPr id="14" name="TextBox 13"/>
          <p:cNvSpPr txBox="1"/>
          <p:nvPr/>
        </p:nvSpPr>
        <p:spPr>
          <a:xfrm>
            <a:off x="2807208" y="2697480"/>
            <a:ext cx="1947672" cy="1097280"/>
          </a:xfrm>
          <a:prstGeom prst="rect">
            <a:avLst/>
          </a:prstGeom>
          <a:noFill/>
        </p:spPr>
        <p:txBody>
          <a:bodyPr wrap="square" anchor="t" lIns="45720" rIns="45720" tIns="27432" bIns="27432">
            <a:spAutoFit/>
          </a:bodyPr>
          <a:lstStyle/>
          <a:p>
            <a:pPr algn="l">
              <a:lnSpc>
                <a:spcPct val="112000"/>
              </a:lnSpc>
            </a:pPr>
            <a:r>
              <a:rPr sz="1050" b="0" lang="zh-CN" altLang="en-US">
                <a:solidFill>
                  <a:srgbClr val="595959"/>
                </a:solidFill>
                <a:latin typeface="微软雅黑"/>
                <a:ea typeface="微软雅黑"/>
                <a:cs typeface="微软雅黑"/>
              </a:rPr>
              <a:t>证书、核心模块授权、本周工时、当日冲突；推荐与排除理由随单存档</a:t>
            </a:r>
          </a:p>
        </p:txBody>
      </p:sp>
      <p:sp>
        <p:nvSpPr>
          <p:cNvPr id="15" name="Rectangle 14"/>
          <p:cNvSpPr/>
          <p:nvPr/>
        </p:nvSpPr>
        <p:spPr>
          <a:xfrm>
            <a:off x="5020055" y="1371600"/>
            <a:ext cx="2221992" cy="25146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020055" y="1371600"/>
            <a:ext cx="2221992" cy="7315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157216" y="1554480"/>
            <a:ext cx="1947672" cy="731520"/>
          </a:xfrm>
          <a:prstGeom prst="rect">
            <a:avLst/>
          </a:prstGeom>
          <a:noFill/>
        </p:spPr>
        <p:txBody>
          <a:bodyPr wrap="none" anchor="ctr">
            <a:spAutoFit/>
          </a:bodyPr>
          <a:lstStyle/>
          <a:p>
            <a:r>
              <a:rPr sz="3600" b="1" lang="zh-CN" altLang="en-US">
                <a:solidFill>
                  <a:srgbClr val="2E5495"/>
                </a:solidFill>
                <a:latin typeface="Arial"/>
                <a:ea typeface="微软雅黑"/>
                <a:cs typeface="微软雅黑"/>
              </a:rPr>
              <a:t>6</a:t>
            </a:r>
            <a:r>
              <a:rPr sz="1300" b="1" lang="zh-CN" altLang="en-US">
                <a:solidFill>
                  <a:srgbClr val="002060"/>
                </a:solidFill>
                <a:latin typeface="微软雅黑"/>
                <a:ea typeface="微软雅黑"/>
                <a:cs typeface="微软雅黑"/>
              </a:rPr>
              <a:t>  环</a:t>
            </a:r>
          </a:p>
        </p:txBody>
      </p:sp>
      <p:sp>
        <p:nvSpPr>
          <p:cNvPr id="18" name="TextBox 17"/>
          <p:cNvSpPr txBox="1"/>
          <p:nvPr/>
        </p:nvSpPr>
        <p:spPr>
          <a:xfrm>
            <a:off x="5157216" y="2331720"/>
            <a:ext cx="1947672" cy="365760"/>
          </a:xfrm>
          <a:prstGeom prst="rect">
            <a:avLst/>
          </a:prstGeom>
          <a:noFill/>
        </p:spPr>
        <p:txBody>
          <a:bodyPr wrap="square" anchor="ctr" lIns="45720" rIns="45720" tIns="27432" bIns="27432">
            <a:spAutoFit/>
          </a:bodyPr>
          <a:lstStyle/>
          <a:p>
            <a:pPr algn="l"/>
            <a:r>
              <a:rPr sz="1300" b="1" lang="zh-CN" altLang="en-US">
                <a:solidFill>
                  <a:srgbClr val="262626"/>
                </a:solidFill>
                <a:latin typeface="微软雅黑"/>
                <a:ea typeface="微软雅黑"/>
                <a:cs typeface="微软雅黑"/>
              </a:rPr>
              <a:t>闭环可生长</a:t>
            </a:r>
          </a:p>
        </p:txBody>
      </p:sp>
      <p:sp>
        <p:nvSpPr>
          <p:cNvPr id="19" name="TextBox 18"/>
          <p:cNvSpPr txBox="1"/>
          <p:nvPr/>
        </p:nvSpPr>
        <p:spPr>
          <a:xfrm>
            <a:off x="5157216" y="2697480"/>
            <a:ext cx="1947672" cy="1097280"/>
          </a:xfrm>
          <a:prstGeom prst="rect">
            <a:avLst/>
          </a:prstGeom>
          <a:noFill/>
        </p:spPr>
        <p:txBody>
          <a:bodyPr wrap="square" anchor="t" lIns="45720" rIns="45720" tIns="27432" bIns="27432">
            <a:spAutoFit/>
          </a:bodyPr>
          <a:lstStyle/>
          <a:p>
            <a:pPr algn="l">
              <a:lnSpc>
                <a:spcPct val="112000"/>
              </a:lnSpc>
            </a:pPr>
            <a:r>
              <a:rPr sz="1050" b="0" lang="zh-CN" altLang="en-US">
                <a:solidFill>
                  <a:srgbClr val="595959"/>
                </a:solidFill>
                <a:latin typeface="微软雅黑"/>
                <a:ea typeface="微软雅黑"/>
                <a:cs typeface="微软雅黑"/>
              </a:rPr>
              <a:t>能力识别 → 精准培养 → 实践锻炼 → 评价反馈 → 激励应用 → 再提升</a:t>
            </a:r>
          </a:p>
        </p:txBody>
      </p:sp>
      <p:sp>
        <p:nvSpPr>
          <p:cNvPr id="20" name="Rectangle 19"/>
          <p:cNvSpPr/>
          <p:nvPr/>
        </p:nvSpPr>
        <p:spPr>
          <a:xfrm>
            <a:off x="7370063" y="1371600"/>
            <a:ext cx="2221992" cy="25146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70063" y="1371600"/>
            <a:ext cx="2221992" cy="7315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507223" y="1554480"/>
            <a:ext cx="1947672" cy="731520"/>
          </a:xfrm>
          <a:prstGeom prst="rect">
            <a:avLst/>
          </a:prstGeom>
          <a:noFill/>
        </p:spPr>
        <p:txBody>
          <a:bodyPr wrap="none" anchor="ctr">
            <a:spAutoFit/>
          </a:bodyPr>
          <a:lstStyle/>
          <a:p>
            <a:r>
              <a:rPr sz="3600" b="1" lang="zh-CN" altLang="en-US">
                <a:solidFill>
                  <a:srgbClr val="2E5495"/>
                </a:solidFill>
                <a:latin typeface="Arial"/>
                <a:ea typeface="微软雅黑"/>
                <a:cs typeface="微软雅黑"/>
              </a:rPr>
              <a:t>2</a:t>
            </a:r>
            <a:r>
              <a:rPr sz="1300" b="1" lang="zh-CN" altLang="en-US">
                <a:solidFill>
                  <a:srgbClr val="002060"/>
                </a:solidFill>
                <a:latin typeface="微软雅黑"/>
                <a:ea typeface="微软雅黑"/>
                <a:cs typeface="微软雅黑"/>
              </a:rPr>
              <a:t>  级</a:t>
            </a:r>
          </a:p>
        </p:txBody>
      </p:sp>
      <p:sp>
        <p:nvSpPr>
          <p:cNvPr id="23" name="TextBox 22"/>
          <p:cNvSpPr txBox="1"/>
          <p:nvPr/>
        </p:nvSpPr>
        <p:spPr>
          <a:xfrm>
            <a:off x="7507223" y="2331720"/>
            <a:ext cx="1947672" cy="365760"/>
          </a:xfrm>
          <a:prstGeom prst="rect">
            <a:avLst/>
          </a:prstGeom>
          <a:noFill/>
        </p:spPr>
        <p:txBody>
          <a:bodyPr wrap="square" anchor="ctr" lIns="45720" rIns="45720" tIns="27432" bIns="27432">
            <a:spAutoFit/>
          </a:bodyPr>
          <a:lstStyle/>
          <a:p>
            <a:pPr algn="l"/>
            <a:r>
              <a:rPr sz="1300" b="1" lang="zh-CN" altLang="en-US">
                <a:solidFill>
                  <a:srgbClr val="262626"/>
                </a:solidFill>
                <a:latin typeface="微软雅黑"/>
                <a:ea typeface="微软雅黑"/>
                <a:cs typeface="微软雅黑"/>
              </a:rPr>
              <a:t>管理可协同</a:t>
            </a:r>
          </a:p>
        </p:txBody>
      </p:sp>
      <p:sp>
        <p:nvSpPr>
          <p:cNvPr id="24" name="TextBox 23"/>
          <p:cNvSpPr txBox="1"/>
          <p:nvPr/>
        </p:nvSpPr>
        <p:spPr>
          <a:xfrm>
            <a:off x="7507223" y="2697480"/>
            <a:ext cx="1947672" cy="1097280"/>
          </a:xfrm>
          <a:prstGeom prst="rect">
            <a:avLst/>
          </a:prstGeom>
          <a:noFill/>
        </p:spPr>
        <p:txBody>
          <a:bodyPr wrap="square" anchor="t" lIns="45720" rIns="45720" tIns="27432" bIns="27432">
            <a:spAutoFit/>
          </a:bodyPr>
          <a:lstStyle/>
          <a:p>
            <a:pPr algn="l">
              <a:lnSpc>
                <a:spcPct val="112000"/>
              </a:lnSpc>
            </a:pPr>
            <a:r>
              <a:rPr sz="1050" b="0" lang="zh-CN" altLang="en-US">
                <a:solidFill>
                  <a:srgbClr val="595959"/>
                </a:solidFill>
                <a:latin typeface="微软雅黑"/>
                <a:ea typeface="微软雅黑"/>
                <a:cs typeface="微软雅黑"/>
              </a:rPr>
              <a:t>班组长与管理者共用数据底座，一步操作即时反映到管理视图</a:t>
            </a:r>
          </a:p>
        </p:txBody>
      </p:sp>
      <p:sp>
        <p:nvSpPr>
          <p:cNvPr id="25" name="Rectangle 24"/>
          <p:cNvSpPr/>
          <p:nvPr/>
        </p:nvSpPr>
        <p:spPr>
          <a:xfrm>
            <a:off x="9720072" y="1371600"/>
            <a:ext cx="2221992" cy="25146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9720072" y="1371600"/>
            <a:ext cx="2221992" cy="7315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57232" y="1554480"/>
            <a:ext cx="1947672" cy="731520"/>
          </a:xfrm>
          <a:prstGeom prst="rect">
            <a:avLst/>
          </a:prstGeom>
          <a:noFill/>
        </p:spPr>
        <p:txBody>
          <a:bodyPr wrap="none" anchor="ctr">
            <a:spAutoFit/>
          </a:bodyPr>
          <a:lstStyle/>
          <a:p>
            <a:r>
              <a:rPr sz="3600" b="1" lang="zh-CN" altLang="en-US">
                <a:solidFill>
                  <a:srgbClr val="2E5495"/>
                </a:solidFill>
                <a:latin typeface="Arial"/>
                <a:ea typeface="微软雅黑"/>
                <a:cs typeface="微软雅黑"/>
              </a:rPr>
              <a:t>100</a:t>
            </a:r>
            <a:r>
              <a:rPr sz="1300" b="1" lang="zh-CN" altLang="en-US">
                <a:solidFill>
                  <a:srgbClr val="002060"/>
                </a:solidFill>
                <a:latin typeface="微软雅黑"/>
                <a:ea typeface="微软雅黑"/>
                <a:cs typeface="微软雅黑"/>
              </a:rPr>
              <a:t>  %</a:t>
            </a:r>
          </a:p>
        </p:txBody>
      </p:sp>
      <p:sp>
        <p:nvSpPr>
          <p:cNvPr id="28" name="TextBox 27"/>
          <p:cNvSpPr txBox="1"/>
          <p:nvPr/>
        </p:nvSpPr>
        <p:spPr>
          <a:xfrm>
            <a:off x="9857232" y="2331720"/>
            <a:ext cx="1947672" cy="365760"/>
          </a:xfrm>
          <a:prstGeom prst="rect">
            <a:avLst/>
          </a:prstGeom>
          <a:noFill/>
        </p:spPr>
        <p:txBody>
          <a:bodyPr wrap="square" anchor="ctr" lIns="45720" rIns="45720" tIns="27432" bIns="27432">
            <a:spAutoFit/>
          </a:bodyPr>
          <a:lstStyle/>
          <a:p>
            <a:pPr algn="l"/>
            <a:r>
              <a:rPr sz="1300" b="1" lang="zh-CN" altLang="en-US">
                <a:solidFill>
                  <a:srgbClr val="262626"/>
                </a:solidFill>
                <a:latin typeface="微软雅黑"/>
                <a:ea typeface="微软雅黑"/>
                <a:cs typeface="微软雅黑"/>
              </a:rPr>
              <a:t>结论由人定</a:t>
            </a:r>
          </a:p>
        </p:txBody>
      </p:sp>
      <p:sp>
        <p:nvSpPr>
          <p:cNvPr id="29" name="TextBox 28"/>
          <p:cNvSpPr txBox="1"/>
          <p:nvPr/>
        </p:nvSpPr>
        <p:spPr>
          <a:xfrm>
            <a:off x="9857232" y="2697480"/>
            <a:ext cx="1947672" cy="1097280"/>
          </a:xfrm>
          <a:prstGeom prst="rect">
            <a:avLst/>
          </a:prstGeom>
          <a:noFill/>
        </p:spPr>
        <p:txBody>
          <a:bodyPr wrap="square" anchor="t" lIns="45720" rIns="45720" tIns="27432" bIns="27432">
            <a:spAutoFit/>
          </a:bodyPr>
          <a:lstStyle/>
          <a:p>
            <a:pPr algn="l">
              <a:lnSpc>
                <a:spcPct val="112000"/>
              </a:lnSpc>
            </a:pPr>
            <a:r>
              <a:rPr sz="1050" b="0" lang="zh-CN" altLang="en-US">
                <a:solidFill>
                  <a:srgbClr val="595959"/>
                </a:solidFill>
                <a:latin typeface="微软雅黑"/>
                <a:ea typeface="微软雅黑"/>
                <a:cs typeface="微软雅黑"/>
              </a:rPr>
              <a:t>人员评价、授权、系数、调配、轮岗一律确认后生效、留名留痕</a:t>
            </a:r>
          </a:p>
        </p:txBody>
      </p:sp>
      <p:sp>
        <p:nvSpPr>
          <p:cNvPr id="30" name="Rectangle 29"/>
          <p:cNvSpPr/>
          <p:nvPr/>
        </p:nvSpPr>
        <p:spPr>
          <a:xfrm>
            <a:off x="320040" y="4114800"/>
            <a:ext cx="1371600" cy="41148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产品定位</a:t>
            </a:r>
          </a:p>
        </p:txBody>
      </p:sp>
      <p:sp>
        <p:nvSpPr>
          <p:cNvPr id="31" name="Rectangle 30"/>
          <p:cNvSpPr/>
          <p:nvPr/>
        </p:nvSpPr>
        <p:spPr>
          <a:xfrm>
            <a:off x="320040" y="4572000"/>
            <a:ext cx="11548872" cy="16916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7200" y="4645152"/>
            <a:ext cx="11247120" cy="1554480"/>
          </a:xfrm>
          <a:prstGeom prst="rect">
            <a:avLst/>
          </a:prstGeom>
          <a:noFill/>
        </p:spPr>
        <p:txBody>
          <a:bodyPr wrap="square" anchor="ctr" lIns="45720" rIns="45720" tIns="27432" bIns="27432">
            <a:spAutoFit/>
          </a:bodyPr>
          <a:lstStyle/>
          <a:p>
            <a:pPr algn="l" marL="228600" indent="-228600">
              <a:lnSpc>
                <a:spcPct val="120000"/>
              </a:lnSpc>
              <a:spcAft>
                <a:spcPts val="600"/>
              </a:spcAft>
              <a:buFont typeface="Arial"/>
              <a:buChar char="•"/>
            </a:pPr>
            <a:r>
              <a:rPr sz="1200" b="0" lang="zh-CN" altLang="en-US">
                <a:solidFill>
                  <a:srgbClr val="262626"/>
                </a:solidFill>
                <a:latin typeface="微软雅黑"/>
                <a:ea typeface="微软雅黑"/>
                <a:cs typeface="微软雅黑"/>
              </a:rPr>
              <a:t>面向班组长的班组管理助手：把公司已有的数据变成派工的理由、考评的证据、建设的差距清单和带队伍的参谋</a:t>
            </a:r>
          </a:p>
          <a:p>
            <a:pPr algn="l" marL="228600" indent="-228600">
              <a:lnSpc>
                <a:spcPct val="120000"/>
              </a:lnSpc>
              <a:spcAft>
                <a:spcPts val="600"/>
              </a:spcAft>
              <a:buFont typeface="Arial"/>
              <a:buChar char="•"/>
            </a:pPr>
            <a:r>
              <a:rPr sz="1200" b="0" lang="zh-CN" altLang="en-US">
                <a:solidFill>
                  <a:srgbClr val="262626"/>
                </a:solidFill>
                <a:latin typeface="微软雅黑"/>
                <a:ea typeface="微软雅黑"/>
                <a:cs typeface="微软雅黑"/>
              </a:rPr>
              <a:t>管理者的每个动作（督办、提醒、调配、轮岗建议、后备培养、面谈提纲、文化活动）落到班组长的通知或确认</a:t>
            </a:r>
          </a:p>
          <a:p>
            <a:pPr algn="l" marL="228600" indent="-228600">
              <a:lnSpc>
                <a:spcPct val="120000"/>
              </a:lnSpc>
              <a:buFont typeface="Arial"/>
              <a:buChar char="•"/>
            </a:pPr>
            <a:r>
              <a:rPr sz="1200" b="0" lang="zh-CN" altLang="en-US">
                <a:solidFill>
                  <a:srgbClr val="262626"/>
                </a:solidFill>
                <a:latin typeface="微软雅黑"/>
                <a:ea typeface="微软雅黑"/>
                <a:cs typeface="微软雅黑"/>
              </a:rPr>
              <a:t>涉及人员评价的结论一律由班组长或部门确认后使用；依托公司电力人工智能创新平台与云景自助分析工具建设</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一、成果介绍</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契合公司管理要求：制度要求在班组一级的数字化执行与反馈</a:t>
            </a:r>
          </a:p>
        </p:txBody>
      </p:sp>
      <p:graphicFrame>
        <p:nvGraphicFramePr>
          <p:cNvPr id="5" name="Table 4"/>
          <p:cNvGraphicFramePr>
            <a:graphicFrameLocks noGrp="1"/>
          </p:cNvGraphicFramePr>
          <p:nvPr/>
        </p:nvGraphicFramePr>
        <p:xfrm>
          <a:off x="320040" y="1371600"/>
          <a:ext cx="11548872" cy="4096512"/>
        </p:xfrm>
        <a:graphic>
          <a:graphicData uri="http://schemas.openxmlformats.org/drawingml/2006/table">
            <a:tbl>
              <a:tblPr firstRow="0" bandRow="0">
                <a:tableStyleId>{2D5ABB26-0587-4C30-8999-92F81FD0307C}</a:tableStyleId>
              </a:tblPr>
              <a:tblGrid>
                <a:gridCol w="2834640"/>
                <a:gridCol w="4846320"/>
                <a:gridCol w="3867912"/>
              </a:tblGrid>
              <a:tr h="365760">
                <a:tc>
                  <a:txBody>
                    <a:bodyPr wrap="square"/>
                    <a:lstStyle/>
                    <a:p>
                      <a:pPr>
                        <a:lnSpc>
                          <a:spcPct val="108000"/>
                        </a:lnSpc>
                      </a:pPr>
                      <a:r>
                        <a:rPr sz="1050" b="1" lang="zh-CN" altLang="en-US">
                          <a:solidFill>
                            <a:srgbClr val="FFFFFF"/>
                          </a:solidFill>
                          <a:latin typeface="微软雅黑"/>
                          <a:ea typeface="微软雅黑"/>
                          <a:cs typeface="微软雅黑"/>
                        </a:rPr>
                        <a:t>公司要求 · 制度依据</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c>
                  <a:txBody>
                    <a:bodyPr wrap="square"/>
                    <a:lstStyle/>
                    <a:p>
                      <a:pPr>
                        <a:lnSpc>
                          <a:spcPct val="108000"/>
                        </a:lnSpc>
                      </a:pPr>
                      <a:r>
                        <a:rPr sz="1050" b="1" lang="zh-CN" altLang="en-US">
                          <a:solidFill>
                            <a:srgbClr val="FFFFFF"/>
                          </a:solidFill>
                          <a:latin typeface="微软雅黑"/>
                          <a:ea typeface="微软雅黑"/>
                          <a:cs typeface="微软雅黑"/>
                        </a:rPr>
                        <a:t>产品承接方式</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c>
                  <a:txBody>
                    <a:bodyPr wrap="square"/>
                    <a:lstStyle/>
                    <a:p>
                      <a:pPr>
                        <a:lnSpc>
                          <a:spcPct val="108000"/>
                        </a:lnSpc>
                      </a:pPr>
                      <a:r>
                        <a:rPr sz="1050" b="1" lang="zh-CN" altLang="en-US">
                          <a:solidFill>
                            <a:srgbClr val="FFFFFF"/>
                          </a:solidFill>
                          <a:latin typeface="微软雅黑"/>
                          <a:ea typeface="微软雅黑"/>
                          <a:cs typeface="微软雅黑"/>
                        </a:rPr>
                        <a:t>在班组一级的数字化执行与反馈</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r>
              <a:tr h="621792">
                <a:tc>
                  <a:txBody>
                    <a:bodyPr wrap="square"/>
                    <a:lstStyle/>
                    <a:p>
                      <a:pPr>
                        <a:lnSpc>
                          <a:spcPct val="108000"/>
                        </a:lnSpc>
                      </a:pPr>
                      <a:r>
                        <a:rPr sz="1000" b="1" lang="zh-CN" altLang="en-US">
                          <a:solidFill>
                            <a:srgbClr val="262626"/>
                          </a:solidFill>
                          <a:latin typeface="微软雅黑"/>
                          <a:ea typeface="微软雅黑"/>
                          <a:cs typeface="微软雅黑"/>
                        </a:rPr>
                        <a:t>技能人才队伍建设与作业授权管理
《技能类岗位胜任能力评价作业授权认证表》</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认证表做成逐人逐格可确认的数字表（7 个技能单元 42 个模块，缺证不能确认），核心业务自主实施能力与 ★ 模块断层风险随确认实时变化</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授权状态按月报主管；高风险模块一键排带教取证；师带徒、骨干培养、后备梯队纳入台账</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21792">
                <a:tc>
                  <a:txBody>
                    <a:bodyPr wrap="square"/>
                    <a:lstStyle/>
                    <a:p>
                      <a:pPr>
                        <a:lnSpc>
                          <a:spcPct val="108000"/>
                        </a:lnSpc>
                      </a:pPr>
                      <a:r>
                        <a:rPr sz="1000" b="1" lang="zh-CN" altLang="en-US">
                          <a:solidFill>
                            <a:srgbClr val="262626"/>
                          </a:solidFill>
                          <a:latin typeface="微软雅黑"/>
                          <a:ea typeface="微软雅黑"/>
                          <a:cs typeface="微软雅黑"/>
                        </a:rPr>
                        <a:t>星级班组建设
《星级班组评价标准》</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20 个评价维度按台账实时初评并标红黄绿，当前等级、目标等级、距目标分、必备条件、差距指标一页呈现</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提升方向排进班组计划；帮扶活动回写得分；自评材料直接取自系统记录</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621792">
                <a:tc>
                  <a:txBody>
                    <a:bodyPr wrap="square"/>
                    <a:lstStyle/>
                    <a:p>
                      <a:pPr>
                        <a:lnSpc>
                          <a:spcPct val="108000"/>
                        </a:lnSpc>
                      </a:pPr>
                      <a:r>
                        <a:rPr sz="1000" b="1" lang="zh-CN" altLang="en-US">
                          <a:solidFill>
                            <a:srgbClr val="262626"/>
                          </a:solidFill>
                          <a:latin typeface="微软雅黑"/>
                          <a:ea typeface="微软雅黑"/>
                          <a:cs typeface="微软雅黑"/>
                        </a:rPr>
                        <a:t>绩效管理
员工年度业绩责任书、工分制考核办法</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考核指标三维度照录责任书实时判定红黄绿；班长绩效按责任书自动取数初评、分档不排名次；班员系数由五类履职证据与工分推导</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督办直达责任班长；确认后下发考评表；激励分配表与确认记录留痕</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21792">
                <a:tc>
                  <a:txBody>
                    <a:bodyPr wrap="square"/>
                    <a:lstStyle/>
                    <a:p>
                      <a:pPr>
                        <a:lnSpc>
                          <a:spcPct val="108000"/>
                        </a:lnSpc>
                      </a:pPr>
                      <a:r>
                        <a:rPr sz="1000" b="1" lang="zh-CN" altLang="en-US">
                          <a:solidFill>
                            <a:srgbClr val="262626"/>
                          </a:solidFill>
                          <a:latin typeface="微软雅黑"/>
                          <a:ea typeface="微软雅黑"/>
                          <a:cs typeface="微软雅黑"/>
                        </a:rPr>
                        <a:t>安全生产责任制
两票、作业授权、关键节点管控</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“有授权才派工、票审过才开工、完工才回写”的刚性流程；关键节点 19 项逐周闭环</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派工理由表、两票审核记录、关键节点闭环记录、安全活动台账</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621792">
                <a:tc>
                  <a:txBody>
                    <a:bodyPr wrap="square"/>
                    <a:lstStyle/>
                    <a:p>
                      <a:pPr>
                        <a:lnSpc>
                          <a:spcPct val="108000"/>
                        </a:lnSpc>
                      </a:pPr>
                      <a:r>
                        <a:rPr sz="1000" b="1" lang="zh-CN" altLang="en-US">
                          <a:solidFill>
                            <a:srgbClr val="262626"/>
                          </a:solidFill>
                          <a:latin typeface="微软雅黑"/>
                          <a:ea typeface="微软雅黑"/>
                          <a:cs typeface="微软雅黑"/>
                        </a:rPr>
                        <a:t>基层减负</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班前会材料、月度总结、分配表、面谈提纲、诊断与参谋报告逐段生成，查数即问即答</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班组长每月事务性用时减少约 25 小时，有操作流水为证</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621792">
                <a:tc>
                  <a:txBody>
                    <a:bodyPr wrap="square"/>
                    <a:lstStyle/>
                    <a:p>
                      <a:pPr>
                        <a:lnSpc>
                          <a:spcPct val="108000"/>
                        </a:lnSpc>
                      </a:pPr>
                      <a:r>
                        <a:rPr sz="1000" b="1" lang="zh-CN" altLang="en-US">
                          <a:solidFill>
                            <a:srgbClr val="262626"/>
                          </a:solidFill>
                          <a:latin typeface="微软雅黑"/>
                          <a:ea typeface="微软雅黑"/>
                          <a:cs typeface="微软雅黑"/>
                        </a:rPr>
                        <a:t>人工智能应用
电力人工智能创新平台（大瓦特）</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班组长 AI 助手依托公司平台：查数配图、决策依据、文稿、诊断、经验整理五类能力，人在回路</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可复制的班组级 AI 应用样板；每次确认留名留痕</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6" name="Rectangle 5"/>
          <p:cNvSpPr/>
          <p:nvPr/>
        </p:nvSpPr>
        <p:spPr>
          <a:xfrm>
            <a:off x="320040" y="5596128"/>
            <a:ext cx="11548872" cy="6400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320040" y="5596128"/>
            <a:ext cx="91440" cy="64008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5596128"/>
            <a:ext cx="11155680" cy="640080"/>
          </a:xfrm>
          <a:prstGeom prst="rect">
            <a:avLst/>
          </a:prstGeom>
          <a:noFill/>
        </p:spPr>
        <p:txBody>
          <a:bodyPr wrap="square" anchor="ctr" lIns="45720" rIns="45720" tIns="27432" bIns="27432">
            <a:spAutoFit/>
          </a:bodyPr>
          <a:lstStyle/>
          <a:p>
            <a:pPr algn="l">
              <a:lnSpc>
                <a:spcPct val="115000"/>
              </a:lnSpc>
            </a:pPr>
            <a:r>
              <a:rPr sz="1150" b="1" lang="zh-CN" altLang="en-US">
                <a:solidFill>
                  <a:srgbClr val="002060"/>
                </a:solidFill>
                <a:latin typeface="微软雅黑"/>
                <a:ea typeface="微软雅黑"/>
                <a:cs typeface="微软雅黑"/>
              </a:rPr>
              <a:t>对公司数智化转型的作用：</a:t>
            </a:r>
          </a:p>
          <a:p>
            <a:pPr algn="l">
              <a:lnSpc>
                <a:spcPct val="115000"/>
              </a:lnSpc>
            </a:pPr>
            <a:r>
              <a:rPr sz="1150" b="0" lang="zh-CN" altLang="en-US">
                <a:solidFill>
                  <a:srgbClr val="262626"/>
                </a:solidFill>
                <a:latin typeface="微软雅黑"/>
                <a:ea typeface="微软雅黑"/>
                <a:cs typeface="微软雅黑"/>
              </a:rPr>
              <a:t>班组长的时间从找数、抄数、排版回到判断与确认；班组数据一次产生、局级公司级复用，成为公司人力资源数智化的基础单元，数字化转型落到最基层的生产组织。</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一、成果介绍</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对标南方电网集团要求</a:t>
            </a:r>
          </a:p>
        </p:txBody>
      </p:sp>
      <p:sp>
        <p:nvSpPr>
          <p:cNvPr id="5" name="Rectangle 4"/>
          <p:cNvSpPr/>
          <p:nvPr/>
        </p:nvSpPr>
        <p:spPr>
          <a:xfrm>
            <a:off x="320040" y="1371600"/>
            <a:ext cx="3776472" cy="20116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320040" y="1371600"/>
            <a:ext cx="91440" cy="201168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463040"/>
            <a:ext cx="3474720" cy="502920"/>
          </a:xfrm>
          <a:prstGeom prst="rect">
            <a:avLst/>
          </a:prstGeom>
          <a:noFill/>
        </p:spPr>
        <p:txBody>
          <a:bodyPr wrap="square" anchor="ctr" lIns="45720" rIns="45720" tIns="27432" bIns="27432">
            <a:spAutoFit/>
          </a:bodyPr>
          <a:lstStyle/>
          <a:p>
            <a:pPr algn="l">
              <a:lnSpc>
                <a:spcPct val="110000"/>
              </a:lnSpc>
            </a:pPr>
            <a:r>
              <a:rPr sz="1250" b="1" lang="zh-CN" altLang="en-US">
                <a:solidFill>
                  <a:srgbClr val="002060"/>
                </a:solidFill>
                <a:latin typeface="微软雅黑"/>
                <a:ea typeface="微软雅黑"/>
                <a:cs typeface="微软雅黑"/>
              </a:rPr>
              <a:t>集团数字化转型与数字电网建设部署</a:t>
            </a:r>
          </a:p>
        </p:txBody>
      </p:sp>
      <p:sp>
        <p:nvSpPr>
          <p:cNvPr id="8" name="TextBox 7"/>
          <p:cNvSpPr txBox="1"/>
          <p:nvPr/>
        </p:nvSpPr>
        <p:spPr>
          <a:xfrm>
            <a:off x="548640" y="2011680"/>
            <a:ext cx="3474720" cy="1325880"/>
          </a:xfrm>
          <a:prstGeom prst="rect">
            <a:avLst/>
          </a:prstGeom>
          <a:noFill/>
        </p:spPr>
        <p:txBody>
          <a:bodyPr wrap="square" anchor="t" lIns="45720" rIns="45720" tIns="27432" bIns="27432">
            <a:spAutoFit/>
          </a:bodyPr>
          <a:lstStyle/>
          <a:p>
            <a:pPr algn="l">
              <a:lnSpc>
                <a:spcPct val="118000"/>
              </a:lnSpc>
            </a:pPr>
            <a:r>
              <a:rPr sz="1100" b="0" lang="zh-CN" altLang="en-US">
                <a:solidFill>
                  <a:srgbClr val="262626"/>
                </a:solidFill>
                <a:latin typeface="微软雅黑"/>
                <a:ea typeface="微软雅黑"/>
                <a:cs typeface="微软雅黑"/>
              </a:rPr>
              <a:t>派工、审票、授权确认、绩效确认、督办、调配结构化留痕，按统一口径接入人资系统与数据平台，班组数据一次产生、局级公司级复用</a:t>
            </a:r>
          </a:p>
        </p:txBody>
      </p:sp>
      <p:sp>
        <p:nvSpPr>
          <p:cNvPr id="9" name="Rectangle 8"/>
          <p:cNvSpPr/>
          <p:nvPr/>
        </p:nvSpPr>
        <p:spPr>
          <a:xfrm>
            <a:off x="4206240" y="1371600"/>
            <a:ext cx="3776472" cy="20116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206240" y="1371600"/>
            <a:ext cx="91440" cy="201168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434840" y="1463040"/>
            <a:ext cx="3474720" cy="502920"/>
          </a:xfrm>
          <a:prstGeom prst="rect">
            <a:avLst/>
          </a:prstGeom>
          <a:noFill/>
        </p:spPr>
        <p:txBody>
          <a:bodyPr wrap="square" anchor="ctr" lIns="45720" rIns="45720" tIns="27432" bIns="27432">
            <a:spAutoFit/>
          </a:bodyPr>
          <a:lstStyle/>
          <a:p>
            <a:pPr algn="l">
              <a:lnSpc>
                <a:spcPct val="110000"/>
              </a:lnSpc>
            </a:pPr>
            <a:r>
              <a:rPr sz="1250" b="1" lang="zh-CN" altLang="en-US">
                <a:solidFill>
                  <a:srgbClr val="002060"/>
                </a:solidFill>
                <a:latin typeface="微软雅黑"/>
                <a:ea typeface="微软雅黑"/>
                <a:cs typeface="微软雅黑"/>
              </a:rPr>
              <a:t>集团人才强企战略与技能人才队伍建设要求</a:t>
            </a:r>
          </a:p>
        </p:txBody>
      </p:sp>
      <p:sp>
        <p:nvSpPr>
          <p:cNvPr id="12" name="TextBox 11"/>
          <p:cNvSpPr txBox="1"/>
          <p:nvPr/>
        </p:nvSpPr>
        <p:spPr>
          <a:xfrm>
            <a:off x="4434840" y="2011680"/>
            <a:ext cx="3474720" cy="1325880"/>
          </a:xfrm>
          <a:prstGeom prst="rect">
            <a:avLst/>
          </a:prstGeom>
          <a:noFill/>
        </p:spPr>
        <p:txBody>
          <a:bodyPr wrap="square" anchor="t" lIns="45720" rIns="45720" tIns="27432" bIns="27432">
            <a:spAutoFit/>
          </a:bodyPr>
          <a:lstStyle/>
          <a:p>
            <a:pPr algn="l">
              <a:lnSpc>
                <a:spcPct val="118000"/>
              </a:lnSpc>
            </a:pPr>
            <a:r>
              <a:rPr sz="1100" b="0" lang="zh-CN" altLang="en-US">
                <a:solidFill>
                  <a:srgbClr val="262626"/>
                </a:solidFill>
                <a:latin typeface="微软雅黑"/>
                <a:ea typeface="微软雅黑"/>
                <a:cs typeface="微软雅黑"/>
              </a:rPr>
              <a:t>《作业授权认证表》数字化后，授权状态、核心业务自主实施能力、断层风险按月报主管；师带徒、骨干培养、后备梯队纳入台账，支撑作业授权复审与技能人才评聘</a:t>
            </a:r>
          </a:p>
        </p:txBody>
      </p:sp>
      <p:sp>
        <p:nvSpPr>
          <p:cNvPr id="13" name="Rectangle 12"/>
          <p:cNvSpPr/>
          <p:nvPr/>
        </p:nvSpPr>
        <p:spPr>
          <a:xfrm>
            <a:off x="8092440" y="1371600"/>
            <a:ext cx="3776472" cy="20116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8092440" y="1371600"/>
            <a:ext cx="91440" cy="201168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321040" y="1463040"/>
            <a:ext cx="3474720" cy="502920"/>
          </a:xfrm>
          <a:prstGeom prst="rect">
            <a:avLst/>
          </a:prstGeom>
          <a:noFill/>
        </p:spPr>
        <p:txBody>
          <a:bodyPr wrap="square" anchor="ctr" lIns="45720" rIns="45720" tIns="27432" bIns="27432">
            <a:spAutoFit/>
          </a:bodyPr>
          <a:lstStyle/>
          <a:p>
            <a:pPr algn="l">
              <a:lnSpc>
                <a:spcPct val="110000"/>
              </a:lnSpc>
            </a:pPr>
            <a:r>
              <a:rPr sz="1250" b="1" lang="zh-CN" altLang="en-US">
                <a:solidFill>
                  <a:srgbClr val="002060"/>
                </a:solidFill>
                <a:latin typeface="微软雅黑"/>
                <a:ea typeface="微软雅黑"/>
                <a:cs typeface="微软雅黑"/>
              </a:rPr>
              <a:t>集团星级班组建设要求</a:t>
            </a:r>
          </a:p>
        </p:txBody>
      </p:sp>
      <p:sp>
        <p:nvSpPr>
          <p:cNvPr id="16" name="TextBox 15"/>
          <p:cNvSpPr txBox="1"/>
          <p:nvPr/>
        </p:nvSpPr>
        <p:spPr>
          <a:xfrm>
            <a:off x="8321040" y="2011680"/>
            <a:ext cx="3474720" cy="1325880"/>
          </a:xfrm>
          <a:prstGeom prst="rect">
            <a:avLst/>
          </a:prstGeom>
          <a:noFill/>
        </p:spPr>
        <p:txBody>
          <a:bodyPr wrap="square" anchor="t" lIns="45720" rIns="45720" tIns="27432" bIns="27432">
            <a:spAutoFit/>
          </a:bodyPr>
          <a:lstStyle/>
          <a:p>
            <a:pPr algn="l">
              <a:lnSpc>
                <a:spcPct val="118000"/>
              </a:lnSpc>
            </a:pPr>
            <a:r>
              <a:rPr sz="1100" b="0" lang="zh-CN" altLang="en-US">
                <a:solidFill>
                  <a:srgbClr val="262626"/>
                </a:solidFill>
                <a:latin typeface="微软雅黑"/>
                <a:ea typeface="微软雅黑"/>
                <a:cs typeface="微软雅黑"/>
              </a:rPr>
              <a:t>《星级班组评价标准》20 个维度按台账实时初评，当前等级、目标等级、差距指标与提升措施按周期自动形成，评定材料直接取自系统记录</a:t>
            </a:r>
          </a:p>
        </p:txBody>
      </p:sp>
      <p:sp>
        <p:nvSpPr>
          <p:cNvPr id="17" name="Rectangle 16"/>
          <p:cNvSpPr/>
          <p:nvPr/>
        </p:nvSpPr>
        <p:spPr>
          <a:xfrm>
            <a:off x="320040" y="3520440"/>
            <a:ext cx="3776472" cy="20116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320040" y="3520440"/>
            <a:ext cx="91440" cy="201168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48640" y="3611880"/>
            <a:ext cx="3474720" cy="502920"/>
          </a:xfrm>
          <a:prstGeom prst="rect">
            <a:avLst/>
          </a:prstGeom>
          <a:noFill/>
        </p:spPr>
        <p:txBody>
          <a:bodyPr wrap="square" anchor="ctr" lIns="45720" rIns="45720" tIns="27432" bIns="27432">
            <a:spAutoFit/>
          </a:bodyPr>
          <a:lstStyle/>
          <a:p>
            <a:pPr algn="l">
              <a:lnSpc>
                <a:spcPct val="110000"/>
              </a:lnSpc>
            </a:pPr>
            <a:r>
              <a:rPr sz="1250" b="1" lang="zh-CN" altLang="en-US">
                <a:solidFill>
                  <a:srgbClr val="002060"/>
                </a:solidFill>
                <a:latin typeface="微软雅黑"/>
                <a:ea typeface="微软雅黑"/>
                <a:cs typeface="微软雅黑"/>
              </a:rPr>
              <a:t>集团业绩责任书与绩效管理要求</a:t>
            </a:r>
          </a:p>
        </p:txBody>
      </p:sp>
      <p:sp>
        <p:nvSpPr>
          <p:cNvPr id="20" name="TextBox 19"/>
          <p:cNvSpPr txBox="1"/>
          <p:nvPr/>
        </p:nvSpPr>
        <p:spPr>
          <a:xfrm>
            <a:off x="548640" y="4160520"/>
            <a:ext cx="3474720" cy="1325880"/>
          </a:xfrm>
          <a:prstGeom prst="rect">
            <a:avLst/>
          </a:prstGeom>
          <a:noFill/>
        </p:spPr>
        <p:txBody>
          <a:bodyPr wrap="square" anchor="t" lIns="45720" rIns="45720" tIns="27432" bIns="27432">
            <a:spAutoFit/>
          </a:bodyPr>
          <a:lstStyle/>
          <a:p>
            <a:pPr algn="l">
              <a:lnSpc>
                <a:spcPct val="118000"/>
              </a:lnSpc>
            </a:pPr>
            <a:r>
              <a:rPr sz="1100" b="0" lang="zh-CN" altLang="en-US">
                <a:solidFill>
                  <a:srgbClr val="262626"/>
                </a:solidFill>
                <a:latin typeface="微软雅黑"/>
                <a:ea typeface="微软雅黑"/>
                <a:cs typeface="微软雅黑"/>
              </a:rPr>
              <a:t>考核指标红黄绿与督办、班长绩效按责任书季度初评、班员系数由履职证据推导，考评公开、留痕、可追溯</a:t>
            </a:r>
          </a:p>
        </p:txBody>
      </p:sp>
      <p:sp>
        <p:nvSpPr>
          <p:cNvPr id="21" name="Rectangle 20"/>
          <p:cNvSpPr/>
          <p:nvPr/>
        </p:nvSpPr>
        <p:spPr>
          <a:xfrm>
            <a:off x="4206240" y="3520440"/>
            <a:ext cx="3776472" cy="20116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06240" y="3520440"/>
            <a:ext cx="91440" cy="201168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4840" y="3611880"/>
            <a:ext cx="3474720" cy="502920"/>
          </a:xfrm>
          <a:prstGeom prst="rect">
            <a:avLst/>
          </a:prstGeom>
          <a:noFill/>
        </p:spPr>
        <p:txBody>
          <a:bodyPr wrap="square" anchor="ctr" lIns="45720" rIns="45720" tIns="27432" bIns="27432">
            <a:spAutoFit/>
          </a:bodyPr>
          <a:lstStyle/>
          <a:p>
            <a:pPr algn="l">
              <a:lnSpc>
                <a:spcPct val="110000"/>
              </a:lnSpc>
            </a:pPr>
            <a:r>
              <a:rPr sz="1250" b="1" lang="zh-CN" altLang="en-US">
                <a:solidFill>
                  <a:srgbClr val="002060"/>
                </a:solidFill>
                <a:latin typeface="微软雅黑"/>
                <a:ea typeface="微软雅黑"/>
                <a:cs typeface="微软雅黑"/>
              </a:rPr>
              <a:t>集团安全生产责任制与基层减负要求</a:t>
            </a:r>
          </a:p>
        </p:txBody>
      </p:sp>
      <p:sp>
        <p:nvSpPr>
          <p:cNvPr id="24" name="TextBox 23"/>
          <p:cNvSpPr txBox="1"/>
          <p:nvPr/>
        </p:nvSpPr>
        <p:spPr>
          <a:xfrm>
            <a:off x="4434840" y="4160520"/>
            <a:ext cx="3474720" cy="1325880"/>
          </a:xfrm>
          <a:prstGeom prst="rect">
            <a:avLst/>
          </a:prstGeom>
          <a:noFill/>
        </p:spPr>
        <p:txBody>
          <a:bodyPr wrap="square" anchor="t" lIns="45720" rIns="45720" tIns="27432" bIns="27432">
            <a:spAutoFit/>
          </a:bodyPr>
          <a:lstStyle/>
          <a:p>
            <a:pPr algn="l">
              <a:lnSpc>
                <a:spcPct val="118000"/>
              </a:lnSpc>
            </a:pPr>
            <a:r>
              <a:rPr sz="1100" b="0" lang="zh-CN" altLang="en-US">
                <a:solidFill>
                  <a:srgbClr val="262626"/>
                </a:solidFill>
                <a:latin typeface="微软雅黑"/>
                <a:ea typeface="微软雅黑"/>
                <a:cs typeface="微软雅黑"/>
              </a:rPr>
              <a:t>“有授权才派工、票审过才开工、完工才回写”的刚性流程把安全责任落到班组一级；文稿逐段生成，班组长每月事务性用时减少约 25 小时</a:t>
            </a:r>
          </a:p>
        </p:txBody>
      </p:sp>
      <p:sp>
        <p:nvSpPr>
          <p:cNvPr id="25" name="Rectangle 24"/>
          <p:cNvSpPr/>
          <p:nvPr/>
        </p:nvSpPr>
        <p:spPr>
          <a:xfrm>
            <a:off x="8092440" y="3520440"/>
            <a:ext cx="3776472" cy="20116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8092440" y="3520440"/>
            <a:ext cx="91440" cy="201168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321040" y="3611880"/>
            <a:ext cx="3474720" cy="502920"/>
          </a:xfrm>
          <a:prstGeom prst="rect">
            <a:avLst/>
          </a:prstGeom>
          <a:noFill/>
        </p:spPr>
        <p:txBody>
          <a:bodyPr wrap="square" anchor="ctr" lIns="45720" rIns="45720" tIns="27432" bIns="27432">
            <a:spAutoFit/>
          </a:bodyPr>
          <a:lstStyle/>
          <a:p>
            <a:pPr algn="l">
              <a:lnSpc>
                <a:spcPct val="110000"/>
              </a:lnSpc>
            </a:pPr>
            <a:r>
              <a:rPr sz="1250" b="1" lang="zh-CN" altLang="en-US">
                <a:solidFill>
                  <a:srgbClr val="002060"/>
                </a:solidFill>
                <a:latin typeface="微软雅黑"/>
                <a:ea typeface="微软雅黑"/>
                <a:cs typeface="微软雅黑"/>
              </a:rPr>
              <a:t>集团人力资源数智化创新与人工智能应用（大瓦特）要求</a:t>
            </a:r>
          </a:p>
        </p:txBody>
      </p:sp>
      <p:sp>
        <p:nvSpPr>
          <p:cNvPr id="28" name="TextBox 27"/>
          <p:cNvSpPr txBox="1"/>
          <p:nvPr/>
        </p:nvSpPr>
        <p:spPr>
          <a:xfrm>
            <a:off x="8321040" y="4160520"/>
            <a:ext cx="3474720" cy="1325880"/>
          </a:xfrm>
          <a:prstGeom prst="rect">
            <a:avLst/>
          </a:prstGeom>
          <a:noFill/>
        </p:spPr>
        <p:txBody>
          <a:bodyPr wrap="square" anchor="t" lIns="45720" rIns="45720" tIns="27432" bIns="27432">
            <a:spAutoFit/>
          </a:bodyPr>
          <a:lstStyle/>
          <a:p>
            <a:pPr algn="l">
              <a:lnSpc>
                <a:spcPct val="118000"/>
              </a:lnSpc>
            </a:pPr>
            <a:r>
              <a:rPr sz="1100" b="0" lang="zh-CN" altLang="en-US">
                <a:solidFill>
                  <a:srgbClr val="262626"/>
                </a:solidFill>
                <a:latin typeface="微软雅黑"/>
                <a:ea typeface="微软雅黑"/>
                <a:cs typeface="微软雅黑"/>
              </a:rPr>
              <a:t>班组长 AI 助手依托公司电力人工智能创新平台，人在回路、结论由人确认，形成可复制的班组级人工智能应用样板</a:t>
            </a:r>
          </a:p>
        </p:txBody>
      </p:sp>
      <p:sp>
        <p:nvSpPr>
          <p:cNvPr id="29" name="Rectangle 28"/>
          <p:cNvSpPr/>
          <p:nvPr/>
        </p:nvSpPr>
        <p:spPr>
          <a:xfrm>
            <a:off x="320040" y="5715000"/>
            <a:ext cx="11548872" cy="5029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320040" y="5715000"/>
            <a:ext cx="91440" cy="5029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8640" y="5715000"/>
            <a:ext cx="11155680" cy="502920"/>
          </a:xfrm>
          <a:prstGeom prst="rect">
            <a:avLst/>
          </a:prstGeom>
          <a:noFill/>
        </p:spPr>
        <p:txBody>
          <a:bodyPr wrap="square" anchor="ctr" lIns="45720" rIns="45720" tIns="27432" bIns="27432">
            <a:spAutoFit/>
          </a:bodyPr>
          <a:lstStyle/>
          <a:p>
            <a:pPr algn="l"/>
            <a:r>
              <a:rPr sz="1150" b="1" lang="zh-CN" altLang="en-US">
                <a:solidFill>
                  <a:srgbClr val="002060"/>
                </a:solidFill>
                <a:latin typeface="微软雅黑"/>
                <a:ea typeface="微软雅黑"/>
                <a:cs typeface="微软雅黑"/>
              </a:rPr>
              <a:t>响应是持续的、可检查的：</a:t>
            </a:r>
          </a:p>
          <a:p>
            <a:pPr algn="l"/>
            <a:r>
              <a:rPr sz="1150" b="0" lang="zh-CN" altLang="en-US">
                <a:solidFill>
                  <a:srgbClr val="262626"/>
                </a:solidFill>
                <a:latin typeface="微软雅黑"/>
                <a:ea typeface="微软雅黑"/>
                <a:cs typeface="微软雅黑"/>
              </a:rPr>
              <a:t>结构化留痕 → 按统一口径向上汇聚 → 按周期自动形成结果。</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一、成果介绍</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建成投运后对公司与集团要求的响应机制 · 示范推广的作用和意义</a:t>
            </a:r>
          </a:p>
        </p:txBody>
      </p:sp>
      <p:sp>
        <p:nvSpPr>
          <p:cNvPr id="5" name="Pentagon 4"/>
          <p:cNvSpPr/>
          <p:nvPr/>
        </p:nvSpPr>
        <p:spPr>
          <a:xfrm>
            <a:off x="320040" y="1371600"/>
            <a:ext cx="3813048" cy="548640"/>
          </a:xfrm>
          <a:prstGeom prst="homePlat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lang="zh-CN" altLang="en-US">
                <a:solidFill>
                  <a:srgbClr val="FFFFFF"/>
                </a:solidFill>
                <a:latin typeface="微软雅黑"/>
                <a:ea typeface="微软雅黑"/>
                <a:cs typeface="微软雅黑"/>
              </a:rPr>
              <a:t>① 结构化留痕：每次派工 / 审票 / 确认 / 督办 / 调配写入台账与流水</a:t>
            </a:r>
          </a:p>
        </p:txBody>
      </p:sp>
      <p:sp>
        <p:nvSpPr>
          <p:cNvPr id="6" name="Chevron 5"/>
          <p:cNvSpPr/>
          <p:nvPr/>
        </p:nvSpPr>
        <p:spPr>
          <a:xfrm>
            <a:off x="4187952" y="1371600"/>
            <a:ext cx="3813048" cy="548640"/>
          </a:xfrm>
          <a:prstGeom prst="chevron">
            <a:avLst/>
          </a:prstGeom>
          <a:solidFill>
            <a:srgbClr val="0036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lang="zh-CN" altLang="en-US">
                <a:solidFill>
                  <a:srgbClr val="FFFFFF"/>
                </a:solidFill>
                <a:latin typeface="微软雅黑"/>
                <a:ea typeface="微软雅黑"/>
                <a:cs typeface="微软雅黑"/>
              </a:rPr>
              <a:t>② 按统一口径向上汇聚：人员 · 班组 · 事件三类主题接入人资系统与数据平台</a:t>
            </a:r>
          </a:p>
        </p:txBody>
      </p:sp>
      <p:sp>
        <p:nvSpPr>
          <p:cNvPr id="7" name="Chevron 6"/>
          <p:cNvSpPr/>
          <p:nvPr/>
        </p:nvSpPr>
        <p:spPr>
          <a:xfrm>
            <a:off x="8055864" y="1371600"/>
            <a:ext cx="3813048" cy="548640"/>
          </a:xfrm>
          <a:prstGeom prst="chevron">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lang="zh-CN" altLang="en-US">
                <a:solidFill>
                  <a:srgbClr val="FFFFFF"/>
                </a:solidFill>
                <a:latin typeface="微软雅黑"/>
                <a:ea typeface="微软雅黑"/>
                <a:cs typeface="微软雅黑"/>
              </a:rPr>
              <a:t>③ 按周期自动形成结果：星级对标 · 授权盘点 · 班长绩效由一次性工作变为周期输出</a:t>
            </a:r>
          </a:p>
        </p:txBody>
      </p:sp>
      <p:graphicFrame>
        <p:nvGraphicFramePr>
          <p:cNvPr id="8" name="Table 7"/>
          <p:cNvGraphicFramePr>
            <a:graphicFrameLocks noGrp="1"/>
          </p:cNvGraphicFramePr>
          <p:nvPr/>
        </p:nvGraphicFramePr>
        <p:xfrm>
          <a:off x="320040" y="2103120"/>
          <a:ext cx="11548872" cy="3364992"/>
        </p:xfrm>
        <a:graphic>
          <a:graphicData uri="http://schemas.openxmlformats.org/drawingml/2006/table">
            <a:tbl>
              <a:tblPr firstRow="0" bandRow="0">
                <a:tableStyleId>{2D5ABB26-0587-4C30-8999-92F81FD0307C}</a:tableStyleId>
              </a:tblPr>
              <a:tblGrid>
                <a:gridCol w="2286000"/>
                <a:gridCol w="5486400"/>
                <a:gridCol w="3776472"/>
              </a:tblGrid>
              <a:tr h="347472">
                <a:tc>
                  <a:txBody>
                    <a:bodyPr wrap="square"/>
                    <a:lstStyle/>
                    <a:p>
                      <a:pPr>
                        <a:lnSpc>
                          <a:spcPct val="108000"/>
                        </a:lnSpc>
                      </a:pPr>
                      <a:r>
                        <a:rPr sz="1000" b="1" lang="zh-CN" altLang="en-US">
                          <a:solidFill>
                            <a:srgbClr val="FFFFFF"/>
                          </a:solidFill>
                          <a:latin typeface="微软雅黑"/>
                          <a:ea typeface="微软雅黑"/>
                          <a:cs typeface="微软雅黑"/>
                        </a:rPr>
                        <a:t>公司与集团要求</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c>
                  <a:txBody>
                    <a:bodyPr wrap="square"/>
                    <a:lstStyle/>
                    <a:p>
                      <a:pPr>
                        <a:lnSpc>
                          <a:spcPct val="108000"/>
                        </a:lnSpc>
                      </a:pPr>
                      <a:r>
                        <a:rPr sz="1000" b="1" lang="zh-CN" altLang="en-US">
                          <a:solidFill>
                            <a:srgbClr val="FFFFFF"/>
                          </a:solidFill>
                          <a:latin typeface="微软雅黑"/>
                          <a:ea typeface="微软雅黑"/>
                          <a:cs typeface="微软雅黑"/>
                        </a:rPr>
                        <a:t>成果建成后的响应机制</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c>
                  <a:txBody>
                    <a:bodyPr wrap="square"/>
                    <a:lstStyle/>
                    <a:p>
                      <a:pPr>
                        <a:lnSpc>
                          <a:spcPct val="108000"/>
                        </a:lnSpc>
                      </a:pPr>
                      <a:r>
                        <a:rPr sz="1000" b="1" lang="zh-CN" altLang="en-US">
                          <a:solidFill>
                            <a:srgbClr val="FFFFFF"/>
                          </a:solidFill>
                          <a:latin typeface="微软雅黑"/>
                          <a:ea typeface="微软雅黑"/>
                          <a:cs typeface="微软雅黑"/>
                        </a:rPr>
                        <a:t>可检查的输出</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r>
              <a:tr h="502920">
                <a:tc>
                  <a:txBody>
                    <a:bodyPr wrap="square"/>
                    <a:lstStyle/>
                    <a:p>
                      <a:pPr>
                        <a:lnSpc>
                          <a:spcPct val="108000"/>
                        </a:lnSpc>
                      </a:pPr>
                      <a:r>
                        <a:rPr sz="950" b="1" lang="zh-CN" altLang="en-US">
                          <a:solidFill>
                            <a:srgbClr val="262626"/>
                          </a:solidFill>
                          <a:latin typeface="微软雅黑"/>
                          <a:ea typeface="微软雅黑"/>
                          <a:cs typeface="微软雅黑"/>
                        </a:rPr>
                        <a:t>数字化转型与数字电网建设</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班组层派工、审票、授权确认、绩效确认、督办、调配全部写入操作流水与台账，按人员、班组、事件三类主题统一口径接入人资系统与数据平台</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操作流水、十七张台账、画像与指标接口；班组数据一次产生、局级公司级复用</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02920">
                <a:tc>
                  <a:txBody>
                    <a:bodyPr wrap="square"/>
                    <a:lstStyle/>
                    <a:p>
                      <a:pPr>
                        <a:lnSpc>
                          <a:spcPct val="108000"/>
                        </a:lnSpc>
                      </a:pPr>
                      <a:r>
                        <a:rPr sz="950" b="1" lang="zh-CN" altLang="en-US">
                          <a:solidFill>
                            <a:srgbClr val="262626"/>
                          </a:solidFill>
                          <a:latin typeface="微软雅黑"/>
                          <a:ea typeface="微软雅黑"/>
                          <a:cs typeface="微软雅黑"/>
                        </a:rPr>
                        <a:t>技能人才队伍建设与作业授权管理</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42 个模块的授权状态、核心业务自主实施能力、断层风险按月形成报表报主管，支撑作业授权复审与技能人才评聘</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月度授权状态报表、带教取证任务、骨干培养计划、后备梯队</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02920">
                <a:tc>
                  <a:txBody>
                    <a:bodyPr wrap="square"/>
                    <a:lstStyle/>
                    <a:p>
                      <a:pPr>
                        <a:lnSpc>
                          <a:spcPct val="108000"/>
                        </a:lnSpc>
                      </a:pPr>
                      <a:r>
                        <a:rPr sz="950" b="1" lang="zh-CN" altLang="en-US">
                          <a:solidFill>
                            <a:srgbClr val="262626"/>
                          </a:solidFill>
                          <a:latin typeface="微软雅黑"/>
                          <a:ea typeface="微软雅黑"/>
                          <a:cs typeface="微软雅黑"/>
                        </a:rPr>
                        <a:t>星级班组建设</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20 个维度的初步评分、必备条件核对、差距指标与提升措施按月自动形成，当前等级与距目标分随台账实时变化</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季度自评材料、差距指标与提升措施、排进班组计划的提升任务</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02920">
                <a:tc>
                  <a:txBody>
                    <a:bodyPr wrap="square"/>
                    <a:lstStyle/>
                    <a:p>
                      <a:pPr>
                        <a:lnSpc>
                          <a:spcPct val="108000"/>
                        </a:lnSpc>
                      </a:pPr>
                      <a:r>
                        <a:rPr sz="950" b="1" lang="zh-CN" altLang="en-US">
                          <a:solidFill>
                            <a:srgbClr val="262626"/>
                          </a:solidFill>
                          <a:latin typeface="微软雅黑"/>
                          <a:ea typeface="微软雅黑"/>
                          <a:cs typeface="微软雅黑"/>
                        </a:rPr>
                        <a:t>业绩责任书与绩效管理</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考核指标实时红黄绿并督办；班长绩效按责任书季度自动取数初评；班员系数逐人确认、分配表留痕</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考核指标看板与督办记录、班长绩效考评表、激励分配表与确认记录</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02920">
                <a:tc>
                  <a:txBody>
                    <a:bodyPr wrap="square"/>
                    <a:lstStyle/>
                    <a:p>
                      <a:pPr>
                        <a:lnSpc>
                          <a:spcPct val="108000"/>
                        </a:lnSpc>
                      </a:pPr>
                      <a:r>
                        <a:rPr sz="950" b="1" lang="zh-CN" altLang="en-US">
                          <a:solidFill>
                            <a:srgbClr val="262626"/>
                          </a:solidFill>
                          <a:latin typeface="微软雅黑"/>
                          <a:ea typeface="微软雅黑"/>
                          <a:cs typeface="微软雅黑"/>
                        </a:rPr>
                        <a:t>安全生产责任制与基层减负</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两票审核、作业授权、断层风险、关键节点在派工环节前置把关；文稿逐段生成、关怀主动提示</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派工理由表、两票审核记录、关键节点闭环记录；每月事务性用时减少约 25 小时的流水证据</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02920">
                <a:tc>
                  <a:txBody>
                    <a:bodyPr wrap="square"/>
                    <a:lstStyle/>
                    <a:p>
                      <a:pPr>
                        <a:lnSpc>
                          <a:spcPct val="108000"/>
                        </a:lnSpc>
                      </a:pPr>
                      <a:r>
                        <a:rPr sz="950" b="1" lang="zh-CN" altLang="en-US">
                          <a:solidFill>
                            <a:srgbClr val="262626"/>
                          </a:solidFill>
                          <a:latin typeface="微软雅黑"/>
                          <a:ea typeface="微软雅黑"/>
                          <a:cs typeface="微软雅黑"/>
                        </a:rPr>
                        <a:t>人工智能应用与数据安全</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班组长 AI 助手人在回路、每次确认留名留痕；内网部署、数据不出域、角色分级授权</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可复制的班组级 AI 助手样板；权限矩阵、确认记录、操作流水</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9" name="Rectangle 8"/>
          <p:cNvSpPr/>
          <p:nvPr/>
        </p:nvSpPr>
        <p:spPr>
          <a:xfrm>
            <a:off x="320040" y="5623560"/>
            <a:ext cx="11548872" cy="62179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20040" y="5623560"/>
            <a:ext cx="91440" cy="621792"/>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48640" y="5623560"/>
            <a:ext cx="11155680" cy="621792"/>
          </a:xfrm>
          <a:prstGeom prst="rect">
            <a:avLst/>
          </a:prstGeom>
          <a:noFill/>
        </p:spPr>
        <p:txBody>
          <a:bodyPr wrap="square" anchor="ctr" lIns="45720" rIns="45720" tIns="27432" bIns="27432">
            <a:spAutoFit/>
          </a:bodyPr>
          <a:lstStyle/>
          <a:p>
            <a:pPr algn="l">
              <a:lnSpc>
                <a:spcPct val="115000"/>
              </a:lnSpc>
            </a:pPr>
            <a:r>
              <a:rPr sz="1150" b="1" lang="zh-CN" altLang="en-US">
                <a:solidFill>
                  <a:srgbClr val="002060"/>
                </a:solidFill>
                <a:latin typeface="微软雅黑"/>
                <a:ea typeface="微软雅黑"/>
                <a:cs typeface="微软雅黑"/>
              </a:rPr>
              <a:t>开展示范推广的作用和意义：</a:t>
            </a:r>
          </a:p>
          <a:p>
            <a:pPr algn="l">
              <a:lnSpc>
                <a:spcPct val="115000"/>
              </a:lnSpc>
            </a:pPr>
            <a:r>
              <a:rPr sz="1150" b="0" lang="zh-CN" altLang="en-US">
                <a:solidFill>
                  <a:srgbClr val="262626"/>
                </a:solidFill>
                <a:latin typeface="微软雅黑"/>
                <a:ea typeface="微软雅黑"/>
                <a:cs typeface="微软雅黑"/>
              </a:rPr>
              <a:t>公司对班组建设、人才队伍、绩效管理、安全生产与基层减负的要求在班组一级有了持续响应的机制；以配置化方式复制到配网、变电、输电专业班组，为公司提供可复制的班组级数字化样板。</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二、解决方案</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应用的设计思路</a:t>
            </a:r>
          </a:p>
        </p:txBody>
      </p:sp>
      <p:sp>
        <p:nvSpPr>
          <p:cNvPr id="5" name="Rectangle 4"/>
          <p:cNvSpPr/>
          <p:nvPr/>
        </p:nvSpPr>
        <p:spPr>
          <a:xfrm>
            <a:off x="320040" y="1371600"/>
            <a:ext cx="1463040" cy="91440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智能层</a:t>
            </a:r>
          </a:p>
        </p:txBody>
      </p:sp>
      <p:sp>
        <p:nvSpPr>
          <p:cNvPr id="6" name="Rectangle 5"/>
          <p:cNvSpPr/>
          <p:nvPr/>
        </p:nvSpPr>
        <p:spPr>
          <a:xfrm>
            <a:off x="1783080" y="1371600"/>
            <a:ext cx="5120640" cy="9144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920240" y="1371600"/>
            <a:ext cx="4892040" cy="914400"/>
          </a:xfrm>
          <a:prstGeom prst="rect">
            <a:avLst/>
          </a:prstGeom>
          <a:noFill/>
        </p:spPr>
        <p:txBody>
          <a:bodyPr wrap="square" anchor="ctr" lIns="45720" rIns="45720" tIns="27432" bIns="27432">
            <a:spAutoFit/>
          </a:bodyPr>
          <a:lstStyle/>
          <a:p>
            <a:pPr algn="l">
              <a:lnSpc>
                <a:spcPct val="115000"/>
              </a:lnSpc>
            </a:pPr>
            <a:r>
              <a:rPr sz="1200" b="0" lang="zh-CN" altLang="en-US">
                <a:solidFill>
                  <a:srgbClr val="262626"/>
                </a:solidFill>
                <a:latin typeface="微软雅黑"/>
                <a:ea typeface="微软雅黑"/>
                <a:cs typeface="微软雅黑"/>
              </a:rPr>
              <a:t>大模型：自然语言问答 · 文稿逐段生成 · 诊断归因 · 经验整理</a:t>
            </a:r>
          </a:p>
        </p:txBody>
      </p:sp>
      <p:sp>
        <p:nvSpPr>
          <p:cNvPr id="8" name="Rectangle 7"/>
          <p:cNvSpPr/>
          <p:nvPr/>
        </p:nvSpPr>
        <p:spPr>
          <a:xfrm>
            <a:off x="320040" y="2423160"/>
            <a:ext cx="1463040" cy="91440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规则层</a:t>
            </a:r>
          </a:p>
        </p:txBody>
      </p:sp>
      <p:sp>
        <p:nvSpPr>
          <p:cNvPr id="9" name="Rectangle 8"/>
          <p:cNvSpPr/>
          <p:nvPr/>
        </p:nvSpPr>
        <p:spPr>
          <a:xfrm>
            <a:off x="1783080" y="2423160"/>
            <a:ext cx="5120640" cy="9144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920240" y="2423160"/>
            <a:ext cx="4892040" cy="914400"/>
          </a:xfrm>
          <a:prstGeom prst="rect">
            <a:avLst/>
          </a:prstGeom>
          <a:noFill/>
        </p:spPr>
        <p:txBody>
          <a:bodyPr wrap="square" anchor="ctr" lIns="45720" rIns="45720" tIns="27432" bIns="27432">
            <a:spAutoFit/>
          </a:bodyPr>
          <a:lstStyle/>
          <a:p>
            <a:pPr algn="l">
              <a:lnSpc>
                <a:spcPct val="115000"/>
              </a:lnSpc>
            </a:pPr>
            <a:r>
              <a:rPr sz="1200" b="0" lang="zh-CN" altLang="en-US">
                <a:solidFill>
                  <a:srgbClr val="262626"/>
                </a:solidFill>
                <a:latin typeface="微软雅黑"/>
                <a:ea typeface="微软雅黑"/>
                <a:cs typeface="微软雅黑"/>
              </a:rPr>
              <a:t>派工四规则 · 断层判定 · 绩效系数 · 考核红黄绿 · 班长计分，可配置、可解释</a:t>
            </a:r>
          </a:p>
        </p:txBody>
      </p:sp>
      <p:sp>
        <p:nvSpPr>
          <p:cNvPr id="11" name="Rectangle 10"/>
          <p:cNvSpPr/>
          <p:nvPr/>
        </p:nvSpPr>
        <p:spPr>
          <a:xfrm>
            <a:off x="320040" y="3474720"/>
            <a:ext cx="1463040" cy="91440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指标层</a:t>
            </a:r>
          </a:p>
        </p:txBody>
      </p:sp>
      <p:sp>
        <p:nvSpPr>
          <p:cNvPr id="12" name="Rectangle 11"/>
          <p:cNvSpPr/>
          <p:nvPr/>
        </p:nvSpPr>
        <p:spPr>
          <a:xfrm>
            <a:off x="1783080" y="3474720"/>
            <a:ext cx="5120640" cy="9144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920240" y="3474720"/>
            <a:ext cx="4892040" cy="914400"/>
          </a:xfrm>
          <a:prstGeom prst="rect">
            <a:avLst/>
          </a:prstGeom>
          <a:noFill/>
        </p:spPr>
        <p:txBody>
          <a:bodyPr wrap="square" anchor="ctr" lIns="45720" rIns="45720" tIns="27432" bIns="27432">
            <a:spAutoFit/>
          </a:bodyPr>
          <a:lstStyle/>
          <a:p>
            <a:pPr algn="l">
              <a:lnSpc>
                <a:spcPct val="115000"/>
              </a:lnSpc>
            </a:pPr>
            <a:r>
              <a:rPr sz="1200" b="0" lang="zh-CN" altLang="en-US">
                <a:solidFill>
                  <a:srgbClr val="262626"/>
                </a:solidFill>
                <a:latin typeface="微软雅黑"/>
                <a:ea typeface="微软雅黑"/>
                <a:cs typeface="微软雅黑"/>
              </a:rPr>
              <a:t>星级评价 20 维 · 作业授权 42 模块 · 综合画像 5 项 / 专业画像 9 项 · 考评口径</a:t>
            </a:r>
          </a:p>
        </p:txBody>
      </p:sp>
      <p:sp>
        <p:nvSpPr>
          <p:cNvPr id="14" name="Rectangle 13"/>
          <p:cNvSpPr/>
          <p:nvPr/>
        </p:nvSpPr>
        <p:spPr>
          <a:xfrm>
            <a:off x="320040" y="4526279"/>
            <a:ext cx="1463040" cy="914400"/>
          </a:xfrm>
          <a:prstGeom prst="rect">
            <a:avLst/>
          </a:prstGeom>
          <a:solidFill>
            <a:srgbClr val="0036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数据底座</a:t>
            </a:r>
          </a:p>
        </p:txBody>
      </p:sp>
      <p:sp>
        <p:nvSpPr>
          <p:cNvPr id="15" name="Rectangle 14"/>
          <p:cNvSpPr/>
          <p:nvPr/>
        </p:nvSpPr>
        <p:spPr>
          <a:xfrm>
            <a:off x="1783080" y="4526279"/>
            <a:ext cx="5120640" cy="9144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920240" y="4526279"/>
            <a:ext cx="4892040" cy="914400"/>
          </a:xfrm>
          <a:prstGeom prst="rect">
            <a:avLst/>
          </a:prstGeom>
          <a:noFill/>
        </p:spPr>
        <p:txBody>
          <a:bodyPr wrap="square" anchor="ctr" lIns="45720" rIns="45720" tIns="27432" bIns="27432">
            <a:spAutoFit/>
          </a:bodyPr>
          <a:lstStyle/>
          <a:p>
            <a:pPr algn="l">
              <a:lnSpc>
                <a:spcPct val="115000"/>
              </a:lnSpc>
            </a:pPr>
            <a:r>
              <a:rPr sz="1200" b="0" lang="zh-CN" altLang="en-US">
                <a:solidFill>
                  <a:srgbClr val="262626"/>
                </a:solidFill>
                <a:latin typeface="微软雅黑"/>
                <a:ea typeface="微软雅黑"/>
                <a:cs typeface="微软雅黑"/>
              </a:rPr>
              <a:t>十七张班组台账，统一人员与班组主键，每个数字可回溯</a:t>
            </a:r>
          </a:p>
        </p:txBody>
      </p:sp>
      <p:sp>
        <p:nvSpPr>
          <p:cNvPr id="17" name="Rectangle 16"/>
          <p:cNvSpPr/>
          <p:nvPr/>
        </p:nvSpPr>
        <p:spPr>
          <a:xfrm>
            <a:off x="7178040" y="1371600"/>
            <a:ext cx="4690872"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设计原则</a:t>
            </a:r>
          </a:p>
        </p:txBody>
      </p:sp>
      <p:sp>
        <p:nvSpPr>
          <p:cNvPr id="18" name="Rectangle 17"/>
          <p:cNvSpPr/>
          <p:nvPr/>
        </p:nvSpPr>
        <p:spPr>
          <a:xfrm>
            <a:off x="7178040" y="1755648"/>
            <a:ext cx="4690872" cy="3822191"/>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251192" y="1828800"/>
            <a:ext cx="4544568" cy="3675887"/>
          </a:xfrm>
          <a:prstGeom prst="rect">
            <a:avLst/>
          </a:prstGeom>
          <a:noFill/>
        </p:spPr>
        <p:txBody>
          <a:bodyPr wrap="square" anchor="t" lIns="73152" rIns="73152" tIns="27432" bIns="27432">
            <a:spAutoFit/>
          </a:bodyPr>
          <a:lstStyle/>
          <a:p>
            <a:pPr algn="l" marL="228600" indent="-228600">
              <a:lnSpc>
                <a:spcPct val="115000"/>
              </a:lnSpc>
              <a:spcAft>
                <a:spcPts val="600"/>
              </a:spcAft>
              <a:buFont typeface="Arial"/>
              <a:buChar char="•"/>
            </a:pPr>
            <a:r>
              <a:rPr sz="1200" b="0" lang="zh-CN" altLang="en-US">
                <a:solidFill>
                  <a:srgbClr val="262626"/>
                </a:solidFill>
                <a:latin typeface="微软雅黑"/>
                <a:ea typeface="微软雅黑"/>
                <a:cs typeface="微软雅黑"/>
              </a:rPr>
              <a:t>围绕班组长“派得准、带得好、评得公、管得住”和部门“看得全、督得到、配得动”的诉求组织功能</a:t>
            </a:r>
          </a:p>
          <a:p>
            <a:pPr algn="l" marL="228600" indent="-228600">
              <a:lnSpc>
                <a:spcPct val="115000"/>
              </a:lnSpc>
              <a:spcAft>
                <a:spcPts val="600"/>
              </a:spcAft>
              <a:buFont typeface="Arial"/>
              <a:buChar char="•"/>
            </a:pPr>
            <a:r>
              <a:rPr sz="1200" b="0" lang="zh-CN" altLang="en-US">
                <a:solidFill>
                  <a:srgbClr val="262626"/>
                </a:solidFill>
                <a:latin typeface="微软雅黑"/>
                <a:ea typeface="微软雅黑"/>
                <a:cs typeface="微软雅黑"/>
              </a:rPr>
              <a:t>系统给出依据与建议，班组长和管理者作出决定；涉及人的结论一律确认后生效、留名留痕</a:t>
            </a:r>
          </a:p>
          <a:p>
            <a:pPr algn="l" marL="228600" indent="-228600">
              <a:lnSpc>
                <a:spcPct val="115000"/>
              </a:lnSpc>
              <a:spcAft>
                <a:spcPts val="600"/>
              </a:spcAft>
              <a:buFont typeface="Arial"/>
              <a:buChar char="•"/>
            </a:pPr>
            <a:r>
              <a:rPr sz="1200" b="0" lang="zh-CN" altLang="en-US">
                <a:solidFill>
                  <a:srgbClr val="262626"/>
                </a:solidFill>
                <a:latin typeface="微软雅黑"/>
                <a:ea typeface="微软雅黑"/>
                <a:cs typeface="微软雅黑"/>
              </a:rPr>
              <a:t>页面只读状态层、按钮只写状态层，流程不预设，每一个动作都改变后面每一页的数字</a:t>
            </a:r>
          </a:p>
          <a:p>
            <a:pPr algn="l" marL="228600" indent="-228600">
              <a:lnSpc>
                <a:spcPct val="115000"/>
              </a:lnSpc>
              <a:spcAft>
                <a:spcPts val="600"/>
              </a:spcAft>
              <a:buFont typeface="Arial"/>
              <a:buChar char="•"/>
            </a:pPr>
            <a:r>
              <a:rPr sz="1200" b="0" lang="zh-CN" altLang="en-US">
                <a:solidFill>
                  <a:srgbClr val="262626"/>
                </a:solidFill>
                <a:latin typeface="微软雅黑"/>
                <a:ea typeface="微软雅黑"/>
                <a:cs typeface="微软雅黑"/>
              </a:rPr>
              <a:t>画像、看板、文稿中的每个数字可点开回溯至台账原始行</a:t>
            </a:r>
          </a:p>
          <a:p>
            <a:pPr algn="l" marL="228600" indent="-228600">
              <a:lnSpc>
                <a:spcPct val="115000"/>
              </a:lnSpc>
              <a:buFont typeface="Arial"/>
              <a:buChar char="•"/>
            </a:pPr>
            <a:r>
              <a:rPr sz="1200" b="0" lang="zh-CN" altLang="en-US">
                <a:solidFill>
                  <a:srgbClr val="262626"/>
                </a:solidFill>
                <a:latin typeface="微软雅黑"/>
                <a:ea typeface="微软雅黑"/>
                <a:cs typeface="微软雅黑"/>
              </a:rPr>
              <a:t>依托公司自主平台建设，内网部署，数据不出域，角色分级授权</a:t>
            </a:r>
          </a:p>
        </p:txBody>
      </p:sp>
      <p:sp>
        <p:nvSpPr>
          <p:cNvPr id="20" name="Rectangle 19"/>
          <p:cNvSpPr/>
          <p:nvPr/>
        </p:nvSpPr>
        <p:spPr>
          <a:xfrm>
            <a:off x="320040" y="5760720"/>
            <a:ext cx="11548872" cy="5029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57200" y="5760720"/>
            <a:ext cx="11247120" cy="502920"/>
          </a:xfrm>
          <a:prstGeom prst="rect">
            <a:avLst/>
          </a:prstGeom>
          <a:noFill/>
        </p:spPr>
        <p:txBody>
          <a:bodyPr wrap="square" anchor="ctr" lIns="45720" rIns="45720" tIns="27432" bIns="27432">
            <a:spAutoFit/>
          </a:bodyPr>
          <a:lstStyle/>
          <a:p>
            <a:pPr algn="l"/>
            <a:r>
              <a:rPr sz="1200" b="1" lang="zh-CN" altLang="en-US">
                <a:solidFill>
                  <a:srgbClr val="002060"/>
                </a:solidFill>
                <a:latin typeface="微软雅黑"/>
                <a:ea typeface="微软雅黑"/>
                <a:cs typeface="微软雅黑"/>
              </a:rPr>
              <a:t>核心思路：</a:t>
            </a:r>
          </a:p>
          <a:p>
            <a:pPr algn="l"/>
            <a:r>
              <a:rPr sz="1200" b="0" lang="zh-CN" altLang="en-US">
                <a:solidFill>
                  <a:srgbClr val="262626"/>
                </a:solidFill>
                <a:latin typeface="微软雅黑"/>
                <a:ea typeface="微软雅黑"/>
                <a:cs typeface="微软雅黑"/>
              </a:rPr>
              <a:t>把分散在各系统的班组数据归集为统一台账，在台账之上建指标、立规则、用大模型，让班组长回到判断与确认。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二、解决方案</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应用的实现路径</a:t>
            </a:r>
          </a:p>
        </p:txBody>
      </p:sp>
      <p:sp>
        <p:nvSpPr>
          <p:cNvPr id="5" name="Pentagon 4"/>
          <p:cNvSpPr/>
          <p:nvPr/>
        </p:nvSpPr>
        <p:spPr>
          <a:xfrm>
            <a:off x="320040" y="1371600"/>
            <a:ext cx="2846070" cy="548640"/>
          </a:xfrm>
          <a:prstGeom prst="homePlat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一  数据归集</a:t>
            </a:r>
          </a:p>
        </p:txBody>
      </p:sp>
      <p:sp>
        <p:nvSpPr>
          <p:cNvPr id="6" name="Chevron 5"/>
          <p:cNvSpPr/>
          <p:nvPr/>
        </p:nvSpPr>
        <p:spPr>
          <a:xfrm>
            <a:off x="3220974" y="1371600"/>
            <a:ext cx="2846070" cy="548640"/>
          </a:xfrm>
          <a:prstGeom prst="chevron">
            <a:avLst/>
          </a:prstGeom>
          <a:solidFill>
            <a:srgbClr val="0036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二  模型构建</a:t>
            </a:r>
          </a:p>
        </p:txBody>
      </p:sp>
      <p:sp>
        <p:nvSpPr>
          <p:cNvPr id="7" name="Chevron 6"/>
          <p:cNvSpPr/>
          <p:nvPr/>
        </p:nvSpPr>
        <p:spPr>
          <a:xfrm>
            <a:off x="6121908" y="1371600"/>
            <a:ext cx="2846070" cy="548640"/>
          </a:xfrm>
          <a:prstGeom prst="chevron">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三  场景落地</a:t>
            </a:r>
          </a:p>
        </p:txBody>
      </p:sp>
      <p:sp>
        <p:nvSpPr>
          <p:cNvPr id="8" name="Chevron 7"/>
          <p:cNvSpPr/>
          <p:nvPr/>
        </p:nvSpPr>
        <p:spPr>
          <a:xfrm>
            <a:off x="9022842" y="1371600"/>
            <a:ext cx="2846070" cy="548640"/>
          </a:xfrm>
          <a:prstGeom prst="chevron">
            <a:avLst/>
          </a:prstGeom>
          <a:solidFill>
            <a:srgbClr val="0036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四  结果回流</a:t>
            </a:r>
          </a:p>
        </p:txBody>
      </p:sp>
      <p:sp>
        <p:nvSpPr>
          <p:cNvPr id="9" name="Rectangle 8"/>
          <p:cNvSpPr/>
          <p:nvPr/>
        </p:nvSpPr>
        <p:spPr>
          <a:xfrm>
            <a:off x="320040" y="2057400"/>
            <a:ext cx="2770632" cy="30175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29768" y="2148840"/>
            <a:ext cx="2560320" cy="2834640"/>
          </a:xfrm>
          <a:prstGeom prst="rect">
            <a:avLst/>
          </a:prstGeom>
          <a:noFill/>
        </p:spPr>
        <p:txBody>
          <a:bodyPr wrap="square" anchor="t" lIns="45720" rIns="45720" tIns="27432" bIns="27432">
            <a:spAutoFit/>
          </a:bodyPr>
          <a:lstStyle/>
          <a:p>
            <a:pPr algn="l">
              <a:lnSpc>
                <a:spcPct val="120000"/>
              </a:lnSpc>
            </a:pPr>
            <a:r>
              <a:rPr sz="1100" b="0" lang="zh-CN" altLang="en-US">
                <a:solidFill>
                  <a:srgbClr val="262626"/>
                </a:solidFill>
                <a:latin typeface="微软雅黑"/>
                <a:ea typeface="微软雅黑"/>
                <a:cs typeface="微软雅黑"/>
              </a:rPr>
              <a:t>按工时、资质证书、作业授权认证、任务、缺陷、两票、周报指标、工作量（工分）、违章、安全活动、荣誉、培训（含学时）、派工记录、跨班组调配、值班、通知、操作流水建立十七张台账，统一人员与班组主键。</a:t>
            </a:r>
          </a:p>
        </p:txBody>
      </p:sp>
      <p:sp>
        <p:nvSpPr>
          <p:cNvPr id="11" name="Rectangle 10"/>
          <p:cNvSpPr/>
          <p:nvPr/>
        </p:nvSpPr>
        <p:spPr>
          <a:xfrm>
            <a:off x="3246120" y="2057400"/>
            <a:ext cx="2770632" cy="30175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355848" y="2148840"/>
            <a:ext cx="2560320" cy="2834640"/>
          </a:xfrm>
          <a:prstGeom prst="rect">
            <a:avLst/>
          </a:prstGeom>
          <a:noFill/>
        </p:spPr>
        <p:txBody>
          <a:bodyPr wrap="square" anchor="t" lIns="45720" rIns="45720" tIns="27432" bIns="27432">
            <a:spAutoFit/>
          </a:bodyPr>
          <a:lstStyle/>
          <a:p>
            <a:pPr algn="l">
              <a:lnSpc>
                <a:spcPct val="120000"/>
              </a:lnSpc>
            </a:pPr>
            <a:r>
              <a:rPr sz="1100" b="0" lang="zh-CN" altLang="en-US">
                <a:solidFill>
                  <a:srgbClr val="262626"/>
                </a:solidFill>
                <a:latin typeface="微软雅黑"/>
                <a:ea typeface="微软雅黑"/>
                <a:cs typeface="微软雅黑"/>
              </a:rPr>
              <a:t>依据《技能类岗位胜任能力评价作业授权认证表》（7 个技能单元 42 个模块）、岗位说明书九项与通用素质模型五项、《星级班组评价标准》20 个维度、2026 年度业绩责任书三个维度、工分制考核办法建立指标与评分规则，每项明确来源、阈值、用途和确认人。</a:t>
            </a:r>
          </a:p>
        </p:txBody>
      </p:sp>
      <p:sp>
        <p:nvSpPr>
          <p:cNvPr id="13" name="Rectangle 12"/>
          <p:cNvSpPr/>
          <p:nvPr/>
        </p:nvSpPr>
        <p:spPr>
          <a:xfrm>
            <a:off x="6172200" y="2057400"/>
            <a:ext cx="2770632" cy="30175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281928" y="2148840"/>
            <a:ext cx="2560320" cy="2834640"/>
          </a:xfrm>
          <a:prstGeom prst="rect">
            <a:avLst/>
          </a:prstGeom>
          <a:noFill/>
        </p:spPr>
        <p:txBody>
          <a:bodyPr wrap="square" anchor="t" lIns="45720" rIns="45720" tIns="27432" bIns="27432">
            <a:spAutoFit/>
          </a:bodyPr>
          <a:lstStyle/>
          <a:p>
            <a:pPr algn="l">
              <a:lnSpc>
                <a:spcPct val="120000"/>
              </a:lnSpc>
            </a:pPr>
            <a:r>
              <a:rPr sz="1100" b="0" lang="zh-CN" altLang="en-US">
                <a:solidFill>
                  <a:srgbClr val="262626"/>
                </a:solidFill>
                <a:latin typeface="微软雅黑"/>
                <a:ea typeface="微软雅黑"/>
                <a:cs typeface="微软雅黑"/>
              </a:rPr>
              <a:t>班组长端按“班组整体—人员情况—日常业务”故事线组织 12 页；管理者端覆盖考核指标、班组横向对比、团队画像总览、班长绩效、人员总览、结构对比、团队风险画像、员工关怀、分析参谋 9 页。</a:t>
            </a:r>
          </a:p>
        </p:txBody>
      </p:sp>
      <p:sp>
        <p:nvSpPr>
          <p:cNvPr id="15" name="Rectangle 14"/>
          <p:cNvSpPr/>
          <p:nvPr/>
        </p:nvSpPr>
        <p:spPr>
          <a:xfrm>
            <a:off x="9098280" y="2057400"/>
            <a:ext cx="2770632" cy="30175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208008" y="2148840"/>
            <a:ext cx="2560320" cy="2834640"/>
          </a:xfrm>
          <a:prstGeom prst="rect">
            <a:avLst/>
          </a:prstGeom>
          <a:noFill/>
        </p:spPr>
        <p:txBody>
          <a:bodyPr wrap="square" anchor="t" lIns="45720" rIns="45720" tIns="27432" bIns="27432">
            <a:spAutoFit/>
          </a:bodyPr>
          <a:lstStyle/>
          <a:p>
            <a:pPr algn="l">
              <a:lnSpc>
                <a:spcPct val="120000"/>
              </a:lnSpc>
            </a:pPr>
            <a:r>
              <a:rPr sz="1100" b="0" lang="zh-CN" altLang="en-US">
                <a:solidFill>
                  <a:srgbClr val="262626"/>
                </a:solidFill>
                <a:latin typeface="微软雅黑"/>
                <a:ea typeface="微软雅黑"/>
                <a:cs typeface="微软雅黑"/>
              </a:rPr>
              <a:t>作业完工后工时、两票、缺陷、关键节点与实操量回写本人画像，考评与荣誉进入培养对象排序，帮扶活动改变星级得分；管理者的督办、提醒、调配、轮岗建议全部落到班组长的通知或确认，每一次确认写入操作流水。</a:t>
            </a:r>
          </a:p>
        </p:txBody>
      </p:sp>
      <p:sp>
        <p:nvSpPr>
          <p:cNvPr id="17" name="Rectangle 16"/>
          <p:cNvSpPr/>
          <p:nvPr/>
        </p:nvSpPr>
        <p:spPr>
          <a:xfrm>
            <a:off x="320040" y="5257800"/>
            <a:ext cx="1371600" cy="41148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交付形态</a:t>
            </a:r>
          </a:p>
        </p:txBody>
      </p:sp>
      <p:sp>
        <p:nvSpPr>
          <p:cNvPr id="18" name="TextBox 17"/>
          <p:cNvSpPr txBox="1"/>
          <p:nvPr/>
        </p:nvSpPr>
        <p:spPr>
          <a:xfrm>
            <a:off x="1783080" y="5212080"/>
            <a:ext cx="10058400" cy="502920"/>
          </a:xfrm>
          <a:prstGeom prst="rect">
            <a:avLst/>
          </a:prstGeom>
          <a:noFill/>
        </p:spPr>
        <p:txBody>
          <a:bodyPr wrap="square" anchor="ctr" lIns="45720" rIns="45720" tIns="27432" bIns="27432">
            <a:spAutoFit/>
          </a:bodyPr>
          <a:lstStyle/>
          <a:p>
            <a:pPr algn="l">
              <a:lnSpc>
                <a:spcPct val="115000"/>
              </a:lnSpc>
            </a:pPr>
            <a:r>
              <a:rPr sz="1150" b="0" lang="zh-CN" altLang="en-US">
                <a:solidFill>
                  <a:srgbClr val="262626"/>
                </a:solidFill>
                <a:latin typeface="微软雅黑"/>
                <a:ea typeface="微软雅黑"/>
                <a:cs typeface="微软雅黑"/>
              </a:rPr>
              <a:t>评审现场为单文件离线高保真原型（双击即开，不依赖外部网络）；正式部署依托公司电力人工智能创新平台与云景自助分析工具，数据经接口对接公司现有系统。</a:t>
            </a:r>
          </a:p>
        </p:txBody>
      </p:sp>
      <p:sp>
        <p:nvSpPr>
          <p:cNvPr id="19" name="TextBox 18"/>
          <p:cNvSpPr txBox="1"/>
          <p:nvPr/>
        </p:nvSpPr>
        <p:spPr>
          <a:xfrm>
            <a:off x="320040" y="5806440"/>
            <a:ext cx="11521440" cy="457200"/>
          </a:xfrm>
          <a:prstGeom prst="rect">
            <a:avLst/>
          </a:prstGeom>
          <a:noFill/>
        </p:spPr>
        <p:txBody>
          <a:bodyPr wrap="square" anchor="t" lIns="45720" rIns="45720" tIns="27432" bIns="27432">
            <a:spAutoFit/>
          </a:bodyPr>
          <a:lstStyle/>
          <a:p>
            <a:pPr algn="l"/>
            <a:r>
              <a:rPr sz="1100" b="0" lang="zh-CN" altLang="en-US">
                <a:solidFill>
                  <a:srgbClr val="595959"/>
                </a:solidFill>
                <a:latin typeface="微软雅黑"/>
                <a:ea typeface="微软雅黑"/>
                <a:cs typeface="微软雅黑"/>
              </a:rPr>
              <a:t>原则：系统给依据与建议，班组长和管理者作决定；页面只读状态层、按钮只写状态层，流程不预设。</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二、解决方案</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数据来源与数据结构</a:t>
            </a:r>
          </a:p>
        </p:txBody>
      </p:sp>
      <p:graphicFrame>
        <p:nvGraphicFramePr>
          <p:cNvPr id="5" name="Table 4"/>
          <p:cNvGraphicFramePr>
            <a:graphicFrameLocks noGrp="1"/>
          </p:cNvGraphicFramePr>
          <p:nvPr/>
        </p:nvGraphicFramePr>
        <p:xfrm>
          <a:off x="320040" y="1371600"/>
          <a:ext cx="6675120" cy="3675888"/>
        </p:xfrm>
        <a:graphic>
          <a:graphicData uri="http://schemas.openxmlformats.org/drawingml/2006/table">
            <a:tbl>
              <a:tblPr firstRow="0" bandRow="0">
                <a:tableStyleId>{2D5ABB26-0587-4C30-8999-92F81FD0307C}</a:tableStyleId>
              </a:tblPr>
              <a:tblGrid>
                <a:gridCol w="1828800"/>
                <a:gridCol w="2834640"/>
                <a:gridCol w="2011680"/>
              </a:tblGrid>
              <a:tr h="384048">
                <a:tc>
                  <a:txBody>
                    <a:bodyPr wrap="square"/>
                    <a:lstStyle/>
                    <a:p>
                      <a:pPr>
                        <a:lnSpc>
                          <a:spcPct val="108000"/>
                        </a:lnSpc>
                      </a:pPr>
                      <a:r>
                        <a:rPr sz="1100" b="1" lang="zh-CN" altLang="en-US">
                          <a:solidFill>
                            <a:srgbClr val="FFFFFF"/>
                          </a:solidFill>
                          <a:latin typeface="微软雅黑"/>
                          <a:ea typeface="微软雅黑"/>
                          <a:cs typeface="微软雅黑"/>
                        </a:rPr>
                        <a:t>来源系统 / 材料</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c>
                  <a:txBody>
                    <a:bodyPr wrap="square"/>
                    <a:lstStyle/>
                    <a:p>
                      <a:pPr>
                        <a:lnSpc>
                          <a:spcPct val="108000"/>
                        </a:lnSpc>
                      </a:pPr>
                      <a:r>
                        <a:rPr sz="1100" b="1" lang="zh-CN" altLang="en-US">
                          <a:solidFill>
                            <a:srgbClr val="FFFFFF"/>
                          </a:solidFill>
                          <a:latin typeface="微软雅黑"/>
                          <a:ea typeface="微软雅黑"/>
                          <a:cs typeface="微软雅黑"/>
                        </a:rPr>
                        <a:t>数据内容</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c>
                  <a:txBody>
                    <a:bodyPr wrap="square"/>
                    <a:lstStyle/>
                    <a:p>
                      <a:pPr>
                        <a:lnSpc>
                          <a:spcPct val="108000"/>
                        </a:lnSpc>
                      </a:pPr>
                      <a:r>
                        <a:rPr sz="1100" b="1" lang="zh-CN" altLang="en-US">
                          <a:solidFill>
                            <a:srgbClr val="FFFFFF"/>
                          </a:solidFill>
                          <a:latin typeface="微软雅黑"/>
                          <a:ea typeface="微软雅黑"/>
                          <a:cs typeface="微软雅黑"/>
                        </a:rPr>
                        <a:t>用于</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r>
              <a:tr h="548640">
                <a:tc>
                  <a:txBody>
                    <a:bodyPr wrap="square"/>
                    <a:lstStyle/>
                    <a:p>
                      <a:pPr>
                        <a:lnSpc>
                          <a:spcPct val="108000"/>
                        </a:lnSpc>
                      </a:pPr>
                      <a:r>
                        <a:rPr sz="1050" b="1" lang="zh-CN" altLang="en-US">
                          <a:solidFill>
                            <a:srgbClr val="262626"/>
                          </a:solidFill>
                          <a:latin typeface="微软雅黑"/>
                          <a:ea typeface="微软雅黑"/>
                          <a:cs typeface="微软雅黑"/>
                        </a:rPr>
                        <a:t>人资系统</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50" b="0" lang="zh-CN" altLang="en-US">
                          <a:solidFill>
                            <a:srgbClr val="262626"/>
                          </a:solidFill>
                          <a:latin typeface="微软雅黑"/>
                          <a:ea typeface="微软雅黑"/>
                          <a:cs typeface="微软雅黑"/>
                        </a:rPr>
                        <a:t>人员、证书、作业授权、学时、考勤、绩效、工分制考核</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50" b="0" lang="zh-CN" altLang="en-US">
                          <a:solidFill>
                            <a:srgbClr val="262626"/>
                          </a:solidFill>
                          <a:latin typeface="微软雅黑"/>
                          <a:ea typeface="微软雅黑"/>
                          <a:cs typeface="微软雅黑"/>
                        </a:rPr>
                        <a:t>画像、授权认证、绩效系数</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48640">
                <a:tc>
                  <a:txBody>
                    <a:bodyPr wrap="square"/>
                    <a:lstStyle/>
                    <a:p>
                      <a:pPr>
                        <a:lnSpc>
                          <a:spcPct val="108000"/>
                        </a:lnSpc>
                      </a:pPr>
                      <a:r>
                        <a:rPr sz="1050" b="1" lang="zh-CN" altLang="en-US">
                          <a:solidFill>
                            <a:srgbClr val="262626"/>
                          </a:solidFill>
                          <a:latin typeface="微软雅黑"/>
                          <a:ea typeface="微软雅黑"/>
                          <a:cs typeface="微软雅黑"/>
                        </a:rPr>
                        <a:t>OMS</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50" b="0" lang="zh-CN" altLang="en-US">
                          <a:solidFill>
                            <a:srgbClr val="262626"/>
                          </a:solidFill>
                          <a:latin typeface="微软雅黑"/>
                          <a:ea typeface="微软雅黑"/>
                          <a:cs typeface="微软雅黑"/>
                        </a:rPr>
                        <a:t>缺陷与工单</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50" b="0" lang="zh-CN" altLang="en-US">
                          <a:solidFill>
                            <a:srgbClr val="262626"/>
                          </a:solidFill>
                          <a:latin typeface="微软雅黑"/>
                          <a:ea typeface="微软雅黑"/>
                          <a:cs typeface="微软雅黑"/>
                        </a:rPr>
                        <a:t>任务池、核心业务管控、业务量趋势</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48640">
                <a:tc>
                  <a:txBody>
                    <a:bodyPr wrap="square"/>
                    <a:lstStyle/>
                    <a:p>
                      <a:pPr>
                        <a:lnSpc>
                          <a:spcPct val="108000"/>
                        </a:lnSpc>
                      </a:pPr>
                      <a:r>
                        <a:rPr sz="1050" b="1" lang="zh-CN" altLang="en-US">
                          <a:solidFill>
                            <a:srgbClr val="262626"/>
                          </a:solidFill>
                          <a:latin typeface="微软雅黑"/>
                          <a:ea typeface="微软雅黑"/>
                          <a:cs typeface="微软雅黑"/>
                        </a:rPr>
                        <a:t>OCS</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50" b="0" lang="zh-CN" altLang="en-US">
                          <a:solidFill>
                            <a:srgbClr val="262626"/>
                          </a:solidFill>
                          <a:latin typeface="微软雅黑"/>
                          <a:ea typeface="微软雅黑"/>
                          <a:cs typeface="微软雅黑"/>
                        </a:rPr>
                        <a:t>终端在线状态</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50" b="0" lang="zh-CN" altLang="en-US">
                          <a:solidFill>
                            <a:srgbClr val="262626"/>
                          </a:solidFill>
                          <a:latin typeface="微软雅黑"/>
                          <a:ea typeface="微软雅黑"/>
                          <a:cs typeface="微软雅黑"/>
                        </a:rPr>
                        <a:t>核心业务管控指标</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48640">
                <a:tc>
                  <a:txBody>
                    <a:bodyPr wrap="square"/>
                    <a:lstStyle/>
                    <a:p>
                      <a:pPr>
                        <a:lnSpc>
                          <a:spcPct val="108000"/>
                        </a:lnSpc>
                      </a:pPr>
                      <a:r>
                        <a:rPr sz="1050" b="1" lang="zh-CN" altLang="en-US">
                          <a:solidFill>
                            <a:srgbClr val="262626"/>
                          </a:solidFill>
                          <a:latin typeface="微软雅黑"/>
                          <a:ea typeface="微软雅黑"/>
                          <a:cs typeface="微软雅黑"/>
                        </a:rPr>
                        <a:t>电网管理平台</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50" b="0" lang="zh-CN" altLang="en-US">
                          <a:solidFill>
                            <a:srgbClr val="262626"/>
                          </a:solidFill>
                          <a:latin typeface="微软雅黑"/>
                          <a:ea typeface="微软雅黑"/>
                          <a:cs typeface="微软雅黑"/>
                        </a:rPr>
                        <a:t>两票与作业计划、违章记录</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50" b="0" lang="zh-CN" altLang="en-US">
                          <a:solidFill>
                            <a:srgbClr val="262626"/>
                          </a:solidFill>
                          <a:latin typeface="微软雅黑"/>
                          <a:ea typeface="微软雅黑"/>
                          <a:cs typeface="微软雅黑"/>
                        </a:rPr>
                        <a:t>审票、派工冲突、风险</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48640">
                <a:tc>
                  <a:txBody>
                    <a:bodyPr wrap="square"/>
                    <a:lstStyle/>
                    <a:p>
                      <a:pPr>
                        <a:lnSpc>
                          <a:spcPct val="108000"/>
                        </a:lnSpc>
                      </a:pPr>
                      <a:r>
                        <a:rPr sz="1050" b="1" lang="zh-CN" altLang="en-US">
                          <a:solidFill>
                            <a:srgbClr val="262626"/>
                          </a:solidFill>
                          <a:latin typeface="微软雅黑"/>
                          <a:ea typeface="微软雅黑"/>
                          <a:cs typeface="微软雅黑"/>
                        </a:rPr>
                        <a:t>党建管理系统 / 荣誉台账</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50" b="0" lang="zh-CN" altLang="en-US">
                          <a:solidFill>
                            <a:srgbClr val="262626"/>
                          </a:solidFill>
                          <a:latin typeface="微软雅黑"/>
                          <a:ea typeface="微软雅黑"/>
                          <a:cs typeface="微软雅黑"/>
                        </a:rPr>
                        <a:t>党建、集体与个人荣誉</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50" b="0" lang="zh-CN" altLang="en-US">
                          <a:solidFill>
                            <a:srgbClr val="262626"/>
                          </a:solidFill>
                          <a:latin typeface="微软雅黑"/>
                          <a:ea typeface="微软雅黑"/>
                          <a:cs typeface="微软雅黑"/>
                        </a:rPr>
                        <a:t>班组名片、星级评价、培养排序</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48640">
                <a:tc>
                  <a:txBody>
                    <a:bodyPr wrap="square"/>
                    <a:lstStyle/>
                    <a:p>
                      <a:pPr>
                        <a:lnSpc>
                          <a:spcPct val="108000"/>
                        </a:lnSpc>
                      </a:pPr>
                      <a:r>
                        <a:rPr sz="1050" b="1" lang="zh-CN" altLang="en-US">
                          <a:solidFill>
                            <a:srgbClr val="262626"/>
                          </a:solidFill>
                          <a:latin typeface="微软雅黑"/>
                          <a:ea typeface="微软雅黑"/>
                          <a:cs typeface="微软雅黑"/>
                        </a:rPr>
                        <a:t>运行周报 / 年度业绩责任书</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50" b="0" lang="zh-CN" altLang="en-US">
                          <a:solidFill>
                            <a:srgbClr val="262626"/>
                          </a:solidFill>
                          <a:latin typeface="微软雅黑"/>
                          <a:ea typeface="微软雅黑"/>
                          <a:cs typeface="微软雅黑"/>
                        </a:rPr>
                        <a:t>运行指标、考核指标目标值与评分标准</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50" b="0" lang="zh-CN" altLang="en-US">
                          <a:solidFill>
                            <a:srgbClr val="262626"/>
                          </a:solidFill>
                          <a:latin typeface="微软雅黑"/>
                          <a:ea typeface="微软雅黑"/>
                          <a:cs typeface="微软雅黑"/>
                        </a:rPr>
                        <a:t>考核指标红黄绿、班长绩效</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6" name="Rectangle 5"/>
          <p:cNvSpPr/>
          <p:nvPr/>
        </p:nvSpPr>
        <p:spPr>
          <a:xfrm>
            <a:off x="7178040" y="1371600"/>
            <a:ext cx="4690872"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十七张班组台账</a:t>
            </a:r>
          </a:p>
        </p:txBody>
      </p:sp>
      <p:sp>
        <p:nvSpPr>
          <p:cNvPr id="7" name="Rectangle 6"/>
          <p:cNvSpPr/>
          <p:nvPr/>
        </p:nvSpPr>
        <p:spPr>
          <a:xfrm>
            <a:off x="7178040" y="1847088"/>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0" lang="zh-CN" altLang="en-US">
                <a:solidFill>
                  <a:srgbClr val="262626"/>
                </a:solidFill>
                <a:latin typeface="微软雅黑"/>
                <a:ea typeface="微软雅黑"/>
                <a:cs typeface="微软雅黑"/>
              </a:rPr>
              <a:t>工时</a:t>
            </a:r>
          </a:p>
        </p:txBody>
      </p:sp>
      <p:sp>
        <p:nvSpPr>
          <p:cNvPr id="8" name="Rectangle 7"/>
          <p:cNvSpPr/>
          <p:nvPr/>
        </p:nvSpPr>
        <p:spPr>
          <a:xfrm>
            <a:off x="8366760" y="1847088"/>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0" lang="zh-CN" altLang="en-US">
                <a:solidFill>
                  <a:srgbClr val="262626"/>
                </a:solidFill>
                <a:latin typeface="微软雅黑"/>
                <a:ea typeface="微软雅黑"/>
                <a:cs typeface="微软雅黑"/>
              </a:rPr>
              <a:t>资质证书</a:t>
            </a:r>
          </a:p>
        </p:txBody>
      </p:sp>
      <p:sp>
        <p:nvSpPr>
          <p:cNvPr id="9" name="Rectangle 8"/>
          <p:cNvSpPr/>
          <p:nvPr/>
        </p:nvSpPr>
        <p:spPr>
          <a:xfrm>
            <a:off x="9555480" y="1847088"/>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0" lang="zh-CN" altLang="en-US">
                <a:solidFill>
                  <a:srgbClr val="262626"/>
                </a:solidFill>
                <a:latin typeface="微软雅黑"/>
                <a:ea typeface="微软雅黑"/>
                <a:cs typeface="微软雅黑"/>
              </a:rPr>
              <a:t>作业授权认证</a:t>
            </a:r>
          </a:p>
        </p:txBody>
      </p:sp>
      <p:sp>
        <p:nvSpPr>
          <p:cNvPr id="10" name="Rectangle 9"/>
          <p:cNvSpPr/>
          <p:nvPr/>
        </p:nvSpPr>
        <p:spPr>
          <a:xfrm>
            <a:off x="10744200" y="1847088"/>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0" lang="zh-CN" altLang="en-US">
                <a:solidFill>
                  <a:srgbClr val="262626"/>
                </a:solidFill>
                <a:latin typeface="微软雅黑"/>
                <a:ea typeface="微软雅黑"/>
                <a:cs typeface="微软雅黑"/>
              </a:rPr>
              <a:t>任务</a:t>
            </a:r>
          </a:p>
        </p:txBody>
      </p:sp>
      <p:sp>
        <p:nvSpPr>
          <p:cNvPr id="11" name="Rectangle 10"/>
          <p:cNvSpPr/>
          <p:nvPr/>
        </p:nvSpPr>
        <p:spPr>
          <a:xfrm>
            <a:off x="7178040" y="2267712"/>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0" lang="zh-CN" altLang="en-US">
                <a:solidFill>
                  <a:srgbClr val="262626"/>
                </a:solidFill>
                <a:latin typeface="微软雅黑"/>
                <a:ea typeface="微软雅黑"/>
                <a:cs typeface="微软雅黑"/>
              </a:rPr>
              <a:t>缺陷</a:t>
            </a:r>
          </a:p>
        </p:txBody>
      </p:sp>
      <p:sp>
        <p:nvSpPr>
          <p:cNvPr id="12" name="Rectangle 11"/>
          <p:cNvSpPr/>
          <p:nvPr/>
        </p:nvSpPr>
        <p:spPr>
          <a:xfrm>
            <a:off x="8366760" y="2267712"/>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0" lang="zh-CN" altLang="en-US">
                <a:solidFill>
                  <a:srgbClr val="262626"/>
                </a:solidFill>
                <a:latin typeface="微软雅黑"/>
                <a:ea typeface="微软雅黑"/>
                <a:cs typeface="微软雅黑"/>
              </a:rPr>
              <a:t>两票</a:t>
            </a:r>
          </a:p>
        </p:txBody>
      </p:sp>
      <p:sp>
        <p:nvSpPr>
          <p:cNvPr id="13" name="Rectangle 12"/>
          <p:cNvSpPr/>
          <p:nvPr/>
        </p:nvSpPr>
        <p:spPr>
          <a:xfrm>
            <a:off x="9555480" y="2267712"/>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0" lang="zh-CN" altLang="en-US">
                <a:solidFill>
                  <a:srgbClr val="262626"/>
                </a:solidFill>
                <a:latin typeface="微软雅黑"/>
                <a:ea typeface="微软雅黑"/>
                <a:cs typeface="微软雅黑"/>
              </a:rPr>
              <a:t>周报指标</a:t>
            </a:r>
          </a:p>
        </p:txBody>
      </p:sp>
      <p:sp>
        <p:nvSpPr>
          <p:cNvPr id="14" name="Rectangle 13"/>
          <p:cNvSpPr/>
          <p:nvPr/>
        </p:nvSpPr>
        <p:spPr>
          <a:xfrm>
            <a:off x="10744200" y="2267712"/>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0" lang="zh-CN" altLang="en-US">
                <a:solidFill>
                  <a:srgbClr val="262626"/>
                </a:solidFill>
                <a:latin typeface="微软雅黑"/>
                <a:ea typeface="微软雅黑"/>
                <a:cs typeface="微软雅黑"/>
              </a:rPr>
              <a:t>工作量（工分）</a:t>
            </a:r>
          </a:p>
        </p:txBody>
      </p:sp>
      <p:sp>
        <p:nvSpPr>
          <p:cNvPr id="15" name="Rectangle 14"/>
          <p:cNvSpPr/>
          <p:nvPr/>
        </p:nvSpPr>
        <p:spPr>
          <a:xfrm>
            <a:off x="7178040" y="2688336"/>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0" lang="zh-CN" altLang="en-US">
                <a:solidFill>
                  <a:srgbClr val="262626"/>
                </a:solidFill>
                <a:latin typeface="微软雅黑"/>
                <a:ea typeface="微软雅黑"/>
                <a:cs typeface="微软雅黑"/>
              </a:rPr>
              <a:t>违章</a:t>
            </a:r>
          </a:p>
        </p:txBody>
      </p:sp>
      <p:sp>
        <p:nvSpPr>
          <p:cNvPr id="16" name="Rectangle 15"/>
          <p:cNvSpPr/>
          <p:nvPr/>
        </p:nvSpPr>
        <p:spPr>
          <a:xfrm>
            <a:off x="8366760" y="2688336"/>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0" lang="zh-CN" altLang="en-US">
                <a:solidFill>
                  <a:srgbClr val="262626"/>
                </a:solidFill>
                <a:latin typeface="微软雅黑"/>
                <a:ea typeface="微软雅黑"/>
                <a:cs typeface="微软雅黑"/>
              </a:rPr>
              <a:t>安全活动</a:t>
            </a:r>
          </a:p>
        </p:txBody>
      </p:sp>
      <p:sp>
        <p:nvSpPr>
          <p:cNvPr id="17" name="Rectangle 16"/>
          <p:cNvSpPr/>
          <p:nvPr/>
        </p:nvSpPr>
        <p:spPr>
          <a:xfrm>
            <a:off x="9555480" y="2688336"/>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0" lang="zh-CN" altLang="en-US">
                <a:solidFill>
                  <a:srgbClr val="262626"/>
                </a:solidFill>
                <a:latin typeface="微软雅黑"/>
                <a:ea typeface="微软雅黑"/>
                <a:cs typeface="微软雅黑"/>
              </a:rPr>
              <a:t>荣誉</a:t>
            </a:r>
          </a:p>
        </p:txBody>
      </p:sp>
      <p:sp>
        <p:nvSpPr>
          <p:cNvPr id="18" name="Rectangle 17"/>
          <p:cNvSpPr/>
          <p:nvPr/>
        </p:nvSpPr>
        <p:spPr>
          <a:xfrm>
            <a:off x="10744200" y="2688336"/>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0" lang="zh-CN" altLang="en-US">
                <a:solidFill>
                  <a:srgbClr val="262626"/>
                </a:solidFill>
                <a:latin typeface="微软雅黑"/>
                <a:ea typeface="微软雅黑"/>
                <a:cs typeface="微软雅黑"/>
              </a:rPr>
              <a:t>培训</a:t>
            </a:r>
          </a:p>
        </p:txBody>
      </p:sp>
      <p:sp>
        <p:nvSpPr>
          <p:cNvPr id="19" name="Rectangle 18"/>
          <p:cNvSpPr/>
          <p:nvPr/>
        </p:nvSpPr>
        <p:spPr>
          <a:xfrm>
            <a:off x="7178040" y="3108960"/>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0" lang="zh-CN" altLang="en-US">
                <a:solidFill>
                  <a:srgbClr val="262626"/>
                </a:solidFill>
                <a:latin typeface="微软雅黑"/>
                <a:ea typeface="微软雅黑"/>
                <a:cs typeface="微软雅黑"/>
              </a:rPr>
              <a:t>派工记录</a:t>
            </a:r>
          </a:p>
        </p:txBody>
      </p:sp>
      <p:sp>
        <p:nvSpPr>
          <p:cNvPr id="20" name="Rectangle 19"/>
          <p:cNvSpPr/>
          <p:nvPr/>
        </p:nvSpPr>
        <p:spPr>
          <a:xfrm>
            <a:off x="8366760" y="3108960"/>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0" lang="zh-CN" altLang="en-US">
                <a:solidFill>
                  <a:srgbClr val="262626"/>
                </a:solidFill>
                <a:latin typeface="微软雅黑"/>
                <a:ea typeface="微软雅黑"/>
                <a:cs typeface="微软雅黑"/>
              </a:rPr>
              <a:t>跨班组调配</a:t>
            </a:r>
          </a:p>
        </p:txBody>
      </p:sp>
      <p:sp>
        <p:nvSpPr>
          <p:cNvPr id="21" name="Rectangle 20"/>
          <p:cNvSpPr/>
          <p:nvPr/>
        </p:nvSpPr>
        <p:spPr>
          <a:xfrm>
            <a:off x="9555480" y="3108960"/>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0" lang="zh-CN" altLang="en-US">
                <a:solidFill>
                  <a:srgbClr val="262626"/>
                </a:solidFill>
                <a:latin typeface="微软雅黑"/>
                <a:ea typeface="微软雅黑"/>
                <a:cs typeface="微软雅黑"/>
              </a:rPr>
              <a:t>值班</a:t>
            </a:r>
          </a:p>
        </p:txBody>
      </p:sp>
      <p:sp>
        <p:nvSpPr>
          <p:cNvPr id="22" name="Rectangle 21"/>
          <p:cNvSpPr/>
          <p:nvPr/>
        </p:nvSpPr>
        <p:spPr>
          <a:xfrm>
            <a:off x="10744200" y="3108960"/>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0" lang="zh-CN" altLang="en-US">
                <a:solidFill>
                  <a:srgbClr val="262626"/>
                </a:solidFill>
                <a:latin typeface="微软雅黑"/>
                <a:ea typeface="微软雅黑"/>
                <a:cs typeface="微软雅黑"/>
              </a:rPr>
              <a:t>通知</a:t>
            </a:r>
          </a:p>
        </p:txBody>
      </p:sp>
      <p:sp>
        <p:nvSpPr>
          <p:cNvPr id="23" name="Rectangle 22"/>
          <p:cNvSpPr/>
          <p:nvPr/>
        </p:nvSpPr>
        <p:spPr>
          <a:xfrm>
            <a:off x="7178040" y="3529584"/>
            <a:ext cx="1115568" cy="3474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0" lang="zh-CN" altLang="en-US">
                <a:solidFill>
                  <a:srgbClr val="262626"/>
                </a:solidFill>
                <a:latin typeface="微软雅黑"/>
                <a:ea typeface="微软雅黑"/>
                <a:cs typeface="微软雅黑"/>
              </a:rPr>
              <a:t>操作流水</a:t>
            </a:r>
          </a:p>
        </p:txBody>
      </p:sp>
      <p:sp>
        <p:nvSpPr>
          <p:cNvPr id="24" name="Rectangle 23"/>
          <p:cNvSpPr/>
          <p:nvPr/>
        </p:nvSpPr>
        <p:spPr>
          <a:xfrm>
            <a:off x="7178040" y="4069080"/>
            <a:ext cx="4690872"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数据结构：三类主题</a:t>
            </a:r>
          </a:p>
        </p:txBody>
      </p:sp>
      <p:sp>
        <p:nvSpPr>
          <p:cNvPr id="25" name="Rectangle 24"/>
          <p:cNvSpPr/>
          <p:nvPr/>
        </p:nvSpPr>
        <p:spPr>
          <a:xfrm>
            <a:off x="7178040" y="4526280"/>
            <a:ext cx="1005840" cy="475488"/>
          </a:xfrm>
          <a:prstGeom prst="rect">
            <a:avLst/>
          </a:prstGeom>
          <a:solidFill>
            <a:srgbClr val="0036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lang="zh-CN" altLang="en-US">
                <a:solidFill>
                  <a:srgbClr val="FFFFFF"/>
                </a:solidFill>
                <a:latin typeface="微软雅黑"/>
                <a:ea typeface="微软雅黑"/>
                <a:cs typeface="微软雅黑"/>
              </a:rPr>
              <a:t>人员</a:t>
            </a:r>
          </a:p>
        </p:txBody>
      </p:sp>
      <p:sp>
        <p:nvSpPr>
          <p:cNvPr id="26" name="Rectangle 25"/>
          <p:cNvSpPr/>
          <p:nvPr/>
        </p:nvSpPr>
        <p:spPr>
          <a:xfrm>
            <a:off x="8183879" y="4526280"/>
            <a:ext cx="3685032" cy="475488"/>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75320" y="4526280"/>
            <a:ext cx="3520440" cy="475488"/>
          </a:xfrm>
          <a:prstGeom prst="rect">
            <a:avLst/>
          </a:prstGeom>
          <a:noFill/>
        </p:spPr>
        <p:txBody>
          <a:bodyPr wrap="square" anchor="ctr" lIns="45720" rIns="45720" tIns="27432" bIns="27432">
            <a:spAutoFit/>
          </a:bodyPr>
          <a:lstStyle/>
          <a:p>
            <a:pPr algn="l">
              <a:lnSpc>
                <a:spcPct val="110000"/>
              </a:lnSpc>
            </a:pPr>
            <a:r>
              <a:rPr sz="1000" b="0" lang="zh-CN" altLang="en-US">
                <a:solidFill>
                  <a:srgbClr val="262626"/>
                </a:solidFill>
                <a:latin typeface="微软雅黑"/>
                <a:ea typeface="微软雅黑"/>
                <a:cs typeface="微软雅黑"/>
              </a:rPr>
              <a:t>证书、作业授权、工时、工作量、作业、两票、绩效、荣誉</a:t>
            </a:r>
          </a:p>
        </p:txBody>
      </p:sp>
      <p:sp>
        <p:nvSpPr>
          <p:cNvPr id="28" name="Rectangle 27"/>
          <p:cNvSpPr/>
          <p:nvPr/>
        </p:nvSpPr>
        <p:spPr>
          <a:xfrm>
            <a:off x="7178040" y="5093208"/>
            <a:ext cx="1005840" cy="475488"/>
          </a:xfrm>
          <a:prstGeom prst="rect">
            <a:avLst/>
          </a:prstGeom>
          <a:solidFill>
            <a:srgbClr val="0036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lang="zh-CN" altLang="en-US">
                <a:solidFill>
                  <a:srgbClr val="FFFFFF"/>
                </a:solidFill>
                <a:latin typeface="微软雅黑"/>
                <a:ea typeface="微软雅黑"/>
                <a:cs typeface="微软雅黑"/>
              </a:rPr>
              <a:t>班组</a:t>
            </a:r>
          </a:p>
        </p:txBody>
      </p:sp>
      <p:sp>
        <p:nvSpPr>
          <p:cNvPr id="29" name="Rectangle 28"/>
          <p:cNvSpPr/>
          <p:nvPr/>
        </p:nvSpPr>
        <p:spPr>
          <a:xfrm>
            <a:off x="8183879" y="5093208"/>
            <a:ext cx="3685032" cy="475488"/>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75320" y="5093208"/>
            <a:ext cx="3520440" cy="475488"/>
          </a:xfrm>
          <a:prstGeom prst="rect">
            <a:avLst/>
          </a:prstGeom>
          <a:noFill/>
        </p:spPr>
        <p:txBody>
          <a:bodyPr wrap="square" anchor="ctr" lIns="45720" rIns="45720" tIns="27432" bIns="27432">
            <a:spAutoFit/>
          </a:bodyPr>
          <a:lstStyle/>
          <a:p>
            <a:pPr algn="l">
              <a:lnSpc>
                <a:spcPct val="110000"/>
              </a:lnSpc>
            </a:pPr>
            <a:r>
              <a:rPr sz="1000" b="0" lang="zh-CN" altLang="en-US">
                <a:solidFill>
                  <a:srgbClr val="262626"/>
                </a:solidFill>
                <a:latin typeface="微软雅黑"/>
                <a:ea typeface="微软雅黑"/>
                <a:cs typeface="微软雅黑"/>
              </a:rPr>
              <a:t>核心指标、星级评价、考核指标、风险</a:t>
            </a:r>
          </a:p>
        </p:txBody>
      </p:sp>
      <p:sp>
        <p:nvSpPr>
          <p:cNvPr id="31" name="Rectangle 30"/>
          <p:cNvSpPr/>
          <p:nvPr/>
        </p:nvSpPr>
        <p:spPr>
          <a:xfrm>
            <a:off x="7178040" y="5660136"/>
            <a:ext cx="1005840" cy="475488"/>
          </a:xfrm>
          <a:prstGeom prst="rect">
            <a:avLst/>
          </a:prstGeom>
          <a:solidFill>
            <a:srgbClr val="0036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lang="zh-CN" altLang="en-US">
                <a:solidFill>
                  <a:srgbClr val="FFFFFF"/>
                </a:solidFill>
                <a:latin typeface="微软雅黑"/>
                <a:ea typeface="微软雅黑"/>
                <a:cs typeface="微软雅黑"/>
              </a:rPr>
              <a:t>事件流水</a:t>
            </a:r>
          </a:p>
        </p:txBody>
      </p:sp>
      <p:sp>
        <p:nvSpPr>
          <p:cNvPr id="32" name="Rectangle 31"/>
          <p:cNvSpPr/>
          <p:nvPr/>
        </p:nvSpPr>
        <p:spPr>
          <a:xfrm>
            <a:off x="8183879" y="5660136"/>
            <a:ext cx="3685032" cy="475488"/>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275320" y="5660136"/>
            <a:ext cx="3520440" cy="475488"/>
          </a:xfrm>
          <a:prstGeom prst="rect">
            <a:avLst/>
          </a:prstGeom>
          <a:noFill/>
        </p:spPr>
        <p:txBody>
          <a:bodyPr wrap="square" anchor="ctr" lIns="45720" rIns="45720" tIns="27432" bIns="27432">
            <a:spAutoFit/>
          </a:bodyPr>
          <a:lstStyle/>
          <a:p>
            <a:pPr algn="l">
              <a:lnSpc>
                <a:spcPct val="110000"/>
              </a:lnSpc>
            </a:pPr>
            <a:r>
              <a:rPr sz="1000" b="0" lang="zh-CN" altLang="en-US">
                <a:solidFill>
                  <a:srgbClr val="262626"/>
                </a:solidFill>
                <a:latin typeface="微软雅黑"/>
                <a:ea typeface="微软雅黑"/>
                <a:cs typeface="微软雅黑"/>
              </a:rPr>
              <a:t>派工 → 审票 → 开工 → 回传 → 完工 → 验收、授权确认、调配确认</a:t>
            </a:r>
          </a:p>
        </p:txBody>
      </p:sp>
      <p:sp>
        <p:nvSpPr>
          <p:cNvPr id="34" name="TextBox 33"/>
          <p:cNvSpPr txBox="1"/>
          <p:nvPr/>
        </p:nvSpPr>
        <p:spPr>
          <a:xfrm>
            <a:off x="320040" y="5897880"/>
            <a:ext cx="11521440" cy="411480"/>
          </a:xfrm>
          <a:prstGeom prst="rect">
            <a:avLst/>
          </a:prstGeom>
          <a:noFill/>
        </p:spPr>
        <p:txBody>
          <a:bodyPr wrap="square" anchor="t" lIns="45720" rIns="45720" tIns="27432" bIns="27432">
            <a:spAutoFit/>
          </a:bodyPr>
          <a:lstStyle/>
          <a:p>
            <a:pPr algn="l"/>
            <a:r>
              <a:rPr sz="1100" b="0" lang="zh-CN" altLang="en-US">
                <a:solidFill>
                  <a:srgbClr val="595959"/>
                </a:solidFill>
                <a:latin typeface="微软雅黑"/>
                <a:ea typeface="微软雅黑"/>
                <a:cs typeface="微软雅黑"/>
              </a:rPr>
              <a:t>数据取自公司现有系统，不增加班组数据采集负担；画像、看板、文稿中的每个数字均可点开回溯至台账原始行。</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二、解决方案</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技术架构：依托公司自主平台建设</a:t>
            </a:r>
          </a:p>
        </p:txBody>
      </p:sp>
      <p:pic>
        <p:nvPicPr>
          <p:cNvPr id="5" name="Picture 4" descr="高效班组管理助手_技术与数据架构.png"/>
          <p:cNvPicPr>
            <a:picLocks noChangeAspect="1"/>
          </p:cNvPicPr>
          <p:nvPr/>
        </p:nvPicPr>
        <p:blipFill>
          <a:blip r:embed="rId3"/>
          <a:stretch>
            <a:fillRect/>
          </a:stretch>
        </p:blipFill>
        <p:spPr>
          <a:xfrm>
            <a:off x="320040" y="1371600"/>
            <a:ext cx="8503920" cy="4639951"/>
          </a:xfrm>
          <a:prstGeom prst="rect">
            <a:avLst/>
          </a:prstGeom>
          <a:ln w="9525">
            <a:solidFill>
              <a:srgbClr val="BFBFBF"/>
            </a:solidFill>
          </a:ln>
        </p:spPr>
      </p:pic>
      <p:sp>
        <p:nvSpPr>
          <p:cNvPr id="6" name="Rectangle 5"/>
          <p:cNvSpPr/>
          <p:nvPr/>
        </p:nvSpPr>
        <p:spPr>
          <a:xfrm>
            <a:off x="9006840" y="1371600"/>
            <a:ext cx="2862072" cy="329184"/>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lang="zh-CN" altLang="en-US">
                <a:solidFill>
                  <a:srgbClr val="FFFFFF"/>
                </a:solidFill>
                <a:latin typeface="微软雅黑"/>
                <a:ea typeface="微软雅黑"/>
                <a:cs typeface="微软雅黑"/>
              </a:rPr>
              <a:t>电力人工智能创新平台</a:t>
            </a:r>
          </a:p>
        </p:txBody>
      </p:sp>
      <p:sp>
        <p:nvSpPr>
          <p:cNvPr id="7" name="Rectangle 6"/>
          <p:cNvSpPr/>
          <p:nvPr/>
        </p:nvSpPr>
        <p:spPr>
          <a:xfrm>
            <a:off x="9006840" y="1700784"/>
            <a:ext cx="2862072" cy="5486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070848" y="1719072"/>
            <a:ext cx="2743200" cy="512064"/>
          </a:xfrm>
          <a:prstGeom prst="rect">
            <a:avLst/>
          </a:prstGeom>
          <a:noFill/>
        </p:spPr>
        <p:txBody>
          <a:bodyPr wrap="square" anchor="t" lIns="45720" rIns="45720" tIns="27432" bIns="27432">
            <a:spAutoFit/>
          </a:bodyPr>
          <a:lstStyle/>
          <a:p>
            <a:pPr algn="l">
              <a:lnSpc>
                <a:spcPct val="108000"/>
              </a:lnSpc>
            </a:pPr>
            <a:r>
              <a:rPr sz="950" b="0" lang="zh-CN" altLang="en-US">
                <a:solidFill>
                  <a:srgbClr val="262626"/>
                </a:solidFill>
                <a:latin typeface="微软雅黑"/>
                <a:ea typeface="微软雅黑"/>
                <a:cs typeface="微软雅黑"/>
              </a:rPr>
              <a:t>大瓦特大模型：对话理解、文稿逐段生成、知识问答、诊断归因、经验整理</a:t>
            </a:r>
          </a:p>
        </p:txBody>
      </p:sp>
      <p:sp>
        <p:nvSpPr>
          <p:cNvPr id="9" name="Rectangle 8"/>
          <p:cNvSpPr/>
          <p:nvPr/>
        </p:nvSpPr>
        <p:spPr>
          <a:xfrm>
            <a:off x="9006840" y="2331720"/>
            <a:ext cx="2862072" cy="329184"/>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lang="zh-CN" altLang="en-US">
                <a:solidFill>
                  <a:srgbClr val="FFFFFF"/>
                </a:solidFill>
                <a:latin typeface="微软雅黑"/>
                <a:ea typeface="微软雅黑"/>
                <a:cs typeface="微软雅黑"/>
              </a:rPr>
              <a:t>云景自助分析工具</a:t>
            </a:r>
          </a:p>
        </p:txBody>
      </p:sp>
      <p:sp>
        <p:nvSpPr>
          <p:cNvPr id="10" name="Rectangle 9"/>
          <p:cNvSpPr/>
          <p:nvPr/>
        </p:nvSpPr>
        <p:spPr>
          <a:xfrm>
            <a:off x="9006840" y="2660903"/>
            <a:ext cx="2862072" cy="5486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070848" y="2679191"/>
            <a:ext cx="2743200" cy="512064"/>
          </a:xfrm>
          <a:prstGeom prst="rect">
            <a:avLst/>
          </a:prstGeom>
          <a:noFill/>
        </p:spPr>
        <p:txBody>
          <a:bodyPr wrap="square" anchor="t" lIns="45720" rIns="45720" tIns="27432" bIns="27432">
            <a:spAutoFit/>
          </a:bodyPr>
          <a:lstStyle/>
          <a:p>
            <a:pPr algn="l">
              <a:lnSpc>
                <a:spcPct val="108000"/>
              </a:lnSpc>
            </a:pPr>
            <a:r>
              <a:rPr sz="950" b="0" lang="zh-CN" altLang="en-US">
                <a:solidFill>
                  <a:srgbClr val="262626"/>
                </a:solidFill>
                <a:latin typeface="微软雅黑"/>
                <a:ea typeface="微软雅黑"/>
                <a:cs typeface="微软雅黑"/>
              </a:rPr>
              <a:t>班组画像、指标看板与多维分析图表</a:t>
            </a:r>
          </a:p>
        </p:txBody>
      </p:sp>
      <p:sp>
        <p:nvSpPr>
          <p:cNvPr id="12" name="Rectangle 11"/>
          <p:cNvSpPr/>
          <p:nvPr/>
        </p:nvSpPr>
        <p:spPr>
          <a:xfrm>
            <a:off x="9006840" y="3291840"/>
            <a:ext cx="2862072" cy="329184"/>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lang="zh-CN" altLang="en-US">
                <a:solidFill>
                  <a:srgbClr val="FFFFFF"/>
                </a:solidFill>
                <a:latin typeface="微软雅黑"/>
                <a:ea typeface="微软雅黑"/>
                <a:cs typeface="微软雅黑"/>
              </a:rPr>
              <a:t>业务规则引擎</a:t>
            </a:r>
          </a:p>
        </p:txBody>
      </p:sp>
      <p:sp>
        <p:nvSpPr>
          <p:cNvPr id="13" name="Rectangle 12"/>
          <p:cNvSpPr/>
          <p:nvPr/>
        </p:nvSpPr>
        <p:spPr>
          <a:xfrm>
            <a:off x="9006840" y="3621024"/>
            <a:ext cx="2862072" cy="5486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070848" y="3639312"/>
            <a:ext cx="2743200" cy="512064"/>
          </a:xfrm>
          <a:prstGeom prst="rect">
            <a:avLst/>
          </a:prstGeom>
          <a:noFill/>
        </p:spPr>
        <p:txBody>
          <a:bodyPr wrap="square" anchor="t" lIns="45720" rIns="45720" tIns="27432" bIns="27432">
            <a:spAutoFit/>
          </a:bodyPr>
          <a:lstStyle/>
          <a:p>
            <a:pPr algn="l">
              <a:lnSpc>
                <a:spcPct val="108000"/>
              </a:lnSpc>
            </a:pPr>
            <a:r>
              <a:rPr sz="950" b="0" lang="zh-CN" altLang="en-US">
                <a:solidFill>
                  <a:srgbClr val="262626"/>
                </a:solidFill>
                <a:latin typeface="微软雅黑"/>
                <a:ea typeface="微软雅黑"/>
                <a:cs typeface="微软雅黑"/>
              </a:rPr>
              <a:t>派工校验、断层判定、红黄绿预警、绩效系数推导、班长绩效计分</a:t>
            </a:r>
          </a:p>
        </p:txBody>
      </p:sp>
      <p:sp>
        <p:nvSpPr>
          <p:cNvPr id="15" name="Rectangle 14"/>
          <p:cNvSpPr/>
          <p:nvPr/>
        </p:nvSpPr>
        <p:spPr>
          <a:xfrm>
            <a:off x="9006840" y="4251960"/>
            <a:ext cx="2862072" cy="329184"/>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lang="zh-CN" altLang="en-US">
                <a:solidFill>
                  <a:srgbClr val="FFFFFF"/>
                </a:solidFill>
                <a:latin typeface="微软雅黑"/>
                <a:ea typeface="微软雅黑"/>
                <a:cs typeface="微软雅黑"/>
              </a:rPr>
              <a:t>知识库</a:t>
            </a:r>
          </a:p>
        </p:txBody>
      </p:sp>
      <p:sp>
        <p:nvSpPr>
          <p:cNvPr id="16" name="Rectangle 15"/>
          <p:cNvSpPr/>
          <p:nvPr/>
        </p:nvSpPr>
        <p:spPr>
          <a:xfrm>
            <a:off x="9006840" y="4581144"/>
            <a:ext cx="2862072" cy="5486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070848" y="4599432"/>
            <a:ext cx="2743200" cy="512064"/>
          </a:xfrm>
          <a:prstGeom prst="rect">
            <a:avLst/>
          </a:prstGeom>
          <a:noFill/>
        </p:spPr>
        <p:txBody>
          <a:bodyPr wrap="square" anchor="t" lIns="45720" rIns="45720" tIns="27432" bIns="27432">
            <a:spAutoFit/>
          </a:bodyPr>
          <a:lstStyle/>
          <a:p>
            <a:pPr algn="l">
              <a:lnSpc>
                <a:spcPct val="108000"/>
              </a:lnSpc>
            </a:pPr>
            <a:r>
              <a:rPr sz="950" b="0" lang="zh-CN" altLang="en-US">
                <a:solidFill>
                  <a:srgbClr val="262626"/>
                </a:solidFill>
                <a:latin typeface="微软雅黑"/>
                <a:ea typeface="微软雅黑"/>
                <a:cs typeface="微软雅黑"/>
              </a:rPr>
              <a:t>制度政策、生产技术、行政办公三类条目及班组案例与骨干经验，问答标注出处</a:t>
            </a:r>
          </a:p>
        </p:txBody>
      </p:sp>
      <p:sp>
        <p:nvSpPr>
          <p:cNvPr id="18" name="Rectangle 17"/>
          <p:cNvSpPr/>
          <p:nvPr/>
        </p:nvSpPr>
        <p:spPr>
          <a:xfrm>
            <a:off x="9006840" y="5212080"/>
            <a:ext cx="2862072" cy="329184"/>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lang="zh-CN" altLang="en-US">
                <a:solidFill>
                  <a:srgbClr val="FFFFFF"/>
                </a:solidFill>
                <a:latin typeface="微软雅黑"/>
                <a:ea typeface="微软雅黑"/>
                <a:cs typeface="微软雅黑"/>
              </a:rPr>
              <a:t>安全与部署</a:t>
            </a:r>
          </a:p>
        </p:txBody>
      </p:sp>
      <p:sp>
        <p:nvSpPr>
          <p:cNvPr id="19" name="Rectangle 18"/>
          <p:cNvSpPr/>
          <p:nvPr/>
        </p:nvSpPr>
        <p:spPr>
          <a:xfrm>
            <a:off x="9006840" y="5541264"/>
            <a:ext cx="2862072" cy="5486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070848" y="5559552"/>
            <a:ext cx="2743200" cy="512064"/>
          </a:xfrm>
          <a:prstGeom prst="rect">
            <a:avLst/>
          </a:prstGeom>
          <a:noFill/>
        </p:spPr>
        <p:txBody>
          <a:bodyPr wrap="square" anchor="t" lIns="45720" rIns="45720" tIns="27432" bIns="27432">
            <a:spAutoFit/>
          </a:bodyPr>
          <a:lstStyle/>
          <a:p>
            <a:pPr algn="l">
              <a:lnSpc>
                <a:spcPct val="108000"/>
              </a:lnSpc>
            </a:pPr>
            <a:r>
              <a:rPr sz="950" b="0" lang="zh-CN" altLang="en-US">
                <a:solidFill>
                  <a:srgbClr val="262626"/>
                </a:solidFill>
                <a:latin typeface="微软雅黑"/>
                <a:ea typeface="微软雅黑"/>
                <a:cs typeface="微软雅黑"/>
              </a:rPr>
              <a:t>公司内网部署、数据不出域；按角色分级授权、人员信息最小必要展示；全部操作记入流水</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二、解决方案</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解决方案的主要功能 · 班组长端</a:t>
            </a:r>
          </a:p>
        </p:txBody>
      </p:sp>
      <p:sp>
        <p:nvSpPr>
          <p:cNvPr id="5" name="Rectangle 4"/>
          <p:cNvSpPr/>
          <p:nvPr/>
        </p:nvSpPr>
        <p:spPr>
          <a:xfrm>
            <a:off x="320040" y="1371600"/>
            <a:ext cx="3931920" cy="82296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411480" y="1463040"/>
            <a:ext cx="1005840" cy="36576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lang="zh-CN" altLang="en-US">
                <a:solidFill>
                  <a:srgbClr val="FFFFFF"/>
                </a:solidFill>
                <a:latin typeface="微软雅黑"/>
                <a:ea typeface="微软雅黑"/>
                <a:cs typeface="微软雅黑"/>
              </a:rPr>
              <a:t>班组整体</a:t>
            </a:r>
          </a:p>
        </p:txBody>
      </p:sp>
      <p:sp>
        <p:nvSpPr>
          <p:cNvPr id="7" name="Rectangle 6"/>
          <p:cNvSpPr/>
          <p:nvPr/>
        </p:nvSpPr>
        <p:spPr>
          <a:xfrm>
            <a:off x="1554480" y="1463040"/>
            <a:ext cx="1261872"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0" lang="zh-CN" altLang="en-US">
                <a:solidFill>
                  <a:srgbClr val="262626"/>
                </a:solidFill>
                <a:latin typeface="微软雅黑"/>
                <a:ea typeface="微软雅黑"/>
                <a:cs typeface="微软雅黑"/>
              </a:rPr>
              <a:t>班组画像</a:t>
            </a:r>
          </a:p>
        </p:txBody>
      </p:sp>
      <p:sp>
        <p:nvSpPr>
          <p:cNvPr id="8" name="TextBox 7"/>
          <p:cNvSpPr txBox="1"/>
          <p:nvPr/>
        </p:nvSpPr>
        <p:spPr>
          <a:xfrm>
            <a:off x="1554480" y="1847088"/>
            <a:ext cx="2651760" cy="320040"/>
          </a:xfrm>
          <a:prstGeom prst="rect">
            <a:avLst/>
          </a:prstGeom>
          <a:noFill/>
        </p:spPr>
        <p:txBody>
          <a:bodyPr wrap="square" anchor="t" lIns="45720" rIns="45720" tIns="27432" bIns="27432">
            <a:spAutoFit/>
          </a:bodyPr>
          <a:lstStyle/>
          <a:p>
            <a:pPr algn="l"/>
            <a:r>
              <a:rPr sz="950" b="0" lang="zh-CN" altLang="en-US">
                <a:solidFill>
                  <a:srgbClr val="595959"/>
                </a:solidFill>
                <a:latin typeface="微软雅黑"/>
                <a:ea typeface="微软雅黑"/>
                <a:cs typeface="微软雅黑"/>
              </a:rPr>
              <a:t>名片荣誉 · 核心 KPI · 核心业务管控 · 星级规划</a:t>
            </a:r>
          </a:p>
        </p:txBody>
      </p:sp>
      <p:sp>
        <p:nvSpPr>
          <p:cNvPr id="9" name="Rectangle 8"/>
          <p:cNvSpPr/>
          <p:nvPr/>
        </p:nvSpPr>
        <p:spPr>
          <a:xfrm>
            <a:off x="320040" y="2331720"/>
            <a:ext cx="3931920" cy="16916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11480" y="2423160"/>
            <a:ext cx="1005840" cy="36576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lang="zh-CN" altLang="en-US">
                <a:solidFill>
                  <a:srgbClr val="FFFFFF"/>
                </a:solidFill>
                <a:latin typeface="微软雅黑"/>
                <a:ea typeface="微软雅黑"/>
                <a:cs typeface="微软雅黑"/>
              </a:rPr>
              <a:t>人员情况</a:t>
            </a:r>
          </a:p>
        </p:txBody>
      </p:sp>
      <p:sp>
        <p:nvSpPr>
          <p:cNvPr id="11" name="Rectangle 10"/>
          <p:cNvSpPr/>
          <p:nvPr/>
        </p:nvSpPr>
        <p:spPr>
          <a:xfrm>
            <a:off x="1554480" y="2423160"/>
            <a:ext cx="1261872"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0" lang="zh-CN" altLang="en-US">
                <a:solidFill>
                  <a:srgbClr val="262626"/>
                </a:solidFill>
                <a:latin typeface="微软雅黑"/>
                <a:ea typeface="微软雅黑"/>
                <a:cs typeface="微软雅黑"/>
              </a:rPr>
              <a:t>班员画像</a:t>
            </a:r>
          </a:p>
        </p:txBody>
      </p:sp>
      <p:sp>
        <p:nvSpPr>
          <p:cNvPr id="12" name="Rectangle 11"/>
          <p:cNvSpPr/>
          <p:nvPr/>
        </p:nvSpPr>
        <p:spPr>
          <a:xfrm>
            <a:off x="2880360" y="2423160"/>
            <a:ext cx="1261872"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0" lang="zh-CN" altLang="en-US">
                <a:solidFill>
                  <a:srgbClr val="262626"/>
                </a:solidFill>
                <a:latin typeface="微软雅黑"/>
                <a:ea typeface="微软雅黑"/>
                <a:cs typeface="微软雅黑"/>
              </a:rPr>
              <a:t>授权认证</a:t>
            </a:r>
          </a:p>
        </p:txBody>
      </p:sp>
      <p:sp>
        <p:nvSpPr>
          <p:cNvPr id="13" name="Rectangle 12"/>
          <p:cNvSpPr/>
          <p:nvPr/>
        </p:nvSpPr>
        <p:spPr>
          <a:xfrm>
            <a:off x="1554480" y="2944368"/>
            <a:ext cx="1261872"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0" lang="zh-CN" altLang="en-US">
                <a:solidFill>
                  <a:srgbClr val="262626"/>
                </a:solidFill>
                <a:latin typeface="微软雅黑"/>
                <a:ea typeface="微软雅黑"/>
                <a:cs typeface="微软雅黑"/>
              </a:rPr>
              <a:t>培养与梯队</a:t>
            </a:r>
          </a:p>
        </p:txBody>
      </p:sp>
      <p:sp>
        <p:nvSpPr>
          <p:cNvPr id="14" name="Rectangle 13"/>
          <p:cNvSpPr/>
          <p:nvPr/>
        </p:nvSpPr>
        <p:spPr>
          <a:xfrm>
            <a:off x="2880360" y="2944368"/>
            <a:ext cx="1261872"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0" lang="zh-CN" altLang="en-US">
                <a:solidFill>
                  <a:srgbClr val="262626"/>
                </a:solidFill>
                <a:latin typeface="微软雅黑"/>
                <a:ea typeface="微软雅黑"/>
                <a:cs typeface="微软雅黑"/>
              </a:rPr>
              <a:t>绩效与激励</a:t>
            </a:r>
          </a:p>
        </p:txBody>
      </p:sp>
      <p:sp>
        <p:nvSpPr>
          <p:cNvPr id="15" name="Rectangle 14"/>
          <p:cNvSpPr/>
          <p:nvPr/>
        </p:nvSpPr>
        <p:spPr>
          <a:xfrm>
            <a:off x="1554480" y="3465576"/>
            <a:ext cx="1261872"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0" lang="zh-CN" altLang="en-US">
                <a:solidFill>
                  <a:srgbClr val="262626"/>
                </a:solidFill>
                <a:latin typeface="微软雅黑"/>
                <a:ea typeface="微软雅黑"/>
                <a:cs typeface="微软雅黑"/>
              </a:rPr>
              <a:t>关怀与文化</a:t>
            </a:r>
          </a:p>
        </p:txBody>
      </p:sp>
      <p:sp>
        <p:nvSpPr>
          <p:cNvPr id="16" name="Rectangle 15"/>
          <p:cNvSpPr/>
          <p:nvPr/>
        </p:nvSpPr>
        <p:spPr>
          <a:xfrm>
            <a:off x="2880360" y="3465576"/>
            <a:ext cx="1261872"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0" lang="zh-CN" altLang="en-US">
                <a:solidFill>
                  <a:srgbClr val="262626"/>
                </a:solidFill>
                <a:latin typeface="微软雅黑"/>
                <a:ea typeface="微软雅黑"/>
                <a:cs typeface="微软雅黑"/>
              </a:rPr>
              <a:t>分析参谋</a:t>
            </a:r>
          </a:p>
        </p:txBody>
      </p:sp>
      <p:sp>
        <p:nvSpPr>
          <p:cNvPr id="17" name="Rectangle 16"/>
          <p:cNvSpPr/>
          <p:nvPr/>
        </p:nvSpPr>
        <p:spPr>
          <a:xfrm>
            <a:off x="320040" y="4160520"/>
            <a:ext cx="3931920" cy="16916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11480" y="4251959"/>
            <a:ext cx="1005840" cy="36576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lang="zh-CN" altLang="en-US">
                <a:solidFill>
                  <a:srgbClr val="FFFFFF"/>
                </a:solidFill>
                <a:latin typeface="微软雅黑"/>
                <a:ea typeface="微软雅黑"/>
                <a:cs typeface="微软雅黑"/>
              </a:rPr>
              <a:t>日常业务</a:t>
            </a:r>
          </a:p>
        </p:txBody>
      </p:sp>
      <p:sp>
        <p:nvSpPr>
          <p:cNvPr id="19" name="Rectangle 18"/>
          <p:cNvSpPr/>
          <p:nvPr/>
        </p:nvSpPr>
        <p:spPr>
          <a:xfrm>
            <a:off x="1554480" y="4251959"/>
            <a:ext cx="1261872"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0" lang="zh-CN" altLang="en-US">
                <a:solidFill>
                  <a:srgbClr val="262626"/>
                </a:solidFill>
                <a:latin typeface="微软雅黑"/>
                <a:ea typeface="微软雅黑"/>
                <a:cs typeface="微软雅黑"/>
              </a:rPr>
              <a:t>今日工作台</a:t>
            </a:r>
          </a:p>
        </p:txBody>
      </p:sp>
      <p:sp>
        <p:nvSpPr>
          <p:cNvPr id="20" name="Rectangle 19"/>
          <p:cNvSpPr/>
          <p:nvPr/>
        </p:nvSpPr>
        <p:spPr>
          <a:xfrm>
            <a:off x="2880360" y="4251959"/>
            <a:ext cx="1261872"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0" lang="zh-CN" altLang="en-US">
                <a:solidFill>
                  <a:srgbClr val="262626"/>
                </a:solidFill>
                <a:latin typeface="微软雅黑"/>
                <a:ea typeface="微软雅黑"/>
                <a:cs typeface="微软雅黑"/>
              </a:rPr>
              <a:t>用工安排</a:t>
            </a:r>
          </a:p>
        </p:txBody>
      </p:sp>
      <p:sp>
        <p:nvSpPr>
          <p:cNvPr id="21" name="Rectangle 20"/>
          <p:cNvSpPr/>
          <p:nvPr/>
        </p:nvSpPr>
        <p:spPr>
          <a:xfrm>
            <a:off x="1554480" y="4773168"/>
            <a:ext cx="1261872"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0" lang="zh-CN" altLang="en-US">
                <a:solidFill>
                  <a:srgbClr val="262626"/>
                </a:solidFill>
                <a:latin typeface="微软雅黑"/>
                <a:ea typeface="微软雅黑"/>
                <a:cs typeface="微软雅黑"/>
              </a:rPr>
              <a:t>知识库</a:t>
            </a:r>
          </a:p>
        </p:txBody>
      </p:sp>
      <p:sp>
        <p:nvSpPr>
          <p:cNvPr id="22" name="Rectangle 21"/>
          <p:cNvSpPr/>
          <p:nvPr/>
        </p:nvSpPr>
        <p:spPr>
          <a:xfrm>
            <a:off x="2880360" y="4773168"/>
            <a:ext cx="1261872"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0" lang="zh-CN" altLang="en-US">
                <a:solidFill>
                  <a:srgbClr val="262626"/>
                </a:solidFill>
                <a:latin typeface="微软雅黑"/>
                <a:ea typeface="微软雅黑"/>
                <a:cs typeface="微软雅黑"/>
              </a:rPr>
              <a:t>台账中心</a:t>
            </a:r>
          </a:p>
        </p:txBody>
      </p:sp>
      <p:sp>
        <p:nvSpPr>
          <p:cNvPr id="23" name="Rectangle 22"/>
          <p:cNvSpPr/>
          <p:nvPr/>
        </p:nvSpPr>
        <p:spPr>
          <a:xfrm>
            <a:off x="1554480" y="5294375"/>
            <a:ext cx="1261872"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0" lang="zh-CN" altLang="en-US">
                <a:solidFill>
                  <a:srgbClr val="262626"/>
                </a:solidFill>
                <a:latin typeface="微软雅黑"/>
                <a:ea typeface="微软雅黑"/>
                <a:cs typeface="微软雅黑"/>
              </a:rPr>
              <a:t>问大瓦特</a:t>
            </a:r>
          </a:p>
        </p:txBody>
      </p:sp>
      <p:sp>
        <p:nvSpPr>
          <p:cNvPr id="24" name="TextBox 23"/>
          <p:cNvSpPr txBox="1"/>
          <p:nvPr/>
        </p:nvSpPr>
        <p:spPr>
          <a:xfrm>
            <a:off x="320040" y="5943600"/>
            <a:ext cx="3931920" cy="365760"/>
          </a:xfrm>
          <a:prstGeom prst="rect">
            <a:avLst/>
          </a:prstGeom>
          <a:noFill/>
        </p:spPr>
        <p:txBody>
          <a:bodyPr wrap="square" anchor="t" lIns="45720" rIns="45720" tIns="27432" bIns="27432">
            <a:spAutoFit/>
          </a:bodyPr>
          <a:lstStyle/>
          <a:p>
            <a:pPr algn="l">
              <a:lnSpc>
                <a:spcPct val="110000"/>
              </a:lnSpc>
            </a:pPr>
            <a:r>
              <a:rPr sz="1000" b="0" lang="zh-CN" altLang="en-US">
                <a:solidFill>
                  <a:srgbClr val="595959"/>
                </a:solidFill>
                <a:latin typeface="微软雅黑"/>
                <a:ea typeface="微软雅黑"/>
                <a:cs typeface="微软雅黑"/>
              </a:rPr>
              <a:t>每页底部有颜色说明；右侧大瓦特面板常驻；顶部指令栏可直接输入要办的事。</a:t>
            </a:r>
          </a:p>
        </p:txBody>
      </p:sp>
      <p:pic>
        <p:nvPicPr>
          <p:cNvPr id="25" name="Picture 24" descr="sb_team.png"/>
          <p:cNvPicPr>
            <a:picLocks noChangeAspect="1"/>
          </p:cNvPicPr>
          <p:nvPr/>
        </p:nvPicPr>
        <p:blipFill>
          <a:blip r:embed="rId3"/>
          <a:stretch>
            <a:fillRect/>
          </a:stretch>
        </p:blipFill>
        <p:spPr>
          <a:xfrm>
            <a:off x="4434840" y="1371600"/>
            <a:ext cx="7434072" cy="4646295"/>
          </a:xfrm>
          <a:prstGeom prst="rect">
            <a:avLst/>
          </a:prstGeom>
          <a:ln w="9525">
            <a:solidFill>
              <a:srgbClr val="BFBFBF"/>
            </a:solidFill>
          </a:ln>
        </p:spPr>
      </p:pic>
      <p:sp>
        <p:nvSpPr>
          <p:cNvPr id="26" name="TextBox 25"/>
          <p:cNvSpPr txBox="1"/>
          <p:nvPr/>
        </p:nvSpPr>
        <p:spPr>
          <a:xfrm>
            <a:off x="4434840" y="6091047"/>
            <a:ext cx="7434072" cy="548640"/>
          </a:xfrm>
          <a:prstGeom prst="rect">
            <a:avLst/>
          </a:prstGeom>
          <a:noFill/>
        </p:spPr>
        <p:txBody>
          <a:bodyPr wrap="square" anchor="t" lIns="45720" rIns="45720" tIns="27432" bIns="27432">
            <a:spAutoFit/>
          </a:bodyPr>
          <a:lstStyle/>
          <a:p>
            <a:pPr algn="l">
              <a:lnSpc>
                <a:spcPct val="110000"/>
              </a:lnSpc>
            </a:pPr>
            <a:r>
              <a:rPr sz="1050" b="0" lang="zh-CN" altLang="en-US">
                <a:solidFill>
                  <a:srgbClr val="595959"/>
                </a:solidFill>
                <a:latin typeface="微软雅黑"/>
                <a:ea typeface="微软雅黑"/>
                <a:cs typeface="微软雅黑"/>
              </a:rPr>
              <a:t>班组画像：名片荣誉 · 核心 KPI（班长责任书四项）· 核心业务管控 · 星级评价与班组发展规划 · 20 维度表 · 提升措施</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二、解决方案</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解决方案的主要功能 · 派工推荐与作业授权认证</a:t>
            </a:r>
          </a:p>
        </p:txBody>
      </p:sp>
      <p:pic>
        <p:nvPicPr>
          <p:cNvPr id="5" name="Picture 4" descr="sb_home.png"/>
          <p:cNvPicPr>
            <a:picLocks noChangeAspect="1"/>
          </p:cNvPicPr>
          <p:nvPr/>
        </p:nvPicPr>
        <p:blipFill>
          <a:blip r:embed="rId3"/>
          <a:stretch>
            <a:fillRect/>
          </a:stretch>
        </p:blipFill>
        <p:spPr>
          <a:xfrm>
            <a:off x="320040" y="1371600"/>
            <a:ext cx="5669280" cy="3543300"/>
          </a:xfrm>
          <a:prstGeom prst="rect">
            <a:avLst/>
          </a:prstGeom>
          <a:ln w="9525">
            <a:solidFill>
              <a:srgbClr val="BFBFBF"/>
            </a:solidFill>
          </a:ln>
        </p:spPr>
      </p:pic>
      <p:sp>
        <p:nvSpPr>
          <p:cNvPr id="6" name="Rectangle 5"/>
          <p:cNvSpPr/>
          <p:nvPr/>
        </p:nvSpPr>
        <p:spPr>
          <a:xfrm>
            <a:off x="320040" y="5024628"/>
            <a:ext cx="5669280" cy="34747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lang="zh-CN" altLang="en-US">
                <a:solidFill>
                  <a:srgbClr val="FFFFFF"/>
                </a:solidFill>
                <a:latin typeface="微软雅黑"/>
                <a:ea typeface="微软雅黑"/>
                <a:cs typeface="微软雅黑"/>
              </a:rPr>
              <a:t>今日工作台 · 派工推荐</a:t>
            </a:r>
          </a:p>
        </p:txBody>
      </p:sp>
      <p:sp>
        <p:nvSpPr>
          <p:cNvPr id="7" name="Rectangle 6"/>
          <p:cNvSpPr/>
          <p:nvPr/>
        </p:nvSpPr>
        <p:spPr>
          <a:xfrm>
            <a:off x="320040" y="5372100"/>
            <a:ext cx="5669280" cy="891539"/>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11479" y="5417820"/>
            <a:ext cx="5486400" cy="800100"/>
          </a:xfrm>
          <a:prstGeom prst="rect">
            <a:avLst/>
          </a:prstGeom>
          <a:noFill/>
        </p:spPr>
        <p:txBody>
          <a:bodyPr wrap="square" anchor="t" lIns="45720" rIns="45720" tIns="27432" bIns="27432">
            <a:spAutoFit/>
          </a:bodyPr>
          <a:lstStyle/>
          <a:p>
            <a:pPr algn="l">
              <a:lnSpc>
                <a:spcPct val="115000"/>
              </a:lnSpc>
            </a:pPr>
            <a:r>
              <a:rPr sz="1050" b="0" lang="zh-CN" altLang="en-US">
                <a:solidFill>
                  <a:srgbClr val="262626"/>
                </a:solidFill>
                <a:latin typeface="微软雅黑"/>
                <a:ea typeface="微软雅黑"/>
                <a:cs typeface="微软雅黑"/>
              </a:rPr>
              <a:t>四条规则逐人判定：持有作业所需证书；对应 ★ 模块已授权；本周外勤 ≤ 24 小时（班组约定）；当日无冲突作业。班长不列入、休假不派、学员随队。展开后逐人显示推荐 / 随队 / 排除及理由，理由随派工单存档，工作票与班前会材料随单起草。</a:t>
            </a:r>
          </a:p>
        </p:txBody>
      </p:sp>
      <p:pic>
        <p:nvPicPr>
          <p:cNvPr id="9" name="Picture 8" descr="sb_auth.png"/>
          <p:cNvPicPr>
            <a:picLocks noChangeAspect="1"/>
          </p:cNvPicPr>
          <p:nvPr/>
        </p:nvPicPr>
        <p:blipFill>
          <a:blip r:embed="rId4"/>
          <a:stretch>
            <a:fillRect/>
          </a:stretch>
        </p:blipFill>
        <p:spPr>
          <a:xfrm>
            <a:off x="6190488" y="1371600"/>
            <a:ext cx="5669280" cy="3543300"/>
          </a:xfrm>
          <a:prstGeom prst="rect">
            <a:avLst/>
          </a:prstGeom>
          <a:ln w="9525">
            <a:solidFill>
              <a:srgbClr val="BFBFBF"/>
            </a:solidFill>
          </a:ln>
        </p:spPr>
      </p:pic>
      <p:sp>
        <p:nvSpPr>
          <p:cNvPr id="10" name="Rectangle 9"/>
          <p:cNvSpPr/>
          <p:nvPr/>
        </p:nvSpPr>
        <p:spPr>
          <a:xfrm>
            <a:off x="6190488" y="5024628"/>
            <a:ext cx="5669280" cy="34747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lang="zh-CN" altLang="en-US">
                <a:solidFill>
                  <a:srgbClr val="FFFFFF"/>
                </a:solidFill>
                <a:latin typeface="微软雅黑"/>
                <a:ea typeface="微软雅黑"/>
                <a:cs typeface="微软雅黑"/>
              </a:rPr>
              <a:t>授权认证 · 班员画像</a:t>
            </a:r>
          </a:p>
        </p:txBody>
      </p:sp>
      <p:sp>
        <p:nvSpPr>
          <p:cNvPr id="11" name="Rectangle 10"/>
          <p:cNvSpPr/>
          <p:nvPr/>
        </p:nvSpPr>
        <p:spPr>
          <a:xfrm>
            <a:off x="6190488" y="5372100"/>
            <a:ext cx="5669280" cy="891539"/>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281927" y="5417820"/>
            <a:ext cx="5486400" cy="800100"/>
          </a:xfrm>
          <a:prstGeom prst="rect">
            <a:avLst/>
          </a:prstGeom>
          <a:noFill/>
        </p:spPr>
        <p:txBody>
          <a:bodyPr wrap="square" anchor="t" lIns="45720" rIns="45720" tIns="27432" bIns="27432">
            <a:spAutoFit/>
          </a:bodyPr>
          <a:lstStyle/>
          <a:p>
            <a:pPr algn="l">
              <a:lnSpc>
                <a:spcPct val="115000"/>
              </a:lnSpc>
            </a:pPr>
            <a:r>
              <a:rPr sz="1050" b="0" lang="zh-CN" altLang="en-US">
                <a:solidFill>
                  <a:srgbClr val="262626"/>
                </a:solidFill>
                <a:latin typeface="微软雅黑"/>
                <a:ea typeface="微软雅黑"/>
                <a:cs typeface="微软雅黑"/>
              </a:rPr>
              <a:t>《作业授权认证表》7 个技能单元 42 个模块逐人逐格确认授权、培训中、撤销，缺证不能确认；核心业务自主实施能力 = 全班已授权 ★ 模块 ÷ 全班按岗级应授权 ★ 模块（人 × ★ 模块对数）；技能单元弹层给每个模块已授权 / 应授权人数与本年实操次数；★ 模块断层风险（已授权 ≤ 2 人）一键排带教取证；确认本期授权报主管。</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二、解决方案</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解决方案的主要功能 · 管理者端</a:t>
            </a:r>
          </a:p>
        </p:txBody>
      </p:sp>
      <p:pic>
        <p:nvPicPr>
          <p:cNvPr id="5" name="Picture 4" descr="sb_goals.png"/>
          <p:cNvPicPr>
            <a:picLocks noChangeAspect="1"/>
          </p:cNvPicPr>
          <p:nvPr/>
        </p:nvPicPr>
        <p:blipFill>
          <a:blip r:embed="rId3"/>
          <a:stretch>
            <a:fillRect/>
          </a:stretch>
        </p:blipFill>
        <p:spPr>
          <a:xfrm>
            <a:off x="320040" y="1371600"/>
            <a:ext cx="5669280" cy="3543300"/>
          </a:xfrm>
          <a:prstGeom prst="rect">
            <a:avLst/>
          </a:prstGeom>
          <a:ln w="9525">
            <a:solidFill>
              <a:srgbClr val="BFBFBF"/>
            </a:solidFill>
          </a:ln>
        </p:spPr>
      </p:pic>
      <p:sp>
        <p:nvSpPr>
          <p:cNvPr id="6" name="Rectangle 5"/>
          <p:cNvSpPr/>
          <p:nvPr/>
        </p:nvSpPr>
        <p:spPr>
          <a:xfrm>
            <a:off x="320040" y="5024628"/>
            <a:ext cx="5669280" cy="34747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lang="zh-CN" altLang="en-US">
                <a:solidFill>
                  <a:srgbClr val="FFFFFF"/>
                </a:solidFill>
                <a:latin typeface="微软雅黑"/>
                <a:ea typeface="微软雅黑"/>
                <a:cs typeface="微软雅黑"/>
              </a:rPr>
              <a:t>考核指标 · 督办</a:t>
            </a:r>
          </a:p>
        </p:txBody>
      </p:sp>
      <p:sp>
        <p:nvSpPr>
          <p:cNvPr id="7" name="Rectangle 6"/>
          <p:cNvSpPr/>
          <p:nvPr/>
        </p:nvSpPr>
        <p:spPr>
          <a:xfrm>
            <a:off x="320040" y="5372100"/>
            <a:ext cx="5669280" cy="891539"/>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11479" y="5417820"/>
            <a:ext cx="5486400" cy="800100"/>
          </a:xfrm>
          <a:prstGeom prst="rect">
            <a:avLst/>
          </a:prstGeom>
          <a:noFill/>
        </p:spPr>
        <p:txBody>
          <a:bodyPr wrap="square" anchor="t" lIns="45720" rIns="45720" tIns="27432" bIns="27432">
            <a:spAutoFit/>
          </a:bodyPr>
          <a:lstStyle/>
          <a:p>
            <a:pPr algn="l">
              <a:lnSpc>
                <a:spcPct val="115000"/>
              </a:lnSpc>
            </a:pPr>
            <a:r>
              <a:rPr sz="1050" b="0" lang="zh-CN" altLang="en-US">
                <a:solidFill>
                  <a:srgbClr val="262626"/>
                </a:solidFill>
                <a:latin typeface="微软雅黑"/>
                <a:ea typeface="微软雅黑"/>
                <a:cs typeface="微软雅黑"/>
              </a:rPr>
              <a:t>按 2026 年度业绩责任书分分管副总 / 主管 / 班长三个维度，权重、基础值、满分值、评分标准照录；预计得分实时计算，红黄绿按满分值与基础值判定；点行看评分标准，下钻班组，督办直达责任班长。</a:t>
            </a:r>
          </a:p>
        </p:txBody>
      </p:sp>
      <p:pic>
        <p:nvPicPr>
          <p:cNvPr id="9" name="Picture 8" descr="sb_lperf.png"/>
          <p:cNvPicPr>
            <a:picLocks noChangeAspect="1"/>
          </p:cNvPicPr>
          <p:nvPr/>
        </p:nvPicPr>
        <p:blipFill>
          <a:blip r:embed="rId4"/>
          <a:stretch>
            <a:fillRect/>
          </a:stretch>
        </p:blipFill>
        <p:spPr>
          <a:xfrm>
            <a:off x="6190488" y="1371600"/>
            <a:ext cx="5669280" cy="3543300"/>
          </a:xfrm>
          <a:prstGeom prst="rect">
            <a:avLst/>
          </a:prstGeom>
          <a:ln w="9525">
            <a:solidFill>
              <a:srgbClr val="BFBFBF"/>
            </a:solidFill>
          </a:ln>
        </p:spPr>
      </p:pic>
      <p:sp>
        <p:nvSpPr>
          <p:cNvPr id="10" name="Rectangle 9"/>
          <p:cNvSpPr/>
          <p:nvPr/>
        </p:nvSpPr>
        <p:spPr>
          <a:xfrm>
            <a:off x="6190488" y="5024628"/>
            <a:ext cx="5669280" cy="34747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lang="zh-CN" altLang="en-US">
                <a:solidFill>
                  <a:srgbClr val="FFFFFF"/>
                </a:solidFill>
                <a:latin typeface="微软雅黑"/>
                <a:ea typeface="微软雅黑"/>
                <a:cs typeface="微软雅黑"/>
              </a:rPr>
              <a:t>班长绩效 · 跨班组调配</a:t>
            </a:r>
          </a:p>
        </p:txBody>
      </p:sp>
      <p:sp>
        <p:nvSpPr>
          <p:cNvPr id="11" name="Rectangle 10"/>
          <p:cNvSpPr/>
          <p:nvPr/>
        </p:nvSpPr>
        <p:spPr>
          <a:xfrm>
            <a:off x="6190488" y="5372100"/>
            <a:ext cx="5669280" cy="891539"/>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281927" y="5417820"/>
            <a:ext cx="5486400" cy="800100"/>
          </a:xfrm>
          <a:prstGeom prst="rect">
            <a:avLst/>
          </a:prstGeom>
          <a:noFill/>
        </p:spPr>
        <p:txBody>
          <a:bodyPr wrap="square" anchor="t" lIns="45720" rIns="45720" tIns="27432" bIns="27432">
            <a:spAutoFit/>
          </a:bodyPr>
          <a:lstStyle/>
          <a:p>
            <a:pPr algn="l">
              <a:lnSpc>
                <a:spcPct val="115000"/>
              </a:lnSpc>
            </a:pPr>
            <a:r>
              <a:rPr sz="1050" b="0" lang="zh-CN" altLang="en-US">
                <a:solidFill>
                  <a:srgbClr val="262626"/>
                </a:solidFill>
                <a:latin typeface="微软雅黑"/>
                <a:ea typeface="微软雅黑"/>
                <a:cs typeface="微软雅黑"/>
              </a:rPr>
              <a:t>考核指标 50% + 重点任务 10% + 综合评价 40% + 加扣分 + 红线，台账自动取数初评，分档不排名次，确认 → 下发 → 面谈 → 评价意见 → 考评表。跨班组调配：横向对比 → 影响测算 → 发起 → 双方班长确认 → 返岗评价。</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二、解决方案</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成果的原创性、创新点与应用场景创新突破点</a:t>
            </a:r>
          </a:p>
        </p:txBody>
      </p:sp>
      <p:sp>
        <p:nvSpPr>
          <p:cNvPr id="5" name="Rectangle 4"/>
          <p:cNvSpPr/>
          <p:nvPr/>
        </p:nvSpPr>
        <p:spPr>
          <a:xfrm>
            <a:off x="320040" y="1371600"/>
            <a:ext cx="5577840" cy="877824"/>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457200" y="1581912"/>
            <a:ext cx="457200" cy="457200"/>
          </a:xfrm>
          <a:prstGeom prst="ellips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1</a:t>
            </a:r>
          </a:p>
        </p:txBody>
      </p:sp>
      <p:sp>
        <p:nvSpPr>
          <p:cNvPr id="7" name="TextBox 6"/>
          <p:cNvSpPr txBox="1"/>
          <p:nvPr/>
        </p:nvSpPr>
        <p:spPr>
          <a:xfrm>
            <a:off x="1051560" y="1426464"/>
            <a:ext cx="4709159" cy="292608"/>
          </a:xfrm>
          <a:prstGeom prst="rect">
            <a:avLst/>
          </a:prstGeom>
          <a:noFill/>
        </p:spPr>
        <p:txBody>
          <a:bodyPr wrap="square" anchor="ctr" lIns="45720" rIns="45720" tIns="27432" bIns="27432">
            <a:spAutoFit/>
          </a:bodyPr>
          <a:lstStyle/>
          <a:p>
            <a:pPr algn="l"/>
            <a:r>
              <a:rPr sz="1300" b="1" lang="zh-CN" altLang="en-US">
                <a:solidFill>
                  <a:srgbClr val="002060"/>
                </a:solidFill>
                <a:latin typeface="微软雅黑"/>
                <a:ea typeface="微软雅黑"/>
                <a:cs typeface="微软雅黑"/>
              </a:rPr>
              <a:t>经验判断规则化、可解释</a:t>
            </a:r>
          </a:p>
        </p:txBody>
      </p:sp>
      <p:sp>
        <p:nvSpPr>
          <p:cNvPr id="8" name="TextBox 7"/>
          <p:cNvSpPr txBox="1"/>
          <p:nvPr/>
        </p:nvSpPr>
        <p:spPr>
          <a:xfrm>
            <a:off x="1051560" y="1719072"/>
            <a:ext cx="4709159" cy="493776"/>
          </a:xfrm>
          <a:prstGeom prst="rect">
            <a:avLst/>
          </a:prstGeom>
          <a:noFill/>
        </p:spPr>
        <p:txBody>
          <a:bodyPr wrap="square" anchor="t" lIns="45720" rIns="45720" tIns="27432" bIns="27432">
            <a:spAutoFit/>
          </a:bodyPr>
          <a:lstStyle/>
          <a:p>
            <a:pPr algn="l">
              <a:lnSpc>
                <a:spcPct val="112000"/>
              </a:lnSpc>
            </a:pPr>
            <a:r>
              <a:rPr sz="1050" b="0" lang="zh-CN" altLang="en-US">
                <a:solidFill>
                  <a:srgbClr val="262626"/>
                </a:solidFill>
                <a:latin typeface="微软雅黑"/>
                <a:ea typeface="微软雅黑"/>
                <a:cs typeface="微软雅黑"/>
              </a:rPr>
              <a:t>派工四项考量转化为逐人判定规则，班组约定一并纳入，推荐与排除理由随单存档</a:t>
            </a:r>
          </a:p>
        </p:txBody>
      </p:sp>
      <p:sp>
        <p:nvSpPr>
          <p:cNvPr id="9" name="Rectangle 8"/>
          <p:cNvSpPr/>
          <p:nvPr/>
        </p:nvSpPr>
        <p:spPr>
          <a:xfrm>
            <a:off x="320040" y="2340864"/>
            <a:ext cx="5577840" cy="877824"/>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57200" y="2551176"/>
            <a:ext cx="457200" cy="457200"/>
          </a:xfrm>
          <a:prstGeom prst="ellips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2</a:t>
            </a:r>
          </a:p>
        </p:txBody>
      </p:sp>
      <p:sp>
        <p:nvSpPr>
          <p:cNvPr id="11" name="TextBox 10"/>
          <p:cNvSpPr txBox="1"/>
          <p:nvPr/>
        </p:nvSpPr>
        <p:spPr>
          <a:xfrm>
            <a:off x="1051560" y="2395728"/>
            <a:ext cx="4709159" cy="292608"/>
          </a:xfrm>
          <a:prstGeom prst="rect">
            <a:avLst/>
          </a:prstGeom>
          <a:noFill/>
        </p:spPr>
        <p:txBody>
          <a:bodyPr wrap="square" anchor="ctr" lIns="45720" rIns="45720" tIns="27432" bIns="27432">
            <a:spAutoFit/>
          </a:bodyPr>
          <a:lstStyle/>
          <a:p>
            <a:pPr algn="l"/>
            <a:r>
              <a:rPr sz="1300" b="1" lang="zh-CN" altLang="en-US">
                <a:solidFill>
                  <a:srgbClr val="002060"/>
                </a:solidFill>
                <a:latin typeface="微软雅黑"/>
                <a:ea typeface="微软雅黑"/>
                <a:cs typeface="微软雅黑"/>
              </a:rPr>
              <a:t>六环闭环打通培养、使用与激励</a:t>
            </a:r>
          </a:p>
        </p:txBody>
      </p:sp>
      <p:sp>
        <p:nvSpPr>
          <p:cNvPr id="12" name="TextBox 11"/>
          <p:cNvSpPr txBox="1"/>
          <p:nvPr/>
        </p:nvSpPr>
        <p:spPr>
          <a:xfrm>
            <a:off x="1051560" y="2688336"/>
            <a:ext cx="4709159" cy="493776"/>
          </a:xfrm>
          <a:prstGeom prst="rect">
            <a:avLst/>
          </a:prstGeom>
          <a:noFill/>
        </p:spPr>
        <p:txBody>
          <a:bodyPr wrap="square" anchor="t" lIns="45720" rIns="45720" tIns="27432" bIns="27432">
            <a:spAutoFit/>
          </a:bodyPr>
          <a:lstStyle/>
          <a:p>
            <a:pPr algn="l">
              <a:lnSpc>
                <a:spcPct val="112000"/>
              </a:lnSpc>
            </a:pPr>
            <a:r>
              <a:rPr sz="1050" b="0" lang="zh-CN" altLang="en-US">
                <a:solidFill>
                  <a:srgbClr val="262626"/>
                </a:solidFill>
                <a:latin typeface="微软雅黑"/>
                <a:ea typeface="微软雅黑"/>
                <a:cs typeface="微软雅黑"/>
              </a:rPr>
              <a:t>完工实操量回写授权与画像，画像同时驱动派工推荐、培养排序、绩效系数，一次作业的数据三处复用</a:t>
            </a:r>
          </a:p>
        </p:txBody>
      </p:sp>
      <p:sp>
        <p:nvSpPr>
          <p:cNvPr id="13" name="Rectangle 12"/>
          <p:cNvSpPr/>
          <p:nvPr/>
        </p:nvSpPr>
        <p:spPr>
          <a:xfrm>
            <a:off x="320040" y="3310128"/>
            <a:ext cx="5577840" cy="877824"/>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7200" y="3520440"/>
            <a:ext cx="457200" cy="457200"/>
          </a:xfrm>
          <a:prstGeom prst="ellips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3</a:t>
            </a:r>
          </a:p>
        </p:txBody>
      </p:sp>
      <p:sp>
        <p:nvSpPr>
          <p:cNvPr id="15" name="TextBox 14"/>
          <p:cNvSpPr txBox="1"/>
          <p:nvPr/>
        </p:nvSpPr>
        <p:spPr>
          <a:xfrm>
            <a:off x="1051560" y="3364992"/>
            <a:ext cx="4709159" cy="292608"/>
          </a:xfrm>
          <a:prstGeom prst="rect">
            <a:avLst/>
          </a:prstGeom>
          <a:noFill/>
        </p:spPr>
        <p:txBody>
          <a:bodyPr wrap="square" anchor="ctr" lIns="45720" rIns="45720" tIns="27432" bIns="27432">
            <a:spAutoFit/>
          </a:bodyPr>
          <a:lstStyle/>
          <a:p>
            <a:pPr algn="l"/>
            <a:r>
              <a:rPr sz="1300" b="1" lang="zh-CN" altLang="en-US">
                <a:solidFill>
                  <a:srgbClr val="002060"/>
                </a:solidFill>
                <a:latin typeface="微软雅黑"/>
                <a:ea typeface="微软雅黑"/>
                <a:cs typeface="微软雅黑"/>
              </a:rPr>
              <a:t>星级标准与授权认证数字化</a:t>
            </a:r>
          </a:p>
        </p:txBody>
      </p:sp>
      <p:sp>
        <p:nvSpPr>
          <p:cNvPr id="16" name="TextBox 15"/>
          <p:cNvSpPr txBox="1"/>
          <p:nvPr/>
        </p:nvSpPr>
        <p:spPr>
          <a:xfrm>
            <a:off x="1051560" y="3657600"/>
            <a:ext cx="4709159" cy="493776"/>
          </a:xfrm>
          <a:prstGeom prst="rect">
            <a:avLst/>
          </a:prstGeom>
          <a:noFill/>
        </p:spPr>
        <p:txBody>
          <a:bodyPr wrap="square" anchor="t" lIns="45720" rIns="45720" tIns="27432" bIns="27432">
            <a:spAutoFit/>
          </a:bodyPr>
          <a:lstStyle/>
          <a:p>
            <a:pPr algn="l">
              <a:lnSpc>
                <a:spcPct val="112000"/>
              </a:lnSpc>
            </a:pPr>
            <a:r>
              <a:rPr sz="1050" b="0" lang="zh-CN" altLang="en-US">
                <a:solidFill>
                  <a:srgbClr val="262626"/>
                </a:solidFill>
                <a:latin typeface="微软雅黑"/>
                <a:ea typeface="微软雅黑"/>
                <a:cs typeface="微软雅黑"/>
              </a:rPr>
              <a:t>20 个评价维度台账驱动实时初评，差距直接生成提升方向；42 个模块逐人逐格可确认，断层风险随确认实时变化</a:t>
            </a:r>
          </a:p>
        </p:txBody>
      </p:sp>
      <p:sp>
        <p:nvSpPr>
          <p:cNvPr id="17" name="Rectangle 16"/>
          <p:cNvSpPr/>
          <p:nvPr/>
        </p:nvSpPr>
        <p:spPr>
          <a:xfrm>
            <a:off x="320040" y="4279392"/>
            <a:ext cx="5577840" cy="877824"/>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457200" y="4489704"/>
            <a:ext cx="457200" cy="457200"/>
          </a:xfrm>
          <a:prstGeom prst="ellips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4</a:t>
            </a:r>
          </a:p>
        </p:txBody>
      </p:sp>
      <p:sp>
        <p:nvSpPr>
          <p:cNvPr id="19" name="TextBox 18"/>
          <p:cNvSpPr txBox="1"/>
          <p:nvPr/>
        </p:nvSpPr>
        <p:spPr>
          <a:xfrm>
            <a:off x="1051560" y="4334255"/>
            <a:ext cx="4709159" cy="292608"/>
          </a:xfrm>
          <a:prstGeom prst="rect">
            <a:avLst/>
          </a:prstGeom>
          <a:noFill/>
        </p:spPr>
        <p:txBody>
          <a:bodyPr wrap="square" anchor="ctr" lIns="45720" rIns="45720" tIns="27432" bIns="27432">
            <a:spAutoFit/>
          </a:bodyPr>
          <a:lstStyle/>
          <a:p>
            <a:pPr algn="l"/>
            <a:r>
              <a:rPr sz="1300" b="1" lang="zh-CN" altLang="en-US">
                <a:solidFill>
                  <a:srgbClr val="002060"/>
                </a:solidFill>
                <a:latin typeface="微软雅黑"/>
                <a:ea typeface="微软雅黑"/>
                <a:cs typeface="微软雅黑"/>
              </a:rPr>
              <a:t>班组与部门两级同源</a:t>
            </a:r>
          </a:p>
        </p:txBody>
      </p:sp>
      <p:sp>
        <p:nvSpPr>
          <p:cNvPr id="20" name="TextBox 19"/>
          <p:cNvSpPr txBox="1"/>
          <p:nvPr/>
        </p:nvSpPr>
        <p:spPr>
          <a:xfrm>
            <a:off x="1051560" y="4626864"/>
            <a:ext cx="4709159" cy="493776"/>
          </a:xfrm>
          <a:prstGeom prst="rect">
            <a:avLst/>
          </a:prstGeom>
          <a:noFill/>
        </p:spPr>
        <p:txBody>
          <a:bodyPr wrap="square" anchor="t" lIns="45720" rIns="45720" tIns="27432" bIns="27432">
            <a:spAutoFit/>
          </a:bodyPr>
          <a:lstStyle/>
          <a:p>
            <a:pPr algn="l">
              <a:lnSpc>
                <a:spcPct val="112000"/>
              </a:lnSpc>
            </a:pPr>
            <a:r>
              <a:rPr sz="1050" b="0" lang="zh-CN" altLang="en-US">
                <a:solidFill>
                  <a:srgbClr val="262626"/>
                </a:solidFill>
                <a:latin typeface="微软雅黑"/>
                <a:ea typeface="微软雅黑"/>
                <a:cs typeface="微软雅黑"/>
              </a:rPr>
              <a:t>共用数据底座，班组长每一步即时反映到管理视图；考核指标与班长绩效照录责任书；跨班组调配五步闭环</a:t>
            </a:r>
          </a:p>
        </p:txBody>
      </p:sp>
      <p:sp>
        <p:nvSpPr>
          <p:cNvPr id="21" name="Rectangle 20"/>
          <p:cNvSpPr/>
          <p:nvPr/>
        </p:nvSpPr>
        <p:spPr>
          <a:xfrm>
            <a:off x="320040" y="5248656"/>
            <a:ext cx="5577840" cy="877824"/>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457200" y="5458968"/>
            <a:ext cx="457200" cy="457200"/>
          </a:xfrm>
          <a:prstGeom prst="ellips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5</a:t>
            </a:r>
          </a:p>
        </p:txBody>
      </p:sp>
      <p:sp>
        <p:nvSpPr>
          <p:cNvPr id="23" name="TextBox 22"/>
          <p:cNvSpPr txBox="1"/>
          <p:nvPr/>
        </p:nvSpPr>
        <p:spPr>
          <a:xfrm>
            <a:off x="1051560" y="5303520"/>
            <a:ext cx="4709159" cy="292608"/>
          </a:xfrm>
          <a:prstGeom prst="rect">
            <a:avLst/>
          </a:prstGeom>
          <a:noFill/>
        </p:spPr>
        <p:txBody>
          <a:bodyPr wrap="square" anchor="ctr" lIns="45720" rIns="45720" tIns="27432" bIns="27432">
            <a:spAutoFit/>
          </a:bodyPr>
          <a:lstStyle/>
          <a:p>
            <a:pPr algn="l"/>
            <a:r>
              <a:rPr sz="1300" b="1" lang="zh-CN" altLang="en-US">
                <a:solidFill>
                  <a:srgbClr val="002060"/>
                </a:solidFill>
                <a:latin typeface="微软雅黑"/>
                <a:ea typeface="微软雅黑"/>
                <a:cs typeface="微软雅黑"/>
              </a:rPr>
              <a:t>人在回路的 AI 协作</a:t>
            </a:r>
          </a:p>
        </p:txBody>
      </p:sp>
      <p:sp>
        <p:nvSpPr>
          <p:cNvPr id="24" name="TextBox 23"/>
          <p:cNvSpPr txBox="1"/>
          <p:nvPr/>
        </p:nvSpPr>
        <p:spPr>
          <a:xfrm>
            <a:off x="1051560" y="5596128"/>
            <a:ext cx="4709159" cy="493776"/>
          </a:xfrm>
          <a:prstGeom prst="rect">
            <a:avLst/>
          </a:prstGeom>
          <a:noFill/>
        </p:spPr>
        <p:txBody>
          <a:bodyPr wrap="square" anchor="t" lIns="45720" rIns="45720" tIns="27432" bIns="27432">
            <a:spAutoFit/>
          </a:bodyPr>
          <a:lstStyle/>
          <a:p>
            <a:pPr algn="l">
              <a:lnSpc>
                <a:spcPct val="112000"/>
              </a:lnSpc>
            </a:pPr>
            <a:r>
              <a:rPr sz="1050" b="0" lang="zh-CN" altLang="en-US">
                <a:solidFill>
                  <a:srgbClr val="262626"/>
                </a:solidFill>
                <a:latin typeface="微软雅黑"/>
                <a:ea typeface="微软雅黑"/>
                <a:cs typeface="微软雅黑"/>
              </a:rPr>
              <a:t>涉及人的结论一律确认后生效、留名留痕；骨干经验整理为可检索、可引用的知识库条目，经验可传承</a:t>
            </a:r>
          </a:p>
        </p:txBody>
      </p:sp>
      <p:sp>
        <p:nvSpPr>
          <p:cNvPr id="25" name="Rectangle 24"/>
          <p:cNvSpPr/>
          <p:nvPr/>
        </p:nvSpPr>
        <p:spPr>
          <a:xfrm>
            <a:off x="6080760" y="1371600"/>
            <a:ext cx="5788152" cy="36576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lang="zh-CN" altLang="en-US">
                <a:solidFill>
                  <a:srgbClr val="FFFFFF"/>
                </a:solidFill>
                <a:latin typeface="微软雅黑"/>
                <a:ea typeface="微软雅黑"/>
                <a:cs typeface="微软雅黑"/>
              </a:rPr>
              <a:t>应用场景创新突破点：队伍建设六环闭环</a:t>
            </a:r>
          </a:p>
        </p:txBody>
      </p:sp>
      <p:pic>
        <p:nvPicPr>
          <p:cNvPr id="26" name="Picture 25" descr="高效班组管理助手_队伍建设六环闭环.png"/>
          <p:cNvPicPr>
            <a:picLocks noChangeAspect="1"/>
          </p:cNvPicPr>
          <p:nvPr/>
        </p:nvPicPr>
        <p:blipFill>
          <a:blip r:embed="rId3"/>
          <a:stretch>
            <a:fillRect/>
          </a:stretch>
        </p:blipFill>
        <p:spPr>
          <a:xfrm>
            <a:off x="6080760" y="1828800"/>
            <a:ext cx="5788152" cy="1910090"/>
          </a:xfrm>
          <a:prstGeom prst="rect">
            <a:avLst/>
          </a:prstGeom>
          <a:ln w="9525">
            <a:solidFill>
              <a:srgbClr val="BFBFBF"/>
            </a:solidFill>
          </a:ln>
        </p:spPr>
      </p:pic>
      <p:sp>
        <p:nvSpPr>
          <p:cNvPr id="27" name="Rectangle 26"/>
          <p:cNvSpPr/>
          <p:nvPr/>
        </p:nvSpPr>
        <p:spPr>
          <a:xfrm>
            <a:off x="6080760" y="3876050"/>
            <a:ext cx="5788152" cy="2341869"/>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172200" y="3921770"/>
            <a:ext cx="5605272" cy="2250429"/>
          </a:xfrm>
          <a:prstGeom prst="rect">
            <a:avLst/>
          </a:prstGeom>
          <a:noFill/>
        </p:spPr>
        <p:txBody>
          <a:bodyPr wrap="square" anchor="t" lIns="45720" rIns="45720" tIns="27432" bIns="27432">
            <a:spAutoFit/>
          </a:bodyPr>
          <a:lstStyle/>
          <a:p>
            <a:pPr algn="l">
              <a:lnSpc>
                <a:spcPct val="115000"/>
              </a:lnSpc>
            </a:pPr>
            <a:r>
              <a:rPr sz="1050" b="0" lang="zh-CN" altLang="en-US">
                <a:solidFill>
                  <a:srgbClr val="262626"/>
                </a:solidFill>
                <a:latin typeface="微软雅黑"/>
                <a:ea typeface="微软雅黑"/>
                <a:cs typeface="微软雅黑"/>
              </a:rPr>
              <a:t>一次作业 → 三处复用：完工回写实操量 → 作业授权与画像 → 派工推荐 / 培养对象排序 / 绩效系数；考评与荣誉进入培养排序，帮扶活动改变星级得分，队伍能力随日常工作持续生长。</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三、应用成效</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产生的管理或业务效益：六个业务环节应用前后对比</a:t>
            </a:r>
          </a:p>
        </p:txBody>
      </p:sp>
      <p:graphicFrame>
        <p:nvGraphicFramePr>
          <p:cNvPr id="5" name="Table 4"/>
          <p:cNvGraphicFramePr>
            <a:graphicFrameLocks noGrp="1"/>
          </p:cNvGraphicFramePr>
          <p:nvPr/>
        </p:nvGraphicFramePr>
        <p:xfrm>
          <a:off x="320040" y="1371600"/>
          <a:ext cx="11548872" cy="4224528"/>
        </p:xfrm>
        <a:graphic>
          <a:graphicData uri="http://schemas.openxmlformats.org/drawingml/2006/table">
            <a:tbl>
              <a:tblPr firstRow="0" bandRow="0">
                <a:tableStyleId>{2D5ABB26-0587-4C30-8999-92F81FD0307C}</a:tableStyleId>
              </a:tblPr>
              <a:tblGrid>
                <a:gridCol w="1463040"/>
                <a:gridCol w="3657600"/>
                <a:gridCol w="4206240"/>
                <a:gridCol w="2221992"/>
              </a:tblGrid>
              <a:tr h="384048">
                <a:tc>
                  <a:txBody>
                    <a:bodyPr wrap="square"/>
                    <a:lstStyle/>
                    <a:p>
                      <a:pPr>
                        <a:lnSpc>
                          <a:spcPct val="108000"/>
                        </a:lnSpc>
                      </a:pPr>
                      <a:r>
                        <a:rPr sz="1050" b="1" lang="zh-CN" altLang="en-US">
                          <a:solidFill>
                            <a:srgbClr val="FFFFFF"/>
                          </a:solidFill>
                          <a:latin typeface="微软雅黑"/>
                          <a:ea typeface="微软雅黑"/>
                          <a:cs typeface="微软雅黑"/>
                        </a:rPr>
                        <a:t>业务环节</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c>
                  <a:txBody>
                    <a:bodyPr wrap="square"/>
                    <a:lstStyle/>
                    <a:p>
                      <a:pPr>
                        <a:lnSpc>
                          <a:spcPct val="108000"/>
                        </a:lnSpc>
                      </a:pPr>
                      <a:r>
                        <a:rPr sz="1050" b="1" lang="zh-CN" altLang="en-US">
                          <a:solidFill>
                            <a:srgbClr val="FFFFFF"/>
                          </a:solidFill>
                          <a:latin typeface="微软雅黑"/>
                          <a:ea typeface="微软雅黑"/>
                          <a:cs typeface="微软雅黑"/>
                        </a:rPr>
                        <a:t>应用前</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c>
                  <a:txBody>
                    <a:bodyPr wrap="square"/>
                    <a:lstStyle/>
                    <a:p>
                      <a:pPr>
                        <a:lnSpc>
                          <a:spcPct val="108000"/>
                        </a:lnSpc>
                      </a:pPr>
                      <a:r>
                        <a:rPr sz="1050" b="1" lang="zh-CN" altLang="en-US">
                          <a:solidFill>
                            <a:srgbClr val="FFFFFF"/>
                          </a:solidFill>
                          <a:latin typeface="微软雅黑"/>
                          <a:ea typeface="微软雅黑"/>
                          <a:cs typeface="微软雅黑"/>
                        </a:rPr>
                        <a:t>应用后</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c>
                  <a:txBody>
                    <a:bodyPr wrap="square"/>
                    <a:lstStyle/>
                    <a:p>
                      <a:pPr>
                        <a:lnSpc>
                          <a:spcPct val="108000"/>
                        </a:lnSpc>
                      </a:pPr>
                      <a:r>
                        <a:rPr sz="1050" b="1" lang="zh-CN" altLang="en-US">
                          <a:solidFill>
                            <a:srgbClr val="FFFFFF"/>
                          </a:solidFill>
                          <a:latin typeface="微软雅黑"/>
                          <a:ea typeface="微软雅黑"/>
                          <a:cs typeface="微软雅黑"/>
                        </a:rPr>
                        <a:t>测算成效</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r>
              <a:tr h="548640">
                <a:tc>
                  <a:txBody>
                    <a:bodyPr wrap="square"/>
                    <a:lstStyle/>
                    <a:p>
                      <a:pPr>
                        <a:lnSpc>
                          <a:spcPct val="108000"/>
                        </a:lnSpc>
                      </a:pPr>
                      <a:r>
                        <a:rPr sz="1000" b="1" lang="zh-CN" altLang="en-US">
                          <a:solidFill>
                            <a:srgbClr val="262626"/>
                          </a:solidFill>
                          <a:latin typeface="微软雅黑"/>
                          <a:ea typeface="微软雅黑"/>
                          <a:cs typeface="微软雅黑"/>
                        </a:rPr>
                        <a:t>派工决策</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分别核对证书台账、作业授权认证表、工时记录与作业计划，依经验判断</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一屏给出逐人判定与推荐、随队、排除理由，理由随派工单存档</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30 分钟 → 5 分钟以内</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48640">
                <a:tc>
                  <a:txBody>
                    <a:bodyPr wrap="square"/>
                    <a:lstStyle/>
                    <a:p>
                      <a:pPr>
                        <a:lnSpc>
                          <a:spcPct val="108000"/>
                        </a:lnSpc>
                      </a:pPr>
                      <a:r>
                        <a:rPr sz="1000" b="1" lang="zh-CN" altLang="en-US">
                          <a:solidFill>
                            <a:srgbClr val="262626"/>
                          </a:solidFill>
                          <a:latin typeface="微软雅黑"/>
                          <a:ea typeface="微软雅黑"/>
                          <a:cs typeface="微软雅黑"/>
                        </a:rPr>
                        <a:t>月度绩效考评</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人工汇总工时、工作量、学时、荣誉、带徒等履职记录后评定系数</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系数由五类履职证据与工分台账自动推导，证据逐条带出处，一键生成分配表</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4 小时 → 1 小时以内</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48640">
                <a:tc>
                  <a:txBody>
                    <a:bodyPr wrap="square"/>
                    <a:lstStyle/>
                    <a:p>
                      <a:pPr>
                        <a:lnSpc>
                          <a:spcPct val="108000"/>
                        </a:lnSpc>
                      </a:pPr>
                      <a:r>
                        <a:rPr sz="1000" b="1" lang="zh-CN" altLang="en-US">
                          <a:solidFill>
                            <a:srgbClr val="262626"/>
                          </a:solidFill>
                          <a:latin typeface="微软雅黑"/>
                          <a:ea typeface="微软雅黑"/>
                          <a:cs typeface="微软雅黑"/>
                        </a:rPr>
                        <a:t>星级班组自评</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对照评价标准分册逐项翻查台账</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20 个维度台账驱动实时初评并标红黄绿，差距指标与提升方向一页呈现</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2 个工作日 → 半天以内</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48640">
                <a:tc>
                  <a:txBody>
                    <a:bodyPr wrap="square"/>
                    <a:lstStyle/>
                    <a:p>
                      <a:pPr>
                        <a:lnSpc>
                          <a:spcPct val="108000"/>
                        </a:lnSpc>
                      </a:pPr>
                      <a:r>
                        <a:rPr sz="1000" b="1" lang="zh-CN" altLang="en-US">
                          <a:solidFill>
                            <a:srgbClr val="262626"/>
                          </a:solidFill>
                          <a:latin typeface="微软雅黑"/>
                          <a:ea typeface="微软雅黑"/>
                          <a:cs typeface="微软雅黑"/>
                        </a:rPr>
                        <a:t>作业授权盘点</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按认证表逐人逐格人工核对</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42 个模块逐格确认，缺证不能确认，断层风险实时计算、一键排带教</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1 个工作日 → 1 小时以内</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48640">
                <a:tc>
                  <a:txBody>
                    <a:bodyPr wrap="square"/>
                    <a:lstStyle/>
                    <a:p>
                      <a:pPr>
                        <a:lnSpc>
                          <a:spcPct val="108000"/>
                        </a:lnSpc>
                      </a:pPr>
                      <a:r>
                        <a:rPr sz="1000" b="1" lang="zh-CN" altLang="en-US">
                          <a:solidFill>
                            <a:srgbClr val="262626"/>
                          </a:solidFill>
                          <a:latin typeface="微软雅黑"/>
                          <a:ea typeface="微软雅黑"/>
                          <a:cs typeface="微软雅黑"/>
                        </a:rPr>
                        <a:t>班组文稿</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班前会材料、月度总结、分配表、面谈提纲手工汇编</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逐段生成，每个数字可追溯至台账</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月度总结 4 小时 → 1 小时以内</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48640">
                <a:tc>
                  <a:txBody>
                    <a:bodyPr wrap="square"/>
                    <a:lstStyle/>
                    <a:p>
                      <a:pPr>
                        <a:lnSpc>
                          <a:spcPct val="108000"/>
                        </a:lnSpc>
                      </a:pPr>
                      <a:r>
                        <a:rPr sz="1000" b="1" lang="zh-CN" altLang="en-US">
                          <a:solidFill>
                            <a:srgbClr val="262626"/>
                          </a:solidFill>
                          <a:latin typeface="微软雅黑"/>
                          <a:ea typeface="微软雅黑"/>
                          <a:cs typeface="微软雅黑"/>
                        </a:rPr>
                        <a:t>季度班长考评</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人工对照责任书汇总三位班长的指标与任务</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按责任书“50 + 10 + 40 + 加扣分 + 红线”自动取数初评，分档不排名次</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1000" b="0" lang="zh-CN" altLang="en-US">
                          <a:solidFill>
                            <a:srgbClr val="262626"/>
                          </a:solidFill>
                          <a:latin typeface="微软雅黑"/>
                          <a:ea typeface="微软雅黑"/>
                          <a:cs typeface="微软雅黑"/>
                        </a:rPr>
                        <a:t>1 个工作日 → 2 小时以内</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48640">
                <a:tc>
                  <a:txBody>
                    <a:bodyPr wrap="square"/>
                    <a:lstStyle/>
                    <a:p>
                      <a:pPr>
                        <a:lnSpc>
                          <a:spcPct val="108000"/>
                        </a:lnSpc>
                      </a:pPr>
                      <a:r>
                        <a:rPr sz="1000" b="1" lang="zh-CN" altLang="en-US">
                          <a:solidFill>
                            <a:srgbClr val="262626"/>
                          </a:solidFill>
                          <a:latin typeface="微软雅黑"/>
                          <a:ea typeface="微软雅黑"/>
                          <a:cs typeface="微软雅黑"/>
                        </a:rPr>
                        <a:t>风险防控</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证书到期、技能断层、敏感岗位轮岗事后发现</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证书到期前 90 天预警；★ 模块已授权 ≤ 2 人自动识别为断层并排带教；班长任职满 5 年提示轮岗</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1000" b="0" lang="zh-CN" altLang="en-US">
                          <a:solidFill>
                            <a:srgbClr val="262626"/>
                          </a:solidFill>
                          <a:latin typeface="微软雅黑"/>
                          <a:ea typeface="微软雅黑"/>
                          <a:cs typeface="微软雅黑"/>
                        </a:rPr>
                        <a:t>事后发现 → 提前处置</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bl>
          </a:graphicData>
        </a:graphic>
      </p:graphicFrame>
      <p:sp>
        <p:nvSpPr>
          <p:cNvPr id="6" name="TextBox 5"/>
          <p:cNvSpPr txBox="1"/>
          <p:nvPr/>
        </p:nvSpPr>
        <p:spPr>
          <a:xfrm>
            <a:off x="320040" y="5943600"/>
            <a:ext cx="11521440" cy="365760"/>
          </a:xfrm>
          <a:prstGeom prst="rect">
            <a:avLst/>
          </a:prstGeom>
          <a:noFill/>
        </p:spPr>
        <p:txBody>
          <a:bodyPr wrap="square" anchor="t" lIns="45720" rIns="45720" tIns="27432" bIns="27432">
            <a:spAutoFit/>
          </a:bodyPr>
          <a:lstStyle/>
          <a:p>
            <a:pPr algn="l"/>
            <a:r>
              <a:rPr sz="1000" b="0" lang="zh-CN" altLang="en-US">
                <a:solidFill>
                  <a:srgbClr val="595959"/>
                </a:solidFill>
                <a:latin typeface="微软雅黑"/>
                <a:ea typeface="微软雅黑"/>
                <a:cs typeface="微软雅黑"/>
              </a:rPr>
              <a:t>注：按试点班组现行业务频次测算；演示数据按班组真实业务框架脱敏构建。</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三、应用成效</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产生的可量化的经济效益或社会效益</a:t>
            </a:r>
          </a:p>
        </p:txBody>
      </p:sp>
      <p:sp>
        <p:nvSpPr>
          <p:cNvPr id="5" name="Rectangle 4"/>
          <p:cNvSpPr/>
          <p:nvPr/>
        </p:nvSpPr>
        <p:spPr>
          <a:xfrm>
            <a:off x="320040" y="1371600"/>
            <a:ext cx="2770632" cy="19202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320040" y="1371600"/>
            <a:ext cx="2770632" cy="7315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57200" y="1554480"/>
            <a:ext cx="2496312" cy="731520"/>
          </a:xfrm>
          <a:prstGeom prst="rect">
            <a:avLst/>
          </a:prstGeom>
          <a:noFill/>
        </p:spPr>
        <p:txBody>
          <a:bodyPr wrap="none" anchor="ctr">
            <a:spAutoFit/>
          </a:bodyPr>
          <a:lstStyle/>
          <a:p>
            <a:r>
              <a:rPr sz="3600" b="1" lang="zh-CN" altLang="en-US">
                <a:solidFill>
                  <a:srgbClr val="2E5495"/>
                </a:solidFill>
                <a:latin typeface="Arial"/>
                <a:ea typeface="微软雅黑"/>
                <a:cs typeface="微软雅黑"/>
              </a:rPr>
              <a:t>25</a:t>
            </a:r>
            <a:r>
              <a:rPr sz="1300" b="1" lang="zh-CN" altLang="en-US">
                <a:solidFill>
                  <a:srgbClr val="002060"/>
                </a:solidFill>
                <a:latin typeface="微软雅黑"/>
                <a:ea typeface="微软雅黑"/>
                <a:cs typeface="微软雅黑"/>
              </a:rPr>
              <a:t>  小时 / 月</a:t>
            </a:r>
          </a:p>
        </p:txBody>
      </p:sp>
      <p:sp>
        <p:nvSpPr>
          <p:cNvPr id="8" name="TextBox 7"/>
          <p:cNvSpPr txBox="1"/>
          <p:nvPr/>
        </p:nvSpPr>
        <p:spPr>
          <a:xfrm>
            <a:off x="457200" y="2331720"/>
            <a:ext cx="2496312" cy="365760"/>
          </a:xfrm>
          <a:prstGeom prst="rect">
            <a:avLst/>
          </a:prstGeom>
          <a:noFill/>
        </p:spPr>
        <p:txBody>
          <a:bodyPr wrap="square" anchor="ctr" lIns="45720" rIns="45720" tIns="27432" bIns="27432">
            <a:spAutoFit/>
          </a:bodyPr>
          <a:lstStyle/>
          <a:p>
            <a:pPr algn="l"/>
            <a:r>
              <a:rPr sz="1300" b="1" lang="zh-CN" altLang="en-US">
                <a:solidFill>
                  <a:srgbClr val="262626"/>
                </a:solidFill>
                <a:latin typeface="微软雅黑"/>
                <a:ea typeface="微软雅黑"/>
                <a:cs typeface="微软雅黑"/>
              </a:rPr>
              <a:t>班组长事务性用时减少</a:t>
            </a:r>
          </a:p>
        </p:txBody>
      </p:sp>
      <p:sp>
        <p:nvSpPr>
          <p:cNvPr id="9" name="TextBox 8"/>
          <p:cNvSpPr txBox="1"/>
          <p:nvPr/>
        </p:nvSpPr>
        <p:spPr>
          <a:xfrm>
            <a:off x="457200" y="2697480"/>
            <a:ext cx="2496312" cy="502920"/>
          </a:xfrm>
          <a:prstGeom prst="rect">
            <a:avLst/>
          </a:prstGeom>
          <a:noFill/>
        </p:spPr>
        <p:txBody>
          <a:bodyPr wrap="square" anchor="t" lIns="45720" rIns="45720" tIns="27432" bIns="27432">
            <a:spAutoFit/>
          </a:bodyPr>
          <a:lstStyle/>
          <a:p>
            <a:pPr algn="l">
              <a:lnSpc>
                <a:spcPct val="112000"/>
              </a:lnSpc>
            </a:pPr>
            <a:r>
              <a:rPr sz="1050" b="0" lang="zh-CN" altLang="en-US">
                <a:solidFill>
                  <a:srgbClr val="595959"/>
                </a:solidFill>
                <a:latin typeface="微软雅黑"/>
                <a:ea typeface="微软雅黑"/>
                <a:cs typeface="微软雅黑"/>
              </a:rPr>
              <a:t>找数、抄数、排版回到判断与确认</a:t>
            </a:r>
          </a:p>
        </p:txBody>
      </p:sp>
      <p:sp>
        <p:nvSpPr>
          <p:cNvPr id="10" name="Rectangle 9"/>
          <p:cNvSpPr/>
          <p:nvPr/>
        </p:nvSpPr>
        <p:spPr>
          <a:xfrm>
            <a:off x="3246120" y="1371600"/>
            <a:ext cx="2770632" cy="19202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246120" y="1371600"/>
            <a:ext cx="2770632" cy="7315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383280" y="1554480"/>
            <a:ext cx="2496312" cy="731520"/>
          </a:xfrm>
          <a:prstGeom prst="rect">
            <a:avLst/>
          </a:prstGeom>
          <a:noFill/>
        </p:spPr>
        <p:txBody>
          <a:bodyPr wrap="none" anchor="ctr">
            <a:spAutoFit/>
          </a:bodyPr>
          <a:lstStyle/>
          <a:p>
            <a:r>
              <a:rPr sz="3600" b="1" lang="zh-CN" altLang="en-US">
                <a:solidFill>
                  <a:srgbClr val="2E5495"/>
                </a:solidFill>
                <a:latin typeface="Arial"/>
                <a:ea typeface="微软雅黑"/>
                <a:cs typeface="微软雅黑"/>
              </a:rPr>
              <a:t>3</a:t>
            </a:r>
            <a:r>
              <a:rPr sz="1300" b="1" lang="zh-CN" altLang="en-US">
                <a:solidFill>
                  <a:srgbClr val="002060"/>
                </a:solidFill>
                <a:latin typeface="微软雅黑"/>
                <a:ea typeface="微软雅黑"/>
                <a:cs typeface="微软雅黑"/>
              </a:rPr>
              <a:t>  工作日 / 月</a:t>
            </a:r>
          </a:p>
        </p:txBody>
      </p:sp>
      <p:sp>
        <p:nvSpPr>
          <p:cNvPr id="13" name="TextBox 12"/>
          <p:cNvSpPr txBox="1"/>
          <p:nvPr/>
        </p:nvSpPr>
        <p:spPr>
          <a:xfrm>
            <a:off x="3383280" y="2331720"/>
            <a:ext cx="2496312" cy="365760"/>
          </a:xfrm>
          <a:prstGeom prst="rect">
            <a:avLst/>
          </a:prstGeom>
          <a:noFill/>
        </p:spPr>
        <p:txBody>
          <a:bodyPr wrap="square" anchor="ctr" lIns="45720" rIns="45720" tIns="27432" bIns="27432">
            <a:spAutoFit/>
          </a:bodyPr>
          <a:lstStyle/>
          <a:p>
            <a:pPr algn="l"/>
            <a:r>
              <a:rPr sz="1300" b="1" lang="zh-CN" altLang="en-US">
                <a:solidFill>
                  <a:srgbClr val="262626"/>
                </a:solidFill>
                <a:latin typeface="微软雅黑"/>
                <a:ea typeface="微软雅黑"/>
                <a:cs typeface="微软雅黑"/>
              </a:rPr>
              <a:t>释放回现场与培养</a:t>
            </a:r>
          </a:p>
        </p:txBody>
      </p:sp>
      <p:sp>
        <p:nvSpPr>
          <p:cNvPr id="14" name="TextBox 13"/>
          <p:cNvSpPr txBox="1"/>
          <p:nvPr/>
        </p:nvSpPr>
        <p:spPr>
          <a:xfrm>
            <a:off x="3383280" y="2697480"/>
            <a:ext cx="2496312" cy="502920"/>
          </a:xfrm>
          <a:prstGeom prst="rect">
            <a:avLst/>
          </a:prstGeom>
          <a:noFill/>
        </p:spPr>
        <p:txBody>
          <a:bodyPr wrap="square" anchor="t" lIns="45720" rIns="45720" tIns="27432" bIns="27432">
            <a:spAutoFit/>
          </a:bodyPr>
          <a:lstStyle/>
          <a:p>
            <a:pPr algn="l">
              <a:lnSpc>
                <a:spcPct val="112000"/>
              </a:lnSpc>
            </a:pPr>
            <a:r>
              <a:rPr sz="1050" b="0" lang="zh-CN" altLang="en-US">
                <a:solidFill>
                  <a:srgbClr val="595959"/>
                </a:solidFill>
                <a:latin typeface="微软雅黑"/>
                <a:ea typeface="微软雅黑"/>
                <a:cs typeface="微软雅黑"/>
              </a:rPr>
              <a:t>相当于每月多出三个工作日用于现场管理和人员培养</a:t>
            </a:r>
          </a:p>
        </p:txBody>
      </p:sp>
      <p:sp>
        <p:nvSpPr>
          <p:cNvPr id="15" name="Rectangle 14"/>
          <p:cNvSpPr/>
          <p:nvPr/>
        </p:nvSpPr>
        <p:spPr>
          <a:xfrm>
            <a:off x="6172200" y="1371600"/>
            <a:ext cx="2770632" cy="19202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72200" y="1371600"/>
            <a:ext cx="2770632" cy="7315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09360" y="1554480"/>
            <a:ext cx="2496312" cy="731520"/>
          </a:xfrm>
          <a:prstGeom prst="rect">
            <a:avLst/>
          </a:prstGeom>
          <a:noFill/>
        </p:spPr>
        <p:txBody>
          <a:bodyPr wrap="none" anchor="ctr">
            <a:spAutoFit/>
          </a:bodyPr>
          <a:lstStyle/>
          <a:p>
            <a:r>
              <a:rPr sz="3600" b="1" lang="zh-CN" altLang="en-US">
                <a:solidFill>
                  <a:srgbClr val="2E5495"/>
                </a:solidFill>
                <a:latin typeface="Arial"/>
                <a:ea typeface="微软雅黑"/>
                <a:cs typeface="微软雅黑"/>
              </a:rPr>
              <a:t>3</a:t>
            </a:r>
            <a:r>
              <a:rPr sz="1300" b="1" lang="zh-CN" altLang="en-US">
                <a:solidFill>
                  <a:srgbClr val="002060"/>
                </a:solidFill>
                <a:latin typeface="微软雅黑"/>
                <a:ea typeface="微软雅黑"/>
                <a:cs typeface="微软雅黑"/>
              </a:rPr>
              <a:t>  工作日 / 季</a:t>
            </a:r>
          </a:p>
        </p:txBody>
      </p:sp>
      <p:sp>
        <p:nvSpPr>
          <p:cNvPr id="18" name="TextBox 17"/>
          <p:cNvSpPr txBox="1"/>
          <p:nvPr/>
        </p:nvSpPr>
        <p:spPr>
          <a:xfrm>
            <a:off x="6309360" y="2331720"/>
            <a:ext cx="2496312" cy="365760"/>
          </a:xfrm>
          <a:prstGeom prst="rect">
            <a:avLst/>
          </a:prstGeom>
          <a:noFill/>
        </p:spPr>
        <p:txBody>
          <a:bodyPr wrap="square" anchor="ctr" lIns="45720" rIns="45720" tIns="27432" bIns="27432">
            <a:spAutoFit/>
          </a:bodyPr>
          <a:lstStyle/>
          <a:p>
            <a:pPr algn="l"/>
            <a:r>
              <a:rPr sz="1300" b="1" lang="zh-CN" altLang="en-US">
                <a:solidFill>
                  <a:srgbClr val="262626"/>
                </a:solidFill>
                <a:latin typeface="微软雅黑"/>
                <a:ea typeface="微软雅黑"/>
                <a:cs typeface="微软雅黑"/>
              </a:rPr>
              <a:t>部门汇总分析用时减少</a:t>
            </a:r>
          </a:p>
        </p:txBody>
      </p:sp>
      <p:sp>
        <p:nvSpPr>
          <p:cNvPr id="19" name="TextBox 18"/>
          <p:cNvSpPr txBox="1"/>
          <p:nvPr/>
        </p:nvSpPr>
        <p:spPr>
          <a:xfrm>
            <a:off x="6309360" y="2697480"/>
            <a:ext cx="2496312" cy="502920"/>
          </a:xfrm>
          <a:prstGeom prst="rect">
            <a:avLst/>
          </a:prstGeom>
          <a:noFill/>
        </p:spPr>
        <p:txBody>
          <a:bodyPr wrap="square" anchor="t" lIns="45720" rIns="45720" tIns="27432" bIns="27432">
            <a:spAutoFit/>
          </a:bodyPr>
          <a:lstStyle/>
          <a:p>
            <a:pPr algn="l">
              <a:lnSpc>
                <a:spcPct val="112000"/>
              </a:lnSpc>
            </a:pPr>
            <a:r>
              <a:rPr sz="1050" b="0" lang="zh-CN" altLang="en-US">
                <a:solidFill>
                  <a:srgbClr val="595959"/>
                </a:solidFill>
                <a:latin typeface="微软雅黑"/>
                <a:ea typeface="微软雅黑"/>
                <a:cs typeface="微软雅黑"/>
              </a:rPr>
              <a:t>指标、对比、结构、风险报告逐段生成</a:t>
            </a:r>
          </a:p>
        </p:txBody>
      </p:sp>
      <p:sp>
        <p:nvSpPr>
          <p:cNvPr id="20" name="Rectangle 19"/>
          <p:cNvSpPr/>
          <p:nvPr/>
        </p:nvSpPr>
        <p:spPr>
          <a:xfrm>
            <a:off x="9098280" y="1371600"/>
            <a:ext cx="2770632" cy="192024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098280" y="1371600"/>
            <a:ext cx="2770632" cy="7315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235440" y="1554480"/>
            <a:ext cx="2496312" cy="731520"/>
          </a:xfrm>
          <a:prstGeom prst="rect">
            <a:avLst/>
          </a:prstGeom>
          <a:noFill/>
        </p:spPr>
        <p:txBody>
          <a:bodyPr wrap="none" anchor="ctr">
            <a:spAutoFit/>
          </a:bodyPr>
          <a:lstStyle/>
          <a:p>
            <a:r>
              <a:rPr sz="3600" b="1" lang="zh-CN" altLang="en-US">
                <a:solidFill>
                  <a:srgbClr val="2E5495"/>
                </a:solidFill>
                <a:latin typeface="Arial"/>
                <a:ea typeface="微软雅黑"/>
                <a:cs typeface="微软雅黑"/>
              </a:rPr>
              <a:t>83</a:t>
            </a:r>
            <a:r>
              <a:rPr sz="1300" b="1" lang="zh-CN" altLang="en-US">
                <a:solidFill>
                  <a:srgbClr val="002060"/>
                </a:solidFill>
                <a:latin typeface="微软雅黑"/>
                <a:ea typeface="微软雅黑"/>
                <a:cs typeface="微软雅黑"/>
              </a:rPr>
              <a:t>  %</a:t>
            </a:r>
          </a:p>
        </p:txBody>
      </p:sp>
      <p:sp>
        <p:nvSpPr>
          <p:cNvPr id="23" name="TextBox 22"/>
          <p:cNvSpPr txBox="1"/>
          <p:nvPr/>
        </p:nvSpPr>
        <p:spPr>
          <a:xfrm>
            <a:off x="9235440" y="2331720"/>
            <a:ext cx="2496312" cy="365760"/>
          </a:xfrm>
          <a:prstGeom prst="rect">
            <a:avLst/>
          </a:prstGeom>
          <a:noFill/>
        </p:spPr>
        <p:txBody>
          <a:bodyPr wrap="square" anchor="ctr" lIns="45720" rIns="45720" tIns="27432" bIns="27432">
            <a:spAutoFit/>
          </a:bodyPr>
          <a:lstStyle/>
          <a:p>
            <a:pPr algn="l"/>
            <a:r>
              <a:rPr sz="1300" b="1" lang="zh-CN" altLang="en-US">
                <a:solidFill>
                  <a:srgbClr val="262626"/>
                </a:solidFill>
                <a:latin typeface="微软雅黑"/>
                <a:ea typeface="微软雅黑"/>
                <a:cs typeface="微软雅黑"/>
              </a:rPr>
              <a:t>单次派工决策时间下降</a:t>
            </a:r>
          </a:p>
        </p:txBody>
      </p:sp>
      <p:sp>
        <p:nvSpPr>
          <p:cNvPr id="24" name="TextBox 23"/>
          <p:cNvSpPr txBox="1"/>
          <p:nvPr/>
        </p:nvSpPr>
        <p:spPr>
          <a:xfrm>
            <a:off x="9235440" y="2697480"/>
            <a:ext cx="2496312" cy="502920"/>
          </a:xfrm>
          <a:prstGeom prst="rect">
            <a:avLst/>
          </a:prstGeom>
          <a:noFill/>
        </p:spPr>
        <p:txBody>
          <a:bodyPr wrap="square" anchor="t" lIns="45720" rIns="45720" tIns="27432" bIns="27432">
            <a:spAutoFit/>
          </a:bodyPr>
          <a:lstStyle/>
          <a:p>
            <a:pPr algn="l">
              <a:lnSpc>
                <a:spcPct val="112000"/>
              </a:lnSpc>
            </a:pPr>
            <a:r>
              <a:rPr sz="1050" b="0" lang="zh-CN" altLang="en-US">
                <a:solidFill>
                  <a:srgbClr val="595959"/>
                </a:solidFill>
                <a:latin typeface="微软雅黑"/>
                <a:ea typeface="微软雅黑"/>
                <a:cs typeface="微软雅黑"/>
              </a:rPr>
              <a:t>30 分钟降至 5 分钟以内，理由随单存档</a:t>
            </a:r>
          </a:p>
        </p:txBody>
      </p:sp>
      <p:sp>
        <p:nvSpPr>
          <p:cNvPr id="25" name="Rectangle 24"/>
          <p:cNvSpPr/>
          <p:nvPr/>
        </p:nvSpPr>
        <p:spPr>
          <a:xfrm>
            <a:off x="320040" y="3474720"/>
            <a:ext cx="6949440" cy="278892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26" name="Chart 25"/>
          <p:cNvGraphicFramePr>
            <a:graphicFrameLocks noGrp="1"/>
          </p:cNvGraphicFramePr>
          <p:nvPr/>
        </p:nvGraphicFramePr>
        <p:xfrm>
          <a:off x="411479" y="3520439"/>
          <a:ext cx="6766559" cy="2697479"/>
        </p:xfrm>
        <a:graphic>
          <a:graphicData uri="http://schemas.openxmlformats.org/drawingml/2006/chart">
            <c:chart xmlns:c="http://schemas.openxmlformats.org/drawingml/2006/chart" r:id="rId3"/>
          </a:graphicData>
        </a:graphic>
      </p:graphicFrame>
      <p:sp>
        <p:nvSpPr>
          <p:cNvPr id="27" name="Rectangle 26"/>
          <p:cNvSpPr/>
          <p:nvPr/>
        </p:nvSpPr>
        <p:spPr>
          <a:xfrm>
            <a:off x="7452360" y="3474720"/>
            <a:ext cx="4416552"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社会效益</a:t>
            </a:r>
          </a:p>
        </p:txBody>
      </p:sp>
      <p:sp>
        <p:nvSpPr>
          <p:cNvPr id="28" name="Rectangle 27"/>
          <p:cNvSpPr/>
          <p:nvPr/>
        </p:nvSpPr>
        <p:spPr>
          <a:xfrm>
            <a:off x="7452360" y="3931920"/>
            <a:ext cx="4416552" cy="7315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7452360" y="3931920"/>
            <a:ext cx="73152" cy="73152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635240" y="3968496"/>
            <a:ext cx="4160520" cy="274320"/>
          </a:xfrm>
          <a:prstGeom prst="rect">
            <a:avLst/>
          </a:prstGeom>
          <a:noFill/>
        </p:spPr>
        <p:txBody>
          <a:bodyPr wrap="square" anchor="ctr" lIns="45720" rIns="45720" tIns="27432" bIns="27432">
            <a:spAutoFit/>
          </a:bodyPr>
          <a:lstStyle/>
          <a:p>
            <a:pPr algn="l"/>
            <a:r>
              <a:rPr sz="1200" b="1" lang="zh-CN" altLang="en-US">
                <a:solidFill>
                  <a:srgbClr val="002060"/>
                </a:solidFill>
                <a:latin typeface="微软雅黑"/>
                <a:ea typeface="微软雅黑"/>
                <a:cs typeface="微软雅黑"/>
              </a:rPr>
              <a:t>依据留痕、公平透明</a:t>
            </a:r>
          </a:p>
        </p:txBody>
      </p:sp>
      <p:sp>
        <p:nvSpPr>
          <p:cNvPr id="31" name="TextBox 30"/>
          <p:cNvSpPr txBox="1"/>
          <p:nvPr/>
        </p:nvSpPr>
        <p:spPr>
          <a:xfrm>
            <a:off x="7635240" y="4242816"/>
            <a:ext cx="4160520" cy="411480"/>
          </a:xfrm>
          <a:prstGeom prst="rect">
            <a:avLst/>
          </a:prstGeom>
          <a:noFill/>
        </p:spPr>
        <p:txBody>
          <a:bodyPr wrap="square" anchor="t" lIns="45720" rIns="45720" tIns="27432" bIns="27432">
            <a:spAutoFit/>
          </a:bodyPr>
          <a:lstStyle/>
          <a:p>
            <a:pPr algn="l">
              <a:lnSpc>
                <a:spcPct val="110000"/>
              </a:lnSpc>
            </a:pPr>
            <a:r>
              <a:rPr sz="1000" b="0" lang="zh-CN" altLang="en-US">
                <a:solidFill>
                  <a:srgbClr val="262626"/>
                </a:solidFill>
                <a:latin typeface="微软雅黑"/>
                <a:ea typeface="微软雅黑"/>
                <a:cs typeface="微软雅黑"/>
              </a:rPr>
              <a:t>派工、考评、授权、调配的依据全程留痕，队伍建设由经验驱动转为数据驱动</a:t>
            </a:r>
          </a:p>
        </p:txBody>
      </p:sp>
      <p:sp>
        <p:nvSpPr>
          <p:cNvPr id="32" name="Rectangle 31"/>
          <p:cNvSpPr/>
          <p:nvPr/>
        </p:nvSpPr>
        <p:spPr>
          <a:xfrm>
            <a:off x="7452360" y="4727448"/>
            <a:ext cx="4416552" cy="7315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452360" y="4727448"/>
            <a:ext cx="73152" cy="73152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635240" y="4764024"/>
            <a:ext cx="4160520" cy="274320"/>
          </a:xfrm>
          <a:prstGeom prst="rect">
            <a:avLst/>
          </a:prstGeom>
          <a:noFill/>
        </p:spPr>
        <p:txBody>
          <a:bodyPr wrap="square" anchor="ctr" lIns="45720" rIns="45720" tIns="27432" bIns="27432">
            <a:spAutoFit/>
          </a:bodyPr>
          <a:lstStyle/>
          <a:p>
            <a:pPr algn="l"/>
            <a:r>
              <a:rPr sz="1200" b="1" lang="zh-CN" altLang="en-US">
                <a:solidFill>
                  <a:srgbClr val="002060"/>
                </a:solidFill>
                <a:latin typeface="微软雅黑"/>
                <a:ea typeface="微软雅黑"/>
                <a:cs typeface="微软雅黑"/>
              </a:rPr>
              <a:t>经验可传承</a:t>
            </a:r>
          </a:p>
        </p:txBody>
      </p:sp>
      <p:sp>
        <p:nvSpPr>
          <p:cNvPr id="35" name="TextBox 34"/>
          <p:cNvSpPr txBox="1"/>
          <p:nvPr/>
        </p:nvSpPr>
        <p:spPr>
          <a:xfrm>
            <a:off x="7635240" y="5038344"/>
            <a:ext cx="4160520" cy="411480"/>
          </a:xfrm>
          <a:prstGeom prst="rect">
            <a:avLst/>
          </a:prstGeom>
          <a:noFill/>
        </p:spPr>
        <p:txBody>
          <a:bodyPr wrap="square" anchor="t" lIns="45720" rIns="45720" tIns="27432" bIns="27432">
            <a:spAutoFit/>
          </a:bodyPr>
          <a:lstStyle/>
          <a:p>
            <a:pPr algn="l">
              <a:lnSpc>
                <a:spcPct val="110000"/>
              </a:lnSpc>
            </a:pPr>
            <a:r>
              <a:rPr sz="1000" b="0" lang="zh-CN" altLang="en-US">
                <a:solidFill>
                  <a:srgbClr val="262626"/>
                </a:solidFill>
                <a:latin typeface="微软雅黑"/>
                <a:ea typeface="微软雅黑"/>
                <a:cs typeface="微软雅黑"/>
              </a:rPr>
              <a:t>骨干经验与案例进入知识库，问答带出处，新员工培养有路径</a:t>
            </a:r>
          </a:p>
        </p:txBody>
      </p:sp>
      <p:sp>
        <p:nvSpPr>
          <p:cNvPr id="36" name="Rectangle 35"/>
          <p:cNvSpPr/>
          <p:nvPr/>
        </p:nvSpPr>
        <p:spPr>
          <a:xfrm>
            <a:off x="7452360" y="5522976"/>
            <a:ext cx="4416552" cy="7315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452360" y="5522976"/>
            <a:ext cx="73152" cy="73152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635240" y="5559552"/>
            <a:ext cx="4160520" cy="274320"/>
          </a:xfrm>
          <a:prstGeom prst="rect">
            <a:avLst/>
          </a:prstGeom>
          <a:noFill/>
        </p:spPr>
        <p:txBody>
          <a:bodyPr wrap="square" anchor="ctr" lIns="45720" rIns="45720" tIns="27432" bIns="27432">
            <a:spAutoFit/>
          </a:bodyPr>
          <a:lstStyle/>
          <a:p>
            <a:pPr algn="l"/>
            <a:r>
              <a:rPr sz="1200" b="1" lang="zh-CN" altLang="en-US">
                <a:solidFill>
                  <a:srgbClr val="002060"/>
                </a:solidFill>
                <a:latin typeface="微软雅黑"/>
                <a:ea typeface="微软雅黑"/>
                <a:cs typeface="微软雅黑"/>
              </a:rPr>
              <a:t>安全前置、风险提前</a:t>
            </a:r>
          </a:p>
        </p:txBody>
      </p:sp>
      <p:sp>
        <p:nvSpPr>
          <p:cNvPr id="39" name="TextBox 38"/>
          <p:cNvSpPr txBox="1"/>
          <p:nvPr/>
        </p:nvSpPr>
        <p:spPr>
          <a:xfrm>
            <a:off x="7635240" y="5833872"/>
            <a:ext cx="4160520" cy="411480"/>
          </a:xfrm>
          <a:prstGeom prst="rect">
            <a:avLst/>
          </a:prstGeom>
          <a:noFill/>
        </p:spPr>
        <p:txBody>
          <a:bodyPr wrap="square" anchor="t" lIns="45720" rIns="45720" tIns="27432" bIns="27432">
            <a:spAutoFit/>
          </a:bodyPr>
          <a:lstStyle/>
          <a:p>
            <a:pPr algn="l">
              <a:lnSpc>
                <a:spcPct val="110000"/>
              </a:lnSpc>
            </a:pPr>
            <a:r>
              <a:rPr sz="1000" b="0" lang="zh-CN" altLang="en-US">
                <a:solidFill>
                  <a:srgbClr val="262626"/>
                </a:solidFill>
                <a:latin typeface="微软雅黑"/>
                <a:ea typeface="微软雅黑"/>
                <a:cs typeface="微软雅黑"/>
              </a:rPr>
              <a:t>证书到期、断层风险、敏感岗位轮岗提前处置，安全责任落到班组一级</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三、应用成效</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对标南方电网集团要求：投运后的响应机制与可检查输出</a:t>
            </a:r>
          </a:p>
        </p:txBody>
      </p:sp>
      <p:graphicFrame>
        <p:nvGraphicFramePr>
          <p:cNvPr id="5" name="Table 4"/>
          <p:cNvGraphicFramePr>
            <a:graphicFrameLocks noGrp="1"/>
          </p:cNvGraphicFramePr>
          <p:nvPr/>
        </p:nvGraphicFramePr>
        <p:xfrm>
          <a:off x="320040" y="1371600"/>
          <a:ext cx="11548872" cy="4736592"/>
        </p:xfrm>
        <a:graphic>
          <a:graphicData uri="http://schemas.openxmlformats.org/drawingml/2006/table">
            <a:tbl>
              <a:tblPr firstRow="0" bandRow="0">
                <a:tableStyleId>{2D5ABB26-0587-4C30-8999-92F81FD0307C}</a:tableStyleId>
              </a:tblPr>
              <a:tblGrid>
                <a:gridCol w="2377440"/>
                <a:gridCol w="5669280"/>
                <a:gridCol w="3502152"/>
              </a:tblGrid>
              <a:tr h="347472">
                <a:tc>
                  <a:txBody>
                    <a:bodyPr wrap="square"/>
                    <a:lstStyle/>
                    <a:p>
                      <a:pPr>
                        <a:lnSpc>
                          <a:spcPct val="108000"/>
                        </a:lnSpc>
                      </a:pPr>
                      <a:r>
                        <a:rPr sz="1000" b="1" lang="zh-CN" altLang="en-US">
                          <a:solidFill>
                            <a:srgbClr val="FFFFFF"/>
                          </a:solidFill>
                          <a:latin typeface="微软雅黑"/>
                          <a:ea typeface="微软雅黑"/>
                          <a:cs typeface="微软雅黑"/>
                        </a:rPr>
                        <a:t>南方电网集团要求</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c>
                  <a:txBody>
                    <a:bodyPr wrap="square"/>
                    <a:lstStyle/>
                    <a:p>
                      <a:pPr>
                        <a:lnSpc>
                          <a:spcPct val="108000"/>
                        </a:lnSpc>
                      </a:pPr>
                      <a:r>
                        <a:rPr sz="1000" b="1" lang="zh-CN" altLang="en-US">
                          <a:solidFill>
                            <a:srgbClr val="FFFFFF"/>
                          </a:solidFill>
                          <a:latin typeface="微软雅黑"/>
                          <a:ea typeface="微软雅黑"/>
                          <a:cs typeface="微软雅黑"/>
                        </a:rPr>
                        <a:t>成果建成后的响应机制</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c>
                  <a:txBody>
                    <a:bodyPr wrap="square"/>
                    <a:lstStyle/>
                    <a:p>
                      <a:pPr>
                        <a:lnSpc>
                          <a:spcPct val="108000"/>
                        </a:lnSpc>
                      </a:pPr>
                      <a:r>
                        <a:rPr sz="1000" b="1" lang="zh-CN" altLang="en-US">
                          <a:solidFill>
                            <a:srgbClr val="FFFFFF"/>
                          </a:solidFill>
                          <a:latin typeface="微软雅黑"/>
                          <a:ea typeface="微软雅黑"/>
                          <a:cs typeface="微软雅黑"/>
                        </a:rPr>
                        <a:t>可检查的输出</a:t>
                      </a:r>
                    </a:p>
                  </a:txBody>
                  <a:tcPr marL="73152" marR="73152" marT="36576" marB="36576" anchor="ctr">
                    <a:lnL w="6350">
                      <a:solidFill>
                        <a:srgbClr val="FFFFFF"/>
                      </a:solidFill>
                    </a:lnL>
                    <a:lnR w="6350">
                      <a:solidFill>
                        <a:srgbClr val="FFFFFF"/>
                      </a:solidFill>
                    </a:lnR>
                    <a:lnT w="6350">
                      <a:solidFill>
                        <a:srgbClr val="FFFFFF"/>
                      </a:solidFill>
                    </a:lnT>
                    <a:lnB w="6350">
                      <a:solidFill>
                        <a:srgbClr val="FFFFFF"/>
                      </a:solidFill>
                    </a:lnB>
                    <a:solidFill>
                      <a:srgbClr val="2E5495"/>
                    </a:solidFill>
                  </a:tcPr>
                </a:tc>
              </a:tr>
              <a:tr h="548640">
                <a:tc>
                  <a:txBody>
                    <a:bodyPr wrap="square"/>
                    <a:lstStyle/>
                    <a:p>
                      <a:pPr>
                        <a:lnSpc>
                          <a:spcPct val="108000"/>
                        </a:lnSpc>
                      </a:pPr>
                      <a:r>
                        <a:rPr sz="950" b="1" lang="zh-CN" altLang="en-US">
                          <a:solidFill>
                            <a:srgbClr val="262626"/>
                          </a:solidFill>
                          <a:latin typeface="微软雅黑"/>
                          <a:ea typeface="微软雅黑"/>
                          <a:cs typeface="微软雅黑"/>
                        </a:rPr>
                        <a:t>数字化转型与数字电网建设</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班组层派工、审票、授权确认、绩效确认、督办、调配全部结构化留痕，按人员、班组、事件三类主题统一口径接入人资系统与数据平台</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操作流水、十七张台账、画像与指标接口；班组数据一次产生、局级公司级复用</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48640">
                <a:tc>
                  <a:txBody>
                    <a:bodyPr wrap="square"/>
                    <a:lstStyle/>
                    <a:p>
                      <a:pPr>
                        <a:lnSpc>
                          <a:spcPct val="108000"/>
                        </a:lnSpc>
                      </a:pPr>
                      <a:r>
                        <a:rPr sz="950" b="1" lang="zh-CN" altLang="en-US">
                          <a:solidFill>
                            <a:srgbClr val="262626"/>
                          </a:solidFill>
                          <a:latin typeface="微软雅黑"/>
                          <a:ea typeface="微软雅黑"/>
                          <a:cs typeface="微软雅黑"/>
                        </a:rPr>
                        <a:t>人才强企与技能人才队伍建设</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认证表 42 个模块逐人逐格确认，核心业务自主实施能力实时计算；师带徒、骨干培养、后备梯队纳入台账</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月度授权状态报表报主管、带教取证任务、骨干培养计划、后备梯队</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48640">
                <a:tc>
                  <a:txBody>
                    <a:bodyPr wrap="square"/>
                    <a:lstStyle/>
                    <a:p>
                      <a:pPr>
                        <a:lnSpc>
                          <a:spcPct val="108000"/>
                        </a:lnSpc>
                      </a:pPr>
                      <a:r>
                        <a:rPr sz="950" b="1" lang="zh-CN" altLang="en-US">
                          <a:solidFill>
                            <a:srgbClr val="262626"/>
                          </a:solidFill>
                          <a:latin typeface="微软雅黑"/>
                          <a:ea typeface="微软雅黑"/>
                          <a:cs typeface="微软雅黑"/>
                        </a:rPr>
                        <a:t>星级班组建设</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20 个评价维度台账驱动实时初评，当前等级、目标等级、距目标分、必备条件、差距指标按周期自动形成</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季度自评材料、差距指标与提升措施、排进班组计划的提升任务</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48640">
                <a:tc>
                  <a:txBody>
                    <a:bodyPr wrap="square"/>
                    <a:lstStyle/>
                    <a:p>
                      <a:pPr>
                        <a:lnSpc>
                          <a:spcPct val="108000"/>
                        </a:lnSpc>
                      </a:pPr>
                      <a:r>
                        <a:rPr sz="950" b="1" lang="zh-CN" altLang="en-US">
                          <a:solidFill>
                            <a:srgbClr val="262626"/>
                          </a:solidFill>
                          <a:latin typeface="微软雅黑"/>
                          <a:ea typeface="微软雅黑"/>
                          <a:cs typeface="微软雅黑"/>
                        </a:rPr>
                        <a:t>业绩责任书与绩效管理</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考核指标三维度照录责任书实时红黄绿并督办；班长绩效季度自动取数初评、分档不排名次；班员系数由履职证据与工分推导</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考核指标看板与督办记录、班长绩效考评表、激励分配表与确认记录</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48640">
                <a:tc>
                  <a:txBody>
                    <a:bodyPr wrap="square"/>
                    <a:lstStyle/>
                    <a:p>
                      <a:pPr>
                        <a:lnSpc>
                          <a:spcPct val="108000"/>
                        </a:lnSpc>
                      </a:pPr>
                      <a:r>
                        <a:rPr sz="950" b="1" lang="zh-CN" altLang="en-US">
                          <a:solidFill>
                            <a:srgbClr val="262626"/>
                          </a:solidFill>
                          <a:latin typeface="微软雅黑"/>
                          <a:ea typeface="微软雅黑"/>
                          <a:cs typeface="微软雅黑"/>
                        </a:rPr>
                        <a:t>安全生产责任制与本质安全</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两票审核、作业授权、断层风险、违章与关键节点在派工环节前置把关；关键节点 19 项逐周闭环；安全与帮扶活动回写星级得分</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派工理由表、两票审核记录、关键节点闭环记录、安全活动台账</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48640">
                <a:tc>
                  <a:txBody>
                    <a:bodyPr wrap="square"/>
                    <a:lstStyle/>
                    <a:p>
                      <a:pPr>
                        <a:lnSpc>
                          <a:spcPct val="108000"/>
                        </a:lnSpc>
                      </a:pPr>
                      <a:r>
                        <a:rPr sz="950" b="1" lang="zh-CN" altLang="en-US">
                          <a:solidFill>
                            <a:srgbClr val="262626"/>
                          </a:solidFill>
                          <a:latin typeface="微软雅黑"/>
                          <a:ea typeface="微软雅黑"/>
                          <a:cs typeface="微软雅黑"/>
                        </a:rPr>
                        <a:t>基层减负与员工关怀</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班前会材料、月度总结、分配表、面谈提纲、诊断与参谋报告逐段生成；关键年份、谈心回访、高强度外勤主动提示</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每月事务性用时减少约 25 小时的操作流水证据、关怀提醒与面谈记录</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48640">
                <a:tc>
                  <a:txBody>
                    <a:bodyPr wrap="square"/>
                    <a:lstStyle/>
                    <a:p>
                      <a:pPr>
                        <a:lnSpc>
                          <a:spcPct val="108000"/>
                        </a:lnSpc>
                      </a:pPr>
                      <a:r>
                        <a:rPr sz="950" b="1" lang="zh-CN" altLang="en-US">
                          <a:solidFill>
                            <a:srgbClr val="262626"/>
                          </a:solidFill>
                          <a:latin typeface="微软雅黑"/>
                          <a:ea typeface="微软雅黑"/>
                          <a:cs typeface="微软雅黑"/>
                        </a:rPr>
                        <a:t>人力资源数智化创新与人工智能应用</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班组长 AI 助手依托电力人工智能创新平台与大瓦特大模型，查数、决策依据、文稿、诊断、经验整理五类能力，人在回路</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wrap="square"/>
                    <a:lstStyle/>
                    <a:p>
                      <a:pPr>
                        <a:lnSpc>
                          <a:spcPct val="108000"/>
                        </a:lnSpc>
                      </a:pPr>
                      <a:r>
                        <a:rPr sz="950" b="0" lang="zh-CN" altLang="en-US">
                          <a:solidFill>
                            <a:srgbClr val="262626"/>
                          </a:solidFill>
                          <a:latin typeface="微软雅黑"/>
                          <a:ea typeface="微软雅黑"/>
                          <a:cs typeface="微软雅黑"/>
                        </a:rPr>
                        <a:t>可复制的班组级 AI 助手样板；每次确认留名留痕</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r>
              <a:tr h="548640">
                <a:tc>
                  <a:txBody>
                    <a:bodyPr wrap="square"/>
                    <a:lstStyle/>
                    <a:p>
                      <a:pPr>
                        <a:lnSpc>
                          <a:spcPct val="108000"/>
                        </a:lnSpc>
                      </a:pPr>
                      <a:r>
                        <a:rPr sz="950" b="1" lang="zh-CN" altLang="en-US">
                          <a:solidFill>
                            <a:srgbClr val="262626"/>
                          </a:solidFill>
                          <a:latin typeface="微软雅黑"/>
                          <a:ea typeface="微软雅黑"/>
                          <a:cs typeface="微软雅黑"/>
                        </a:rPr>
                        <a:t>数据安全与员工权益保护</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内网部署、数据不出域；角色分级授权、人员信息最小必要展示；涉及人的结论由班组长或部门确认后生效</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nSpc>
                          <a:spcPct val="108000"/>
                        </a:lnSpc>
                      </a:pPr>
                      <a:r>
                        <a:rPr sz="950" b="0" lang="zh-CN" altLang="en-US">
                          <a:solidFill>
                            <a:srgbClr val="262626"/>
                          </a:solidFill>
                          <a:latin typeface="微软雅黑"/>
                          <a:ea typeface="微软雅黑"/>
                          <a:cs typeface="微软雅黑"/>
                        </a:rPr>
                        <a:t>权限矩阵、确认记录、操作流水</a:t>
                      </a:r>
                    </a:p>
                  </a:txBody>
                  <a:tcPr marL="73152" marR="73152" marT="36576" marB="36576"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三、应用成效</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当前的实用化和运营情况</a:t>
            </a:r>
          </a:p>
        </p:txBody>
      </p:sp>
      <p:sp>
        <p:nvSpPr>
          <p:cNvPr id="5" name="Rectangle 4"/>
          <p:cNvSpPr/>
          <p:nvPr/>
        </p:nvSpPr>
        <p:spPr>
          <a:xfrm>
            <a:off x="320040" y="1371600"/>
            <a:ext cx="1280160" cy="109728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应用范围</a:t>
            </a:r>
          </a:p>
        </p:txBody>
      </p:sp>
      <p:sp>
        <p:nvSpPr>
          <p:cNvPr id="6" name="Rectangle 5"/>
          <p:cNvSpPr/>
          <p:nvPr/>
        </p:nvSpPr>
        <p:spPr>
          <a:xfrm>
            <a:off x="1600200" y="1371600"/>
            <a:ext cx="5257800" cy="10972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737360" y="1371600"/>
            <a:ext cx="5029200" cy="1097280"/>
          </a:xfrm>
          <a:prstGeom prst="rect">
            <a:avLst/>
          </a:prstGeom>
          <a:noFill/>
        </p:spPr>
        <p:txBody>
          <a:bodyPr wrap="square" anchor="ctr" lIns="45720" rIns="45720" tIns="27432" bIns="27432">
            <a:spAutoFit/>
          </a:bodyPr>
          <a:lstStyle/>
          <a:p>
            <a:pPr algn="l">
              <a:lnSpc>
                <a:spcPct val="118000"/>
              </a:lnSpc>
            </a:pPr>
            <a:r>
              <a:rPr sz="1100" b="0" lang="zh-CN" altLang="en-US">
                <a:solidFill>
                  <a:srgbClr val="262626"/>
                </a:solidFill>
                <a:latin typeface="微软雅黑"/>
                <a:ea typeface="微软雅黑"/>
                <a:cs typeface="微软雅黑"/>
              </a:rPr>
              <a:t>光明供电局配网资产部三个班组 31 人，班组长与部门管理者两类用户，覆盖班组整体、人员情况、日常业务与部门的业务、管理两条主线</a:t>
            </a:r>
          </a:p>
        </p:txBody>
      </p:sp>
      <p:sp>
        <p:nvSpPr>
          <p:cNvPr id="8" name="Rectangle 7"/>
          <p:cNvSpPr/>
          <p:nvPr/>
        </p:nvSpPr>
        <p:spPr>
          <a:xfrm>
            <a:off x="320040" y="2587752"/>
            <a:ext cx="1280160" cy="109728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建设进度</a:t>
            </a:r>
          </a:p>
        </p:txBody>
      </p:sp>
      <p:sp>
        <p:nvSpPr>
          <p:cNvPr id="9" name="Rectangle 8"/>
          <p:cNvSpPr/>
          <p:nvPr/>
        </p:nvSpPr>
        <p:spPr>
          <a:xfrm>
            <a:off x="1600200" y="2587752"/>
            <a:ext cx="5257800" cy="10972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737360" y="2587752"/>
            <a:ext cx="5029200" cy="1097280"/>
          </a:xfrm>
          <a:prstGeom prst="rect">
            <a:avLst/>
          </a:prstGeom>
          <a:noFill/>
        </p:spPr>
        <p:txBody>
          <a:bodyPr wrap="square" anchor="ctr" lIns="45720" rIns="45720" tIns="27432" bIns="27432">
            <a:spAutoFit/>
          </a:bodyPr>
          <a:lstStyle/>
          <a:p>
            <a:pPr algn="l">
              <a:lnSpc>
                <a:spcPct val="118000"/>
              </a:lnSpc>
            </a:pPr>
            <a:r>
              <a:rPr sz="1100" b="0" lang="zh-CN" altLang="en-US">
                <a:solidFill>
                  <a:srgbClr val="262626"/>
                </a:solidFill>
                <a:latin typeface="微软雅黑"/>
                <a:ea typeface="微软雅黑"/>
                <a:cs typeface="微软雅黑"/>
              </a:rPr>
              <a:t>班组长端 12 页、管理者端 9 页、十七张台账、派工与考评规则、作业授权认证表、星级评价初评模型已完成，单文件离线原型已可运行；每一次确认留名留痕</a:t>
            </a:r>
          </a:p>
        </p:txBody>
      </p:sp>
      <p:sp>
        <p:nvSpPr>
          <p:cNvPr id="11" name="Rectangle 10"/>
          <p:cNvSpPr/>
          <p:nvPr/>
        </p:nvSpPr>
        <p:spPr>
          <a:xfrm>
            <a:off x="320040" y="3803904"/>
            <a:ext cx="1280160" cy="109728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数据对接</a:t>
            </a:r>
          </a:p>
        </p:txBody>
      </p:sp>
      <p:sp>
        <p:nvSpPr>
          <p:cNvPr id="12" name="Rectangle 11"/>
          <p:cNvSpPr/>
          <p:nvPr/>
        </p:nvSpPr>
        <p:spPr>
          <a:xfrm>
            <a:off x="1600200" y="3803904"/>
            <a:ext cx="5257800" cy="10972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737360" y="3803904"/>
            <a:ext cx="5029200" cy="1097280"/>
          </a:xfrm>
          <a:prstGeom prst="rect">
            <a:avLst/>
          </a:prstGeom>
          <a:noFill/>
        </p:spPr>
        <p:txBody>
          <a:bodyPr wrap="square" anchor="ctr" lIns="45720" rIns="45720" tIns="27432" bIns="27432">
            <a:spAutoFit/>
          </a:bodyPr>
          <a:lstStyle/>
          <a:p>
            <a:pPr algn="l">
              <a:lnSpc>
                <a:spcPct val="118000"/>
              </a:lnSpc>
            </a:pPr>
            <a:r>
              <a:rPr sz="1100" b="0" lang="zh-CN" altLang="en-US">
                <a:solidFill>
                  <a:srgbClr val="262626"/>
                </a:solidFill>
                <a:latin typeface="微软雅黑"/>
                <a:ea typeface="微软雅黑"/>
                <a:cs typeface="微软雅黑"/>
              </a:rPr>
              <a:t>人资系统、OMS、OCS、电网管理平台、党建与荣誉台账的接口口径已明确，取自公司现有系统，不增加班组数据采集负担</a:t>
            </a:r>
          </a:p>
        </p:txBody>
      </p:sp>
      <p:sp>
        <p:nvSpPr>
          <p:cNvPr id="14" name="Rectangle 13"/>
          <p:cNvSpPr/>
          <p:nvPr/>
        </p:nvSpPr>
        <p:spPr>
          <a:xfrm>
            <a:off x="320040" y="5020056"/>
            <a:ext cx="1280160" cy="109728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运行安排</a:t>
            </a:r>
          </a:p>
        </p:txBody>
      </p:sp>
      <p:sp>
        <p:nvSpPr>
          <p:cNvPr id="15" name="Rectangle 14"/>
          <p:cNvSpPr/>
          <p:nvPr/>
        </p:nvSpPr>
        <p:spPr>
          <a:xfrm>
            <a:off x="1600200" y="5020056"/>
            <a:ext cx="5257800" cy="10972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737360" y="5020056"/>
            <a:ext cx="5029200" cy="1097280"/>
          </a:xfrm>
          <a:prstGeom prst="rect">
            <a:avLst/>
          </a:prstGeom>
          <a:noFill/>
        </p:spPr>
        <p:txBody>
          <a:bodyPr wrap="square" anchor="ctr" lIns="45720" rIns="45720" tIns="27432" bIns="27432">
            <a:spAutoFit/>
          </a:bodyPr>
          <a:lstStyle/>
          <a:p>
            <a:pPr algn="l">
              <a:lnSpc>
                <a:spcPct val="118000"/>
              </a:lnSpc>
            </a:pPr>
            <a:r>
              <a:rPr sz="1100" b="0" lang="zh-CN" altLang="en-US">
                <a:solidFill>
                  <a:srgbClr val="262626"/>
                </a:solidFill>
                <a:latin typeface="微软雅黑"/>
                <a:ea typeface="微软雅黑"/>
                <a:cs typeface="微软雅黑"/>
              </a:rPr>
              <a:t>2026 年四季度在三个班组试点运行；按月形成授权状态、星级差距、班长绩效三类报表报主管；非台账维度的初步得分与其他班组底数由业务部门确认后启用</a:t>
            </a:r>
          </a:p>
        </p:txBody>
      </p:sp>
      <p:pic>
        <p:nvPicPr>
          <p:cNvPr id="17" name="Picture 16" descr="sb_ask.png"/>
          <p:cNvPicPr>
            <a:picLocks noChangeAspect="1"/>
          </p:cNvPicPr>
          <p:nvPr/>
        </p:nvPicPr>
        <p:blipFill>
          <a:blip r:embed="rId3"/>
          <a:stretch>
            <a:fillRect/>
          </a:stretch>
        </p:blipFill>
        <p:spPr>
          <a:xfrm>
            <a:off x="7086600" y="1371600"/>
            <a:ext cx="4782312" cy="2988945"/>
          </a:xfrm>
          <a:prstGeom prst="rect">
            <a:avLst/>
          </a:prstGeom>
          <a:ln w="9525">
            <a:solidFill>
              <a:srgbClr val="BFBFBF"/>
            </a:solidFill>
          </a:ln>
        </p:spPr>
      </p:pic>
      <p:sp>
        <p:nvSpPr>
          <p:cNvPr id="18" name="Rectangle 17"/>
          <p:cNvSpPr/>
          <p:nvPr/>
        </p:nvSpPr>
        <p:spPr>
          <a:xfrm>
            <a:off x="7086600" y="4470273"/>
            <a:ext cx="4782312" cy="34747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lang="zh-CN" altLang="en-US">
                <a:solidFill>
                  <a:srgbClr val="FFFFFF"/>
                </a:solidFill>
                <a:latin typeface="微软雅黑"/>
                <a:ea typeface="微软雅黑"/>
                <a:cs typeface="微软雅黑"/>
              </a:rPr>
              <a:t>问大瓦特 · 班组长 AI 助手</a:t>
            </a:r>
          </a:p>
        </p:txBody>
      </p:sp>
      <p:sp>
        <p:nvSpPr>
          <p:cNvPr id="19" name="Rectangle 18"/>
          <p:cNvSpPr/>
          <p:nvPr/>
        </p:nvSpPr>
        <p:spPr>
          <a:xfrm>
            <a:off x="7086600" y="4817745"/>
            <a:ext cx="4782312" cy="1400174"/>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178040" y="4863465"/>
            <a:ext cx="4599432" cy="1308734"/>
          </a:xfrm>
          <a:prstGeom prst="rect">
            <a:avLst/>
          </a:prstGeom>
          <a:noFill/>
        </p:spPr>
        <p:txBody>
          <a:bodyPr wrap="square" anchor="t" lIns="45720" rIns="45720" tIns="27432" bIns="27432">
            <a:spAutoFit/>
          </a:bodyPr>
          <a:lstStyle/>
          <a:p>
            <a:pPr algn="l">
              <a:lnSpc>
                <a:spcPct val="115000"/>
              </a:lnSpc>
            </a:pPr>
            <a:r>
              <a:rPr sz="1050" b="0" lang="zh-CN" altLang="en-US">
                <a:solidFill>
                  <a:srgbClr val="262626"/>
                </a:solidFill>
                <a:latin typeface="微软雅黑"/>
                <a:ea typeface="微软雅黑"/>
                <a:cs typeface="微软雅黑"/>
              </a:rPr>
              <a:t>查数配图、决策依据、文稿逐段生成、诊断归因、经验整理五类问法；数字类回答同步配图，名单可下钻；涉及人员评价的结论标注“由班组长确认后使用”；语音为辅，所有语音路径都有等价的点击路径。</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四、推广价值</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推广计划：推广对象、推广模式、预期效果</a:t>
            </a:r>
          </a:p>
        </p:txBody>
      </p:sp>
      <p:sp>
        <p:nvSpPr>
          <p:cNvPr id="5" name="Rectangle 4"/>
          <p:cNvSpPr/>
          <p:nvPr/>
        </p:nvSpPr>
        <p:spPr>
          <a:xfrm>
            <a:off x="1097280" y="2130552"/>
            <a:ext cx="9966960" cy="4572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2103120" y="1874519"/>
            <a:ext cx="548640" cy="548640"/>
          </a:xfrm>
          <a:prstGeom prst="ellips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lang="zh-CN" altLang="en-US">
                <a:solidFill>
                  <a:srgbClr val="FFFFFF"/>
                </a:solidFill>
                <a:latin typeface="微软雅黑"/>
                <a:ea typeface="微软雅黑"/>
                <a:cs typeface="微软雅黑"/>
              </a:rPr>
              <a:t>1</a:t>
            </a:r>
          </a:p>
        </p:txBody>
      </p:sp>
      <p:sp>
        <p:nvSpPr>
          <p:cNvPr id="7" name="TextBox 6"/>
          <p:cNvSpPr txBox="1"/>
          <p:nvPr/>
        </p:nvSpPr>
        <p:spPr>
          <a:xfrm>
            <a:off x="731520" y="1371600"/>
            <a:ext cx="3291840" cy="411480"/>
          </a:xfrm>
          <a:prstGeom prst="rect">
            <a:avLst/>
          </a:prstGeom>
          <a:noFill/>
        </p:spPr>
        <p:txBody>
          <a:bodyPr wrap="square" anchor="ctr" lIns="45720" rIns="45720" tIns="27432" bIns="27432">
            <a:spAutoFit/>
          </a:bodyPr>
          <a:lstStyle/>
          <a:p>
            <a:pPr algn="ctr"/>
            <a:r>
              <a:rPr sz="1500" b="1" lang="zh-CN" altLang="en-US">
                <a:solidFill>
                  <a:srgbClr val="002060"/>
                </a:solidFill>
                <a:latin typeface="微软雅黑"/>
                <a:ea typeface="微软雅黑"/>
                <a:cs typeface="微软雅黑"/>
              </a:rPr>
              <a:t>2026 年四季度</a:t>
            </a:r>
          </a:p>
        </p:txBody>
      </p:sp>
      <p:sp>
        <p:nvSpPr>
          <p:cNvPr id="8" name="Rectangle 7"/>
          <p:cNvSpPr/>
          <p:nvPr/>
        </p:nvSpPr>
        <p:spPr>
          <a:xfrm>
            <a:off x="685800" y="2606040"/>
            <a:ext cx="3383280" cy="11887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60" y="2670048"/>
            <a:ext cx="3108960" cy="365760"/>
          </a:xfrm>
          <a:prstGeom prst="rect">
            <a:avLst/>
          </a:prstGeom>
          <a:noFill/>
        </p:spPr>
        <p:txBody>
          <a:bodyPr wrap="square" anchor="ctr" lIns="45720" rIns="45720" tIns="27432" bIns="27432">
            <a:spAutoFit/>
          </a:bodyPr>
          <a:lstStyle/>
          <a:p>
            <a:pPr algn="ctr"/>
            <a:r>
              <a:rPr sz="1400" b="1" lang="zh-CN" altLang="en-US">
                <a:solidFill>
                  <a:srgbClr val="002060"/>
                </a:solidFill>
                <a:latin typeface="微软雅黑"/>
                <a:ea typeface="微软雅黑"/>
                <a:cs typeface="微软雅黑"/>
              </a:rPr>
              <a:t>部门试点</a:t>
            </a:r>
          </a:p>
        </p:txBody>
      </p:sp>
      <p:sp>
        <p:nvSpPr>
          <p:cNvPr id="10" name="TextBox 9"/>
          <p:cNvSpPr txBox="1"/>
          <p:nvPr/>
        </p:nvSpPr>
        <p:spPr>
          <a:xfrm>
            <a:off x="822960" y="3035808"/>
            <a:ext cx="3108960" cy="731520"/>
          </a:xfrm>
          <a:prstGeom prst="rect">
            <a:avLst/>
          </a:prstGeom>
          <a:noFill/>
        </p:spPr>
        <p:txBody>
          <a:bodyPr wrap="square" anchor="t" lIns="45720" rIns="45720" tIns="27432" bIns="27432">
            <a:spAutoFit/>
          </a:bodyPr>
          <a:lstStyle/>
          <a:p>
            <a:pPr algn="ctr">
              <a:lnSpc>
                <a:spcPct val="115000"/>
              </a:lnSpc>
            </a:pPr>
            <a:r>
              <a:rPr sz="1050" b="0" lang="zh-CN" altLang="en-US">
                <a:solidFill>
                  <a:srgbClr val="262626"/>
                </a:solidFill>
                <a:latin typeface="微软雅黑"/>
                <a:ea typeface="微软雅黑"/>
                <a:cs typeface="微软雅黑"/>
              </a:rPr>
              <a:t>光明供电局配网资产部三个班组试点运行，形成第一轮运行数据并完善口径</a:t>
            </a:r>
          </a:p>
        </p:txBody>
      </p:sp>
      <p:sp>
        <p:nvSpPr>
          <p:cNvPr id="11" name="Oval 10"/>
          <p:cNvSpPr/>
          <p:nvPr/>
        </p:nvSpPr>
        <p:spPr>
          <a:xfrm>
            <a:off x="5824728" y="1874519"/>
            <a:ext cx="548640" cy="548640"/>
          </a:xfrm>
          <a:prstGeom prst="ellips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lang="zh-CN" altLang="en-US">
                <a:solidFill>
                  <a:srgbClr val="FFFFFF"/>
                </a:solidFill>
                <a:latin typeface="微软雅黑"/>
                <a:ea typeface="微软雅黑"/>
                <a:cs typeface="微软雅黑"/>
              </a:rPr>
              <a:t>2</a:t>
            </a:r>
          </a:p>
        </p:txBody>
      </p:sp>
      <p:sp>
        <p:nvSpPr>
          <p:cNvPr id="12" name="TextBox 11"/>
          <p:cNvSpPr txBox="1"/>
          <p:nvPr/>
        </p:nvSpPr>
        <p:spPr>
          <a:xfrm>
            <a:off x="4453128" y="1371600"/>
            <a:ext cx="3291840" cy="411480"/>
          </a:xfrm>
          <a:prstGeom prst="rect">
            <a:avLst/>
          </a:prstGeom>
          <a:noFill/>
        </p:spPr>
        <p:txBody>
          <a:bodyPr wrap="square" anchor="ctr" lIns="45720" rIns="45720" tIns="27432" bIns="27432">
            <a:spAutoFit/>
          </a:bodyPr>
          <a:lstStyle/>
          <a:p>
            <a:pPr algn="ctr"/>
            <a:r>
              <a:rPr sz="1500" b="1" lang="zh-CN" altLang="en-US">
                <a:solidFill>
                  <a:srgbClr val="002060"/>
                </a:solidFill>
                <a:latin typeface="微软雅黑"/>
                <a:ea typeface="微软雅黑"/>
                <a:cs typeface="微软雅黑"/>
              </a:rPr>
              <a:t>2027 年上半年</a:t>
            </a:r>
          </a:p>
        </p:txBody>
      </p:sp>
      <p:sp>
        <p:nvSpPr>
          <p:cNvPr id="13" name="Rectangle 12"/>
          <p:cNvSpPr/>
          <p:nvPr/>
        </p:nvSpPr>
        <p:spPr>
          <a:xfrm>
            <a:off x="4407408" y="2606040"/>
            <a:ext cx="3383280" cy="11887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44568" y="2670048"/>
            <a:ext cx="3108960" cy="365760"/>
          </a:xfrm>
          <a:prstGeom prst="rect">
            <a:avLst/>
          </a:prstGeom>
          <a:noFill/>
        </p:spPr>
        <p:txBody>
          <a:bodyPr wrap="square" anchor="ctr" lIns="45720" rIns="45720" tIns="27432" bIns="27432">
            <a:spAutoFit/>
          </a:bodyPr>
          <a:lstStyle/>
          <a:p>
            <a:pPr algn="ctr"/>
            <a:r>
              <a:rPr sz="1400" b="1" lang="zh-CN" altLang="en-US">
                <a:solidFill>
                  <a:srgbClr val="002060"/>
                </a:solidFill>
                <a:latin typeface="微软雅黑"/>
                <a:ea typeface="微软雅黑"/>
                <a:cs typeface="微软雅黑"/>
              </a:rPr>
              <a:t>全局复制</a:t>
            </a:r>
          </a:p>
        </p:txBody>
      </p:sp>
      <p:sp>
        <p:nvSpPr>
          <p:cNvPr id="15" name="TextBox 14"/>
          <p:cNvSpPr txBox="1"/>
          <p:nvPr/>
        </p:nvSpPr>
        <p:spPr>
          <a:xfrm>
            <a:off x="4544568" y="3035808"/>
            <a:ext cx="3108960" cy="731520"/>
          </a:xfrm>
          <a:prstGeom prst="rect">
            <a:avLst/>
          </a:prstGeom>
          <a:noFill/>
        </p:spPr>
        <p:txBody>
          <a:bodyPr wrap="square" anchor="t" lIns="45720" rIns="45720" tIns="27432" bIns="27432">
            <a:spAutoFit/>
          </a:bodyPr>
          <a:lstStyle/>
          <a:p>
            <a:pPr algn="ctr">
              <a:lnSpc>
                <a:spcPct val="115000"/>
              </a:lnSpc>
            </a:pPr>
            <a:r>
              <a:rPr sz="1050" b="0" lang="zh-CN" altLang="en-US">
                <a:solidFill>
                  <a:srgbClr val="262626"/>
                </a:solidFill>
                <a:latin typeface="微软雅黑"/>
                <a:ea typeface="微软雅黑"/>
                <a:cs typeface="微软雅黑"/>
              </a:rPr>
              <a:t>推广至深圳供电局配网专业班组，完成变电、输电专业口径配置</a:t>
            </a:r>
          </a:p>
        </p:txBody>
      </p:sp>
      <p:sp>
        <p:nvSpPr>
          <p:cNvPr id="16" name="Oval 15"/>
          <p:cNvSpPr/>
          <p:nvPr/>
        </p:nvSpPr>
        <p:spPr>
          <a:xfrm>
            <a:off x="9546336" y="1874519"/>
            <a:ext cx="548640" cy="548640"/>
          </a:xfrm>
          <a:prstGeom prst="ellips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lang="zh-CN" altLang="en-US">
                <a:solidFill>
                  <a:srgbClr val="FFFFFF"/>
                </a:solidFill>
                <a:latin typeface="微软雅黑"/>
                <a:ea typeface="微软雅黑"/>
                <a:cs typeface="微软雅黑"/>
              </a:rPr>
              <a:t>3</a:t>
            </a:r>
          </a:p>
        </p:txBody>
      </p:sp>
      <p:sp>
        <p:nvSpPr>
          <p:cNvPr id="17" name="TextBox 16"/>
          <p:cNvSpPr txBox="1"/>
          <p:nvPr/>
        </p:nvSpPr>
        <p:spPr>
          <a:xfrm>
            <a:off x="8174736" y="1371600"/>
            <a:ext cx="3291840" cy="411480"/>
          </a:xfrm>
          <a:prstGeom prst="rect">
            <a:avLst/>
          </a:prstGeom>
          <a:noFill/>
        </p:spPr>
        <p:txBody>
          <a:bodyPr wrap="square" anchor="ctr" lIns="45720" rIns="45720" tIns="27432" bIns="27432">
            <a:spAutoFit/>
          </a:bodyPr>
          <a:lstStyle/>
          <a:p>
            <a:pPr algn="ctr"/>
            <a:r>
              <a:rPr sz="1500" b="1" lang="zh-CN" altLang="en-US">
                <a:solidFill>
                  <a:srgbClr val="002060"/>
                </a:solidFill>
                <a:latin typeface="微软雅黑"/>
                <a:ea typeface="微软雅黑"/>
                <a:cs typeface="微软雅黑"/>
              </a:rPr>
              <a:t>2027 年下半年起</a:t>
            </a:r>
          </a:p>
        </p:txBody>
      </p:sp>
      <p:sp>
        <p:nvSpPr>
          <p:cNvPr id="18" name="Rectangle 17"/>
          <p:cNvSpPr/>
          <p:nvPr/>
        </p:nvSpPr>
        <p:spPr>
          <a:xfrm>
            <a:off x="8129016" y="2606040"/>
            <a:ext cx="3383280" cy="11887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66176" y="2670048"/>
            <a:ext cx="3108960" cy="365760"/>
          </a:xfrm>
          <a:prstGeom prst="rect">
            <a:avLst/>
          </a:prstGeom>
          <a:noFill/>
        </p:spPr>
        <p:txBody>
          <a:bodyPr wrap="square" anchor="ctr" lIns="45720" rIns="45720" tIns="27432" bIns="27432">
            <a:spAutoFit/>
          </a:bodyPr>
          <a:lstStyle/>
          <a:p>
            <a:pPr algn="ctr"/>
            <a:r>
              <a:rPr sz="1400" b="1" lang="zh-CN" altLang="en-US">
                <a:solidFill>
                  <a:srgbClr val="002060"/>
                </a:solidFill>
                <a:latin typeface="微软雅黑"/>
                <a:ea typeface="微软雅黑"/>
                <a:cs typeface="微软雅黑"/>
              </a:rPr>
              <a:t>网省推广</a:t>
            </a:r>
          </a:p>
        </p:txBody>
      </p:sp>
      <p:sp>
        <p:nvSpPr>
          <p:cNvPr id="20" name="TextBox 19"/>
          <p:cNvSpPr txBox="1"/>
          <p:nvPr/>
        </p:nvSpPr>
        <p:spPr>
          <a:xfrm>
            <a:off x="8266176" y="3035808"/>
            <a:ext cx="3108960" cy="731520"/>
          </a:xfrm>
          <a:prstGeom prst="rect">
            <a:avLst/>
          </a:prstGeom>
          <a:noFill/>
        </p:spPr>
        <p:txBody>
          <a:bodyPr wrap="square" anchor="t" lIns="45720" rIns="45720" tIns="27432" bIns="27432">
            <a:spAutoFit/>
          </a:bodyPr>
          <a:lstStyle/>
          <a:p>
            <a:pPr algn="ctr">
              <a:lnSpc>
                <a:spcPct val="115000"/>
              </a:lnSpc>
            </a:pPr>
            <a:r>
              <a:rPr sz="1050" b="0" lang="zh-CN" altLang="en-US">
                <a:solidFill>
                  <a:srgbClr val="262626"/>
                </a:solidFill>
                <a:latin typeface="微软雅黑"/>
                <a:ea typeface="微软雅黑"/>
                <a:cs typeface="微软雅黑"/>
              </a:rPr>
              <a:t>具备向网内其他单位推广的条件，形成公司级班组管理产品</a:t>
            </a:r>
          </a:p>
        </p:txBody>
      </p:sp>
      <p:sp>
        <p:nvSpPr>
          <p:cNvPr id="21" name="Rectangle 20"/>
          <p:cNvSpPr/>
          <p:nvPr/>
        </p:nvSpPr>
        <p:spPr>
          <a:xfrm>
            <a:off x="320040" y="4023360"/>
            <a:ext cx="3776472"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推广对象</a:t>
            </a:r>
          </a:p>
        </p:txBody>
      </p:sp>
      <p:sp>
        <p:nvSpPr>
          <p:cNvPr id="22" name="Rectangle 21"/>
          <p:cNvSpPr/>
          <p:nvPr/>
        </p:nvSpPr>
        <p:spPr>
          <a:xfrm>
            <a:off x="320040" y="4407408"/>
            <a:ext cx="3776472" cy="181051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93192" y="4480560"/>
            <a:ext cx="3630168" cy="1664208"/>
          </a:xfrm>
          <a:prstGeom prst="rect">
            <a:avLst/>
          </a:prstGeom>
          <a:noFill/>
        </p:spPr>
        <p:txBody>
          <a:bodyPr wrap="square" anchor="t" lIns="73152" rIns="73152" tIns="27432" bIns="27432">
            <a:spAutoFit/>
          </a:bodyPr>
          <a:lstStyle/>
          <a:p>
            <a:pPr algn="l">
              <a:lnSpc>
                <a:spcPct val="115000"/>
              </a:lnSpc>
            </a:pPr>
            <a:r>
              <a:rPr sz="1100" b="0" lang="zh-CN" altLang="en-US">
                <a:solidFill>
                  <a:srgbClr val="262626"/>
                </a:solidFill>
                <a:latin typeface="微软雅黑"/>
                <a:ea typeface="微软雅黑"/>
                <a:cs typeface="微软雅黑"/>
              </a:rPr>
              <a:t>各供电局配网、变电、输电等专业生产班组的班组长及所在部门管理者</a:t>
            </a:r>
          </a:p>
        </p:txBody>
      </p:sp>
      <p:sp>
        <p:nvSpPr>
          <p:cNvPr id="24" name="Rectangle 23"/>
          <p:cNvSpPr/>
          <p:nvPr/>
        </p:nvSpPr>
        <p:spPr>
          <a:xfrm>
            <a:off x="4206240" y="4023360"/>
            <a:ext cx="3776472"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推广模式</a:t>
            </a:r>
          </a:p>
        </p:txBody>
      </p:sp>
      <p:sp>
        <p:nvSpPr>
          <p:cNvPr id="25" name="Rectangle 24"/>
          <p:cNvSpPr/>
          <p:nvPr/>
        </p:nvSpPr>
        <p:spPr>
          <a:xfrm>
            <a:off x="4206240" y="4407408"/>
            <a:ext cx="3776472" cy="181051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279392" y="4480560"/>
            <a:ext cx="3630168" cy="1664208"/>
          </a:xfrm>
          <a:prstGeom prst="rect">
            <a:avLst/>
          </a:prstGeom>
          <a:noFill/>
        </p:spPr>
        <p:txBody>
          <a:bodyPr wrap="square" anchor="t" lIns="73152" rIns="73152" tIns="27432" bIns="27432">
            <a:spAutoFit/>
          </a:bodyPr>
          <a:lstStyle/>
          <a:p>
            <a:pPr algn="l">
              <a:lnSpc>
                <a:spcPct val="115000"/>
              </a:lnSpc>
            </a:pPr>
            <a:r>
              <a:rPr sz="1100" b="0" lang="zh-CN" altLang="en-US">
                <a:solidFill>
                  <a:srgbClr val="262626"/>
                </a:solidFill>
                <a:latin typeface="微软雅黑"/>
                <a:ea typeface="微软雅黑"/>
                <a:cs typeface="微软雅黑"/>
              </a:rPr>
              <a:t>配置化复制：认证表、星级分册、责任书指标、派工规则与班组约定、考评权重均为可配置口径，数据底座、规则框架与页面框架不变；页面与模型按模块组织，可按场景开关</a:t>
            </a:r>
          </a:p>
        </p:txBody>
      </p:sp>
      <p:sp>
        <p:nvSpPr>
          <p:cNvPr id="27" name="Rectangle 26"/>
          <p:cNvSpPr/>
          <p:nvPr/>
        </p:nvSpPr>
        <p:spPr>
          <a:xfrm>
            <a:off x="8092440" y="4023360"/>
            <a:ext cx="3776472"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预期效果</a:t>
            </a:r>
          </a:p>
        </p:txBody>
      </p:sp>
      <p:sp>
        <p:nvSpPr>
          <p:cNvPr id="28" name="Rectangle 27"/>
          <p:cNvSpPr/>
          <p:nvPr/>
        </p:nvSpPr>
        <p:spPr>
          <a:xfrm>
            <a:off x="8092440" y="4407408"/>
            <a:ext cx="3776472" cy="181051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165592" y="4480560"/>
            <a:ext cx="3630168" cy="1664208"/>
          </a:xfrm>
          <a:prstGeom prst="rect">
            <a:avLst/>
          </a:prstGeom>
          <a:noFill/>
        </p:spPr>
        <p:txBody>
          <a:bodyPr wrap="square" anchor="t" lIns="73152" rIns="73152" tIns="27432" bIns="27432">
            <a:spAutoFit/>
          </a:bodyPr>
          <a:lstStyle/>
          <a:p>
            <a:pPr algn="l">
              <a:lnSpc>
                <a:spcPct val="115000"/>
              </a:lnSpc>
            </a:pPr>
            <a:r>
              <a:rPr sz="1100" b="0" lang="zh-CN" altLang="en-US">
                <a:solidFill>
                  <a:srgbClr val="262626"/>
                </a:solidFill>
                <a:latin typeface="微软雅黑"/>
                <a:ea typeface="微软雅黑"/>
                <a:cs typeface="微软雅黑"/>
              </a:rPr>
              <a:t>班组长每月事务性用时减少约 25 小时；派工、考评、授权、调配依据全程留痕；各班组星级对标与授权盘点按周期自动形成；班组数据按统一口径向公司、向集团汇聚，队伍建设由经验驱动转为数据驱动</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四、推广价值</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潜在的商业价值和社会价值 · 潜在价值的开发计划</a:t>
            </a:r>
          </a:p>
        </p:txBody>
      </p:sp>
      <p:sp>
        <p:nvSpPr>
          <p:cNvPr id="5" name="Rectangle 4"/>
          <p:cNvSpPr/>
          <p:nvPr/>
        </p:nvSpPr>
        <p:spPr>
          <a:xfrm>
            <a:off x="320040" y="1371600"/>
            <a:ext cx="5394960"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潜在价值</a:t>
            </a:r>
          </a:p>
        </p:txBody>
      </p:sp>
      <p:sp>
        <p:nvSpPr>
          <p:cNvPr id="6" name="Rectangle 5"/>
          <p:cNvSpPr/>
          <p:nvPr/>
        </p:nvSpPr>
        <p:spPr>
          <a:xfrm>
            <a:off x="320040" y="1874519"/>
            <a:ext cx="1188720" cy="1170432"/>
          </a:xfrm>
          <a:prstGeom prst="rect">
            <a:avLst/>
          </a:prstGeom>
          <a:solidFill>
            <a:srgbClr val="0036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管理价值</a:t>
            </a:r>
          </a:p>
        </p:txBody>
      </p:sp>
      <p:sp>
        <p:nvSpPr>
          <p:cNvPr id="7" name="Rectangle 6"/>
          <p:cNvSpPr/>
          <p:nvPr/>
        </p:nvSpPr>
        <p:spPr>
          <a:xfrm>
            <a:off x="1508760" y="1874519"/>
            <a:ext cx="4206240" cy="117043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645920" y="1874519"/>
            <a:ext cx="3977639" cy="1170432"/>
          </a:xfrm>
          <a:prstGeom prst="rect">
            <a:avLst/>
          </a:prstGeom>
          <a:noFill/>
        </p:spPr>
        <p:txBody>
          <a:bodyPr wrap="square" anchor="ctr" lIns="45720" rIns="45720" tIns="27432" bIns="27432">
            <a:spAutoFit/>
          </a:bodyPr>
          <a:lstStyle/>
          <a:p>
            <a:pPr algn="l">
              <a:lnSpc>
                <a:spcPct val="115000"/>
              </a:lnSpc>
            </a:pPr>
            <a:r>
              <a:rPr sz="1100" b="0" lang="zh-CN" altLang="en-US">
                <a:solidFill>
                  <a:srgbClr val="262626"/>
                </a:solidFill>
                <a:latin typeface="微软雅黑"/>
                <a:ea typeface="微软雅黑"/>
                <a:cs typeface="微软雅黑"/>
              </a:rPr>
              <a:t>班组数据一次产生、局级公司级复用，星级对标、授权盘点、班长考评由一次性工作变为按周期自动形成</a:t>
            </a:r>
          </a:p>
        </p:txBody>
      </p:sp>
      <p:sp>
        <p:nvSpPr>
          <p:cNvPr id="9" name="Rectangle 8"/>
          <p:cNvSpPr/>
          <p:nvPr/>
        </p:nvSpPr>
        <p:spPr>
          <a:xfrm>
            <a:off x="320040" y="3154679"/>
            <a:ext cx="1188720" cy="1170432"/>
          </a:xfrm>
          <a:prstGeom prst="rect">
            <a:avLst/>
          </a:prstGeom>
          <a:solidFill>
            <a:srgbClr val="0036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社会价值</a:t>
            </a:r>
          </a:p>
        </p:txBody>
      </p:sp>
      <p:sp>
        <p:nvSpPr>
          <p:cNvPr id="10" name="Rectangle 9"/>
          <p:cNvSpPr/>
          <p:nvPr/>
        </p:nvSpPr>
        <p:spPr>
          <a:xfrm>
            <a:off x="1508760" y="3154679"/>
            <a:ext cx="4206240" cy="117043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645920" y="3154679"/>
            <a:ext cx="3977639" cy="1170432"/>
          </a:xfrm>
          <a:prstGeom prst="rect">
            <a:avLst/>
          </a:prstGeom>
          <a:noFill/>
        </p:spPr>
        <p:txBody>
          <a:bodyPr wrap="square" anchor="ctr" lIns="45720" rIns="45720" tIns="27432" bIns="27432">
            <a:spAutoFit/>
          </a:bodyPr>
          <a:lstStyle/>
          <a:p>
            <a:pPr algn="l">
              <a:lnSpc>
                <a:spcPct val="115000"/>
              </a:lnSpc>
            </a:pPr>
            <a:r>
              <a:rPr sz="1100" b="0" lang="zh-CN" altLang="en-US">
                <a:solidFill>
                  <a:srgbClr val="262626"/>
                </a:solidFill>
                <a:latin typeface="微软雅黑"/>
                <a:ea typeface="微软雅黑"/>
                <a:cs typeface="微软雅黑"/>
              </a:rPr>
              <a:t>技能人才培养有依据、安全责任落到班组一级、基层减负有数据可证、骨干经验可传承</a:t>
            </a:r>
          </a:p>
        </p:txBody>
      </p:sp>
      <p:sp>
        <p:nvSpPr>
          <p:cNvPr id="12" name="Rectangle 11"/>
          <p:cNvSpPr/>
          <p:nvPr/>
        </p:nvSpPr>
        <p:spPr>
          <a:xfrm>
            <a:off x="320040" y="4434840"/>
            <a:ext cx="1188720" cy="1170432"/>
          </a:xfrm>
          <a:prstGeom prst="rect">
            <a:avLst/>
          </a:prstGeom>
          <a:solidFill>
            <a:srgbClr val="0036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商业价值</a:t>
            </a:r>
          </a:p>
        </p:txBody>
      </p:sp>
      <p:sp>
        <p:nvSpPr>
          <p:cNvPr id="13" name="Rectangle 12"/>
          <p:cNvSpPr/>
          <p:nvPr/>
        </p:nvSpPr>
        <p:spPr>
          <a:xfrm>
            <a:off x="1508760" y="4434840"/>
            <a:ext cx="4206240" cy="117043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645920" y="4434840"/>
            <a:ext cx="3977639" cy="1170432"/>
          </a:xfrm>
          <a:prstGeom prst="rect">
            <a:avLst/>
          </a:prstGeom>
          <a:noFill/>
        </p:spPr>
        <p:txBody>
          <a:bodyPr wrap="square" anchor="ctr" lIns="45720" rIns="45720" tIns="27432" bIns="27432">
            <a:spAutoFit/>
          </a:bodyPr>
          <a:lstStyle/>
          <a:p>
            <a:pPr algn="l">
              <a:lnSpc>
                <a:spcPct val="115000"/>
              </a:lnSpc>
            </a:pPr>
            <a:r>
              <a:rPr sz="1100" b="0" lang="zh-CN" altLang="en-US">
                <a:solidFill>
                  <a:srgbClr val="262626"/>
                </a:solidFill>
                <a:latin typeface="微软雅黑"/>
                <a:ea typeface="微软雅黑"/>
                <a:cs typeface="微软雅黑"/>
              </a:rPr>
              <a:t>可配置复制到配网、变电、输电专业班组，形成公司级班组管理产品与班组级 AI 助手样板</a:t>
            </a:r>
          </a:p>
        </p:txBody>
      </p:sp>
      <p:sp>
        <p:nvSpPr>
          <p:cNvPr id="15" name="Rectangle 14"/>
          <p:cNvSpPr/>
          <p:nvPr/>
        </p:nvSpPr>
        <p:spPr>
          <a:xfrm>
            <a:off x="5943600" y="1371600"/>
            <a:ext cx="5925312" cy="38404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zh-CN" altLang="en-US">
                <a:solidFill>
                  <a:srgbClr val="FFFFFF"/>
                </a:solidFill>
                <a:latin typeface="微软雅黑"/>
                <a:ea typeface="微软雅黑"/>
                <a:cs typeface="微软雅黑"/>
              </a:rPr>
              <a:t>潜在价值的开发计划</a:t>
            </a:r>
          </a:p>
        </p:txBody>
      </p:sp>
      <p:sp>
        <p:nvSpPr>
          <p:cNvPr id="16" name="Rectangle 15"/>
          <p:cNvSpPr/>
          <p:nvPr/>
        </p:nvSpPr>
        <p:spPr>
          <a:xfrm>
            <a:off x="5943600" y="1874519"/>
            <a:ext cx="5925312" cy="8686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080760" y="2080260"/>
            <a:ext cx="457200" cy="457200"/>
          </a:xfrm>
          <a:prstGeom prst="ellips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1</a:t>
            </a:r>
          </a:p>
        </p:txBody>
      </p:sp>
      <p:sp>
        <p:nvSpPr>
          <p:cNvPr id="18" name="TextBox 17"/>
          <p:cNvSpPr txBox="1"/>
          <p:nvPr/>
        </p:nvSpPr>
        <p:spPr>
          <a:xfrm>
            <a:off x="6675120" y="1929384"/>
            <a:ext cx="5056632" cy="292608"/>
          </a:xfrm>
          <a:prstGeom prst="rect">
            <a:avLst/>
          </a:prstGeom>
          <a:noFill/>
        </p:spPr>
        <p:txBody>
          <a:bodyPr wrap="square" anchor="ctr" lIns="45720" rIns="45720" tIns="27432" bIns="27432">
            <a:spAutoFit/>
          </a:bodyPr>
          <a:lstStyle/>
          <a:p>
            <a:pPr algn="l"/>
            <a:r>
              <a:rPr sz="1300" b="1" lang="zh-CN" altLang="en-US">
                <a:solidFill>
                  <a:srgbClr val="002060"/>
                </a:solidFill>
                <a:latin typeface="微软雅黑"/>
                <a:ea typeface="微软雅黑"/>
                <a:cs typeface="微软雅黑"/>
              </a:rPr>
              <a:t>系统对接</a:t>
            </a:r>
          </a:p>
        </p:txBody>
      </p:sp>
      <p:sp>
        <p:nvSpPr>
          <p:cNvPr id="19" name="TextBox 18"/>
          <p:cNvSpPr txBox="1"/>
          <p:nvPr/>
        </p:nvSpPr>
        <p:spPr>
          <a:xfrm>
            <a:off x="6675120" y="2221991"/>
            <a:ext cx="5056632" cy="484632"/>
          </a:xfrm>
          <a:prstGeom prst="rect">
            <a:avLst/>
          </a:prstGeom>
          <a:noFill/>
        </p:spPr>
        <p:txBody>
          <a:bodyPr wrap="square" anchor="t" lIns="45720" rIns="45720" tIns="27432" bIns="27432">
            <a:spAutoFit/>
          </a:bodyPr>
          <a:lstStyle/>
          <a:p>
            <a:pPr algn="l">
              <a:lnSpc>
                <a:spcPct val="112000"/>
              </a:lnSpc>
            </a:pPr>
            <a:r>
              <a:rPr sz="1050" b="0" lang="zh-CN" altLang="en-US">
                <a:solidFill>
                  <a:srgbClr val="262626"/>
                </a:solidFill>
                <a:latin typeface="微软雅黑"/>
                <a:ea typeface="微软雅黑"/>
                <a:cs typeface="微软雅黑"/>
              </a:rPr>
              <a:t>接入人资系统、OMS、OCS、电网管理平台、党建系统，班组数据自动归集，班组层数据按统一口径向上汇聚</a:t>
            </a:r>
          </a:p>
        </p:txBody>
      </p:sp>
      <p:sp>
        <p:nvSpPr>
          <p:cNvPr id="20" name="Rectangle 19"/>
          <p:cNvSpPr/>
          <p:nvPr/>
        </p:nvSpPr>
        <p:spPr>
          <a:xfrm>
            <a:off x="5943600" y="2834639"/>
            <a:ext cx="5925312" cy="8686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080760" y="3040379"/>
            <a:ext cx="457200" cy="457200"/>
          </a:xfrm>
          <a:prstGeom prst="ellips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2</a:t>
            </a:r>
          </a:p>
        </p:txBody>
      </p:sp>
      <p:sp>
        <p:nvSpPr>
          <p:cNvPr id="22" name="TextBox 21"/>
          <p:cNvSpPr txBox="1"/>
          <p:nvPr/>
        </p:nvSpPr>
        <p:spPr>
          <a:xfrm>
            <a:off x="6675120" y="2889503"/>
            <a:ext cx="5056632" cy="292608"/>
          </a:xfrm>
          <a:prstGeom prst="rect">
            <a:avLst/>
          </a:prstGeom>
          <a:noFill/>
        </p:spPr>
        <p:txBody>
          <a:bodyPr wrap="square" anchor="ctr" lIns="45720" rIns="45720" tIns="27432" bIns="27432">
            <a:spAutoFit/>
          </a:bodyPr>
          <a:lstStyle/>
          <a:p>
            <a:pPr algn="l"/>
            <a:r>
              <a:rPr sz="1300" b="1" lang="zh-CN" altLang="en-US">
                <a:solidFill>
                  <a:srgbClr val="002060"/>
                </a:solidFill>
                <a:latin typeface="微软雅黑"/>
                <a:ea typeface="微软雅黑"/>
                <a:cs typeface="微软雅黑"/>
              </a:rPr>
              <a:t>专业扩展</a:t>
            </a:r>
          </a:p>
        </p:txBody>
      </p:sp>
      <p:sp>
        <p:nvSpPr>
          <p:cNvPr id="23" name="TextBox 22"/>
          <p:cNvSpPr txBox="1"/>
          <p:nvPr/>
        </p:nvSpPr>
        <p:spPr>
          <a:xfrm>
            <a:off x="6675120" y="3182111"/>
            <a:ext cx="5056632" cy="484632"/>
          </a:xfrm>
          <a:prstGeom prst="rect">
            <a:avLst/>
          </a:prstGeom>
          <a:noFill/>
        </p:spPr>
        <p:txBody>
          <a:bodyPr wrap="square" anchor="t" lIns="45720" rIns="45720" tIns="27432" bIns="27432">
            <a:spAutoFit/>
          </a:bodyPr>
          <a:lstStyle/>
          <a:p>
            <a:pPr algn="l">
              <a:lnSpc>
                <a:spcPct val="112000"/>
              </a:lnSpc>
            </a:pPr>
            <a:r>
              <a:rPr sz="1050" b="0" lang="zh-CN" altLang="en-US">
                <a:solidFill>
                  <a:srgbClr val="262626"/>
                </a:solidFill>
                <a:latin typeface="微软雅黑"/>
                <a:ea typeface="微软雅黑"/>
                <a:cs typeface="微软雅黑"/>
              </a:rPr>
              <a:t>完成变电、输电专业认证表与岗位说明书口径配置，复制到其他专业班组</a:t>
            </a:r>
          </a:p>
        </p:txBody>
      </p:sp>
      <p:sp>
        <p:nvSpPr>
          <p:cNvPr id="24" name="Rectangle 23"/>
          <p:cNvSpPr/>
          <p:nvPr/>
        </p:nvSpPr>
        <p:spPr>
          <a:xfrm>
            <a:off x="5943600" y="3794760"/>
            <a:ext cx="5925312" cy="8686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080760" y="4000500"/>
            <a:ext cx="457200" cy="457200"/>
          </a:xfrm>
          <a:prstGeom prst="ellips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3</a:t>
            </a:r>
          </a:p>
        </p:txBody>
      </p:sp>
      <p:sp>
        <p:nvSpPr>
          <p:cNvPr id="26" name="TextBox 25"/>
          <p:cNvSpPr txBox="1"/>
          <p:nvPr/>
        </p:nvSpPr>
        <p:spPr>
          <a:xfrm>
            <a:off x="6675120" y="3849624"/>
            <a:ext cx="5056632" cy="292608"/>
          </a:xfrm>
          <a:prstGeom prst="rect">
            <a:avLst/>
          </a:prstGeom>
          <a:noFill/>
        </p:spPr>
        <p:txBody>
          <a:bodyPr wrap="square" anchor="ctr" lIns="45720" rIns="45720" tIns="27432" bIns="27432">
            <a:spAutoFit/>
          </a:bodyPr>
          <a:lstStyle/>
          <a:p>
            <a:pPr algn="l"/>
            <a:r>
              <a:rPr sz="1300" b="1" lang="zh-CN" altLang="en-US">
                <a:solidFill>
                  <a:srgbClr val="002060"/>
                </a:solidFill>
                <a:latin typeface="微软雅黑"/>
                <a:ea typeface="微软雅黑"/>
                <a:cs typeface="微软雅黑"/>
              </a:rPr>
              <a:t>能力深化</a:t>
            </a:r>
          </a:p>
        </p:txBody>
      </p:sp>
      <p:sp>
        <p:nvSpPr>
          <p:cNvPr id="27" name="TextBox 26"/>
          <p:cNvSpPr txBox="1"/>
          <p:nvPr/>
        </p:nvSpPr>
        <p:spPr>
          <a:xfrm>
            <a:off x="6675120" y="4142232"/>
            <a:ext cx="5056632" cy="484632"/>
          </a:xfrm>
          <a:prstGeom prst="rect">
            <a:avLst/>
          </a:prstGeom>
          <a:noFill/>
        </p:spPr>
        <p:txBody>
          <a:bodyPr wrap="square" anchor="t" lIns="45720" rIns="45720" tIns="27432" bIns="27432">
            <a:spAutoFit/>
          </a:bodyPr>
          <a:lstStyle/>
          <a:p>
            <a:pPr algn="l">
              <a:lnSpc>
                <a:spcPct val="112000"/>
              </a:lnSpc>
            </a:pPr>
            <a:r>
              <a:rPr sz="1050" b="0" lang="zh-CN" altLang="en-US">
                <a:solidFill>
                  <a:srgbClr val="262626"/>
                </a:solidFill>
                <a:latin typeface="微软雅黑"/>
                <a:ea typeface="微软雅黑"/>
                <a:cs typeface="微软雅黑"/>
              </a:rPr>
              <a:t>文稿、诊断、参谋能力接入大瓦特大模型在线服务，知识库持续沉淀</a:t>
            </a:r>
          </a:p>
        </p:txBody>
      </p:sp>
      <p:sp>
        <p:nvSpPr>
          <p:cNvPr id="28" name="Rectangle 27"/>
          <p:cNvSpPr/>
          <p:nvPr/>
        </p:nvSpPr>
        <p:spPr>
          <a:xfrm>
            <a:off x="5943600" y="4754880"/>
            <a:ext cx="5925312" cy="8686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080760" y="4960620"/>
            <a:ext cx="457200" cy="457200"/>
          </a:xfrm>
          <a:prstGeom prst="ellipse">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4</a:t>
            </a:r>
          </a:p>
        </p:txBody>
      </p:sp>
      <p:sp>
        <p:nvSpPr>
          <p:cNvPr id="30" name="TextBox 29"/>
          <p:cNvSpPr txBox="1"/>
          <p:nvPr/>
        </p:nvSpPr>
        <p:spPr>
          <a:xfrm>
            <a:off x="6675120" y="4809744"/>
            <a:ext cx="5056632" cy="292608"/>
          </a:xfrm>
          <a:prstGeom prst="rect">
            <a:avLst/>
          </a:prstGeom>
          <a:noFill/>
        </p:spPr>
        <p:txBody>
          <a:bodyPr wrap="square" anchor="ctr" lIns="45720" rIns="45720" tIns="27432" bIns="27432">
            <a:spAutoFit/>
          </a:bodyPr>
          <a:lstStyle/>
          <a:p>
            <a:pPr algn="l"/>
            <a:r>
              <a:rPr sz="1300" b="1" lang="zh-CN" altLang="en-US">
                <a:solidFill>
                  <a:srgbClr val="002060"/>
                </a:solidFill>
                <a:latin typeface="微软雅黑"/>
                <a:ea typeface="微软雅黑"/>
                <a:cs typeface="微软雅黑"/>
              </a:rPr>
              <a:t>知识沉淀</a:t>
            </a:r>
          </a:p>
        </p:txBody>
      </p:sp>
      <p:sp>
        <p:nvSpPr>
          <p:cNvPr id="31" name="TextBox 30"/>
          <p:cNvSpPr txBox="1"/>
          <p:nvPr/>
        </p:nvSpPr>
        <p:spPr>
          <a:xfrm>
            <a:off x="6675120" y="5102352"/>
            <a:ext cx="5056632" cy="484632"/>
          </a:xfrm>
          <a:prstGeom prst="rect">
            <a:avLst/>
          </a:prstGeom>
          <a:noFill/>
        </p:spPr>
        <p:txBody>
          <a:bodyPr wrap="square" anchor="t" lIns="45720" rIns="45720" tIns="27432" bIns="27432">
            <a:spAutoFit/>
          </a:bodyPr>
          <a:lstStyle/>
          <a:p>
            <a:pPr algn="l">
              <a:lnSpc>
                <a:spcPct val="112000"/>
              </a:lnSpc>
            </a:pPr>
            <a:r>
              <a:rPr sz="1050" b="0" lang="zh-CN" altLang="en-US">
                <a:solidFill>
                  <a:srgbClr val="262626"/>
                </a:solidFill>
                <a:latin typeface="微软雅黑"/>
                <a:ea typeface="微软雅黑"/>
                <a:cs typeface="微软雅黑"/>
              </a:rPr>
              <a:t>班组案例与骨干经验整理为可检索条目，形成公司级班组知识库</a:t>
            </a:r>
          </a:p>
        </p:txBody>
      </p:sp>
      <p:sp>
        <p:nvSpPr>
          <p:cNvPr id="32" name="Rectangle 31"/>
          <p:cNvSpPr/>
          <p:nvPr/>
        </p:nvSpPr>
        <p:spPr>
          <a:xfrm>
            <a:off x="320040" y="5806440"/>
            <a:ext cx="11548872" cy="4572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57200" y="5806440"/>
            <a:ext cx="11247120" cy="457200"/>
          </a:xfrm>
          <a:prstGeom prst="rect">
            <a:avLst/>
          </a:prstGeom>
          <a:noFill/>
        </p:spPr>
        <p:txBody>
          <a:bodyPr wrap="square" anchor="ctr" lIns="45720" rIns="45720" tIns="27432" bIns="27432">
            <a:spAutoFit/>
          </a:bodyPr>
          <a:lstStyle/>
          <a:p>
            <a:pPr algn="l"/>
            <a:r>
              <a:rPr sz="1150" b="1" lang="zh-CN" altLang="en-US">
                <a:solidFill>
                  <a:srgbClr val="002060"/>
                </a:solidFill>
                <a:latin typeface="微软雅黑"/>
                <a:ea typeface="微软雅黑"/>
                <a:cs typeface="微软雅黑"/>
              </a:rPr>
              <a:t>开发计划与推广计划同步推进：部门试点 → 全局复制 → 网省推广。</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四、推广价值</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价值定位：班组强则公司强</a:t>
            </a:r>
          </a:p>
        </p:txBody>
      </p:sp>
      <p:sp>
        <p:nvSpPr>
          <p:cNvPr id="5" name="Rectangle 4"/>
          <p:cNvSpPr/>
          <p:nvPr/>
        </p:nvSpPr>
        <p:spPr>
          <a:xfrm>
            <a:off x="320040" y="1371600"/>
            <a:ext cx="11548872" cy="96012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1371600"/>
            <a:ext cx="11064240" cy="960120"/>
          </a:xfrm>
          <a:prstGeom prst="rect">
            <a:avLst/>
          </a:prstGeom>
          <a:noFill/>
        </p:spPr>
        <p:txBody>
          <a:bodyPr wrap="square" anchor="ctr" lIns="45720" rIns="45720" tIns="27432" bIns="27432">
            <a:spAutoFit/>
          </a:bodyPr>
          <a:lstStyle/>
          <a:p>
            <a:pPr algn="ctr">
              <a:lnSpc>
                <a:spcPct val="125000"/>
              </a:lnSpc>
            </a:pPr>
            <a:r>
              <a:rPr sz="1900" b="1" lang="zh-CN" altLang="en-US">
                <a:solidFill>
                  <a:srgbClr val="FFFFFF"/>
                </a:solidFill>
                <a:latin typeface="微软雅黑"/>
                <a:ea typeface="微软雅黑"/>
                <a:cs typeface="微软雅黑"/>
              </a:rPr>
              <a:t>把公司已有的数据在班组这一级变成了派工的理由、考评的证据、建设的差距清单和带队伍的参谋</a:t>
            </a:r>
          </a:p>
        </p:txBody>
      </p:sp>
      <p:sp>
        <p:nvSpPr>
          <p:cNvPr id="7" name="Rectangle 6"/>
          <p:cNvSpPr/>
          <p:nvPr/>
        </p:nvSpPr>
        <p:spPr>
          <a:xfrm>
            <a:off x="320040" y="2514600"/>
            <a:ext cx="2770632" cy="56692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lang="zh-CN" altLang="en-US">
                <a:solidFill>
                  <a:srgbClr val="FFFFFF"/>
                </a:solidFill>
                <a:latin typeface="微软雅黑"/>
                <a:ea typeface="微软雅黑"/>
                <a:cs typeface="微软雅黑"/>
              </a:rPr>
              <a:t>对班组长</a:t>
            </a:r>
          </a:p>
        </p:txBody>
      </p:sp>
      <p:sp>
        <p:nvSpPr>
          <p:cNvPr id="8" name="Rectangle 7"/>
          <p:cNvSpPr/>
          <p:nvPr/>
        </p:nvSpPr>
        <p:spPr>
          <a:xfrm>
            <a:off x="320040" y="3081528"/>
            <a:ext cx="2770632" cy="22860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29768" y="3172968"/>
            <a:ext cx="2560320" cy="2103120"/>
          </a:xfrm>
          <a:prstGeom prst="rect">
            <a:avLst/>
          </a:prstGeom>
          <a:noFill/>
        </p:spPr>
        <p:txBody>
          <a:bodyPr wrap="square" anchor="t" lIns="45720" rIns="45720" tIns="27432" bIns="27432">
            <a:spAutoFit/>
          </a:bodyPr>
          <a:lstStyle/>
          <a:p>
            <a:pPr algn="l">
              <a:lnSpc>
                <a:spcPct val="120000"/>
              </a:lnSpc>
            </a:pPr>
            <a:r>
              <a:rPr sz="1100" b="0" lang="zh-CN" altLang="en-US">
                <a:solidFill>
                  <a:srgbClr val="262626"/>
                </a:solidFill>
                <a:latin typeface="微软雅黑"/>
                <a:ea typeface="微软雅黑"/>
                <a:cs typeface="微软雅黑"/>
              </a:rPr>
              <a:t>回到判断与确认。时间从找数、抄数、排版回到现场管理和人员培养，每月减少约 25 小时事务性工作。</a:t>
            </a:r>
          </a:p>
        </p:txBody>
      </p:sp>
      <p:sp>
        <p:nvSpPr>
          <p:cNvPr id="10" name="Rectangle 9"/>
          <p:cNvSpPr/>
          <p:nvPr/>
        </p:nvSpPr>
        <p:spPr>
          <a:xfrm>
            <a:off x="3246120" y="2514600"/>
            <a:ext cx="2770632" cy="566928"/>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lang="zh-CN" altLang="en-US">
                <a:solidFill>
                  <a:srgbClr val="FFFFFF"/>
                </a:solidFill>
                <a:latin typeface="微软雅黑"/>
                <a:ea typeface="微软雅黑"/>
                <a:cs typeface="微软雅黑"/>
              </a:rPr>
              <a:t>对管理者</a:t>
            </a:r>
          </a:p>
        </p:txBody>
      </p:sp>
      <p:sp>
        <p:nvSpPr>
          <p:cNvPr id="11" name="Rectangle 10"/>
          <p:cNvSpPr/>
          <p:nvPr/>
        </p:nvSpPr>
        <p:spPr>
          <a:xfrm>
            <a:off x="3246120" y="3081528"/>
            <a:ext cx="2770632" cy="22860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355848" y="3172968"/>
            <a:ext cx="2560320" cy="2103120"/>
          </a:xfrm>
          <a:prstGeom prst="rect">
            <a:avLst/>
          </a:prstGeom>
          <a:noFill/>
        </p:spPr>
        <p:txBody>
          <a:bodyPr wrap="square" anchor="t" lIns="45720" rIns="45720" tIns="27432" bIns="27432">
            <a:spAutoFit/>
          </a:bodyPr>
          <a:lstStyle/>
          <a:p>
            <a:pPr algn="l">
              <a:lnSpc>
                <a:spcPct val="120000"/>
              </a:lnSpc>
            </a:pPr>
            <a:r>
              <a:rPr sz="1100" b="0" lang="zh-CN" altLang="en-US">
                <a:solidFill>
                  <a:srgbClr val="262626"/>
                </a:solidFill>
                <a:latin typeface="微软雅黑"/>
                <a:ea typeface="微软雅黑"/>
                <a:cs typeface="微软雅黑"/>
              </a:rPr>
              <a:t>每一个决定落到班组长的确认。看得全、督得到、配得动，班长考评与跨班组调配有同源数据。</a:t>
            </a:r>
          </a:p>
        </p:txBody>
      </p:sp>
      <p:sp>
        <p:nvSpPr>
          <p:cNvPr id="13" name="Rectangle 12"/>
          <p:cNvSpPr/>
          <p:nvPr/>
        </p:nvSpPr>
        <p:spPr>
          <a:xfrm>
            <a:off x="6172200" y="2514600"/>
            <a:ext cx="2770632" cy="566928"/>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lang="zh-CN" altLang="en-US">
                <a:solidFill>
                  <a:srgbClr val="FFFFFF"/>
                </a:solidFill>
                <a:latin typeface="微软雅黑"/>
                <a:ea typeface="微软雅黑"/>
                <a:cs typeface="微软雅黑"/>
              </a:rPr>
              <a:t>对公司</a:t>
            </a:r>
          </a:p>
        </p:txBody>
      </p:sp>
      <p:sp>
        <p:nvSpPr>
          <p:cNvPr id="14" name="Rectangle 13"/>
          <p:cNvSpPr/>
          <p:nvPr/>
        </p:nvSpPr>
        <p:spPr>
          <a:xfrm>
            <a:off x="6172200" y="3081528"/>
            <a:ext cx="2770632" cy="22860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281928" y="3172968"/>
            <a:ext cx="2560320" cy="2103120"/>
          </a:xfrm>
          <a:prstGeom prst="rect">
            <a:avLst/>
          </a:prstGeom>
          <a:noFill/>
        </p:spPr>
        <p:txBody>
          <a:bodyPr wrap="square" anchor="t" lIns="45720" rIns="45720" tIns="27432" bIns="27432">
            <a:spAutoFit/>
          </a:bodyPr>
          <a:lstStyle/>
          <a:p>
            <a:pPr algn="l">
              <a:lnSpc>
                <a:spcPct val="120000"/>
              </a:lnSpc>
            </a:pPr>
            <a:r>
              <a:rPr sz="1100" b="0" lang="zh-CN" altLang="en-US">
                <a:solidFill>
                  <a:srgbClr val="262626"/>
                </a:solidFill>
                <a:latin typeface="微软雅黑"/>
                <a:ea typeface="微软雅黑"/>
                <a:cs typeface="微软雅黑"/>
              </a:rPr>
              <a:t>作业授权认证表、星级评价标准、业绩责任书等公司管理要求在班组一级有了数字化的执行与反馈；班组数据一次产生、局级公司级复用，成为公司人力资源数智化的基础单元。</a:t>
            </a:r>
          </a:p>
        </p:txBody>
      </p:sp>
      <p:sp>
        <p:nvSpPr>
          <p:cNvPr id="16" name="Rectangle 15"/>
          <p:cNvSpPr/>
          <p:nvPr/>
        </p:nvSpPr>
        <p:spPr>
          <a:xfrm>
            <a:off x="9098280" y="2514600"/>
            <a:ext cx="2770632" cy="566928"/>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lang="zh-CN" altLang="en-US">
                <a:solidFill>
                  <a:srgbClr val="FFFFFF"/>
                </a:solidFill>
                <a:latin typeface="微软雅黑"/>
                <a:ea typeface="微软雅黑"/>
                <a:cs typeface="微软雅黑"/>
              </a:rPr>
              <a:t>对南方电网集团</a:t>
            </a:r>
          </a:p>
        </p:txBody>
      </p:sp>
      <p:sp>
        <p:nvSpPr>
          <p:cNvPr id="17" name="Rectangle 16"/>
          <p:cNvSpPr/>
          <p:nvPr/>
        </p:nvSpPr>
        <p:spPr>
          <a:xfrm>
            <a:off x="9098280" y="3081528"/>
            <a:ext cx="2770632" cy="228600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208008" y="3172968"/>
            <a:ext cx="2560320" cy="2103120"/>
          </a:xfrm>
          <a:prstGeom prst="rect">
            <a:avLst/>
          </a:prstGeom>
          <a:noFill/>
        </p:spPr>
        <p:txBody>
          <a:bodyPr wrap="square" anchor="t" lIns="45720" rIns="45720" tIns="27432" bIns="27432">
            <a:spAutoFit/>
          </a:bodyPr>
          <a:lstStyle/>
          <a:p>
            <a:pPr algn="l">
              <a:lnSpc>
                <a:spcPct val="120000"/>
              </a:lnSpc>
            </a:pPr>
            <a:r>
              <a:rPr sz="1100" b="0" lang="zh-CN" altLang="en-US">
                <a:solidFill>
                  <a:srgbClr val="262626"/>
                </a:solidFill>
                <a:latin typeface="微软雅黑"/>
                <a:ea typeface="微软雅黑"/>
                <a:cs typeface="微软雅黑"/>
              </a:rPr>
              <a:t>集团数字化转型与数字电网建设、人才强企、星级班组建设、业绩责任书与绩效管理、安全生产责任制与基层减负、人工智能应用六项要求，在班组一级有了持续、可检查的响应机制：结构化留痕 → 统一口径向上汇聚 → 按周期自动形成结果。</a:t>
            </a:r>
          </a:p>
        </p:txBody>
      </p:sp>
      <p:sp>
        <p:nvSpPr>
          <p:cNvPr id="19" name="Rectangle 18"/>
          <p:cNvSpPr/>
          <p:nvPr/>
        </p:nvSpPr>
        <p:spPr>
          <a:xfrm>
            <a:off x="320040" y="5532120"/>
            <a:ext cx="11548872" cy="7315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320040" y="5532120"/>
            <a:ext cx="91440" cy="7315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48640" y="5532120"/>
            <a:ext cx="11064240" cy="731520"/>
          </a:xfrm>
          <a:prstGeom prst="rect">
            <a:avLst/>
          </a:prstGeom>
          <a:noFill/>
        </p:spPr>
        <p:txBody>
          <a:bodyPr wrap="square" anchor="ctr" lIns="45720" rIns="45720" tIns="27432" bIns="27432">
            <a:spAutoFit/>
          </a:bodyPr>
          <a:lstStyle/>
          <a:p>
            <a:pPr algn="l">
              <a:lnSpc>
                <a:spcPct val="115000"/>
              </a:lnSpc>
            </a:pPr>
            <a:r>
              <a:rPr sz="1300" b="1" lang="zh-CN" altLang="en-US">
                <a:solidFill>
                  <a:srgbClr val="002060"/>
                </a:solidFill>
                <a:latin typeface="微软雅黑"/>
                <a:ea typeface="微软雅黑"/>
                <a:cs typeface="微软雅黑"/>
              </a:rPr>
              <a:t>让数字化转型在公司最基层的生产组织里持续运转。</a:t>
            </a:r>
          </a:p>
          <a:p>
            <a:pPr algn="l">
              <a:lnSpc>
                <a:spcPct val="115000"/>
              </a:lnSpc>
            </a:pPr>
            <a:r>
              <a:rPr sz="1100" b="0" lang="zh-CN" altLang="en-US">
                <a:solidFill>
                  <a:srgbClr val="262626"/>
                </a:solidFill>
                <a:latin typeface="微软雅黑"/>
                <a:ea typeface="微软雅黑"/>
                <a:cs typeface="微软雅黑"/>
              </a:rPr>
              <a:t>投运后班组数据按统一口径向上汇聚、星级对标与授权盘点按周期自动形成、班长绩效按责任书自动取数；公司的管理要求与南方电网集团对班组建设、人才队伍、绩效管理、安全生产、基层减负与人工智能应用的要求，在班组一级有了持续响应的机制，为集团提供可复制的班组级数字化样板。</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02" y="181637"/>
            <a:ext cx="8138082" cy="418058"/>
          </a:xfrm>
        </p:spPr>
        <p:txBody>
          <a:bodyPr/>
          <a:lstStyle/>
          <a:p>
            <a:r>
              <a:rPr sz="2400" b="1" lang="zh-CN" altLang="en-US">
                <a:solidFill>
                  <a:srgbClr val="002060"/>
                </a:solidFill>
                <a:latin typeface="微软雅黑"/>
                <a:ea typeface="微软雅黑"/>
                <a:cs typeface="微软雅黑"/>
              </a:rPr>
              <a:t>五、团队介绍</a:t>
            </a:r>
          </a:p>
        </p:txBody>
      </p:sp>
      <p:sp>
        <p:nvSpPr>
          <p:cNvPr id="3" name="Rectangle 2"/>
          <p:cNvSpPr/>
          <p:nvPr/>
        </p:nvSpPr>
        <p:spPr>
          <a:xfrm>
            <a:off x="320040" y="932688"/>
            <a:ext cx="9144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75488" y="868680"/>
            <a:ext cx="10515600" cy="411480"/>
          </a:xfrm>
          <a:prstGeom prst="rect">
            <a:avLst/>
          </a:prstGeom>
          <a:noFill/>
        </p:spPr>
        <p:txBody>
          <a:bodyPr wrap="square" anchor="ctr" lIns="45720" rIns="45720" tIns="27432" bIns="27432">
            <a:spAutoFit/>
          </a:bodyPr>
          <a:lstStyle/>
          <a:p>
            <a:pPr algn="l"/>
            <a:r>
              <a:rPr sz="1800" b="1" lang="zh-CN" altLang="en-US">
                <a:solidFill>
                  <a:srgbClr val="262626"/>
                </a:solidFill>
                <a:latin typeface="微软雅黑"/>
                <a:ea typeface="微软雅黑"/>
                <a:cs typeface="微软雅黑"/>
              </a:rPr>
              <a:t>团队成员相关信息与具体职能分工</a:t>
            </a:r>
          </a:p>
        </p:txBody>
      </p:sp>
      <p:sp>
        <p:nvSpPr>
          <p:cNvPr id="5" name="Rectangle 4"/>
          <p:cNvSpPr/>
          <p:nvPr/>
        </p:nvSpPr>
        <p:spPr>
          <a:xfrm>
            <a:off x="320040" y="1371600"/>
            <a:ext cx="2770632" cy="45720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业务负责人</a:t>
            </a:r>
          </a:p>
        </p:txBody>
      </p:sp>
      <p:sp>
        <p:nvSpPr>
          <p:cNvPr id="6" name="Rectangle 5"/>
          <p:cNvSpPr/>
          <p:nvPr/>
        </p:nvSpPr>
        <p:spPr>
          <a:xfrm>
            <a:off x="320040" y="1828800"/>
            <a:ext cx="2770632" cy="39319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202435" y="2057400"/>
            <a:ext cx="1005840" cy="1005840"/>
          </a:xfrm>
          <a:prstGeom prst="ellipse">
            <a:avLst/>
          </a:prstGeom>
          <a:solidFill>
            <a:srgbClr val="CDCDC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
            </a:r>
          </a:p>
        </p:txBody>
      </p:sp>
      <p:sp>
        <p:nvSpPr>
          <p:cNvPr id="8" name="TextBox 7"/>
          <p:cNvSpPr txBox="1"/>
          <p:nvPr/>
        </p:nvSpPr>
        <p:spPr>
          <a:xfrm>
            <a:off x="320040" y="3200400"/>
            <a:ext cx="2770632" cy="411480"/>
          </a:xfrm>
          <a:prstGeom prst="rect">
            <a:avLst/>
          </a:prstGeom>
          <a:noFill/>
        </p:spPr>
        <p:txBody>
          <a:bodyPr wrap="square" anchor="ctr" lIns="45720" rIns="45720" tIns="27432" bIns="27432">
            <a:spAutoFit/>
          </a:bodyPr>
          <a:lstStyle/>
          <a:p>
            <a:pPr algn="ctr"/>
            <a:r>
              <a:rPr sz="1600" b="1" lang="zh-CN" altLang="en-US">
                <a:solidFill>
                  <a:srgbClr val="262626"/>
                </a:solidFill>
                <a:latin typeface="微软雅黑"/>
                <a:ea typeface="微软雅黑"/>
                <a:cs typeface="微软雅黑"/>
              </a:rPr>
              <a:t>（填写姓名）</a:t>
            </a:r>
          </a:p>
        </p:txBody>
      </p:sp>
      <p:sp>
        <p:nvSpPr>
          <p:cNvPr id="9" name="TextBox 8"/>
          <p:cNvSpPr txBox="1"/>
          <p:nvPr/>
        </p:nvSpPr>
        <p:spPr>
          <a:xfrm>
            <a:off x="320040" y="3611880"/>
            <a:ext cx="2770632" cy="320040"/>
          </a:xfrm>
          <a:prstGeom prst="rect">
            <a:avLst/>
          </a:prstGeom>
          <a:noFill/>
        </p:spPr>
        <p:txBody>
          <a:bodyPr wrap="square" anchor="ctr" lIns="45720" rIns="45720" tIns="27432" bIns="27432">
            <a:spAutoFit/>
          </a:bodyPr>
          <a:lstStyle/>
          <a:p>
            <a:pPr algn="ctr"/>
            <a:r>
              <a:rPr sz="1100" b="0" lang="zh-CN" altLang="en-US">
                <a:solidFill>
                  <a:srgbClr val="595959"/>
                </a:solidFill>
                <a:latin typeface="微软雅黑"/>
                <a:ea typeface="微软雅黑"/>
                <a:cs typeface="微软雅黑"/>
              </a:rPr>
              <a:t>单位 · 岗位</a:t>
            </a:r>
          </a:p>
        </p:txBody>
      </p:sp>
      <p:sp>
        <p:nvSpPr>
          <p:cNvPr id="10" name="Rectangle 9"/>
          <p:cNvSpPr/>
          <p:nvPr/>
        </p:nvSpPr>
        <p:spPr>
          <a:xfrm>
            <a:off x="1143000" y="4023360"/>
            <a:ext cx="1124712" cy="2743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02920" y="4160520"/>
            <a:ext cx="2404872" cy="1463040"/>
          </a:xfrm>
          <a:prstGeom prst="rect">
            <a:avLst/>
          </a:prstGeom>
          <a:noFill/>
        </p:spPr>
        <p:txBody>
          <a:bodyPr wrap="square" anchor="t" lIns="45720" rIns="45720" tIns="27432" bIns="27432">
            <a:spAutoFit/>
          </a:bodyPr>
          <a:lstStyle/>
          <a:p>
            <a:pPr algn="ctr">
              <a:lnSpc>
                <a:spcPct val="120000"/>
              </a:lnSpc>
            </a:pPr>
            <a:r>
              <a:rPr sz="1100" b="0" lang="zh-CN" altLang="en-US">
                <a:solidFill>
                  <a:srgbClr val="262626"/>
                </a:solidFill>
                <a:latin typeface="微软雅黑"/>
                <a:ea typeface="微软雅黑"/>
                <a:cs typeface="微软雅黑"/>
              </a:rPr>
              <a:t>提出业务需求与规则口径；组织班组长、部门管理者参与验证；确认指标阈值与评价口径</a:t>
            </a:r>
          </a:p>
        </p:txBody>
      </p:sp>
      <p:sp>
        <p:nvSpPr>
          <p:cNvPr id="12" name="Rectangle 11"/>
          <p:cNvSpPr/>
          <p:nvPr/>
        </p:nvSpPr>
        <p:spPr>
          <a:xfrm>
            <a:off x="3246120" y="1371600"/>
            <a:ext cx="2770632" cy="45720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技术负责人</a:t>
            </a:r>
          </a:p>
        </p:txBody>
      </p:sp>
      <p:sp>
        <p:nvSpPr>
          <p:cNvPr id="13" name="Rectangle 12"/>
          <p:cNvSpPr/>
          <p:nvPr/>
        </p:nvSpPr>
        <p:spPr>
          <a:xfrm>
            <a:off x="3246120" y="1828800"/>
            <a:ext cx="2770632" cy="39319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128516" y="2057400"/>
            <a:ext cx="1005840" cy="1005840"/>
          </a:xfrm>
          <a:prstGeom prst="ellipse">
            <a:avLst/>
          </a:prstGeom>
          <a:solidFill>
            <a:srgbClr val="CDCDC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
            </a:r>
          </a:p>
        </p:txBody>
      </p:sp>
      <p:sp>
        <p:nvSpPr>
          <p:cNvPr id="15" name="TextBox 14"/>
          <p:cNvSpPr txBox="1"/>
          <p:nvPr/>
        </p:nvSpPr>
        <p:spPr>
          <a:xfrm>
            <a:off x="3246120" y="3200400"/>
            <a:ext cx="2770632" cy="411480"/>
          </a:xfrm>
          <a:prstGeom prst="rect">
            <a:avLst/>
          </a:prstGeom>
          <a:noFill/>
        </p:spPr>
        <p:txBody>
          <a:bodyPr wrap="square" anchor="ctr" lIns="45720" rIns="45720" tIns="27432" bIns="27432">
            <a:spAutoFit/>
          </a:bodyPr>
          <a:lstStyle/>
          <a:p>
            <a:pPr algn="ctr"/>
            <a:r>
              <a:rPr sz="1600" b="1" lang="zh-CN" altLang="en-US">
                <a:solidFill>
                  <a:srgbClr val="262626"/>
                </a:solidFill>
                <a:latin typeface="微软雅黑"/>
                <a:ea typeface="微软雅黑"/>
                <a:cs typeface="微软雅黑"/>
              </a:rPr>
              <a:t>（填写姓名）</a:t>
            </a:r>
          </a:p>
        </p:txBody>
      </p:sp>
      <p:sp>
        <p:nvSpPr>
          <p:cNvPr id="16" name="TextBox 15"/>
          <p:cNvSpPr txBox="1"/>
          <p:nvPr/>
        </p:nvSpPr>
        <p:spPr>
          <a:xfrm>
            <a:off x="3246120" y="3611880"/>
            <a:ext cx="2770632" cy="320040"/>
          </a:xfrm>
          <a:prstGeom prst="rect">
            <a:avLst/>
          </a:prstGeom>
          <a:noFill/>
        </p:spPr>
        <p:txBody>
          <a:bodyPr wrap="square" anchor="ctr" lIns="45720" rIns="45720" tIns="27432" bIns="27432">
            <a:spAutoFit/>
          </a:bodyPr>
          <a:lstStyle/>
          <a:p>
            <a:pPr algn="ctr"/>
            <a:r>
              <a:rPr sz="1100" b="0" lang="zh-CN" altLang="en-US">
                <a:solidFill>
                  <a:srgbClr val="595959"/>
                </a:solidFill>
                <a:latin typeface="微软雅黑"/>
                <a:ea typeface="微软雅黑"/>
                <a:cs typeface="微软雅黑"/>
              </a:rPr>
              <a:t>单位 · 岗位</a:t>
            </a:r>
          </a:p>
        </p:txBody>
      </p:sp>
      <p:sp>
        <p:nvSpPr>
          <p:cNvPr id="17" name="Rectangle 16"/>
          <p:cNvSpPr/>
          <p:nvPr/>
        </p:nvSpPr>
        <p:spPr>
          <a:xfrm>
            <a:off x="4069080" y="4023360"/>
            <a:ext cx="1124712" cy="2743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429000" y="4160520"/>
            <a:ext cx="2404872" cy="1463040"/>
          </a:xfrm>
          <a:prstGeom prst="rect">
            <a:avLst/>
          </a:prstGeom>
          <a:noFill/>
        </p:spPr>
        <p:txBody>
          <a:bodyPr wrap="square" anchor="t" lIns="45720" rIns="45720" tIns="27432" bIns="27432">
            <a:spAutoFit/>
          </a:bodyPr>
          <a:lstStyle/>
          <a:p>
            <a:pPr algn="ctr">
              <a:lnSpc>
                <a:spcPct val="120000"/>
              </a:lnSpc>
            </a:pPr>
            <a:r>
              <a:rPr sz="1100" b="0" lang="zh-CN" altLang="en-US">
                <a:solidFill>
                  <a:srgbClr val="262626"/>
                </a:solidFill>
                <a:latin typeface="微软雅黑"/>
                <a:ea typeface="微软雅黑"/>
                <a:cs typeface="微软雅黑"/>
              </a:rPr>
              <a:t>负责数据归集、指标模型与业务规则实现、平台对接与内网部署</a:t>
            </a:r>
          </a:p>
        </p:txBody>
      </p:sp>
      <p:sp>
        <p:nvSpPr>
          <p:cNvPr id="19" name="Rectangle 18"/>
          <p:cNvSpPr/>
          <p:nvPr/>
        </p:nvSpPr>
        <p:spPr>
          <a:xfrm>
            <a:off x="6172200" y="1371600"/>
            <a:ext cx="2770632" cy="45720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项目负责人</a:t>
            </a:r>
          </a:p>
        </p:txBody>
      </p:sp>
      <p:sp>
        <p:nvSpPr>
          <p:cNvPr id="20" name="Rectangle 19"/>
          <p:cNvSpPr/>
          <p:nvPr/>
        </p:nvSpPr>
        <p:spPr>
          <a:xfrm>
            <a:off x="6172200" y="1828800"/>
            <a:ext cx="2770632" cy="39319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7054596" y="2057400"/>
            <a:ext cx="1005840" cy="1005840"/>
          </a:xfrm>
          <a:prstGeom prst="ellipse">
            <a:avLst/>
          </a:prstGeom>
          <a:solidFill>
            <a:srgbClr val="CDCDC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
            </a:r>
          </a:p>
        </p:txBody>
      </p:sp>
      <p:sp>
        <p:nvSpPr>
          <p:cNvPr id="22" name="TextBox 21"/>
          <p:cNvSpPr txBox="1"/>
          <p:nvPr/>
        </p:nvSpPr>
        <p:spPr>
          <a:xfrm>
            <a:off x="6172200" y="3200400"/>
            <a:ext cx="2770632" cy="411480"/>
          </a:xfrm>
          <a:prstGeom prst="rect">
            <a:avLst/>
          </a:prstGeom>
          <a:noFill/>
        </p:spPr>
        <p:txBody>
          <a:bodyPr wrap="square" anchor="ctr" lIns="45720" rIns="45720" tIns="27432" bIns="27432">
            <a:spAutoFit/>
          </a:bodyPr>
          <a:lstStyle/>
          <a:p>
            <a:pPr algn="ctr"/>
            <a:r>
              <a:rPr sz="1600" b="1" lang="zh-CN" altLang="en-US">
                <a:solidFill>
                  <a:srgbClr val="262626"/>
                </a:solidFill>
                <a:latin typeface="微软雅黑"/>
                <a:ea typeface="微软雅黑"/>
                <a:cs typeface="微软雅黑"/>
              </a:rPr>
              <a:t>（填写姓名）</a:t>
            </a:r>
          </a:p>
        </p:txBody>
      </p:sp>
      <p:sp>
        <p:nvSpPr>
          <p:cNvPr id="23" name="TextBox 22"/>
          <p:cNvSpPr txBox="1"/>
          <p:nvPr/>
        </p:nvSpPr>
        <p:spPr>
          <a:xfrm>
            <a:off x="6172200" y="3611880"/>
            <a:ext cx="2770632" cy="320040"/>
          </a:xfrm>
          <a:prstGeom prst="rect">
            <a:avLst/>
          </a:prstGeom>
          <a:noFill/>
        </p:spPr>
        <p:txBody>
          <a:bodyPr wrap="square" anchor="ctr" lIns="45720" rIns="45720" tIns="27432" bIns="27432">
            <a:spAutoFit/>
          </a:bodyPr>
          <a:lstStyle/>
          <a:p>
            <a:pPr algn="ctr"/>
            <a:r>
              <a:rPr sz="1100" b="0" lang="zh-CN" altLang="en-US">
                <a:solidFill>
                  <a:srgbClr val="595959"/>
                </a:solidFill>
                <a:latin typeface="微软雅黑"/>
                <a:ea typeface="微软雅黑"/>
                <a:cs typeface="微软雅黑"/>
              </a:rPr>
              <a:t>单位 · 岗位</a:t>
            </a:r>
          </a:p>
        </p:txBody>
      </p:sp>
      <p:sp>
        <p:nvSpPr>
          <p:cNvPr id="24" name="Rectangle 23"/>
          <p:cNvSpPr/>
          <p:nvPr/>
        </p:nvSpPr>
        <p:spPr>
          <a:xfrm>
            <a:off x="6995160" y="4023360"/>
            <a:ext cx="1124712" cy="2743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355080" y="4160520"/>
            <a:ext cx="2404872" cy="1463040"/>
          </a:xfrm>
          <a:prstGeom prst="rect">
            <a:avLst/>
          </a:prstGeom>
          <a:noFill/>
        </p:spPr>
        <p:txBody>
          <a:bodyPr wrap="square" anchor="t" lIns="45720" rIns="45720" tIns="27432" bIns="27432">
            <a:spAutoFit/>
          </a:bodyPr>
          <a:lstStyle/>
          <a:p>
            <a:pPr algn="ctr">
              <a:lnSpc>
                <a:spcPct val="120000"/>
              </a:lnSpc>
            </a:pPr>
            <a:r>
              <a:rPr sz="1100" b="0" lang="zh-CN" altLang="en-US">
                <a:solidFill>
                  <a:srgbClr val="262626"/>
                </a:solidFill>
                <a:latin typeface="微软雅黑"/>
                <a:ea typeface="微软雅黑"/>
                <a:cs typeface="微软雅黑"/>
              </a:rPr>
              <a:t>统筹进度、资源与质量，组织阶段评审与验收</a:t>
            </a:r>
          </a:p>
        </p:txBody>
      </p:sp>
      <p:sp>
        <p:nvSpPr>
          <p:cNvPr id="26" name="Rectangle 25"/>
          <p:cNvSpPr/>
          <p:nvPr/>
        </p:nvSpPr>
        <p:spPr>
          <a:xfrm>
            <a:off x="9098280" y="1371600"/>
            <a:ext cx="2770632" cy="457200"/>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演示负责人</a:t>
            </a:r>
          </a:p>
        </p:txBody>
      </p:sp>
      <p:sp>
        <p:nvSpPr>
          <p:cNvPr id="27" name="Rectangle 26"/>
          <p:cNvSpPr/>
          <p:nvPr/>
        </p:nvSpPr>
        <p:spPr>
          <a:xfrm>
            <a:off x="9098280" y="1828800"/>
            <a:ext cx="2770632" cy="39319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980676" y="2057400"/>
            <a:ext cx="1005840" cy="1005840"/>
          </a:xfrm>
          <a:prstGeom prst="ellipse">
            <a:avLst/>
          </a:prstGeom>
          <a:solidFill>
            <a:srgbClr val="CDCDC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zh-CN" altLang="en-US">
                <a:solidFill>
                  <a:srgbClr val="FFFFFF"/>
                </a:solidFill>
                <a:latin typeface="微软雅黑"/>
                <a:ea typeface="微软雅黑"/>
                <a:cs typeface="微软雅黑"/>
              </a:rPr>
              <a:t/>
            </a:r>
          </a:p>
        </p:txBody>
      </p:sp>
      <p:sp>
        <p:nvSpPr>
          <p:cNvPr id="29" name="TextBox 28"/>
          <p:cNvSpPr txBox="1"/>
          <p:nvPr/>
        </p:nvSpPr>
        <p:spPr>
          <a:xfrm>
            <a:off x="9098280" y="3200400"/>
            <a:ext cx="2770632" cy="411480"/>
          </a:xfrm>
          <a:prstGeom prst="rect">
            <a:avLst/>
          </a:prstGeom>
          <a:noFill/>
        </p:spPr>
        <p:txBody>
          <a:bodyPr wrap="square" anchor="ctr" lIns="45720" rIns="45720" tIns="27432" bIns="27432">
            <a:spAutoFit/>
          </a:bodyPr>
          <a:lstStyle/>
          <a:p>
            <a:pPr algn="ctr"/>
            <a:r>
              <a:rPr sz="1600" b="1" lang="zh-CN" altLang="en-US">
                <a:solidFill>
                  <a:srgbClr val="262626"/>
                </a:solidFill>
                <a:latin typeface="微软雅黑"/>
                <a:ea typeface="微软雅黑"/>
                <a:cs typeface="微软雅黑"/>
              </a:rPr>
              <a:t>（填写姓名）</a:t>
            </a:r>
          </a:p>
        </p:txBody>
      </p:sp>
      <p:sp>
        <p:nvSpPr>
          <p:cNvPr id="30" name="TextBox 29"/>
          <p:cNvSpPr txBox="1"/>
          <p:nvPr/>
        </p:nvSpPr>
        <p:spPr>
          <a:xfrm>
            <a:off x="9098280" y="3611880"/>
            <a:ext cx="2770632" cy="320040"/>
          </a:xfrm>
          <a:prstGeom prst="rect">
            <a:avLst/>
          </a:prstGeom>
          <a:noFill/>
        </p:spPr>
        <p:txBody>
          <a:bodyPr wrap="square" anchor="ctr" lIns="45720" rIns="45720" tIns="27432" bIns="27432">
            <a:spAutoFit/>
          </a:bodyPr>
          <a:lstStyle/>
          <a:p>
            <a:pPr algn="ctr"/>
            <a:r>
              <a:rPr sz="1100" b="0" lang="zh-CN" altLang="en-US">
                <a:solidFill>
                  <a:srgbClr val="595959"/>
                </a:solidFill>
                <a:latin typeface="微软雅黑"/>
                <a:ea typeface="微软雅黑"/>
                <a:cs typeface="微软雅黑"/>
              </a:rPr>
              <a:t>单位 · 岗位</a:t>
            </a:r>
          </a:p>
        </p:txBody>
      </p:sp>
      <p:sp>
        <p:nvSpPr>
          <p:cNvPr id="31" name="Rectangle 30"/>
          <p:cNvSpPr/>
          <p:nvPr/>
        </p:nvSpPr>
        <p:spPr>
          <a:xfrm>
            <a:off x="9921240" y="4023360"/>
            <a:ext cx="1124712" cy="27432"/>
          </a:xfrm>
          <a:prstGeom prst="rect">
            <a:avLst/>
          </a:prstGeom>
          <a:solidFill>
            <a:srgbClr val="2E54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281160" y="4160520"/>
            <a:ext cx="2404872" cy="1463040"/>
          </a:xfrm>
          <a:prstGeom prst="rect">
            <a:avLst/>
          </a:prstGeom>
          <a:noFill/>
        </p:spPr>
        <p:txBody>
          <a:bodyPr wrap="square" anchor="t" lIns="45720" rIns="45720" tIns="27432" bIns="27432">
            <a:spAutoFit/>
          </a:bodyPr>
          <a:lstStyle/>
          <a:p>
            <a:pPr algn="ctr">
              <a:lnSpc>
                <a:spcPct val="120000"/>
              </a:lnSpc>
            </a:pPr>
            <a:r>
              <a:rPr sz="1100" b="0" lang="zh-CN" altLang="en-US">
                <a:solidFill>
                  <a:srgbClr val="262626"/>
                </a:solidFill>
                <a:latin typeface="微软雅黑"/>
                <a:ea typeface="微软雅黑"/>
                <a:cs typeface="微软雅黑"/>
              </a:rPr>
              <a:t>负责演示路径设计、现场汇报与答辩</a:t>
            </a:r>
          </a:p>
        </p:txBody>
      </p:sp>
      <p:sp>
        <p:nvSpPr>
          <p:cNvPr id="33" name="TextBox 32"/>
          <p:cNvSpPr txBox="1"/>
          <p:nvPr/>
        </p:nvSpPr>
        <p:spPr>
          <a:xfrm>
            <a:off x="320040" y="5897880"/>
            <a:ext cx="11548872" cy="365760"/>
          </a:xfrm>
          <a:prstGeom prst="rect">
            <a:avLst/>
          </a:prstGeom>
          <a:noFill/>
        </p:spPr>
        <p:txBody>
          <a:bodyPr wrap="square" anchor="ctr" lIns="45720" rIns="45720" tIns="27432" bIns="27432">
            <a:spAutoFit/>
          </a:bodyPr>
          <a:lstStyle/>
          <a:p>
            <a:pPr algn="ctr"/>
            <a:r>
              <a:rPr sz="1250" b="0" lang="zh-CN" altLang="en-US">
                <a:solidFill>
                  <a:srgbClr val="262626"/>
                </a:solidFill>
                <a:latin typeface="微软雅黑"/>
                <a:ea typeface="微软雅黑"/>
                <a:cs typeface="微软雅黑"/>
              </a:rPr>
              <a:t>申报单位：深圳供电局有限公司　·　业务单位：光明供电局配网资产部</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ISLIDE.ICON" val="#109888;#164837;"/>
</p:tagLst>
</file>

<file path=ppt/tags/tag3.xml><?xml version="1.0" encoding="utf-8"?>
<p:tagLst xmlns:a="http://schemas.openxmlformats.org/drawingml/2006/main" xmlns:r="http://schemas.openxmlformats.org/officeDocument/2006/relationships" xmlns:p="http://schemas.openxmlformats.org/presentationml/2006/main">
  <p:tag name="ISLIDE.ICON" val="#109888;#164837;"/>
</p:tagLst>
</file>

<file path=ppt/tags/tag4.xml><?xml version="1.0" encoding="utf-8"?>
<p:tagLst xmlns:a="http://schemas.openxmlformats.org/drawingml/2006/main" xmlns:r="http://schemas.openxmlformats.org/officeDocument/2006/relationships" xmlns:p="http://schemas.openxmlformats.org/presentationml/2006/main">
  <p:tag name="ISLIDE.ICON" val="#109888;#164837;"/>
</p:tagLst>
</file>

<file path=ppt/tags/tag5.xml><?xml version="1.0" encoding="utf-8"?>
<p:tagLst xmlns:a="http://schemas.openxmlformats.org/drawingml/2006/main" xmlns:r="http://schemas.openxmlformats.org/officeDocument/2006/relationships" xmlns:p="http://schemas.openxmlformats.org/presentationml/2006/main">
  <p:tag name="ISLIDE.ICON" val="#109888;#164837;"/>
</p:tagLst>
</file>

<file path=ppt/tags/tag6.xml><?xml version="1.0" encoding="utf-8"?>
<p:tagLst xmlns:a="http://schemas.openxmlformats.org/drawingml/2006/main" xmlns:r="http://schemas.openxmlformats.org/officeDocument/2006/relationships" xmlns:p="http://schemas.openxmlformats.org/presentationml/2006/main">
  <p:tag name="ISLIDE.ICON" val="#109888;#164837;"/>
</p:tagLst>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vertOverflow="overflow" horzOverflow="overflow" vert="horz" wrap="square" numCol="1" spcCol="0" rtlCol="0" fromWordArt="0" anchor="ctr" anchorCtr="0" compatLnSpc="1">
        <a:noAutofit/>
      </a:bodyPr>
      <a:lstStyle>
        <a:defPPr algn="ctr">
          <a:defRPr lang="zh-CN" altLang="en-US" sz="1100" b="1">
            <a:solidFill>
              <a:schemeClr val="bg1"/>
            </a:solidFill>
            <a:latin typeface="微软雅黑" panose="020B0503020204020204" charset="-122"/>
            <a:ea typeface="微软雅黑" panose="020B0503020204020204" charset="-122"/>
          </a:defRPr>
        </a:defPPr>
      </a:lstStyle>
      <a:style>
        <a:lnRef idx="0">
          <a:schemeClr val="accent1"/>
        </a:lnRef>
        <a:fillRef idx="3">
          <a:schemeClr val="accent1"/>
        </a:fillRef>
        <a:effectRef idx="3">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TotalTime>
  <Words>449</Words>
  <Application>Microsoft Macintosh PowerPoint</Application>
  <PresentationFormat>宽屏</PresentationFormat>
  <Paragraphs>101</Paragraphs>
  <Slides>13</Slides>
  <Notes>7</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13</vt:i4>
      </vt:variant>
    </vt:vector>
  </HeadingPairs>
  <TitlesOfParts>
    <vt:vector size="20" baseType="lpstr">
      <vt:lpstr>微软雅黑</vt:lpstr>
      <vt:lpstr>Arial</vt:lpstr>
      <vt:lpstr>Calibri</vt:lpstr>
      <vt:lpstr>Calibri Light</vt:lpstr>
      <vt:lpstr>Franklin Gothic Heavy</vt:lpstr>
      <vt:lpstr>Times New Roman</vt:lpstr>
      <vt:lpstr>1_Office Theme</vt:lpstr>
      <vt:lpstr>PowerPoint 演示文稿</vt:lpstr>
      <vt:lpstr>PowerPoint 演示文稿</vt:lpstr>
      <vt:lpstr>目录</vt:lpstr>
      <vt:lpstr>一、成果介绍</vt:lpstr>
      <vt:lpstr>目录</vt:lpstr>
      <vt:lpstr>二、解决方案</vt:lpstr>
      <vt:lpstr>目录</vt:lpstr>
      <vt:lpstr>三、应用成效</vt:lpstr>
      <vt:lpstr>目录</vt:lpstr>
      <vt:lpstr>四、推广价值</vt:lpstr>
      <vt:lpstr>目录</vt:lpstr>
      <vt:lpstr>五、团队介绍</vt:lpstr>
      <vt:lpstr>THANKS 请输入您的团队名称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赵梦YTC</dc:creator>
  <cp:lastModifiedBy>Michael</cp:lastModifiedBy>
  <cp:revision>5592</cp:revision>
  <dcterms:created xsi:type="dcterms:W3CDTF">2019-09-25T07:48:00Z</dcterms:created>
  <dcterms:modified xsi:type="dcterms:W3CDTF">2026-10-01T22:11:15Z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2052-11.8.2.8696</vt:lpwstr>
  </property>
  <property fmtid="{D5CDD505-2E9C-101B-9397-08002B2CF9AE}" pid="3" name="ICV">
    <vt:lpwstr>4BB4B8C4EEF5403CB91AB7092390F09B</vt:lpwstr>
  </property>
  <property fmtid="{D5CDD505-2E9C-101B-9397-08002B2CF9AE}" pid="4" name="WondersoftTag">
    <vt:lpwstr>96531D2F-53CC-d344-9E4E-17A3C0123FB3#2#B49C4656-D46A480D-9080F35D-65318667##0</vt:lpwstr>
  </property>
</Properties>
</file>