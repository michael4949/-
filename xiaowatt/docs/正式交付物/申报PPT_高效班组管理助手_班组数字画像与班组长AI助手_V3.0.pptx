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handoutMasterIdLst>
    <p:handoutMasterId r:id="rId16"/>
  </p:handoutMasterIdLst>
  <p:sldIdLst>
    <p:sldId id="7593" r:id="rId2"/>
    <p:sldId id="7594" r:id="rId3"/>
    <p:sldId id="7781" r:id="rId4"/>
    <p:sldId id="8563" r:id="rId22"/>
    <p:sldId id="8564" r:id="rId23"/>
    <p:sldId id="8565" r:id="rId24"/>
    <p:sldId id="8566" r:id="rId25"/>
    <p:sldId id="8567" r:id="rId26"/>
    <p:sldId id="8568" r:id="rId27"/>
    <p:sldId id="8559" r:id="rId6"/>
    <p:sldId id="8569" r:id="rId28"/>
    <p:sldId id="8570" r:id="rId29"/>
    <p:sldId id="8571" r:id="rId30"/>
    <p:sldId id="8572" r:id="rId31"/>
    <p:sldId id="8573" r:id="rId32"/>
    <p:sldId id="8574" r:id="rId33"/>
    <p:sldId id="8575" r:id="rId34"/>
    <p:sldId id="8576" r:id="rId35"/>
    <p:sldId id="8560" r:id="rId8"/>
    <p:sldId id="8577" r:id="rId36"/>
    <p:sldId id="8578" r:id="rId37"/>
    <p:sldId id="8579" r:id="rId38"/>
    <p:sldId id="8580" r:id="rId39"/>
    <p:sldId id="8561" r:id="rId10"/>
    <p:sldId id="8581" r:id="rId40"/>
    <p:sldId id="8582" r:id="rId41"/>
    <p:sldId id="8583" r:id="rId42"/>
    <p:sldId id="8562" r:id="rId12"/>
    <p:sldId id="8584" r:id="rId43"/>
    <p:sldId id="6529"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7584">
          <p15:clr>
            <a:srgbClr val="A4A3A4"/>
          </p15:clr>
        </p15:guide>
        <p15:guide id="2" pos="329">
          <p15:clr>
            <a:srgbClr val="A4A3A4"/>
          </p15:clr>
        </p15:guide>
        <p15:guide id="3" orient="horz" pos="114">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包新晔" initials="包新晔" lastIdx="21" clrIdx="0"/>
  <p:cmAuthor id="1" name="常 泽乾" initials="常" lastIdx="7" clrIdx="0"/>
  <p:cmAuthor id="2" name="baogang.xu" initials="b" lastIdx="2" clrIdx="1"/>
  <p:cmAuthor id="3" name="yangyang" initials="y" lastIdx="1" clrIdx="0"/>
  <p:cmAuthor id="4" name="wangsong" initials="w" lastIdx="3" clrIdx="1"/>
  <p:cmAuthor id="5" name="邰璐" initials="邰" lastIdx="9" clrIdx="2"/>
  <p:cmAuthor id="6" name="xijf" initials="x" lastIdx="1" clrIdx="3"/>
  <p:cmAuthor id="7" name="Jiang" initials="J" lastIdx="5" clrIdx="4"/>
  <p:cmAuthor id="8" name="Yang Yingchun" initials="YY" lastIdx="1" clrIdx="7"/>
  <p:cmAuthor id="9" name="Zhan, Grace Haiting" initials="Z" lastIdx="0" clrIdx="7"/>
  <p:cmAuthor id="10" name="于 向东" initials="于" lastIdx="1" clrIdx="8"/>
  <p:cmAuthor id="11" name="Ti, Sarah Bowen" initials="TSB" lastIdx="1" clrIdx="11"/>
  <p:cmAuthor id="12" name="CQ" initials="C" lastIdx="4" clrIdx="1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CDCD"/>
    <a:srgbClr val="2E5495"/>
    <a:srgbClr val="FFFFFF"/>
    <a:srgbClr val="00377B"/>
    <a:srgbClr val="4472C4"/>
    <a:srgbClr val="0070C0"/>
    <a:srgbClr val="A9CAE9"/>
    <a:srgbClr val="DEEBF7"/>
    <a:srgbClr val="00B050"/>
    <a:srgbClr val="92D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75" autoAdjust="0"/>
    <p:restoredTop sz="88904" autoAdjust="0"/>
  </p:normalViewPr>
  <p:slideViewPr>
    <p:cSldViewPr snapToGrid="0" showGuides="1">
      <p:cViewPr varScale="1">
        <p:scale>
          <a:sx n="112" d="100"/>
          <a:sy n="112" d="100"/>
        </p:scale>
        <p:origin x="1352" y="192"/>
      </p:cViewPr>
      <p:guideLst>
        <p:guide pos="7584"/>
        <p:guide pos="329"/>
        <p:guide orient="horz" pos="114"/>
      </p:guideLst>
    </p:cSldViewPr>
  </p:slideViewPr>
  <p:notesTextViewPr>
    <p:cViewPr>
      <p:scale>
        <a:sx n="150" d="100"/>
        <a:sy n="150" d="100"/>
      </p:scale>
      <p:origin x="0" y="0"/>
    </p:cViewPr>
  </p:notesTextViewPr>
  <p:sorterViewPr>
    <p:cViewPr>
      <p:scale>
        <a:sx n="100" d="100"/>
        <a:sy n="100" d="100"/>
      </p:scale>
      <p:origin x="0" y="-4096"/>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6" Type="http://schemas.openxmlformats.org/officeDocument/2006/relationships/slide" Target="slides/slide5.xml"/><Relationship Id="rId8" Type="http://schemas.openxmlformats.org/officeDocument/2006/relationships/slide" Target="slides/slide7.xml"/><Relationship Id="rId10" Type="http://schemas.openxmlformats.org/officeDocument/2006/relationships/slide" Target="slides/slide9.xml"/><Relationship Id="rId12" Type="http://schemas.openxmlformats.org/officeDocument/2006/relationships/slide" Target="slides/slide11.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commentAuthors" Target="commentAuthors.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lang="zh-CN" altLang="en-US">
                <a:solidFill>
                  <a:srgbClr val="002060"/>
                </a:solidFill>
                <a:latin typeface="微软雅黑"/>
                <a:ea typeface="微软雅黑"/>
                <a:cs typeface="微软雅黑"/>
              </a:rPr>
              <a:t>各环节用时下降幅度（%）</a:t>
            </a:r>
          </a:p>
        </c:rich>
      </c:tx>
      <c:layout/>
      <c:overlay val="0"/>
    </c:title>
    <c:autoTitleDeleted val="0"/>
    <c:plotArea>
      <c:barChart>
        <c:barDir val="col"/>
        <c:grouping val="clustered"/>
        <c:ser>
          <c:idx val="0"/>
          <c:order val="0"/>
          <c:tx>
            <c:strRef>
              <c:f>Sheet1!$B$1</c:f>
              <c:strCache>
                <c:ptCount val="1"/>
                <c:pt idx="0">
                  <c:v>用时下降幅度（%）</c:v>
                </c:pt>
              </c:strCache>
            </c:strRef>
          </c:tx>
          <c:spPr>
            <a:solidFill>
              <a:srgbClr val="2E5495"/>
            </a:solidFill>
          </c:spPr>
          <c:cat>
            <c:strRef>
              <c:f>Sheet1!$A$2:$A$7</c:f>
              <c:strCache>
                <c:ptCount val="6"/>
                <c:pt idx="0">
                  <c:v>派工决策</c:v>
                </c:pt>
                <c:pt idx="1">
                  <c:v>月度考评</c:v>
                </c:pt>
                <c:pt idx="2">
                  <c:v>星级自评</c:v>
                </c:pt>
                <c:pt idx="3">
                  <c:v>授权盘点</c:v>
                </c:pt>
                <c:pt idx="4">
                  <c:v>月度总结</c:v>
                </c:pt>
                <c:pt idx="5">
                  <c:v>班长考评</c:v>
                </c:pt>
              </c:strCache>
            </c:strRef>
          </c:cat>
          <c:val>
            <c:numRef>
              <c:f>Sheet1!$B$2:$B$7</c:f>
              <c:numCache>
                <c:formatCode>General</c:formatCode>
                <c:ptCount val="6"/>
                <c:pt idx="0">
                  <c:v>83</c:v>
                </c:pt>
                <c:pt idx="1">
                  <c:v>75</c:v>
                </c:pt>
                <c:pt idx="2">
                  <c:v>75</c:v>
                </c:pt>
                <c:pt idx="3">
                  <c:v>87</c:v>
                </c:pt>
                <c:pt idx="4">
                  <c:v>75</c:v>
                </c:pt>
                <c:pt idx="5">
                  <c:v>75</c:v>
                </c:pt>
              </c:numCache>
            </c:numRef>
          </c:val>
        </c:ser>
        <c:dLbls>
          <c:numFmt formatCode="0&quot;%&quot;" sourceLinked="0"/>
          <c:txPr>
            <a:bodyPr/>
            <a:lstStyle/>
            <a:p>
              <a:pPr>
                <a:defRPr sz="1000">
                  <a:solidFill>
                    <a:srgbClr val="262626"/>
                  </a:solidFill>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BFBFBF"/>
            </a:solidFill>
          </a:ln>
        </c:spPr>
        <c:txPr>
          <a:bodyPr/>
          <a:lstStyle/>
          <a:p>
            <a:pPr>
              <a:defRPr sz="1000">
                <a:solidFill>
                  <a:srgbClr val="262626"/>
                </a:solidFill>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E0E0E0"/>
              </a:solidFill>
            </a:ln>
          </c:spPr>
        </c:majorGridlines>
        <c:majorTickMark val="out"/>
        <c:minorTickMark val="none"/>
        <c:tickLblPos val="nextTo"/>
        <c:spPr>
          <a:ln>
            <a:noFill/>
          </a:ln>
        </c:spPr>
        <c:txPr>
          <a:bodyPr/>
          <a:lstStyle/>
          <a:p>
            <a:pPr>
              <a:defRPr sz="900">
                <a:solidFill>
                  <a:srgbClr val="595959"/>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t>2026/10/2</a:t>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SG"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8DFF27A-1860-4745-8AFD-5E250A05B329}" type="datetimeFigureOut">
              <a:rPr lang="zh-SG" altLang="en-US" smtClean="0"/>
              <a:t>02/10/26</a:t>
            </a:fld>
            <a:endParaRPr lang="zh-SG"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SG"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tLang="zh-SG"/>
              <a:t>Click to edit Master text styles</a:t>
            </a:r>
          </a:p>
          <a:p>
            <a:pPr lvl="1"/>
            <a:r>
              <a:rPr lang="en-US" altLang="zh-SG"/>
              <a:t>Second level</a:t>
            </a:r>
          </a:p>
          <a:p>
            <a:pPr lvl="2"/>
            <a:r>
              <a:rPr lang="en-US" altLang="zh-SG"/>
              <a:t>Third level</a:t>
            </a:r>
          </a:p>
          <a:p>
            <a:pPr lvl="3"/>
            <a:r>
              <a:rPr lang="en-US" altLang="zh-SG"/>
              <a:t>Fourth level</a:t>
            </a:r>
          </a:p>
          <a:p>
            <a:pPr lvl="4"/>
            <a:r>
              <a:rPr lang="en-US" altLang="zh-SG"/>
              <a:t>Fifth level</a:t>
            </a:r>
            <a:endParaRPr lang="zh-SG"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SG"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867E0D-8F39-4505-ACD9-D510C3881821}" type="slidenum">
              <a:rPr lang="zh-SG" altLang="en-US" smtClean="0"/>
              <a:t>‹#›</a:t>
            </a:fld>
            <a:endParaRPr lang="zh-SG"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t>各位评委好。我们申报的成果是「高效班组管理助手」：班组数字画像与班组长AI助手，应用场景在光明供电局配网资产部的三个班组。</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谢谢各位评委。</a:t>
            </a:r>
          </a:p>
        </p:txBody>
      </p:sp>
      <p:sp>
        <p:nvSpPr>
          <p:cNvPr id="4" name="灯片编号占位符 3"/>
          <p:cNvSpPr>
            <a:spLocks noGrp="1"/>
          </p:cNvSpPr>
          <p:nvPr>
            <p:ph type="sldNum" sz="quarter" idx="5"/>
          </p:nvPr>
        </p:nvSpPr>
        <p:spPr/>
        <p:txBody>
          <a:bodyPr/>
          <a:lstStyle/>
          <a:p>
            <a:fld id="{ED867E0D-8F39-4505-ACD9-D510C3881821}" type="slidenum">
              <a:rPr lang="zh-SG" altLang="en-US" smtClean="0"/>
              <a:t>13</a:t>
            </a:fld>
            <a:endParaRPr lang="zh-SG" altLang="en-US"/>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先讲公司为什么要做：各系统已经各自数字化，但在班组这一级数据仍然分散，班组长靠查数、抄数、汇编做判断。转型落到基层的标志，是班组长在一屏画像上做判断。</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应用场景是光明供电局配网资产部三个班组 31 人；两类用户共用一个数据底座：班组长端 12 页、管理者端 9 页，小瓦特 AI 助手贯穿两端。</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五个核心优势：十七张台账同源、四条派工规则可解释、六环闭环可生长、两级同源可协同、所有涉及人的结论由人确认。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成果贴合公司推进技能人才队伍建设与作业授权管理、星级班组建设、业绩责任书绩效管理、安全生产责任制、基层减负、人工智能应用的要求：评价标准、认证表、责任书在班组一级有了数字化的执行与反馈，班组长的时间回到判断与确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对南方电网集团要求的响应：六个方面逐项对应——数字化转型与数字电网建设、人才强企、星级班组建设、业绩责任书与绩效管理、安全生产责任制与基层减负、人力资源数智化创新与人工智能应用。</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成果建成投运后，对公司与集团要求的响应不是一次性对标，而是三步机制：结构化留痕、按统一口径向上汇聚、按周期自动形成结果，每一项都有可检查的输出。示范意义是为公司提供可复制的班组级数字化样板。</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设计思路是三层模型：指标层量化、规则层把经验判断转为可解释规则、智能层由大模型承担问答与生成；系统给依据，人作决定。</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实现路径四步：数据归集、模型构建、场景落地、结果回流。</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数据来源为人资系统、OMS、OCS、电网管理平台、党建系统与荣誉台账、周报与责任书；数据结构以人员、班组、事件流水三类主题组织，十七张台账为底座。</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技术架构：大瓦特大模型提供对话、生成、问答与诊断能力；云景自助分析工具承载画像与看板；规则引擎与知识库部署于公司内网。</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班组长端 12 页按故事线组织。默认进入班组画像：只讲班组——名片、KPI、核心业务管控、星级评价与发展规划。</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派工四条规则逐人判定，理由随单存档，单次派工决策由约 30 分钟降到 5 分钟以内；作业授权认证表数字化，逐格确认，断层风险实时计算。</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管理者端的考核指标与班长绩效完全照录年度业绩责任书的指标、权重与评分标准，自动取数初评，部门确认后下发；跨班组调配五步闭环。</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五个创新点：经验判断规则化可解释、六环闭环、星级标准与授权认证数字化、两级同源、人在回路的 AI 协作；应用场景突破点是队伍建设六环闭环。</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六个环节应用前后对比，每一项都有可测算的用时变化。</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可量化效益：班组长每月事务性用时减少约 25 小时，相当于释放 3 个工作日；部门每季度减少约 3 个工作日。社会效益：依据留痕、经验传承、安全前置。</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成果投运后对集团要求的响应不是一次性对标，而是按周期自动形成、可检查、可向上汇聚的机制，逐项对照八个方面。</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实用化：应用范围、建设进度、数据对接、运行安排四方面，试点条件已具备。</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推广按部门试点、全局复制、网省推广三级推进；以配置化方式复制，更换专业只需调整口径配置。</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潜在价值分管理、社会、商业三个层面；开发计划四项：系统对接、专业扩展、能力深化、知识沉淀。</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结尾呼应开篇：对班组长、对管理者、对公司、对南方电网集团四个层面——公司的管理要求在班组一级有了数字化的执行与反馈，集团六项要求在班组一级有了持续、可检查的响应机制。</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团队成员与分工：业务、技术、项目、演示四位负责人（姓名待填）。</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3.emf"/><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296E1553-9F1C-00BD-EDB2-3D7884E7CAE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2192000" cy="4366761"/>
          </a:xfrm>
          <a:prstGeom prst="rect">
            <a:avLst/>
          </a:prstGeom>
        </p:spPr>
      </p:pic>
      <p:sp>
        <p:nvSpPr>
          <p:cNvPr id="4" name="Date Placeholder 3"/>
          <p:cNvSpPr>
            <a:spLocks noGrp="1"/>
          </p:cNvSpPr>
          <p:nvPr>
            <p:ph type="dt" sz="half" idx="10"/>
          </p:nvPr>
        </p:nvSpPr>
        <p:spPr/>
        <p:txBody>
          <a:bodyPr/>
          <a:lstStyle/>
          <a:p>
            <a:fld id="{8F7AB981-53CD-4E32-A78E-0C3AF3AF37E2}" type="datetimeFigureOut">
              <a:rPr lang="zh-SG" altLang="en-US" smtClean="0"/>
              <a:t>02/10/26</a:t>
            </a:fld>
            <a:endParaRPr lang="zh-SG" altLang="en-US"/>
          </a:p>
        </p:txBody>
      </p:sp>
      <p:sp>
        <p:nvSpPr>
          <p:cNvPr id="5" name="Footer Placeholder 4"/>
          <p:cNvSpPr>
            <a:spLocks noGrp="1"/>
          </p:cNvSpPr>
          <p:nvPr>
            <p:ph type="ftr" sz="quarter" idx="11"/>
          </p:nvPr>
        </p:nvSpPr>
        <p:spPr/>
        <p:txBody>
          <a:bodyPr/>
          <a:lstStyle/>
          <a:p>
            <a:endParaRPr lang="zh-SG" altLang="en-US"/>
          </a:p>
        </p:txBody>
      </p:sp>
      <p:sp>
        <p:nvSpPr>
          <p:cNvPr id="6" name="Slide Number Placeholder 5"/>
          <p:cNvSpPr>
            <a:spLocks noGrp="1"/>
          </p:cNvSpPr>
          <p:nvPr>
            <p:ph type="sldNum" sz="quarter" idx="12"/>
          </p:nvPr>
        </p:nvSpPr>
        <p:spPr/>
        <p:txBody>
          <a:bodyPr/>
          <a:lstStyle/>
          <a:p>
            <a:fld id="{1C9A23CB-5CFE-4917-83D8-8721FDB19016}" type="slidenum">
              <a:rPr lang="zh-SG" altLang="en-US" smtClean="0"/>
              <a:t>‹#›</a:t>
            </a:fld>
            <a:endParaRPr lang="zh-SG" altLang="en-US"/>
          </a:p>
        </p:txBody>
      </p:sp>
      <p:pic>
        <p:nvPicPr>
          <p:cNvPr id="7" name="图片 6"/>
          <p:cNvPicPr>
            <a:picLocks noChangeAspect="1"/>
          </p:cNvPicPr>
          <p:nvPr userDrawn="1"/>
        </p:nvPicPr>
        <p:blipFill rotWithShape="1">
          <a:blip r:embed="rId3" cstate="print">
            <a:extLst>
              <a:ext uri="{28A0092B-C50C-407E-A947-70E740481C1C}">
                <a14:useLocalDpi xmlns:a14="http://schemas.microsoft.com/office/drawing/2010/main" val="0"/>
              </a:ext>
            </a:extLst>
          </a:blip>
          <a:srcRect b="48162"/>
          <a:stretch>
            <a:fillRect/>
          </a:stretch>
        </p:blipFill>
        <p:spPr>
          <a:xfrm>
            <a:off x="8568662" y="-82550"/>
            <a:ext cx="4330691" cy="908050"/>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标题幻灯片">
    <p:spTree>
      <p:nvGrpSpPr>
        <p:cNvPr id="1" name=""/>
        <p:cNvGrpSpPr/>
        <p:nvPr/>
      </p:nvGrpSpPr>
      <p:grpSpPr>
        <a:xfrm>
          <a:off x="0" y="0"/>
          <a:ext cx="0" cy="0"/>
          <a:chOff x="0" y="0"/>
          <a:chExt cx="0" cy="0"/>
        </a:xfrm>
      </p:grpSpPr>
      <p:sp>
        <p:nvSpPr>
          <p:cNvPr id="11" name="矩形 10"/>
          <p:cNvSpPr/>
          <p:nvPr userDrawn="1"/>
        </p:nvSpPr>
        <p:spPr bwMode="auto">
          <a:xfrm>
            <a:off x="-12699" y="690745"/>
            <a:ext cx="12241862" cy="36000"/>
          </a:xfrm>
          <a:prstGeom prst="rect">
            <a:avLst/>
          </a:prstGeom>
          <a:solidFill>
            <a:schemeClr val="accent1"/>
          </a:solidFill>
          <a:ln w="9525" cap="flat" cmpd="sng" algn="ctr">
            <a:noFill/>
            <a:prstDash val="solid"/>
            <a:round/>
            <a:headEnd type="none" w="med" len="med"/>
            <a:tailEnd type="none" w="med" len="med"/>
          </a:ln>
          <a:effectLst/>
        </p:spPr>
        <p:txBody>
          <a:bodyPr>
            <a:noAutofit/>
          </a:bodyPr>
          <a:lstStyle/>
          <a:p>
            <a:pPr marL="685800" algn="ctr">
              <a:defRPr/>
            </a:pPr>
            <a:endParaRPr lang="zh-CN" altLang="en-US" sz="3600">
              <a:solidFill>
                <a:srgbClr val="00B0F0"/>
              </a:solidFill>
              <a:latin typeface="Franklin Gothic Heavy" panose="020B0903020102020204" pitchFamily="34" charset="0"/>
              <a:ea typeface="宋体" panose="02010600030101010101" pitchFamily="2" charset="-122"/>
            </a:endParaRPr>
          </a:p>
        </p:txBody>
      </p:sp>
      <p:pic>
        <p:nvPicPr>
          <p:cNvPr id="7" name="图片 6"/>
          <p:cNvPicPr>
            <a:picLocks noChangeAspect="1"/>
          </p:cNvPicPr>
          <p:nvPr userDrawn="1"/>
        </p:nvPicPr>
        <p:blipFill rotWithShape="1">
          <a:blip r:embed="rId2" cstate="print">
            <a:extLst>
              <a:ext uri="{28A0092B-C50C-407E-A947-70E740481C1C}">
                <a14:useLocalDpi xmlns:a14="http://schemas.microsoft.com/office/drawing/2010/main" val="0"/>
              </a:ext>
            </a:extLst>
          </a:blip>
          <a:srcRect b="48162"/>
          <a:stretch>
            <a:fillRect/>
          </a:stretch>
        </p:blipFill>
        <p:spPr>
          <a:xfrm>
            <a:off x="9469515" y="-145750"/>
            <a:ext cx="3544324" cy="700995"/>
          </a:xfrm>
          <a:prstGeom prst="rect">
            <a:avLst/>
          </a:prstGeom>
        </p:spPr>
      </p:pic>
      <p:sp>
        <p:nvSpPr>
          <p:cNvPr id="16" name="Slide Number Placeholder 1"/>
          <p:cNvSpPr txBox="1">
            <a:spLocks noChangeArrowheads="1"/>
          </p:cNvSpPr>
          <p:nvPr userDrawn="1"/>
        </p:nvSpPr>
        <p:spPr bwMode="auto">
          <a:xfrm>
            <a:off x="11733324" y="6503990"/>
            <a:ext cx="304844" cy="206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marL="0" marR="0" lvl="0" indent="0" algn="r" defTabSz="685800" rtl="0" eaLnBrk="1" fontAlgn="base" latinLnBrk="0" hangingPunct="1">
              <a:lnSpc>
                <a:spcPct val="100000"/>
              </a:lnSpc>
              <a:spcBef>
                <a:spcPct val="0"/>
              </a:spcBef>
              <a:spcAft>
                <a:spcPct val="0"/>
              </a:spcAft>
              <a:buClrTx/>
              <a:buSzTx/>
              <a:buFont typeface="Arial" panose="020B0604020202020204" pitchFamily="34" charset="0"/>
              <a:buNone/>
              <a:defRPr/>
            </a:pPr>
            <a:fld id="{95E97DF1-138B-4F73-A021-854647DC6194}" type="slidenum">
              <a:rPr kumimoji="0" lang="en-US" altLang="zh-CN" sz="1200" b="1" i="0" u="none" strike="noStrike" kern="1200" cap="none" spc="0" normalizeH="0" baseline="0" noProof="0" smtClean="0">
                <a:ln>
                  <a:noFill/>
                </a:ln>
                <a:solidFill>
                  <a:srgbClr val="A6A6A6"/>
                </a:solidFill>
                <a:effectLst/>
                <a:uLnTx/>
                <a:uFillTx/>
                <a:latin typeface="Arial" panose="020B0604020202020204" pitchFamily="34" charset="0"/>
                <a:ea typeface="微软雅黑" panose="020B0503020204020204" charset="-122"/>
                <a:cs typeface="+mn-cs"/>
              </a:rPr>
              <a:t>‹#›</a:t>
            </a:fld>
            <a:endParaRPr kumimoji="0" lang="en-US" altLang="zh-CN" sz="1200" b="1" i="0" u="none" strike="noStrike" kern="1200" cap="none" spc="0" normalizeH="0" baseline="0" noProof="0">
              <a:ln>
                <a:noFill/>
              </a:ln>
              <a:solidFill>
                <a:srgbClr val="A6A6A6"/>
              </a:solidFill>
              <a:effectLst/>
              <a:uLnTx/>
              <a:uFillTx/>
              <a:latin typeface="Arial" panose="020B0604020202020204" pitchFamily="34" charset="0"/>
              <a:ea typeface="微软雅黑" panose="020B0503020204020204" charset="-122"/>
              <a:cs typeface="+mn-c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仅标题">
    <p:bg>
      <p:bgPr>
        <a:solidFill>
          <a:schemeClr val="bg1"/>
        </a:solidFill>
        <a:effectLst/>
      </p:bgPr>
    </p:bg>
    <p:spTree>
      <p:nvGrpSpPr>
        <p:cNvPr id="1" name=""/>
        <p:cNvGrpSpPr/>
        <p:nvPr/>
      </p:nvGrpSpPr>
      <p:grpSpPr>
        <a:xfrm>
          <a:off x="0" y="0"/>
          <a:ext cx="0" cy="0"/>
          <a:chOff x="0" y="0"/>
          <a:chExt cx="0" cy="0"/>
        </a:xfrm>
      </p:grpSpPr>
      <p:sp>
        <p:nvSpPr>
          <p:cNvPr id="11" name="Slide Number Placeholder 1"/>
          <p:cNvSpPr txBox="1">
            <a:spLocks noChangeArrowheads="1"/>
          </p:cNvSpPr>
          <p:nvPr/>
        </p:nvSpPr>
        <p:spPr bwMode="auto">
          <a:xfrm>
            <a:off x="11733324" y="6503990"/>
            <a:ext cx="304844" cy="206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marL="0" marR="0" lvl="0" indent="0" algn="r" defTabSz="685800" rtl="0" eaLnBrk="1" fontAlgn="base" latinLnBrk="0" hangingPunct="1">
              <a:lnSpc>
                <a:spcPct val="100000"/>
              </a:lnSpc>
              <a:spcBef>
                <a:spcPct val="0"/>
              </a:spcBef>
              <a:spcAft>
                <a:spcPct val="0"/>
              </a:spcAft>
              <a:buClrTx/>
              <a:buSzTx/>
              <a:buFont typeface="Arial" panose="020B0604020202020204" pitchFamily="34" charset="0"/>
              <a:buNone/>
              <a:defRPr/>
            </a:pPr>
            <a:fld id="{07D7F81C-EF3E-4B71-A3E4-FC396D4A71BF}" type="slidenum">
              <a:rPr kumimoji="0" lang="en-US" altLang="zh-CN" sz="1200" b="1" i="0" u="none" strike="noStrike" kern="1200" cap="none" spc="0" normalizeH="0" baseline="0" noProof="0" smtClean="0">
                <a:ln>
                  <a:noFill/>
                </a:ln>
                <a:solidFill>
                  <a:srgbClr val="A6A6A6"/>
                </a:solidFill>
                <a:effectLst/>
                <a:uLnTx/>
                <a:uFillTx/>
                <a:latin typeface="Arial" panose="020B0604020202020204" pitchFamily="34" charset="0"/>
                <a:ea typeface="微软雅黑" panose="020B0503020204020204" charset="-122"/>
                <a:cs typeface="+mn-cs"/>
              </a:rPr>
              <a:t>‹#›</a:t>
            </a:fld>
            <a:endParaRPr kumimoji="0" lang="en-US" altLang="zh-CN" sz="1200" b="1" i="0" u="none" strike="noStrike" kern="1200" cap="none" spc="0" normalizeH="0" baseline="0" noProof="0">
              <a:ln>
                <a:noFill/>
              </a:ln>
              <a:solidFill>
                <a:srgbClr val="A6A6A6"/>
              </a:solidFill>
              <a:effectLst/>
              <a:uLnTx/>
              <a:uFillTx/>
              <a:latin typeface="Arial" panose="020B0604020202020204" pitchFamily="34" charset="0"/>
              <a:ea typeface="微软雅黑" panose="020B0503020204020204" charset="-122"/>
              <a:cs typeface="+mn-cs"/>
            </a:endParaRPr>
          </a:p>
        </p:txBody>
      </p:sp>
      <p:pic>
        <p:nvPicPr>
          <p:cNvPr id="5127" name="Object 1" hidden="1"/>
          <p:cNvPicPr>
            <a:picLocks noChangeAspect="1"/>
          </p:cNvPicPr>
          <p:nvPr userDrawn="1">
            <p:custDataLst>
              <p:tags r:id="rId1"/>
            </p:custDataLst>
          </p:nvPr>
        </p:nvPicPr>
        <p:blipFill>
          <a:blip r:embed="rId3"/>
          <a:stretch>
            <a:fillRect/>
          </a:stretch>
        </p:blipFill>
        <p:spPr>
          <a:xfrm>
            <a:off x="1589" y="1590"/>
            <a:ext cx="1587" cy="1587"/>
          </a:xfrm>
          <a:prstGeom prst="rect">
            <a:avLst/>
          </a:prstGeom>
          <a:noFill/>
          <a:ln w="38100">
            <a:noFill/>
          </a:ln>
        </p:spPr>
      </p:pic>
      <p:sp>
        <p:nvSpPr>
          <p:cNvPr id="16" name="Slide Number Placeholder 1"/>
          <p:cNvSpPr txBox="1">
            <a:spLocks noChangeArrowheads="1"/>
          </p:cNvSpPr>
          <p:nvPr/>
        </p:nvSpPr>
        <p:spPr bwMode="auto">
          <a:xfrm>
            <a:off x="11733324" y="6503990"/>
            <a:ext cx="304844" cy="206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marL="0" marR="0" lvl="0" indent="0" algn="r" defTabSz="685800" rtl="0" eaLnBrk="1" fontAlgn="base" latinLnBrk="0" hangingPunct="1">
              <a:lnSpc>
                <a:spcPct val="100000"/>
              </a:lnSpc>
              <a:spcBef>
                <a:spcPct val="0"/>
              </a:spcBef>
              <a:spcAft>
                <a:spcPct val="0"/>
              </a:spcAft>
              <a:buClrTx/>
              <a:buSzTx/>
              <a:buFont typeface="Arial" panose="020B0604020202020204" pitchFamily="34" charset="0"/>
              <a:buNone/>
              <a:defRPr/>
            </a:pPr>
            <a:fld id="{95E97DF1-138B-4F73-A021-854647DC6194}" type="slidenum">
              <a:rPr kumimoji="0" lang="en-US" altLang="zh-CN" sz="1200" b="1" i="0" u="none" strike="noStrike" kern="1200" cap="none" spc="0" normalizeH="0" baseline="0" noProof="0" smtClean="0">
                <a:ln>
                  <a:noFill/>
                </a:ln>
                <a:solidFill>
                  <a:srgbClr val="A6A6A6"/>
                </a:solidFill>
                <a:effectLst/>
                <a:uLnTx/>
                <a:uFillTx/>
                <a:latin typeface="Arial" panose="020B0604020202020204" pitchFamily="34" charset="0"/>
                <a:ea typeface="微软雅黑" panose="020B0503020204020204" charset="-122"/>
                <a:cs typeface="+mn-cs"/>
              </a:rPr>
              <a:t>‹#›</a:t>
            </a:fld>
            <a:endParaRPr kumimoji="0" lang="en-US" altLang="zh-CN" sz="1200" b="1" i="0" u="none" strike="noStrike" kern="1200" cap="none" spc="0" normalizeH="0" baseline="0" noProof="0">
              <a:ln>
                <a:noFill/>
              </a:ln>
              <a:solidFill>
                <a:srgbClr val="A6A6A6"/>
              </a:solidFill>
              <a:effectLst/>
              <a:uLnTx/>
              <a:uFillTx/>
              <a:latin typeface="Arial" panose="020B0604020202020204" pitchFamily="34" charset="0"/>
              <a:ea typeface="微软雅黑" panose="020B0503020204020204" charset="-122"/>
              <a:cs typeface="+mn-cs"/>
            </a:endParaRPr>
          </a:p>
        </p:txBody>
      </p:sp>
      <p:sp>
        <p:nvSpPr>
          <p:cNvPr id="4" name="标题 3"/>
          <p:cNvSpPr>
            <a:spLocks noGrp="1"/>
          </p:cNvSpPr>
          <p:nvPr>
            <p:ph type="title"/>
          </p:nvPr>
        </p:nvSpPr>
        <p:spPr>
          <a:xfrm>
            <a:off x="407427" y="200687"/>
            <a:ext cx="8138082" cy="418058"/>
          </a:xfrm>
          <a:prstGeom prst="rect">
            <a:avLst/>
          </a:prstGeom>
        </p:spPr>
        <p:txBody>
          <a:bodyPr anchor="ctr"/>
          <a:lstStyle>
            <a:lvl1pPr algn="l">
              <a:defRPr sz="2100" b="1">
                <a:solidFill>
                  <a:schemeClr val="tx1"/>
                </a:solidFill>
                <a:latin typeface="微软雅黑" panose="020B0503020204020204" charset="-122"/>
                <a:ea typeface="微软雅黑" panose="020B0503020204020204" charset="-122"/>
              </a:defRPr>
            </a:lvl1pPr>
          </a:lstStyle>
          <a:p>
            <a:r>
              <a:rPr lang="zh-CN" altLang="en-US" noProof="1"/>
              <a:t>单击此处编辑母版标题样式</a:t>
            </a:r>
          </a:p>
        </p:txBody>
      </p:sp>
      <p:sp>
        <p:nvSpPr>
          <p:cNvPr id="15" name="矩形 10"/>
          <p:cNvSpPr/>
          <p:nvPr userDrawn="1"/>
        </p:nvSpPr>
        <p:spPr bwMode="auto">
          <a:xfrm>
            <a:off x="2" y="690745"/>
            <a:ext cx="12205858" cy="36000"/>
          </a:xfrm>
          <a:prstGeom prst="rect">
            <a:avLst/>
          </a:prstGeom>
          <a:solidFill>
            <a:schemeClr val="accent1"/>
          </a:solidFill>
          <a:ln w="9525" cap="flat" cmpd="sng" algn="ctr">
            <a:noFill/>
            <a:prstDash val="solid"/>
            <a:round/>
            <a:headEnd type="none" w="med" len="med"/>
            <a:tailEnd type="none" w="med" len="med"/>
          </a:ln>
          <a:effectLst/>
        </p:spPr>
        <p:txBody>
          <a:bodyPr>
            <a:noAutofit/>
          </a:bodyPr>
          <a:lstStyle/>
          <a:p>
            <a:pPr marL="685800" algn="ctr">
              <a:defRPr/>
            </a:pPr>
            <a:endParaRPr lang="zh-CN" altLang="en-US" sz="3600">
              <a:solidFill>
                <a:srgbClr val="00B0F0"/>
              </a:solidFill>
              <a:latin typeface="Franklin Gothic Heavy" panose="020B0903020102020204" pitchFamily="34" charset="0"/>
              <a:ea typeface="宋体" panose="02010600030101010101" pitchFamily="2" charset="-122"/>
            </a:endParaRPr>
          </a:p>
        </p:txBody>
      </p:sp>
      <p:pic>
        <p:nvPicPr>
          <p:cNvPr id="18" name="图片 6"/>
          <p:cNvPicPr>
            <a:picLocks noChangeAspect="1"/>
          </p:cNvPicPr>
          <p:nvPr userDrawn="1"/>
        </p:nvPicPr>
        <p:blipFill rotWithShape="1">
          <a:blip r:embed="rId4" cstate="print">
            <a:extLst>
              <a:ext uri="{28A0092B-C50C-407E-A947-70E740481C1C}">
                <a14:useLocalDpi xmlns:a14="http://schemas.microsoft.com/office/drawing/2010/main" val="0"/>
              </a:ext>
            </a:extLst>
          </a:blip>
          <a:srcRect b="48162"/>
          <a:stretch>
            <a:fillRect/>
          </a:stretch>
        </p:blipFill>
        <p:spPr>
          <a:xfrm>
            <a:off x="9355199" y="-82250"/>
            <a:ext cx="3544324" cy="700995"/>
          </a:xfrm>
          <a:prstGeom prst="rect">
            <a:avLst/>
          </a:prstGeom>
        </p:spPr>
      </p:pic>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正文">
    <p:spTree>
      <p:nvGrpSpPr>
        <p:cNvPr id="1" name=""/>
        <p:cNvGrpSpPr/>
        <p:nvPr/>
      </p:nvGrpSpPr>
      <p:grpSpPr>
        <a:xfrm>
          <a:off x="0" y="0"/>
          <a:ext cx="0" cy="0"/>
          <a:chOff x="0" y="0"/>
          <a:chExt cx="0" cy="0"/>
        </a:xfrm>
      </p:grpSpPr>
      <p:cxnSp>
        <p:nvCxnSpPr>
          <p:cNvPr id="4" name="Straight Connector 4"/>
          <p:cNvCxnSpPr/>
          <p:nvPr userDrawn="1"/>
        </p:nvCxnSpPr>
        <p:spPr>
          <a:xfrm>
            <a:off x="-5493" y="902714"/>
            <a:ext cx="12213072" cy="0"/>
          </a:xfrm>
          <a:prstGeom prst="line">
            <a:avLst/>
          </a:prstGeom>
          <a:ln w="38100">
            <a:solidFill>
              <a:schemeClr val="accent1">
                <a:lumMod val="75000"/>
              </a:schemeClr>
            </a:solidFill>
          </a:ln>
        </p:spPr>
        <p:style>
          <a:lnRef idx="1">
            <a:schemeClr val="dk1"/>
          </a:lnRef>
          <a:fillRef idx="0">
            <a:schemeClr val="dk1"/>
          </a:fillRef>
          <a:effectRef idx="0">
            <a:schemeClr val="dk1"/>
          </a:effectRef>
          <a:fontRef idx="minor">
            <a:schemeClr val="tx1"/>
          </a:fontRef>
        </p:style>
      </p:cxnSp>
      <p:pic>
        <p:nvPicPr>
          <p:cNvPr id="5" name="图片 4" descr="公司logo PNG 文件（蓝色）"/>
          <p:cNvPicPr>
            <a:picLocks noChangeAspect="1"/>
          </p:cNvPicPr>
          <p:nvPr userDrawn="1"/>
        </p:nvPicPr>
        <p:blipFill>
          <a:blip r:embed="rId2"/>
          <a:stretch>
            <a:fillRect/>
          </a:stretch>
        </p:blipFill>
        <p:spPr>
          <a:xfrm>
            <a:off x="9169896" y="-445558"/>
            <a:ext cx="2997031" cy="1798494"/>
          </a:xfrm>
          <a:prstGeom prst="rect">
            <a:avLst/>
          </a:prstGeom>
        </p:spPr>
      </p:pic>
      <p:sp>
        <p:nvSpPr>
          <p:cNvPr id="26" name="灯片编号占位符 5"/>
          <p:cNvSpPr>
            <a:spLocks noGrp="1"/>
          </p:cNvSpPr>
          <p:nvPr>
            <p:ph type="sldNum" sz="quarter" idx="4"/>
          </p:nvPr>
        </p:nvSpPr>
        <p:spPr>
          <a:xfrm>
            <a:off x="8739081" y="6356350"/>
            <a:ext cx="2845283" cy="365125"/>
          </a:xfrm>
          <a:prstGeom prst="rect">
            <a:avLst/>
          </a:prstGeom>
        </p:spPr>
        <p:txBody>
          <a:bodyPr vert="horz" lIns="114790" tIns="57394" rIns="114790" bIns="57394" rtlCol="0" anchor="ctr"/>
          <a:lstStyle>
            <a:lvl1pPr algn="r">
              <a:defRPr sz="1420">
                <a:solidFill>
                  <a:schemeClr val="tx1">
                    <a:tint val="75000"/>
                  </a:schemeClr>
                </a:solidFill>
              </a:defRPr>
            </a:lvl1pPr>
          </a:lstStyle>
          <a:p>
            <a:fld id="{0C913308-F349-4B6D-A68A-DD1791B4A57B}" type="slidenum">
              <a:rPr lang="zh-CN" altLang="en-US" smtClean="0"/>
              <a:t>‹#›</a:t>
            </a:fld>
            <a:endParaRPr lang="zh-CN" altLang="en-US"/>
          </a:p>
        </p:txBody>
      </p:sp>
    </p:spTree>
  </p:cSld>
  <p:clrMapOvr>
    <a:masterClrMapping/>
  </p:clrMapOvr>
  <p:transition spd="med">
    <p:pull/>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标题和内容">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picTx">
  <p:cSld name="图片与标题">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79947" cy="6845273"/>
          </a:xfrm>
          <a:prstGeom prst="rect">
            <a:avLst/>
          </a:prstGeom>
        </p:spPr>
      </p:pic>
      <p:sp>
        <p:nvSpPr>
          <p:cNvPr id="6" name="文本框 5"/>
          <p:cNvSpPr txBox="1"/>
          <p:nvPr userDrawn="1"/>
        </p:nvSpPr>
        <p:spPr>
          <a:xfrm>
            <a:off x="154956" y="6537498"/>
            <a:ext cx="5339903" cy="275590"/>
          </a:xfrm>
          <a:prstGeom prst="rect">
            <a:avLst/>
          </a:prstGeom>
          <a:noFill/>
        </p:spPr>
        <p:txBody>
          <a:bodyPr wrap="square" rtlCol="0">
            <a:spAutoFit/>
          </a:bodyPr>
          <a:lstStyle/>
          <a:p>
            <a:r>
              <a:rPr lang="en-US" altLang="zh-CN" sz="1200" noProof="0" dirty="0">
                <a:ln>
                  <a:noFill/>
                </a:ln>
                <a:solidFill>
                  <a:schemeClr val="bg1">
                    <a:lumMod val="50000"/>
                  </a:schemeClr>
                </a:solidFill>
                <a:effectLst/>
                <a:uLnTx/>
                <a:uFillTx/>
                <a:latin typeface="Times New Roman" panose="02020603050405020304" pitchFamily="18" charset="0"/>
                <a:cs typeface="Times New Roman" panose="02020603050405020304" pitchFamily="18" charset="0"/>
              </a:rPr>
              <a:t>©CSG Shenzhen Digital Grid Research Institute2020. All Rights Reserved</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SG"/>
              <a:t>Click to edit Master title style</a:t>
            </a:r>
            <a:endParaRPr lang="en-US" dirty="0"/>
          </a:p>
        </p:txBody>
      </p:sp>
      <p:sp>
        <p:nvSpPr>
          <p:cNvPr id="3" name="Content Placeholder 2"/>
          <p:cNvSpPr>
            <a:spLocks noGrp="1"/>
          </p:cNvSpPr>
          <p:nvPr>
            <p:ph idx="1"/>
          </p:nvPr>
        </p:nvSpPr>
        <p:spPr/>
        <p:txBody>
          <a:bodyPr/>
          <a:lstStyle/>
          <a:p>
            <a:pPr lvl="0"/>
            <a:r>
              <a:rPr lang="en-US" altLang="zh-SG"/>
              <a:t>Click to edit Master text styles</a:t>
            </a:r>
          </a:p>
          <a:p>
            <a:pPr lvl="1"/>
            <a:r>
              <a:rPr lang="en-US" altLang="zh-SG"/>
              <a:t>Second level</a:t>
            </a:r>
          </a:p>
          <a:p>
            <a:pPr lvl="2"/>
            <a:r>
              <a:rPr lang="en-US" altLang="zh-SG"/>
              <a:t>Third level</a:t>
            </a:r>
          </a:p>
          <a:p>
            <a:pPr lvl="3"/>
            <a:r>
              <a:rPr lang="en-US" altLang="zh-SG"/>
              <a:t>Fourth level</a:t>
            </a:r>
          </a:p>
          <a:p>
            <a:pPr lvl="4"/>
            <a:r>
              <a:rPr lang="en-US" altLang="zh-SG"/>
              <a:t>Fifth level</a:t>
            </a:r>
            <a:endParaRPr lang="en-US" dirty="0"/>
          </a:p>
        </p:txBody>
      </p:sp>
      <p:sp>
        <p:nvSpPr>
          <p:cNvPr id="4" name="Date Placeholder 3"/>
          <p:cNvSpPr>
            <a:spLocks noGrp="1"/>
          </p:cNvSpPr>
          <p:nvPr>
            <p:ph type="dt" sz="half" idx="10"/>
          </p:nvPr>
        </p:nvSpPr>
        <p:spPr/>
        <p:txBody>
          <a:bodyPr/>
          <a:lstStyle/>
          <a:p>
            <a:fld id="{8F7AB981-53CD-4E32-A78E-0C3AF3AF37E2}" type="datetimeFigureOut">
              <a:rPr lang="zh-SG" altLang="en-US" smtClean="0"/>
              <a:t>02/10/26</a:t>
            </a:fld>
            <a:endParaRPr lang="zh-SG" altLang="en-US"/>
          </a:p>
        </p:txBody>
      </p:sp>
      <p:sp>
        <p:nvSpPr>
          <p:cNvPr id="5" name="Footer Placeholder 4"/>
          <p:cNvSpPr>
            <a:spLocks noGrp="1"/>
          </p:cNvSpPr>
          <p:nvPr>
            <p:ph type="ftr" sz="quarter" idx="11"/>
          </p:nvPr>
        </p:nvSpPr>
        <p:spPr/>
        <p:txBody>
          <a:bodyPr/>
          <a:lstStyle/>
          <a:p>
            <a:endParaRPr lang="zh-SG" altLang="en-US"/>
          </a:p>
        </p:txBody>
      </p:sp>
      <p:sp>
        <p:nvSpPr>
          <p:cNvPr id="6" name="Slide Number Placeholder 5"/>
          <p:cNvSpPr>
            <a:spLocks noGrp="1"/>
          </p:cNvSpPr>
          <p:nvPr>
            <p:ph type="sldNum" sz="quarter" idx="12"/>
          </p:nvPr>
        </p:nvSpPr>
        <p:spPr/>
        <p:txBody>
          <a:bodyPr/>
          <a:lstStyle/>
          <a:p>
            <a:fld id="{1C9A23CB-5CFE-4917-83D8-8721FDB19016}" type="slidenum">
              <a:rPr lang="zh-SG" altLang="en-US" smtClean="0"/>
              <a:t>‹#›</a:t>
            </a:fld>
            <a:endParaRPr lang="zh-SG"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330851" y="68580"/>
            <a:ext cx="8731655" cy="699770"/>
          </a:xfrm>
        </p:spPr>
        <p:txBody>
          <a:bodyPr/>
          <a:lstStyle>
            <a:lvl1pPr algn="l">
              <a:defRPr sz="2800" b="1">
                <a:latin typeface="微软雅黑" panose="020B0503020204020204" charset="-122"/>
                <a:ea typeface="微软雅黑" panose="020B0503020204020204" charset="-122"/>
              </a:defRPr>
            </a:lvl1pPr>
          </a:lstStyle>
          <a:p>
            <a:r>
              <a:rPr lang="en-US"/>
              <a:t>Click to edit Master title style</a:t>
            </a:r>
          </a:p>
        </p:txBody>
      </p:sp>
      <p:sp>
        <p:nvSpPr>
          <p:cNvPr id="3" name="日期占位符 2"/>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 typeface="Arial" panose="020B0604020202020204" pitchFamily="34" charset="0"/>
              <a:buNone/>
              <a:defRPr/>
            </a:pPr>
            <a:endParaRPr kumimoji="0" lang="en-US" altLang="en-US" sz="1200" b="0" i="0" u="none" strike="noStrike" kern="1200" cap="none" spc="0" normalizeH="0" baseline="0" noProof="0">
              <a:ln>
                <a:noFill/>
              </a:ln>
              <a:solidFill>
                <a:srgbClr val="898989"/>
              </a:solidFill>
              <a:effectLst/>
              <a:uLnTx/>
              <a:uFillTx/>
              <a:latin typeface="Arial" panose="020B0604020202020204" pitchFamily="34" charset="0"/>
              <a:ea typeface="宋体" panose="02010600030101010101" pitchFamily="2" charset="-122"/>
              <a:cs typeface="+mn-cs"/>
            </a:endParaRPr>
          </a:p>
        </p:txBody>
      </p:sp>
      <p:sp>
        <p:nvSpPr>
          <p:cNvPr id="4" name="页脚占位符 3"/>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 typeface="Arial" panose="020B0604020202020204" pitchFamily="34" charset="0"/>
              <a:buNone/>
              <a:defRPr/>
            </a:pPr>
            <a:endParaRPr kumimoji="0" lang="en-US" altLang="en-US" sz="1200" b="0" i="0" u="none" strike="noStrike" kern="1200" cap="none" spc="0" normalizeH="0" baseline="0" noProof="0">
              <a:ln>
                <a:noFill/>
              </a:ln>
              <a:solidFill>
                <a:srgbClr val="898989"/>
              </a:solidFill>
              <a:effectLst/>
              <a:uLnTx/>
              <a:uFillTx/>
              <a:latin typeface="Arial" panose="020B0604020202020204" pitchFamily="34" charset="0"/>
              <a:ea typeface="宋体" panose="02010600030101010101" pitchFamily="2" charset="-122"/>
              <a:cs typeface="+mn-cs"/>
            </a:endParaRPr>
          </a:p>
        </p:txBody>
      </p:sp>
      <p:sp>
        <p:nvSpPr>
          <p:cNvPr id="5" name="灯片编号占位符 4"/>
          <p:cNvSpPr>
            <a:spLocks noGrp="1"/>
          </p:cNvSpPr>
          <p:nvPr>
            <p:ph type="sldNum" sz="quarter" idx="12"/>
          </p:nvPr>
        </p:nvSpPr>
        <p:spPr/>
        <p:txBody>
          <a:bodyPr/>
          <a:lstStyle/>
          <a:p>
            <a:pPr lvl="0" algn="r" eaLnBrk="1" hangingPunct="1">
              <a:buChar char="•"/>
            </a:pPr>
            <a:fld id="{9A0DB2DC-4C9A-4742-B13C-FB6460FD3503}" type="slidenum">
              <a:rPr lang="en-US" altLang="en-US" sz="1200" dirty="0">
                <a:solidFill>
                  <a:srgbClr val="898989"/>
                </a:solidFill>
              </a:rPr>
              <a:t>‹#›</a:t>
            </a:fld>
            <a:endParaRPr lang="en-US" altLang="en-US" sz="1200" dirty="0">
              <a:solidFill>
                <a:srgbClr val="898989"/>
              </a:solidFill>
            </a:endParaRPr>
          </a:p>
        </p:txBody>
      </p:sp>
      <p:sp>
        <p:nvSpPr>
          <p:cNvPr id="5122" name="直接连接符 2"/>
          <p:cNvSpPr/>
          <p:nvPr userDrawn="1"/>
        </p:nvSpPr>
        <p:spPr>
          <a:xfrm>
            <a:off x="0" y="831850"/>
            <a:ext cx="12192566" cy="0"/>
          </a:xfrm>
          <a:prstGeom prst="line">
            <a:avLst/>
          </a:prstGeom>
          <a:ln w="6350" cap="flat" cmpd="sng">
            <a:solidFill>
              <a:schemeClr val="accent1"/>
            </a:solidFill>
            <a:prstDash val="solid"/>
            <a:headEnd type="none" w="med" len="med"/>
            <a:tailEnd type="none" w="med" len="med"/>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1_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8F7AB981-53CD-4E32-A78E-0C3AF3AF37E2}" type="datetimeFigureOut">
              <a:rPr lang="zh-SG" altLang="en-US" smtClean="0"/>
              <a:t>02/10/26</a:t>
            </a:fld>
            <a:endParaRPr lang="zh-SG" altLang="en-US"/>
          </a:p>
        </p:txBody>
      </p:sp>
      <p:sp>
        <p:nvSpPr>
          <p:cNvPr id="4" name="页脚占位符 3"/>
          <p:cNvSpPr>
            <a:spLocks noGrp="1"/>
          </p:cNvSpPr>
          <p:nvPr>
            <p:ph type="ftr" sz="quarter" idx="11"/>
          </p:nvPr>
        </p:nvSpPr>
        <p:spPr/>
        <p:txBody>
          <a:bodyPr/>
          <a:lstStyle/>
          <a:p>
            <a:endParaRPr lang="zh-SG" altLang="en-US"/>
          </a:p>
        </p:txBody>
      </p:sp>
      <p:sp>
        <p:nvSpPr>
          <p:cNvPr id="5" name="灯片编号占位符 4"/>
          <p:cNvSpPr>
            <a:spLocks noGrp="1"/>
          </p:cNvSpPr>
          <p:nvPr>
            <p:ph type="sldNum" sz="quarter" idx="12"/>
          </p:nvPr>
        </p:nvSpPr>
        <p:spPr/>
        <p:txBody>
          <a:bodyPr/>
          <a:lstStyle/>
          <a:p>
            <a:fld id="{1C9A23CB-5CFE-4917-83D8-8721FDB19016}" type="slidenum">
              <a:rPr lang="zh-SG" altLang="en-US" smtClean="0"/>
              <a:t>‹#›</a:t>
            </a:fld>
            <a:endParaRPr lang="zh-SG"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322" y="365125"/>
            <a:ext cx="10517123" cy="1325563"/>
          </a:xfrm>
          <a:prstGeom prst="rect">
            <a:avLst/>
          </a:prstGeom>
        </p:spPr>
        <p:txBody>
          <a:bodyPr vert="horz" lIns="91440" tIns="45720" rIns="91440" bIns="45720" rtlCol="0" anchor="ctr">
            <a:normAutofit/>
          </a:bodyPr>
          <a:lstStyle/>
          <a:p>
            <a:r>
              <a:rPr lang="en-US" altLang="zh-SG"/>
              <a:t>Click to edit Master title style</a:t>
            </a:r>
            <a:endParaRPr lang="en-US" dirty="0"/>
          </a:p>
        </p:txBody>
      </p:sp>
      <p:sp>
        <p:nvSpPr>
          <p:cNvPr id="3" name="Text Placeholder 2"/>
          <p:cNvSpPr>
            <a:spLocks noGrp="1"/>
          </p:cNvSpPr>
          <p:nvPr>
            <p:ph type="body" idx="1"/>
          </p:nvPr>
        </p:nvSpPr>
        <p:spPr>
          <a:xfrm>
            <a:off x="838322" y="1825625"/>
            <a:ext cx="10517123" cy="4351338"/>
          </a:xfrm>
          <a:prstGeom prst="rect">
            <a:avLst/>
          </a:prstGeom>
        </p:spPr>
        <p:txBody>
          <a:bodyPr vert="horz" lIns="91440" tIns="45720" rIns="91440" bIns="45720" rtlCol="0">
            <a:normAutofit/>
          </a:bodyPr>
          <a:lstStyle/>
          <a:p>
            <a:pPr lvl="0"/>
            <a:r>
              <a:rPr lang="en-US" altLang="zh-SG"/>
              <a:t>Click to edit Master text styles</a:t>
            </a:r>
          </a:p>
          <a:p>
            <a:pPr lvl="1"/>
            <a:r>
              <a:rPr lang="en-US" altLang="zh-SG"/>
              <a:t>Second level</a:t>
            </a:r>
          </a:p>
          <a:p>
            <a:pPr lvl="2"/>
            <a:r>
              <a:rPr lang="en-US" altLang="zh-SG"/>
              <a:t>Third level</a:t>
            </a:r>
          </a:p>
          <a:p>
            <a:pPr lvl="3"/>
            <a:r>
              <a:rPr lang="en-US" altLang="zh-SG"/>
              <a:t>Fourth level</a:t>
            </a:r>
          </a:p>
          <a:p>
            <a:pPr lvl="4"/>
            <a:r>
              <a:rPr lang="en-US" altLang="zh-SG"/>
              <a:t>Fifth level</a:t>
            </a:r>
            <a:endParaRPr lang="en-US" dirty="0"/>
          </a:p>
        </p:txBody>
      </p:sp>
      <p:sp>
        <p:nvSpPr>
          <p:cNvPr id="4" name="Date Placeholder 3"/>
          <p:cNvSpPr>
            <a:spLocks noGrp="1"/>
          </p:cNvSpPr>
          <p:nvPr>
            <p:ph type="dt" sz="half" idx="2"/>
          </p:nvPr>
        </p:nvSpPr>
        <p:spPr>
          <a:xfrm>
            <a:off x="838322" y="6356350"/>
            <a:ext cx="2743597"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7AB981-53CD-4E32-A78E-0C3AF3AF37E2}" type="datetimeFigureOut">
              <a:rPr lang="zh-SG" altLang="en-US" smtClean="0"/>
              <a:t>02/10/26</a:t>
            </a:fld>
            <a:endParaRPr lang="zh-SG" altLang="en-US"/>
          </a:p>
        </p:txBody>
      </p:sp>
      <p:sp>
        <p:nvSpPr>
          <p:cNvPr id="5" name="Footer Placeholder 4"/>
          <p:cNvSpPr>
            <a:spLocks noGrp="1"/>
          </p:cNvSpPr>
          <p:nvPr>
            <p:ph type="ftr" sz="quarter" idx="3"/>
          </p:nvPr>
        </p:nvSpPr>
        <p:spPr>
          <a:xfrm>
            <a:off x="4039186" y="6356350"/>
            <a:ext cx="4115396"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SG" altLang="en-US"/>
          </a:p>
        </p:txBody>
      </p:sp>
      <p:sp>
        <p:nvSpPr>
          <p:cNvPr id="6" name="Slide Number Placeholder 5"/>
          <p:cNvSpPr>
            <a:spLocks noGrp="1"/>
          </p:cNvSpPr>
          <p:nvPr>
            <p:ph type="sldNum" sz="quarter" idx="4"/>
          </p:nvPr>
        </p:nvSpPr>
        <p:spPr>
          <a:xfrm>
            <a:off x="8611847" y="6356350"/>
            <a:ext cx="2743597"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C9A23CB-5CFE-4917-83D8-8721FDB19016}" type="slidenum">
              <a:rPr lang="zh-SG" altLang="en-US" smtClean="0"/>
              <a:t>‹#›</a:t>
            </a:fld>
            <a:endParaRPr lang="zh-SG"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Layout" Target="../slideLayouts/slideLayout3.xml"/><Relationship Id="rId3" Type="http://schemas.openxmlformats.org/officeDocument/2006/relationships/notesSlide" Target="../notesSlides/notesSlide2.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5.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3.xml"/><Relationship Id="rId3" Type="http://schemas.openxmlformats.org/officeDocument/2006/relationships/notesSlide" Target="../notesSlides/notesSlide3.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7.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3.xml"/><Relationship Id="rId3" Type="http://schemas.openxmlformats.org/officeDocument/2006/relationships/notesSlide" Target="../notesSlides/notesSlide4.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9.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3.xml"/><Relationship Id="rId3" Type="http://schemas.openxmlformats.org/officeDocument/2006/relationships/notesSlide" Target="../notesSlides/notesSlide5.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11.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3.xml"/><Relationship Id="rId3" Type="http://schemas.openxmlformats.org/officeDocument/2006/relationships/notesSlide" Target="../notesSlides/notesSlide6.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5.png"/><Relationship Id="rId4"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17.png"/><Relationship Id="rId4"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chart" Target="../charts/char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副标题 5"/>
          <p:cNvSpPr>
            <a:spLocks noGrp="1"/>
          </p:cNvSpPr>
          <p:nvPr>
            <p:ph type="subTitle" idx="4294967295"/>
          </p:nvPr>
        </p:nvSpPr>
        <p:spPr>
          <a:xfrm>
            <a:off x="4444682" y="5472310"/>
            <a:ext cx="3302635" cy="685800"/>
          </a:xfrm>
        </p:spPr>
        <p:txBody>
          <a:bodyPr vert="horz" lIns="91440" tIns="45720" rIns="91440" bIns="45720" anchor="ctr">
            <a:noAutofit/>
          </a:bodyPr>
          <a:lstStyle/>
          <a:p>
            <a:pPr marL="0" indent="0" algn="ctr" defTabSz="914400">
              <a:lnSpc>
                <a:spcPct val="100000"/>
              </a:lnSpc>
              <a:buNone/>
            </a:pPr>
            <a:r>
              <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rPr>
              <a:t>深圳供电局有限公司</a:t>
            </a:r>
            <a:r>
              <a:rPr lang="zh-CN" altLang="en-US" sz="1400" b="1" spc="600" dirty="0">
                <a:solidFill>
                  <a:srgbClr val="2C4E8F"/>
                </a:solidFill>
                <a:latin typeface="微软雅黑" panose="020B0503020204020204" charset="-122"/>
                <a:ea typeface="微软雅黑" panose="020B0503020204020204" charset="-122"/>
                <a:sym typeface="Arial" panose="020B0604020202020204" pitchFamily="34" charset="0"/>
              </a:rPr>
              <a:t/>
            </a:r>
            <a:endPar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endParaRPr>
          </a:p>
          <a:p>
            <a:pPr marL="0" indent="0" algn="ctr" defTabSz="914400">
              <a:lnSpc>
                <a:spcPct val="100000"/>
              </a:lnSpc>
              <a:buNone/>
            </a:pPr>
            <a:r>
              <a:rPr lang="zh-CN" altLang="en-US" sz="1400" b="1" spc="600" dirty="0">
                <a:solidFill>
                  <a:srgbClr val="2C4E8F"/>
                </a:solidFill>
                <a:latin typeface="微软雅黑" panose="020B0503020204020204" charset="-122"/>
                <a:ea typeface="微软雅黑" panose="020B0503020204020204" charset="-122"/>
                <a:sym typeface="Arial" panose="020B0604020202020204" pitchFamily="34" charset="0"/>
              </a:rPr>
              <a:t>二〇二六年十月</a:t>
            </a:r>
            <a:r>
              <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rPr>
              <a:t/>
            </a:r>
            <a:r>
              <a:rPr lang="zh-CN" altLang="en-US" sz="1400" b="1" spc="600" dirty="0">
                <a:solidFill>
                  <a:srgbClr val="2C4E8F"/>
                </a:solidFill>
                <a:latin typeface="微软雅黑" panose="020B0503020204020204" charset="-122"/>
                <a:ea typeface="微软雅黑" panose="020B0503020204020204" charset="-122"/>
                <a:sym typeface="Arial" panose="020B0604020202020204" pitchFamily="34" charset="0"/>
              </a:rPr>
              <a:t/>
            </a:r>
            <a:r>
              <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rPr>
              <a:t/>
            </a:r>
            <a:r>
              <a:rPr lang="zh-CN" altLang="en-US" sz="1400" b="1" spc="600" dirty="0">
                <a:solidFill>
                  <a:srgbClr val="2C4E8F"/>
                </a:solidFill>
                <a:latin typeface="微软雅黑" panose="020B0503020204020204" charset="-122"/>
                <a:ea typeface="微软雅黑" panose="020B0503020204020204" charset="-122"/>
                <a:sym typeface="Arial" panose="020B0604020202020204" pitchFamily="34" charset="0"/>
              </a:rPr>
              <a:t/>
            </a:r>
            <a:endPar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endParaRPr>
          </a:p>
        </p:txBody>
      </p:sp>
      <p:sp>
        <p:nvSpPr>
          <p:cNvPr id="10" name="文本框 9"/>
          <p:cNvSpPr txBox="1"/>
          <p:nvPr/>
        </p:nvSpPr>
        <p:spPr>
          <a:xfrm>
            <a:off x="671195" y="3401568"/>
            <a:ext cx="10850563" cy="1188720"/>
          </a:xfrm>
          <a:prstGeom prst="rect">
            <a:avLst/>
          </a:prstGeom>
          <a:noFill/>
          <a:effectLst/>
        </p:spPr>
        <p:txBody>
          <a:bodyPr wrap="square" rtlCol="0">
            <a:spAutoFit/>
          </a:bodyPr>
          <a:lstStyle/>
          <a:p>
            <a:pPr algn="ctr"/>
            <a:r>
              <a:rPr lang="zh-CN" altLang="en-US" sz="4800" b="1" spc="600" dirty="0">
                <a:solidFill>
                  <a:srgbClr val="2C4E8F"/>
                </a:solidFill>
                <a:latin typeface="微软雅黑" panose="020B0503020204020204" charset="-122"/>
                <a:ea typeface="微软雅黑" panose="020B0503020204020204" charset="-122"/>
                <a:cs typeface="微软雅黑"/>
              </a:rPr>
              <a:t>高效班组管理助手</a:t>
            </a:r>
          </a:p>
          <a:p>
            <a:pPr algn="ctr"/>
            <a:r>
              <a:rPr sz="2400" b="1" lang="zh-CN" altLang="en-US">
                <a:solidFill>
                  <a:srgbClr val="2C4E8F"/>
                </a:solidFill>
                <a:latin typeface="微软雅黑"/>
                <a:ea typeface="微软雅黑"/>
                <a:cs typeface="微软雅黑"/>
              </a:rPr>
              <a:t>班组数字画像与班组长AI助手</a:t>
            </a:r>
          </a:p>
        </p:txBody>
      </p:sp>
      <p:cxnSp>
        <p:nvCxnSpPr>
          <p:cNvPr id="15" name="直接连接符 14"/>
          <p:cNvCxnSpPr/>
          <p:nvPr/>
        </p:nvCxnSpPr>
        <p:spPr>
          <a:xfrm>
            <a:off x="1464816" y="4736362"/>
            <a:ext cx="9135122" cy="0"/>
          </a:xfrm>
          <a:prstGeom prst="line">
            <a:avLst/>
          </a:prstGeom>
          <a:ln w="25400">
            <a:solidFill>
              <a:srgbClr val="00377B"/>
            </a:solidFill>
          </a:ln>
        </p:spPr>
        <p:style>
          <a:lnRef idx="1">
            <a:schemeClr val="accent1"/>
          </a:lnRef>
          <a:fillRef idx="0">
            <a:schemeClr val="accent1"/>
          </a:fillRef>
          <a:effectRef idx="0">
            <a:schemeClr val="accent1"/>
          </a:effectRef>
          <a:fontRef idx="minor">
            <a:schemeClr val="tx1"/>
          </a:fontRef>
        </p:style>
      </p:cxnSp>
      <p:sp>
        <p:nvSpPr>
          <p:cNvPr id="16" name="文本框 15"/>
          <p:cNvSpPr txBox="1"/>
          <p:nvPr/>
        </p:nvSpPr>
        <p:spPr>
          <a:xfrm>
            <a:off x="671195" y="4874149"/>
            <a:ext cx="10850563" cy="460375"/>
          </a:xfrm>
          <a:prstGeom prst="rect">
            <a:avLst/>
          </a:prstGeom>
          <a:noFill/>
          <a:effectLst/>
        </p:spPr>
        <p:txBody>
          <a:bodyPr wrap="square" rtlCol="0">
            <a:spAutoFit/>
          </a:bodyPr>
          <a:lstStyle/>
          <a:p>
            <a:pPr algn="ctr"/>
            <a:r>
              <a:rPr lang="zh-CN" altLang="en-US" sz="2400" b="1" spc="600" dirty="0">
                <a:solidFill>
                  <a:srgbClr val="2C4E8F"/>
                </a:solidFill>
                <a:latin typeface="微软雅黑" panose="020B0503020204020204" charset="-122"/>
                <a:ea typeface="微软雅黑" panose="020B0503020204020204" charset="-122"/>
              </a:rPr>
              <a:t>高效班组管理助手项目组</a:t>
            </a: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9"/>
          <p:cNvSpPr txBox="1">
            <a:spLocks noChangeArrowheads="1"/>
          </p:cNvSpPr>
          <p:nvPr/>
        </p:nvSpPr>
        <p:spPr bwMode="auto">
          <a:xfrm>
            <a:off x="806092" y="1703630"/>
            <a:ext cx="10581582" cy="3184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defTabSz="685800" eaLnBrk="1" fontAlgn="base" hangingPunct="1">
              <a:lnSpc>
                <a:spcPct val="150000"/>
              </a:lnSpc>
              <a:spcBef>
                <a:spcPct val="0"/>
              </a:spcBef>
              <a:spcAft>
                <a:spcPts val="450"/>
              </a:spcAft>
              <a:defRPr/>
            </a:pPr>
            <a:r>
              <a:rPr lang="zh-CN" altLang="en-US" b="1" dirty="0">
                <a:latin typeface="微软雅黑" panose="020B0503020204020204" charset="-122"/>
                <a:ea typeface="微软雅黑" panose="020B0503020204020204" charset="-122"/>
              </a:rPr>
              <a:t>知识产权声明</a:t>
            </a:r>
            <a:endParaRPr lang="en-US" altLang="zh-CN" sz="1200" b="1" dirty="0">
              <a:latin typeface="微软雅黑" panose="020B0503020204020204" charset="-122"/>
              <a:ea typeface="微软雅黑" panose="020B0503020204020204" charset="-122"/>
            </a:endParaRPr>
          </a:p>
          <a:p>
            <a:pPr algn="just" defTabSz="685800" eaLnBrk="1" fontAlgn="base" hangingPunct="1">
              <a:lnSpc>
                <a:spcPct val="150000"/>
              </a:lnSpc>
              <a:spcBef>
                <a:spcPct val="0"/>
              </a:spcBef>
              <a:spcAft>
                <a:spcPct val="0"/>
              </a:spcAft>
              <a:defRPr/>
            </a:pPr>
            <a:r>
              <a:rPr lang="zh-CN" altLang="en-US" sz="1500" dirty="0">
                <a:latin typeface="微软雅黑" panose="020B0503020204020204" charset="-122"/>
                <a:ea typeface="微软雅黑" panose="020B0503020204020204" charset="-122"/>
              </a:rPr>
              <a:t>本文件的知识产权属南方电网公司所有。对本文件的使用及处置应严格遵循南方电网公司有关规定或</a:t>
            </a:r>
            <a:r>
              <a:rPr lang="zh-CN" altLang="en-US" sz="1500" dirty="0">
                <a:latin typeface="微软雅黑" panose="020B0503020204020204" charset="-122"/>
                <a:ea typeface="微软雅黑" panose="020B0503020204020204" charset="-122"/>
                <a:sym typeface="+mn-ea"/>
              </a:rPr>
              <a:t>获取</a:t>
            </a:r>
            <a:r>
              <a:rPr lang="zh-CN" altLang="en-US" sz="1500" dirty="0">
                <a:latin typeface="微软雅黑" panose="020B0503020204020204" charset="-122"/>
                <a:ea typeface="微软雅黑" panose="020B0503020204020204" charset="-122"/>
              </a:rPr>
              <a:t>本文件的合同及约定的条件和要求。未经南方电网公司事先书面同意，不得对外披露、复制。</a:t>
            </a:r>
          </a:p>
          <a:p>
            <a:pPr algn="just" defTabSz="685800" eaLnBrk="1" fontAlgn="base" hangingPunct="1">
              <a:lnSpc>
                <a:spcPct val="150000"/>
              </a:lnSpc>
              <a:spcBef>
                <a:spcPct val="0"/>
              </a:spcBef>
              <a:spcAft>
                <a:spcPct val="0"/>
              </a:spcAft>
              <a:defRPr/>
            </a:pPr>
            <a:endParaRPr lang="en-US" altLang="zh-CN" sz="900" dirty="0">
              <a:latin typeface="微软雅黑" panose="020B0503020204020204" charset="-122"/>
              <a:ea typeface="微软雅黑" panose="020B0503020204020204" charset="-122"/>
            </a:endParaRPr>
          </a:p>
          <a:p>
            <a:pPr algn="just" defTabSz="685800" eaLnBrk="1" fontAlgn="base" hangingPunct="1">
              <a:lnSpc>
                <a:spcPct val="150000"/>
              </a:lnSpc>
              <a:spcBef>
                <a:spcPct val="0"/>
              </a:spcBef>
              <a:spcAft>
                <a:spcPct val="0"/>
              </a:spcAft>
              <a:defRPr/>
            </a:pPr>
            <a:endParaRPr lang="en-US" altLang="zh-CN" sz="900" dirty="0">
              <a:latin typeface="Calibri" panose="020F0502020204030204" pitchFamily="34" charset="0"/>
            </a:endParaRPr>
          </a:p>
          <a:p>
            <a:pPr algn="ctr" defTabSz="685800" eaLnBrk="1" fontAlgn="base" hangingPunct="1">
              <a:lnSpc>
                <a:spcPct val="150000"/>
              </a:lnSpc>
              <a:spcBef>
                <a:spcPct val="0"/>
              </a:spcBef>
              <a:spcAft>
                <a:spcPts val="450"/>
              </a:spcAft>
              <a:defRPr/>
            </a:pPr>
            <a:r>
              <a:rPr lang="en-US" altLang="zh-CN" b="1" i="1" dirty="0">
                <a:latin typeface="Times New Roman" panose="02020603050405020304" pitchFamily="18" charset="0"/>
                <a:cs typeface="Times New Roman" panose="02020603050405020304" pitchFamily="18" charset="0"/>
              </a:rPr>
              <a:t>Intellectual Property Rights Statement </a:t>
            </a:r>
            <a:endParaRPr lang="en-US" altLang="zh-CN" sz="1200" b="1" i="1" dirty="0">
              <a:latin typeface="Times New Roman" panose="02020603050405020304" pitchFamily="18" charset="0"/>
              <a:cs typeface="Times New Roman" panose="02020603050405020304" pitchFamily="18" charset="0"/>
            </a:endParaRPr>
          </a:p>
          <a:p>
            <a:pPr algn="just" defTabSz="685800" eaLnBrk="1" fontAlgn="base" hangingPunct="1">
              <a:lnSpc>
                <a:spcPct val="150000"/>
              </a:lnSpc>
              <a:spcBef>
                <a:spcPct val="0"/>
              </a:spcBef>
              <a:spcAft>
                <a:spcPct val="0"/>
              </a:spcAft>
              <a:defRPr/>
            </a:pPr>
            <a:r>
              <a:rPr lang="en-US" altLang="zh-CN" sz="1500" i="1" dirty="0">
                <a:latin typeface="Times New Roman" panose="02020603050405020304" pitchFamily="18" charset="0"/>
                <a:cs typeface="Times New Roman" panose="02020603050405020304" pitchFamily="18" charset="0"/>
              </a:rPr>
              <a:t>This document is the property of and contains proprietary information owned by CSG and/or its related proprietor. You agree to treat this document in strict accordance with the terms and conditions of the agreement under which it was provided to you. No disclosure or copy of this document is permitted without the prior written permission of CSG.</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2E5495"/>
            </a:solidFill>
            <a:ln w="12700">
              <a:solidFill>
                <a:srgbClr val="003679"/>
              </a:solid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2E5495"/>
            </a:solidFill>
            <a:ln w="12700">
              <a:solidFill>
                <a:srgbClr val="003679"/>
              </a:solid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2E5495"/>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CDCDCD"/>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CDCDCD"/>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2E5495"/>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CDCDCD"/>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CDCDCD"/>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CDCDCD"/>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CDCDCD"/>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CDCDCD"/>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CDCDCD"/>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129" name="图片 5"/>
          <p:cNvPicPr>
            <a:picLocks noChangeAspect="1"/>
          </p:cNvPicPr>
          <p:nvPr/>
        </p:nvPicPr>
        <p:blipFill>
          <a:blip r:embed="rId3" cstate="print"/>
          <a:srcRect t="7291" r="8459" b="21506"/>
          <a:stretch>
            <a:fillRect/>
          </a:stretch>
        </p:blipFill>
        <p:spPr>
          <a:xfrm>
            <a:off x="883" y="716280"/>
            <a:ext cx="12223750" cy="6141720"/>
          </a:xfrm>
          <a:prstGeom prst="rect">
            <a:avLst/>
          </a:prstGeom>
          <a:noFill/>
          <a:ln w="9525">
            <a:noFill/>
          </a:ln>
        </p:spPr>
      </p:pic>
      <p:sp>
        <p:nvSpPr>
          <p:cNvPr id="52" name="Rectangle 17"/>
          <p:cNvSpPr/>
          <p:nvPr/>
        </p:nvSpPr>
        <p:spPr>
          <a:xfrm>
            <a:off x="8397578" y="2957195"/>
            <a:ext cx="3281012" cy="829945"/>
          </a:xfrm>
          <a:prstGeom prst="rect">
            <a:avLst/>
          </a:prstGeom>
        </p:spPr>
        <p:txBody>
          <a:bodyPr wrap="square">
            <a:spAutoFit/>
          </a:bodyPr>
          <a:lstStyle/>
          <a:p>
            <a:pPr algn="ctr"/>
            <a:r>
              <a:rPr lang="zh-CN" altLang="en-US" sz="4800" b="1" dirty="0">
                <a:solidFill>
                  <a:schemeClr val="bg1"/>
                </a:solidFill>
                <a:latin typeface="微软雅黑" panose="020B0503020204020204" charset="-122"/>
                <a:ea typeface="微软雅黑" panose="020B0503020204020204" charset="-122"/>
              </a:rPr>
              <a:t>汇报完毕</a:t>
            </a:r>
            <a:r>
              <a:rPr lang="en-US" altLang="zh-CN" sz="4800" b="1" dirty="0">
                <a:solidFill>
                  <a:schemeClr val="bg1"/>
                </a:solidFill>
                <a:latin typeface="微软雅黑" panose="020B0503020204020204" charset="-122"/>
                <a:ea typeface="微软雅黑" panose="020B0503020204020204" charset="-122"/>
              </a:rPr>
              <a:t>!</a:t>
            </a:r>
            <a:endParaRPr lang="en-US" sz="4800" b="1" dirty="0">
              <a:solidFill>
                <a:schemeClr val="bg1"/>
              </a:solidFill>
              <a:latin typeface="微软雅黑" panose="020B0503020204020204" charset="-122"/>
              <a:ea typeface="微软雅黑" panose="020B0503020204020204" charset="-122"/>
            </a:endParaRPr>
          </a:p>
        </p:txBody>
      </p:sp>
      <p:sp>
        <p:nvSpPr>
          <p:cNvPr id="5" name="îṣľïde"/>
          <p:cNvSpPr>
            <a:spLocks noGrp="1"/>
          </p:cNvSpPr>
          <p:nvPr>
            <p:ph type="ctrTitle" idx="4294967295"/>
          </p:nvPr>
        </p:nvSpPr>
        <p:spPr>
          <a:xfrm>
            <a:off x="0" y="4311015"/>
            <a:ext cx="6322695" cy="1621155"/>
          </a:xfrm>
          <a:prstGeom prst="rect">
            <a:avLst/>
          </a:prstGeom>
        </p:spPr>
        <p:txBody>
          <a:bodyPr>
            <a:normAutofit fontScale="90000"/>
          </a:bodyPr>
          <a:lstStyle/>
          <a:p>
            <a:pPr algn="ctr"/>
            <a:r>
              <a:rPr lang="en-US" altLang="zh-CN" sz="9800" spc="-150" dirty="0">
                <a:solidFill>
                  <a:schemeClr val="bg1"/>
                </a:solidFill>
              </a:rPr>
              <a:t>THANKS</a:t>
            </a:r>
            <a:br>
              <a:rPr lang="en-US" altLang="zh-CN" dirty="0">
                <a:solidFill>
                  <a:schemeClr val="bg1"/>
                </a:solidFill>
              </a:rPr>
            </a:br>
            <a:r>
              <a:rPr lang="zh-CN" altLang="en-US" b="0" spc="600" dirty="0">
                <a:solidFill>
                  <a:schemeClr val="bg1"/>
                </a:solidFill>
              </a:rPr>
              <a:t>高效班组管理助手项目组</a:t>
            </a:r>
          </a:p>
        </p:txBody>
      </p:sp>
      <p:grpSp>
        <p:nvGrpSpPr>
          <p:cNvPr id="3" name="组合 2"/>
          <p:cNvGrpSpPr/>
          <p:nvPr/>
        </p:nvGrpSpPr>
        <p:grpSpPr>
          <a:xfrm>
            <a:off x="1413828" y="6110605"/>
            <a:ext cx="3495040" cy="307340"/>
            <a:chOff x="2430" y="6635"/>
            <a:chExt cx="5504" cy="484"/>
          </a:xfrm>
        </p:grpSpPr>
        <p:sp>
          <p:nvSpPr>
            <p:cNvPr id="24" name="文本框 23"/>
            <p:cNvSpPr txBox="1"/>
            <p:nvPr/>
          </p:nvSpPr>
          <p:spPr>
            <a:xfrm>
              <a:off x="2430" y="6635"/>
              <a:ext cx="2420" cy="485"/>
            </a:xfrm>
            <a:prstGeom prst="rect">
              <a:avLst/>
            </a:prstGeom>
            <a:noFill/>
          </p:spPr>
          <p:txBody>
            <a:bodyPr wrap="none" rtlCol="0">
              <a:spAutoFit/>
              <a:scene3d>
                <a:camera prst="orthographicFront"/>
                <a:lightRig rig="threePt" dir="t"/>
              </a:scene3d>
              <a:sp3d contourW="12700"/>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汇报人：</a:t>
              </a:r>
              <a:r>
                <a:rPr kumimoji="0" lang="en-US" altLang="zh-CN"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（填写姓名）</a:t>
              </a:r>
            </a:p>
          </p:txBody>
        </p:sp>
        <p:sp>
          <p:nvSpPr>
            <p:cNvPr id="25" name="文本框 24"/>
            <p:cNvSpPr txBox="1"/>
            <p:nvPr/>
          </p:nvSpPr>
          <p:spPr>
            <a:xfrm>
              <a:off x="5312" y="6635"/>
              <a:ext cx="2622" cy="485"/>
            </a:xfrm>
            <a:prstGeom prst="rect">
              <a:avLst/>
            </a:prstGeom>
            <a:noFill/>
          </p:spPr>
          <p:txBody>
            <a:bodyPr wrap="none" rtlCol="0">
              <a:spAutoFit/>
              <a:scene3d>
                <a:camera prst="orthographicFront"/>
                <a:lightRig rig="threePt" dir="t"/>
              </a:scene3d>
              <a:sp3d contourW="12700"/>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时间：</a:t>
              </a:r>
              <a:r>
                <a:rPr kumimoji="0" lang="en-US" altLang="zh-CN"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2026 年 10 月</a:t>
              </a:r>
              <a:r>
                <a:rPr kumimoji="0" lang="zh-CN" altLang="en-US"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
              </a:r>
              <a:r>
                <a:rPr kumimoji="0" lang="en-US" altLang="zh-CN"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
              </a:r>
              <a:r>
                <a:rPr kumimoji="0" lang="zh-CN" altLang="en-US"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
              </a:r>
            </a:p>
          </p:txBody>
        </p:sp>
      </p:grpSp>
    </p:spTree>
  </p:cSld>
  <p:clrMapOvr>
    <a:masterClrMapping/>
  </p:clrMapOvr>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应用介绍 · 业务需求来源及需求内容</a:t>
            </a:r>
          </a:p>
        </p:txBody>
      </p:sp>
      <p:sp>
        <p:nvSpPr>
          <p:cNvPr id="5" name="Rectangle 4"/>
          <p:cNvSpPr/>
          <p:nvPr/>
        </p:nvSpPr>
        <p:spPr>
          <a:xfrm>
            <a:off x="320040" y="1371600"/>
            <a:ext cx="277063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班组是最基层的生产组织</a:t>
            </a:r>
          </a:p>
        </p:txBody>
      </p:sp>
      <p:sp>
        <p:nvSpPr>
          <p:cNvPr id="6" name="Rectangle 5"/>
          <p:cNvSpPr/>
          <p:nvPr/>
        </p:nvSpPr>
        <p:spPr>
          <a:xfrm>
            <a:off x="320040" y="1755648"/>
            <a:ext cx="2770632" cy="18562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93192" y="1828800"/>
            <a:ext cx="2624327" cy="1709928"/>
          </a:xfrm>
          <a:prstGeom prst="rect">
            <a:avLst/>
          </a:prstGeom>
          <a:noFill/>
        </p:spPr>
        <p:txBody>
          <a:bodyPr wrap="square" anchor="t" lIns="73152" rIns="73152" tIns="27432" bIns="27432">
            <a:spAutoFit/>
          </a:bodyPr>
          <a:lstStyle/>
          <a:p>
            <a:pPr algn="l">
              <a:lnSpc>
                <a:spcPct val="115000"/>
              </a:lnSpc>
            </a:pPr>
            <a:r>
              <a:rPr sz="1200" b="0" lang="zh-CN" altLang="en-US">
                <a:solidFill>
                  <a:srgbClr val="262626"/>
                </a:solidFill>
                <a:latin typeface="微软雅黑"/>
                <a:ea typeface="微软雅黑"/>
                <a:cs typeface="微软雅黑"/>
              </a:rPr>
              <a:t>电网企业各项管理要求最终落地的地方。班组强则公司强，班组层是数字化转型的最后一公里。</a:t>
            </a:r>
          </a:p>
        </p:txBody>
      </p:sp>
      <p:sp>
        <p:nvSpPr>
          <p:cNvPr id="8" name="Rectangle 7"/>
          <p:cNvSpPr/>
          <p:nvPr/>
        </p:nvSpPr>
        <p:spPr>
          <a:xfrm>
            <a:off x="3246120" y="1371600"/>
            <a:ext cx="277063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系统已数字化，班组层仍分散</a:t>
            </a:r>
          </a:p>
        </p:txBody>
      </p:sp>
      <p:sp>
        <p:nvSpPr>
          <p:cNvPr id="9" name="Rectangle 8"/>
          <p:cNvSpPr/>
          <p:nvPr/>
        </p:nvSpPr>
        <p:spPr>
          <a:xfrm>
            <a:off x="3246120" y="1755648"/>
            <a:ext cx="2770632" cy="18562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319272" y="1828800"/>
            <a:ext cx="2624327" cy="1709928"/>
          </a:xfrm>
          <a:prstGeom prst="rect">
            <a:avLst/>
          </a:prstGeom>
          <a:noFill/>
        </p:spPr>
        <p:txBody>
          <a:bodyPr wrap="square" anchor="t" lIns="73152" rIns="73152" tIns="27432" bIns="27432">
            <a:spAutoFit/>
          </a:bodyPr>
          <a:lstStyle/>
          <a:p>
            <a:pPr algn="l">
              <a:lnSpc>
                <a:spcPct val="115000"/>
              </a:lnSpc>
            </a:pPr>
            <a:r>
              <a:rPr sz="1200" b="0" lang="zh-CN" altLang="en-US">
                <a:solidFill>
                  <a:srgbClr val="262626"/>
                </a:solidFill>
                <a:latin typeface="微软雅黑"/>
                <a:ea typeface="微软雅黑"/>
                <a:cs typeface="微软雅黑"/>
              </a:rPr>
              <a:t>南方电网公司持续推进数字化转型与数字电网建设，人资系统、工分制考核、OMS、OCS、电网管理平台、党建系统已各自数字化，到班组这一级仍是一本本台账。</a:t>
            </a:r>
          </a:p>
        </p:txBody>
      </p:sp>
      <p:sp>
        <p:nvSpPr>
          <p:cNvPr id="11" name="Rectangle 10"/>
          <p:cNvSpPr/>
          <p:nvPr/>
        </p:nvSpPr>
        <p:spPr>
          <a:xfrm>
            <a:off x="6172200" y="1371600"/>
            <a:ext cx="277063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班组长靠查数、抄数、汇编</a:t>
            </a:r>
          </a:p>
        </p:txBody>
      </p:sp>
      <p:sp>
        <p:nvSpPr>
          <p:cNvPr id="12" name="Rectangle 11"/>
          <p:cNvSpPr/>
          <p:nvPr/>
        </p:nvSpPr>
        <p:spPr>
          <a:xfrm>
            <a:off x="6172200" y="1755648"/>
            <a:ext cx="2770632" cy="18562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45352" y="1828800"/>
            <a:ext cx="2624327" cy="1709928"/>
          </a:xfrm>
          <a:prstGeom prst="rect">
            <a:avLst/>
          </a:prstGeom>
          <a:noFill/>
        </p:spPr>
        <p:txBody>
          <a:bodyPr wrap="square" anchor="t" lIns="73152" rIns="73152" tIns="27432" bIns="27432">
            <a:spAutoFit/>
          </a:bodyPr>
          <a:lstStyle/>
          <a:p>
            <a:pPr algn="l">
              <a:lnSpc>
                <a:spcPct val="115000"/>
              </a:lnSpc>
            </a:pPr>
            <a:r>
              <a:rPr sz="1200" b="0" lang="zh-CN" altLang="en-US">
                <a:solidFill>
                  <a:srgbClr val="262626"/>
                </a:solidFill>
                <a:latin typeface="微软雅黑"/>
                <a:ea typeface="微软雅黑"/>
                <a:cs typeface="微软雅黑"/>
              </a:rPr>
              <a:t>派工看证书、授权、工时、冲突；考评看履职证据与工作量；星级对照标准找差距。逐系统查看后手工汇编，依据难留痕。</a:t>
            </a:r>
          </a:p>
        </p:txBody>
      </p:sp>
      <p:sp>
        <p:nvSpPr>
          <p:cNvPr id="14" name="Rectangle 13"/>
          <p:cNvSpPr/>
          <p:nvPr/>
        </p:nvSpPr>
        <p:spPr>
          <a:xfrm>
            <a:off x="9098280" y="1371600"/>
            <a:ext cx="277063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转型落到基层的标志</a:t>
            </a:r>
          </a:p>
        </p:txBody>
      </p:sp>
      <p:sp>
        <p:nvSpPr>
          <p:cNvPr id="15" name="Rectangle 14"/>
          <p:cNvSpPr/>
          <p:nvPr/>
        </p:nvSpPr>
        <p:spPr>
          <a:xfrm>
            <a:off x="9098280" y="1755648"/>
            <a:ext cx="2770632" cy="18562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171432" y="1828800"/>
            <a:ext cx="2624327" cy="1709928"/>
          </a:xfrm>
          <a:prstGeom prst="rect">
            <a:avLst/>
          </a:prstGeom>
          <a:noFill/>
        </p:spPr>
        <p:txBody>
          <a:bodyPr wrap="square" anchor="t" lIns="73152" rIns="73152" tIns="27432" bIns="27432">
            <a:spAutoFit/>
          </a:bodyPr>
          <a:lstStyle/>
          <a:p>
            <a:pPr algn="l">
              <a:lnSpc>
                <a:spcPct val="115000"/>
              </a:lnSpc>
            </a:pPr>
            <a:r>
              <a:rPr sz="1200" b="0" lang="zh-CN" altLang="en-US">
                <a:solidFill>
                  <a:srgbClr val="262626"/>
                </a:solidFill>
                <a:latin typeface="微软雅黑"/>
                <a:ea typeface="微软雅黑"/>
                <a:cs typeface="微软雅黑"/>
              </a:rPr>
              <a:t>班组长不再抄数，而是在一屏画像上做判断；部门对所辖班组的队伍状态有统一视图。</a:t>
            </a:r>
          </a:p>
        </p:txBody>
      </p:sp>
      <p:sp>
        <p:nvSpPr>
          <p:cNvPr id="17" name="Rectangle 16"/>
          <p:cNvSpPr/>
          <p:nvPr/>
        </p:nvSpPr>
        <p:spPr>
          <a:xfrm>
            <a:off x="320040" y="3840480"/>
            <a:ext cx="1371600" cy="4114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需求内容</a:t>
            </a:r>
          </a:p>
        </p:txBody>
      </p:sp>
      <p:sp>
        <p:nvSpPr>
          <p:cNvPr id="18" name="Rectangle 17"/>
          <p:cNvSpPr/>
          <p:nvPr/>
        </p:nvSpPr>
        <p:spPr>
          <a:xfrm>
            <a:off x="1783080"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班组整体画像</a:t>
            </a:r>
          </a:p>
        </p:txBody>
      </p:sp>
      <p:sp>
        <p:nvSpPr>
          <p:cNvPr id="19" name="Rectangle 18"/>
          <p:cNvSpPr/>
          <p:nvPr/>
        </p:nvSpPr>
        <p:spPr>
          <a:xfrm>
            <a:off x="3465576"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班员画像与作业授权认证</a:t>
            </a:r>
          </a:p>
        </p:txBody>
      </p:sp>
      <p:sp>
        <p:nvSpPr>
          <p:cNvPr id="20" name="Rectangle 19"/>
          <p:cNvSpPr/>
          <p:nvPr/>
        </p:nvSpPr>
        <p:spPr>
          <a:xfrm>
            <a:off x="5148072"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派工推荐与审票</a:t>
            </a:r>
          </a:p>
        </p:txBody>
      </p:sp>
      <p:sp>
        <p:nvSpPr>
          <p:cNvPr id="21" name="Rectangle 20"/>
          <p:cNvSpPr/>
          <p:nvPr/>
        </p:nvSpPr>
        <p:spPr>
          <a:xfrm>
            <a:off x="6830568"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绩效系数与激励分配</a:t>
            </a:r>
          </a:p>
        </p:txBody>
      </p:sp>
      <p:sp>
        <p:nvSpPr>
          <p:cNvPr id="22" name="Rectangle 21"/>
          <p:cNvSpPr/>
          <p:nvPr/>
        </p:nvSpPr>
        <p:spPr>
          <a:xfrm>
            <a:off x="8513064"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关怀提醒与风险处置</a:t>
            </a:r>
          </a:p>
        </p:txBody>
      </p:sp>
      <p:sp>
        <p:nvSpPr>
          <p:cNvPr id="23" name="Rectangle 22"/>
          <p:cNvSpPr/>
          <p:nvPr/>
        </p:nvSpPr>
        <p:spPr>
          <a:xfrm>
            <a:off x="10195560"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部门考核指标与班长绩效</a:t>
            </a:r>
          </a:p>
        </p:txBody>
      </p:sp>
      <p:sp>
        <p:nvSpPr>
          <p:cNvPr id="24" name="Rectangle 23"/>
          <p:cNvSpPr/>
          <p:nvPr/>
        </p:nvSpPr>
        <p:spPr>
          <a:xfrm>
            <a:off x="320040" y="4434840"/>
            <a:ext cx="1371600" cy="4114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需求来源</a:t>
            </a:r>
          </a:p>
        </p:txBody>
      </p:sp>
      <p:sp>
        <p:nvSpPr>
          <p:cNvPr id="25" name="TextBox 24"/>
          <p:cNvSpPr txBox="1"/>
          <p:nvPr/>
        </p:nvSpPr>
        <p:spPr>
          <a:xfrm>
            <a:off x="1783080" y="4389120"/>
            <a:ext cx="10058400" cy="548640"/>
          </a:xfrm>
          <a:prstGeom prst="rect">
            <a:avLst/>
          </a:prstGeom>
          <a:noFill/>
        </p:spPr>
        <p:txBody>
          <a:bodyPr wrap="square" anchor="ctr" lIns="45720" rIns="45720" tIns="27432" bIns="27432">
            <a:spAutoFit/>
          </a:bodyPr>
          <a:lstStyle/>
          <a:p>
            <a:pPr algn="l">
              <a:lnSpc>
                <a:spcPct val="115000"/>
              </a:lnSpc>
            </a:pPr>
            <a:r>
              <a:rPr sz="1150" b="0" lang="zh-CN" altLang="en-US">
                <a:solidFill>
                  <a:srgbClr val="262626"/>
                </a:solidFill>
                <a:latin typeface="微软雅黑"/>
                <a:ea typeface="微软雅黑"/>
                <a:cs typeface="微软雅黑"/>
              </a:rPr>
              <a:t>光明供电局配网资产部三个班组的现场调研与六份客户材料；《星级班组评价标准》；《技能类岗位胜任能力评价作业授权认证表》；2026 年度员工业绩责任书；工分制考核办法；配网自动化运行周报。</a:t>
            </a:r>
          </a:p>
        </p:txBody>
      </p:sp>
      <p:sp>
        <p:nvSpPr>
          <p:cNvPr id="26" name="Rectangle 25"/>
          <p:cNvSpPr/>
          <p:nvPr/>
        </p:nvSpPr>
        <p:spPr>
          <a:xfrm>
            <a:off x="320040" y="5120640"/>
            <a:ext cx="11548872" cy="10058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57200" y="5166360"/>
            <a:ext cx="11247120" cy="914400"/>
          </a:xfrm>
          <a:prstGeom prst="rect">
            <a:avLst/>
          </a:prstGeom>
          <a:noFill/>
        </p:spPr>
        <p:txBody>
          <a:bodyPr wrap="square" anchor="ctr" lIns="45720" rIns="45720" tIns="27432" bIns="27432">
            <a:spAutoFit/>
          </a:bodyPr>
          <a:lstStyle/>
          <a:p>
            <a:pPr algn="l">
              <a:lnSpc>
                <a:spcPct val="115000"/>
              </a:lnSpc>
            </a:pPr>
            <a:r>
              <a:rPr sz="1250" b="1" lang="zh-CN" altLang="en-US">
                <a:solidFill>
                  <a:srgbClr val="002060"/>
                </a:solidFill>
                <a:latin typeface="微软雅黑"/>
                <a:ea typeface="微软雅黑"/>
                <a:cs typeface="微软雅黑"/>
              </a:rPr>
              <a:t>需求本质</a:t>
            </a:r>
          </a:p>
          <a:p>
            <a:pPr algn="l">
              <a:lnSpc>
                <a:spcPct val="115000"/>
              </a:lnSpc>
            </a:pPr>
            <a:r>
              <a:rPr sz="1150" b="0" lang="zh-CN" altLang="en-US">
                <a:solidFill>
                  <a:srgbClr val="262626"/>
                </a:solidFill>
                <a:latin typeface="微软雅黑"/>
                <a:ea typeface="微软雅黑"/>
                <a:cs typeface="微软雅黑"/>
              </a:rPr>
              <a:t>数据分散在系统与台账之间，班组这一级没有一屏画像，判断与依据分离。班组长要“派得准、带得好、评得公、管得住”，部门要“看得全、督得到、配得动”，今天全靠逐个系统、逐本台账查看后手工汇编。</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应用介绍 · 适用的业务场景和目标用户</a:t>
            </a:r>
          </a:p>
        </p:txBody>
      </p:sp>
      <p:sp>
        <p:nvSpPr>
          <p:cNvPr id="5" name="Rectangle 4"/>
          <p:cNvSpPr/>
          <p:nvPr/>
        </p:nvSpPr>
        <p:spPr>
          <a:xfrm>
            <a:off x="320040" y="1371600"/>
            <a:ext cx="3931920"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业务场景</a:t>
            </a:r>
          </a:p>
        </p:txBody>
      </p:sp>
      <p:sp>
        <p:nvSpPr>
          <p:cNvPr id="6" name="Rectangle 5"/>
          <p:cNvSpPr/>
          <p:nvPr/>
        </p:nvSpPr>
        <p:spPr>
          <a:xfrm>
            <a:off x="320040" y="1755648"/>
            <a:ext cx="3931920" cy="85039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93192" y="1828800"/>
            <a:ext cx="3785615" cy="704088"/>
          </a:xfrm>
          <a:prstGeom prst="rect">
            <a:avLst/>
          </a:prstGeom>
          <a:noFill/>
        </p:spPr>
        <p:txBody>
          <a:bodyPr wrap="square" anchor="t" lIns="73152" rIns="73152" tIns="27432" bIns="27432">
            <a:spAutoFit/>
          </a:bodyPr>
          <a:lstStyle/>
          <a:p>
            <a:pPr algn="l">
              <a:lnSpc>
                <a:spcPct val="115000"/>
              </a:lnSpc>
            </a:pPr>
            <a:r>
              <a:rPr sz="1150" b="0" lang="zh-CN" altLang="en-US">
                <a:solidFill>
                  <a:srgbClr val="262626"/>
                </a:solidFill>
                <a:latin typeface="微软雅黑"/>
                <a:ea typeface="微软雅黑"/>
                <a:cs typeface="微软雅黑"/>
              </a:rPr>
              <a:t>光明供电局配网资产部 · 配电自动化班 / 试验班 / 配电运维一班 · 31 人。演示数据按班组真实业务框架脱敏构建。</a:t>
            </a:r>
          </a:p>
        </p:txBody>
      </p:sp>
      <p:sp>
        <p:nvSpPr>
          <p:cNvPr id="8" name="Rectangle 7"/>
          <p:cNvSpPr/>
          <p:nvPr/>
        </p:nvSpPr>
        <p:spPr>
          <a:xfrm>
            <a:off x="320040" y="2743200"/>
            <a:ext cx="3931920"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目标用户一：班组长</a:t>
            </a:r>
          </a:p>
        </p:txBody>
      </p:sp>
      <p:sp>
        <p:nvSpPr>
          <p:cNvPr id="9" name="Rectangle 8"/>
          <p:cNvSpPr/>
          <p:nvPr/>
        </p:nvSpPr>
        <p:spPr>
          <a:xfrm>
            <a:off x="320040" y="3127248"/>
            <a:ext cx="3931920" cy="11704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93192" y="3200400"/>
            <a:ext cx="3785615" cy="102412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12 个功能页，按“班组整体 → 人员情况 → 日常业务”故事线组织：班组画像；班员画像、授权认证、培养与梯队、绩效与激励、关怀与文化、分析参谋；今日工作台、用工安排、知识库、台账中心、问小瓦特。</a:t>
            </a:r>
          </a:p>
        </p:txBody>
      </p:sp>
      <p:sp>
        <p:nvSpPr>
          <p:cNvPr id="11" name="Rectangle 10"/>
          <p:cNvSpPr/>
          <p:nvPr/>
        </p:nvSpPr>
        <p:spPr>
          <a:xfrm>
            <a:off x="320040" y="4434840"/>
            <a:ext cx="3931920"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目标用户二：部门管理者</a:t>
            </a:r>
          </a:p>
        </p:txBody>
      </p:sp>
      <p:sp>
        <p:nvSpPr>
          <p:cNvPr id="12" name="Rectangle 11"/>
          <p:cNvSpPr/>
          <p:nvPr/>
        </p:nvSpPr>
        <p:spPr>
          <a:xfrm>
            <a:off x="320040" y="4818888"/>
            <a:ext cx="3931920" cy="98755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93192" y="4892040"/>
            <a:ext cx="3785615" cy="84124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9 个功能页，“业务指标 + 队伍管理”两条主线：考核指标、班组横向对比；团队画像总览、班长绩效、人员总览、班组结构对比、团队风险画像、员工关怀、分析参谋。</a:t>
            </a:r>
          </a:p>
        </p:txBody>
      </p:sp>
      <p:sp>
        <p:nvSpPr>
          <p:cNvPr id="14" name="TextBox 13"/>
          <p:cNvSpPr txBox="1"/>
          <p:nvPr/>
        </p:nvSpPr>
        <p:spPr>
          <a:xfrm>
            <a:off x="320040" y="5897880"/>
            <a:ext cx="3931920" cy="365760"/>
          </a:xfrm>
          <a:prstGeom prst="rect">
            <a:avLst/>
          </a:prstGeom>
          <a:noFill/>
        </p:spPr>
        <p:txBody>
          <a:bodyPr wrap="square" anchor="t" lIns="45720" rIns="45720" tIns="27432" bIns="27432">
            <a:spAutoFit/>
          </a:bodyPr>
          <a:lstStyle/>
          <a:p>
            <a:pPr algn="l">
              <a:lnSpc>
                <a:spcPct val="110000"/>
              </a:lnSpc>
            </a:pPr>
            <a:r>
              <a:rPr sz="1050" b="0" lang="zh-CN" altLang="en-US">
                <a:solidFill>
                  <a:srgbClr val="595959"/>
                </a:solidFill>
                <a:latin typeface="微软雅黑"/>
                <a:ea typeface="微软雅黑"/>
                <a:cs typeface="微软雅黑"/>
              </a:rPr>
              <a:t>共用十七张台账的数据底座；小瓦特 AI 助手贯穿两端；管理者的每个动作落到班组长的通知或确认。</a:t>
            </a:r>
          </a:p>
        </p:txBody>
      </p:sp>
      <p:pic>
        <p:nvPicPr>
          <p:cNvPr id="15" name="Picture 14" descr="高效班组管理助手_业务架构.png"/>
          <p:cNvPicPr>
            <a:picLocks noChangeAspect="1"/>
          </p:cNvPicPr>
          <p:nvPr/>
        </p:nvPicPr>
        <p:blipFill>
          <a:blip r:embed="rId3"/>
          <a:stretch>
            <a:fillRect/>
          </a:stretch>
        </p:blipFill>
        <p:spPr>
          <a:xfrm>
            <a:off x="4434840" y="1371600"/>
            <a:ext cx="7434072" cy="4762452"/>
          </a:xfrm>
          <a:prstGeom prst="rect">
            <a:avLst/>
          </a:prstGeom>
          <a:ln w="9525">
            <a:solidFill>
              <a:srgbClr val="BFBFBF"/>
            </a:solidFill>
          </a:ln>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应用介绍 · 应用核心优势</a:t>
            </a:r>
          </a:p>
        </p:txBody>
      </p:sp>
      <p:sp>
        <p:nvSpPr>
          <p:cNvPr id="5" name="Rectangle 4"/>
          <p:cNvSpPr/>
          <p:nvPr/>
        </p:nvSpPr>
        <p:spPr>
          <a:xfrm>
            <a:off x="320040"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57200"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17</a:t>
            </a:r>
            <a:r>
              <a:rPr sz="1300" b="1" lang="zh-CN" altLang="en-US">
                <a:solidFill>
                  <a:srgbClr val="002060"/>
                </a:solidFill>
                <a:latin typeface="微软雅黑"/>
                <a:ea typeface="微软雅黑"/>
                <a:cs typeface="微软雅黑"/>
              </a:rPr>
              <a:t>  张</a:t>
            </a:r>
          </a:p>
        </p:txBody>
      </p:sp>
      <p:sp>
        <p:nvSpPr>
          <p:cNvPr id="8" name="TextBox 7"/>
          <p:cNvSpPr txBox="1"/>
          <p:nvPr/>
        </p:nvSpPr>
        <p:spPr>
          <a:xfrm>
            <a:off x="457200"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台账同源</a:t>
            </a:r>
          </a:p>
        </p:txBody>
      </p:sp>
      <p:sp>
        <p:nvSpPr>
          <p:cNvPr id="9" name="TextBox 8"/>
          <p:cNvSpPr txBox="1"/>
          <p:nvPr/>
        </p:nvSpPr>
        <p:spPr>
          <a:xfrm>
            <a:off x="457200"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画像、看板、文稿中的每个数字可点开回溯至台账原始行</a:t>
            </a:r>
          </a:p>
        </p:txBody>
      </p:sp>
      <p:sp>
        <p:nvSpPr>
          <p:cNvPr id="10" name="Rectangle 9"/>
          <p:cNvSpPr/>
          <p:nvPr/>
        </p:nvSpPr>
        <p:spPr>
          <a:xfrm>
            <a:off x="2670048"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2670048"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807208"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4</a:t>
            </a:r>
            <a:r>
              <a:rPr sz="1300" b="1" lang="zh-CN" altLang="en-US">
                <a:solidFill>
                  <a:srgbClr val="002060"/>
                </a:solidFill>
                <a:latin typeface="微软雅黑"/>
                <a:ea typeface="微软雅黑"/>
                <a:cs typeface="微软雅黑"/>
              </a:rPr>
              <a:t>  条</a:t>
            </a:r>
          </a:p>
        </p:txBody>
      </p:sp>
      <p:sp>
        <p:nvSpPr>
          <p:cNvPr id="13" name="TextBox 12"/>
          <p:cNvSpPr txBox="1"/>
          <p:nvPr/>
        </p:nvSpPr>
        <p:spPr>
          <a:xfrm>
            <a:off x="2807208"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派工规则可解释</a:t>
            </a:r>
          </a:p>
        </p:txBody>
      </p:sp>
      <p:sp>
        <p:nvSpPr>
          <p:cNvPr id="14" name="TextBox 13"/>
          <p:cNvSpPr txBox="1"/>
          <p:nvPr/>
        </p:nvSpPr>
        <p:spPr>
          <a:xfrm>
            <a:off x="2807208"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证书、核心模块授权、本周工时、当日冲突；推荐与排除理由随单存档</a:t>
            </a:r>
          </a:p>
        </p:txBody>
      </p:sp>
      <p:sp>
        <p:nvSpPr>
          <p:cNvPr id="15" name="Rectangle 14"/>
          <p:cNvSpPr/>
          <p:nvPr/>
        </p:nvSpPr>
        <p:spPr>
          <a:xfrm>
            <a:off x="5020055"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020055"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157216"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6</a:t>
            </a:r>
            <a:r>
              <a:rPr sz="1300" b="1" lang="zh-CN" altLang="en-US">
                <a:solidFill>
                  <a:srgbClr val="002060"/>
                </a:solidFill>
                <a:latin typeface="微软雅黑"/>
                <a:ea typeface="微软雅黑"/>
                <a:cs typeface="微软雅黑"/>
              </a:rPr>
              <a:t>  环</a:t>
            </a:r>
          </a:p>
        </p:txBody>
      </p:sp>
      <p:sp>
        <p:nvSpPr>
          <p:cNvPr id="18" name="TextBox 17"/>
          <p:cNvSpPr txBox="1"/>
          <p:nvPr/>
        </p:nvSpPr>
        <p:spPr>
          <a:xfrm>
            <a:off x="5157216"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闭环可生长</a:t>
            </a:r>
          </a:p>
        </p:txBody>
      </p:sp>
      <p:sp>
        <p:nvSpPr>
          <p:cNvPr id="19" name="TextBox 18"/>
          <p:cNvSpPr txBox="1"/>
          <p:nvPr/>
        </p:nvSpPr>
        <p:spPr>
          <a:xfrm>
            <a:off x="5157216"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能力识别 → 精准培养 → 实践锻炼 → 评价反馈 → 激励应用 → 再提升</a:t>
            </a:r>
          </a:p>
        </p:txBody>
      </p:sp>
      <p:sp>
        <p:nvSpPr>
          <p:cNvPr id="20" name="Rectangle 19"/>
          <p:cNvSpPr/>
          <p:nvPr/>
        </p:nvSpPr>
        <p:spPr>
          <a:xfrm>
            <a:off x="7370063"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70063"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507223"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2</a:t>
            </a:r>
            <a:r>
              <a:rPr sz="1300" b="1" lang="zh-CN" altLang="en-US">
                <a:solidFill>
                  <a:srgbClr val="002060"/>
                </a:solidFill>
                <a:latin typeface="微软雅黑"/>
                <a:ea typeface="微软雅黑"/>
                <a:cs typeface="微软雅黑"/>
              </a:rPr>
              <a:t>  级</a:t>
            </a:r>
          </a:p>
        </p:txBody>
      </p:sp>
      <p:sp>
        <p:nvSpPr>
          <p:cNvPr id="23" name="TextBox 22"/>
          <p:cNvSpPr txBox="1"/>
          <p:nvPr/>
        </p:nvSpPr>
        <p:spPr>
          <a:xfrm>
            <a:off x="7507223"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管理可协同</a:t>
            </a:r>
          </a:p>
        </p:txBody>
      </p:sp>
      <p:sp>
        <p:nvSpPr>
          <p:cNvPr id="24" name="TextBox 23"/>
          <p:cNvSpPr txBox="1"/>
          <p:nvPr/>
        </p:nvSpPr>
        <p:spPr>
          <a:xfrm>
            <a:off x="7507223"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班组长与管理者共用数据底座，一步操作即时反映到管理视图</a:t>
            </a:r>
          </a:p>
        </p:txBody>
      </p:sp>
      <p:sp>
        <p:nvSpPr>
          <p:cNvPr id="25" name="Rectangle 24"/>
          <p:cNvSpPr/>
          <p:nvPr/>
        </p:nvSpPr>
        <p:spPr>
          <a:xfrm>
            <a:off x="9720072"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9720072"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857232"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100</a:t>
            </a:r>
            <a:r>
              <a:rPr sz="1300" b="1" lang="zh-CN" altLang="en-US">
                <a:solidFill>
                  <a:srgbClr val="002060"/>
                </a:solidFill>
                <a:latin typeface="微软雅黑"/>
                <a:ea typeface="微软雅黑"/>
                <a:cs typeface="微软雅黑"/>
              </a:rPr>
              <a:t>  %</a:t>
            </a:r>
          </a:p>
        </p:txBody>
      </p:sp>
      <p:sp>
        <p:nvSpPr>
          <p:cNvPr id="28" name="TextBox 27"/>
          <p:cNvSpPr txBox="1"/>
          <p:nvPr/>
        </p:nvSpPr>
        <p:spPr>
          <a:xfrm>
            <a:off x="9857232"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结论由人定</a:t>
            </a:r>
          </a:p>
        </p:txBody>
      </p:sp>
      <p:sp>
        <p:nvSpPr>
          <p:cNvPr id="29" name="TextBox 28"/>
          <p:cNvSpPr txBox="1"/>
          <p:nvPr/>
        </p:nvSpPr>
        <p:spPr>
          <a:xfrm>
            <a:off x="9857232"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人员评价、授权、系数、调配、轮岗一律确认后生效、留名留痕</a:t>
            </a:r>
          </a:p>
        </p:txBody>
      </p:sp>
      <p:sp>
        <p:nvSpPr>
          <p:cNvPr id="30" name="Rectangle 29"/>
          <p:cNvSpPr/>
          <p:nvPr/>
        </p:nvSpPr>
        <p:spPr>
          <a:xfrm>
            <a:off x="320040" y="4114800"/>
            <a:ext cx="1371600" cy="4114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产品定位</a:t>
            </a:r>
          </a:p>
        </p:txBody>
      </p:sp>
      <p:sp>
        <p:nvSpPr>
          <p:cNvPr id="31" name="Rectangle 30"/>
          <p:cNvSpPr/>
          <p:nvPr/>
        </p:nvSpPr>
        <p:spPr>
          <a:xfrm>
            <a:off x="320040" y="4572000"/>
            <a:ext cx="11548872" cy="1691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57200" y="4645152"/>
            <a:ext cx="11247120" cy="1554480"/>
          </a:xfrm>
          <a:prstGeom prst="rect">
            <a:avLst/>
          </a:prstGeom>
          <a:noFill/>
        </p:spPr>
        <p:txBody>
          <a:bodyPr wrap="square" anchor="ctr" lIns="45720" rIns="45720" tIns="27432" bIns="27432">
            <a:spAutoFit/>
          </a:bodyPr>
          <a:lstStyle/>
          <a:p>
            <a:pPr algn="l" marL="228600" indent="-228600">
              <a:lnSpc>
                <a:spcPct val="120000"/>
              </a:lnSpc>
              <a:spcAft>
                <a:spcPts val="600"/>
              </a:spcAft>
              <a:buFont typeface="Arial"/>
              <a:buChar char="•"/>
            </a:pPr>
            <a:r>
              <a:rPr sz="1200" b="0" lang="zh-CN" altLang="en-US">
                <a:solidFill>
                  <a:srgbClr val="262626"/>
                </a:solidFill>
                <a:latin typeface="微软雅黑"/>
                <a:ea typeface="微软雅黑"/>
                <a:cs typeface="微软雅黑"/>
              </a:rPr>
              <a:t>面向班组长的班组管理助手：把公司已有的数据变成派工的理由、考评的证据、建设的差距清单和带队伍的参谋</a:t>
            </a:r>
          </a:p>
          <a:p>
            <a:pPr algn="l" marL="228600" indent="-228600">
              <a:lnSpc>
                <a:spcPct val="120000"/>
              </a:lnSpc>
              <a:spcAft>
                <a:spcPts val="600"/>
              </a:spcAft>
              <a:buFont typeface="Arial"/>
              <a:buChar char="•"/>
            </a:pPr>
            <a:r>
              <a:rPr sz="1200" b="0" lang="zh-CN" altLang="en-US">
                <a:solidFill>
                  <a:srgbClr val="262626"/>
                </a:solidFill>
                <a:latin typeface="微软雅黑"/>
                <a:ea typeface="微软雅黑"/>
                <a:cs typeface="微软雅黑"/>
              </a:rPr>
              <a:t>管理者的每个动作（督办、提醒、调配、轮岗建议、后备培养、面谈提纲、文化活动）落到班组长的通知或确认</a:t>
            </a:r>
          </a:p>
          <a:p>
            <a:pPr algn="l" marL="228600" indent="-228600">
              <a:lnSpc>
                <a:spcPct val="120000"/>
              </a:lnSpc>
              <a:buFont typeface="Arial"/>
              <a:buChar char="•"/>
            </a:pPr>
            <a:r>
              <a:rPr sz="1200" b="0" lang="zh-CN" altLang="en-US">
                <a:solidFill>
                  <a:srgbClr val="262626"/>
                </a:solidFill>
                <a:latin typeface="微软雅黑"/>
                <a:ea typeface="微软雅黑"/>
                <a:cs typeface="微软雅黑"/>
              </a:rPr>
              <a:t>涉及人员评价的结论一律由班组长或部门确认后使用；依托公司电力人工智能创新平台与云景自助分析工具建设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如何贴合公司要求：公司的管理要求在班组一级有了数字化的执行与反馈</a:t>
            </a:r>
          </a:p>
        </p:txBody>
      </p:sp>
      <p:graphicFrame>
        <p:nvGraphicFramePr>
          <p:cNvPr id="5" name="Table 4"/>
          <p:cNvGraphicFramePr>
            <a:graphicFrameLocks noGrp="1"/>
          </p:cNvGraphicFramePr>
          <p:nvPr/>
        </p:nvGraphicFramePr>
        <p:xfrm>
          <a:off x="320040" y="1371600"/>
          <a:ext cx="11548872" cy="4096512"/>
        </p:xfrm>
        <a:graphic>
          <a:graphicData uri="http://schemas.openxmlformats.org/drawingml/2006/table">
            <a:tbl>
              <a:tblPr firstRow="0" bandRow="0">
                <a:tableStyleId>{2D5ABB26-0587-4C30-8999-92F81FD0307C}</a:tableStyleId>
              </a:tblPr>
              <a:tblGrid>
                <a:gridCol w="2834640"/>
                <a:gridCol w="4846320"/>
                <a:gridCol w="3867912"/>
              </a:tblGrid>
              <a:tr h="365760">
                <a:tc>
                  <a:txBody>
                    <a:bodyPr wrap="square"/>
                    <a:lstStyle/>
                    <a:p>
                      <a:pPr>
                        <a:lnSpc>
                          <a:spcPct val="108000"/>
                        </a:lnSpc>
                      </a:pPr>
                      <a:r>
                        <a:rPr sz="1050" b="1" lang="zh-CN" altLang="en-US">
                          <a:solidFill>
                            <a:srgbClr val="FFFFFF"/>
                          </a:solidFill>
                          <a:latin typeface="微软雅黑"/>
                          <a:ea typeface="微软雅黑"/>
                          <a:cs typeface="微软雅黑"/>
                        </a:rPr>
                        <a:t>公司要求 · 制度依据</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产品如何贴合</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在班组一级的数字化执行与反馈</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技能人才队伍建设与作业授权管理
《技能类岗位胜任能力评价作业授权认证表》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认证表做成逐人逐格可确认的数字表（7 个技能单元 42 个模块，缺证不能确认），核心业务自主实施能力与 ★ 模块断层风险随确认实时变化</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授权状态按月报主管；高风险模块一键排带教取证；师带徒、骨干培养、后备梯队纳入台账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星级班组建设
《星级班组评价标准》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20 个评价维度按台账实时初评并标红黄绿，当前等级、目标等级、距目标分、必备条件、差距指标一页呈现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提升方向排进班组计划；帮扶活动回写得分；自评材料直接取自系统记录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绩效管理
员工年度业绩责任书、工分制考核办法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考核指标三维度照录责任书实时判定红黄绿；班长绩效按责任书自动取数初评、分档不排名次；班员系数由五类履职证据与工分推导</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督办直达责任班长；确认后下发考评表；激励分配表与确认记录留痕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安全生产责任制
两票、作业授权、关键节点管控</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“有授权才派工、票审过才开工、完工才回写”的刚性流程；关键节点 19 项逐周闭环</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派工理由表、两票审核记录、关键节点闭环记录、安全活动台账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基层减负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班前会材料、月度总结、分配表、面谈提纲、诊断与参谋报告逐段生成，查数即问即答</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班组长每月事务性用时减少约 25 小时，有操作流水为证</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人工智能应用
电力人工智能创新平台（大瓦特）</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班组长 AI 助手依托公司平台：查数配图、决策依据、文稿、诊断、经验整理五类能力，人在回路</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可复制的班组级 AI 应用样板；每次确认留名留痕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6" name="Rectangle 5"/>
          <p:cNvSpPr/>
          <p:nvPr/>
        </p:nvSpPr>
        <p:spPr>
          <a:xfrm>
            <a:off x="320040" y="5596128"/>
            <a:ext cx="11548872" cy="6400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320040" y="5596128"/>
            <a:ext cx="91440" cy="6400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48640" y="5596128"/>
            <a:ext cx="11155680" cy="640080"/>
          </a:xfrm>
          <a:prstGeom prst="rect">
            <a:avLst/>
          </a:prstGeom>
          <a:noFill/>
        </p:spPr>
        <p:txBody>
          <a:bodyPr wrap="square" anchor="ctr" lIns="45720" rIns="45720" tIns="27432" bIns="27432">
            <a:spAutoFit/>
          </a:bodyPr>
          <a:lstStyle/>
          <a:p>
            <a:pPr algn="l">
              <a:lnSpc>
                <a:spcPct val="115000"/>
              </a:lnSpc>
            </a:pPr>
            <a:r>
              <a:rPr sz="1150" b="1" lang="zh-CN" altLang="en-US">
                <a:solidFill>
                  <a:srgbClr val="002060"/>
                </a:solidFill>
                <a:latin typeface="微软雅黑"/>
                <a:ea typeface="微软雅黑"/>
                <a:cs typeface="微软雅黑"/>
              </a:rPr>
              <a:t>对公司数智化转型的作用：</a:t>
            </a:r>
          </a:p>
          <a:p>
            <a:pPr algn="l">
              <a:lnSpc>
                <a:spcPct val="115000"/>
              </a:lnSpc>
            </a:pPr>
            <a:r>
              <a:rPr sz="1150" b="0" lang="zh-CN" altLang="en-US">
                <a:solidFill>
                  <a:srgbClr val="262626"/>
                </a:solidFill>
                <a:latin typeface="微软雅黑"/>
                <a:ea typeface="微软雅黑"/>
                <a:cs typeface="微软雅黑"/>
              </a:rPr>
              <a:t>班组长的时间从找数、抄数、排版回到判断与确认；班组数据一次产生、局级公司级复用，成为公司人力资源数智化的基础单元——数字化转型落到了最基层的生产组织。</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对南方电网集团要求的响应</a:t>
            </a:r>
          </a:p>
        </p:txBody>
      </p:sp>
      <p:sp>
        <p:nvSpPr>
          <p:cNvPr id="5" name="Rectangle 4"/>
          <p:cNvSpPr/>
          <p:nvPr/>
        </p:nvSpPr>
        <p:spPr>
          <a:xfrm>
            <a:off x="320040" y="137160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7160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46304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集团数字化转型与数字电网建设部署</a:t>
            </a:r>
          </a:p>
        </p:txBody>
      </p:sp>
      <p:sp>
        <p:nvSpPr>
          <p:cNvPr id="8" name="TextBox 7"/>
          <p:cNvSpPr txBox="1"/>
          <p:nvPr/>
        </p:nvSpPr>
        <p:spPr>
          <a:xfrm>
            <a:off x="548640" y="201168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派工、审票、授权确认、绩效确认、督办、调配结构化留痕，按统一口径接入人资系统与数据平台，班组数据一次产生、局级公司级复用</a:t>
            </a:r>
          </a:p>
        </p:txBody>
      </p:sp>
      <p:sp>
        <p:nvSpPr>
          <p:cNvPr id="9" name="Rectangle 8"/>
          <p:cNvSpPr/>
          <p:nvPr/>
        </p:nvSpPr>
        <p:spPr>
          <a:xfrm>
            <a:off x="4206240" y="137160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206240" y="137160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434840" y="146304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集团人才强企战略与技能人才队伍建设要求</a:t>
            </a:r>
          </a:p>
        </p:txBody>
      </p:sp>
      <p:sp>
        <p:nvSpPr>
          <p:cNvPr id="12" name="TextBox 11"/>
          <p:cNvSpPr txBox="1"/>
          <p:nvPr/>
        </p:nvSpPr>
        <p:spPr>
          <a:xfrm>
            <a:off x="4434840" y="201168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《作业授权认证表》数字化后，授权状态、核心业务自主实施能力、断层风险按月报主管；师带徒、骨干培养、后备梯队纳入台账，支撑作业授权复审与技能人才评聘</a:t>
            </a:r>
          </a:p>
        </p:txBody>
      </p:sp>
      <p:sp>
        <p:nvSpPr>
          <p:cNvPr id="13" name="Rectangle 12"/>
          <p:cNvSpPr/>
          <p:nvPr/>
        </p:nvSpPr>
        <p:spPr>
          <a:xfrm>
            <a:off x="8092440" y="137160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092440" y="137160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21040" y="146304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集团星级班组建设要求</a:t>
            </a:r>
          </a:p>
        </p:txBody>
      </p:sp>
      <p:sp>
        <p:nvSpPr>
          <p:cNvPr id="16" name="TextBox 15"/>
          <p:cNvSpPr txBox="1"/>
          <p:nvPr/>
        </p:nvSpPr>
        <p:spPr>
          <a:xfrm>
            <a:off x="8321040" y="201168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《星级班组评价标准》20 个维度按台账实时初评，当前等级、目标等级、差距指标与提升措施按周期自动形成，评定材料直接取自系统记录</a:t>
            </a:r>
          </a:p>
        </p:txBody>
      </p:sp>
      <p:sp>
        <p:nvSpPr>
          <p:cNvPr id="17" name="Rectangle 16"/>
          <p:cNvSpPr/>
          <p:nvPr/>
        </p:nvSpPr>
        <p:spPr>
          <a:xfrm>
            <a:off x="320040" y="352044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20040" y="352044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48640" y="361188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集团业绩责任书与绩效管理要求</a:t>
            </a:r>
          </a:p>
        </p:txBody>
      </p:sp>
      <p:sp>
        <p:nvSpPr>
          <p:cNvPr id="20" name="TextBox 19"/>
          <p:cNvSpPr txBox="1"/>
          <p:nvPr/>
        </p:nvSpPr>
        <p:spPr>
          <a:xfrm>
            <a:off x="548640" y="416052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考核指标红黄绿与督办、班长绩效按责任书季度初评、班员系数由履职证据推导，考评公开、留痕、可追溯</a:t>
            </a:r>
          </a:p>
        </p:txBody>
      </p:sp>
      <p:sp>
        <p:nvSpPr>
          <p:cNvPr id="21" name="Rectangle 20"/>
          <p:cNvSpPr/>
          <p:nvPr/>
        </p:nvSpPr>
        <p:spPr>
          <a:xfrm>
            <a:off x="4206240" y="352044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206240" y="352044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434840" y="361188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集团安全生产责任制与基层减负要求</a:t>
            </a:r>
          </a:p>
        </p:txBody>
      </p:sp>
      <p:sp>
        <p:nvSpPr>
          <p:cNvPr id="24" name="TextBox 23"/>
          <p:cNvSpPr txBox="1"/>
          <p:nvPr/>
        </p:nvSpPr>
        <p:spPr>
          <a:xfrm>
            <a:off x="4434840" y="416052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“有授权才派工、票审过才开工、完工才回写”的刚性流程把安全责任落到班组一级；文稿逐段生成，班组长每月事务性用时减少约 25 小时</a:t>
            </a:r>
          </a:p>
        </p:txBody>
      </p:sp>
      <p:sp>
        <p:nvSpPr>
          <p:cNvPr id="25" name="Rectangle 24"/>
          <p:cNvSpPr/>
          <p:nvPr/>
        </p:nvSpPr>
        <p:spPr>
          <a:xfrm>
            <a:off x="8092440" y="352044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092440" y="352044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321040" y="361188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集团人力资源数智化创新与人工智能应用（大瓦特）要求</a:t>
            </a:r>
          </a:p>
        </p:txBody>
      </p:sp>
      <p:sp>
        <p:nvSpPr>
          <p:cNvPr id="28" name="TextBox 27"/>
          <p:cNvSpPr txBox="1"/>
          <p:nvPr/>
        </p:nvSpPr>
        <p:spPr>
          <a:xfrm>
            <a:off x="8321040" y="416052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班组长 AI 助手依托公司电力人工智能创新平台，人在回路、结论由人确认，形成可复制的班组级人工智能应用样板</a:t>
            </a:r>
          </a:p>
        </p:txBody>
      </p:sp>
      <p:sp>
        <p:nvSpPr>
          <p:cNvPr id="29" name="Rectangle 28"/>
          <p:cNvSpPr/>
          <p:nvPr/>
        </p:nvSpPr>
        <p:spPr>
          <a:xfrm>
            <a:off x="320040" y="5715000"/>
            <a:ext cx="11548872" cy="502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320040" y="5715000"/>
            <a:ext cx="91440" cy="5029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48640" y="5715000"/>
            <a:ext cx="11155680" cy="502920"/>
          </a:xfrm>
          <a:prstGeom prst="rect">
            <a:avLst/>
          </a:prstGeom>
          <a:noFill/>
        </p:spPr>
        <p:txBody>
          <a:bodyPr wrap="square" anchor="ctr" lIns="45720" rIns="45720" tIns="27432" bIns="27432">
            <a:spAutoFit/>
          </a:bodyPr>
          <a:lstStyle/>
          <a:p>
            <a:pPr algn="l"/>
            <a:r>
              <a:rPr sz="1150" b="1" lang="zh-CN" altLang="en-US">
                <a:solidFill>
                  <a:srgbClr val="002060"/>
                </a:solidFill>
                <a:latin typeface="微软雅黑"/>
                <a:ea typeface="微软雅黑"/>
                <a:cs typeface="微软雅黑"/>
              </a:rPr>
              <a:t>响应是持续的、可检查的：</a:t>
            </a:r>
          </a:p>
          <a:p>
            <a:pPr algn="l"/>
            <a:r>
              <a:rPr sz="1150" b="0" lang="zh-CN" altLang="en-US">
                <a:solidFill>
                  <a:srgbClr val="262626"/>
                </a:solidFill>
                <a:latin typeface="微软雅黑"/>
                <a:ea typeface="微软雅黑"/>
                <a:cs typeface="微软雅黑"/>
              </a:rPr>
              <a:t>结构化留痕 → 按统一口径向上汇聚 → 按周期自动形成结果，机制见下页，逐项对照表见“三、应用成效”。</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成果建成后如何响应公司与集团要求 · 开展示范推广的作用和意义</a:t>
            </a:r>
          </a:p>
        </p:txBody>
      </p:sp>
      <p:sp>
        <p:nvSpPr>
          <p:cNvPr id="5" name="Pentagon 4"/>
          <p:cNvSpPr/>
          <p:nvPr/>
        </p:nvSpPr>
        <p:spPr>
          <a:xfrm>
            <a:off x="320040" y="1371600"/>
            <a:ext cx="3813048" cy="548640"/>
          </a:xfrm>
          <a:prstGeom prst="homePlat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lang="zh-CN" altLang="en-US">
                <a:solidFill>
                  <a:srgbClr val="FFFFFF"/>
                </a:solidFill>
                <a:latin typeface="微软雅黑"/>
                <a:ea typeface="微软雅黑"/>
                <a:cs typeface="微软雅黑"/>
              </a:rPr>
              <a:t>① 结构化留痕：每次派工 / 审票 / 确认 / 督办 / 调配写入台账与流水</a:t>
            </a:r>
          </a:p>
        </p:txBody>
      </p:sp>
      <p:sp>
        <p:nvSpPr>
          <p:cNvPr id="6" name="Chevron 5"/>
          <p:cNvSpPr/>
          <p:nvPr/>
        </p:nvSpPr>
        <p:spPr>
          <a:xfrm>
            <a:off x="4187952" y="1371600"/>
            <a:ext cx="3813048" cy="548640"/>
          </a:xfrm>
          <a:prstGeom prst="chevron">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lang="zh-CN" altLang="en-US">
                <a:solidFill>
                  <a:srgbClr val="FFFFFF"/>
                </a:solidFill>
                <a:latin typeface="微软雅黑"/>
                <a:ea typeface="微软雅黑"/>
                <a:cs typeface="微软雅黑"/>
              </a:rPr>
              <a:t>② 按统一口径向上汇聚：人员 · 班组 · 事件三类主题接入人资系统与数据平台</a:t>
            </a:r>
          </a:p>
        </p:txBody>
      </p:sp>
      <p:sp>
        <p:nvSpPr>
          <p:cNvPr id="7" name="Chevron 6"/>
          <p:cNvSpPr/>
          <p:nvPr/>
        </p:nvSpPr>
        <p:spPr>
          <a:xfrm>
            <a:off x="8055864" y="1371600"/>
            <a:ext cx="3813048" cy="548640"/>
          </a:xfrm>
          <a:prstGeom prst="chevron">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lang="zh-CN" altLang="en-US">
                <a:solidFill>
                  <a:srgbClr val="FFFFFF"/>
                </a:solidFill>
                <a:latin typeface="微软雅黑"/>
                <a:ea typeface="微软雅黑"/>
                <a:cs typeface="微软雅黑"/>
              </a:rPr>
              <a:t>③ 按周期自动形成结果：星级对标 · 授权盘点 · 班长绩效由一次性工作变为周期输出</a:t>
            </a:r>
          </a:p>
        </p:txBody>
      </p:sp>
      <p:graphicFrame>
        <p:nvGraphicFramePr>
          <p:cNvPr id="8" name="Table 7"/>
          <p:cNvGraphicFramePr>
            <a:graphicFrameLocks noGrp="1"/>
          </p:cNvGraphicFramePr>
          <p:nvPr/>
        </p:nvGraphicFramePr>
        <p:xfrm>
          <a:off x="320040" y="2103120"/>
          <a:ext cx="11548872" cy="3364992"/>
        </p:xfrm>
        <a:graphic>
          <a:graphicData uri="http://schemas.openxmlformats.org/drawingml/2006/table">
            <a:tbl>
              <a:tblPr firstRow="0" bandRow="0">
                <a:tableStyleId>{2D5ABB26-0587-4C30-8999-92F81FD0307C}</a:tableStyleId>
              </a:tblPr>
              <a:tblGrid>
                <a:gridCol w="2286000"/>
                <a:gridCol w="5486400"/>
                <a:gridCol w="3776472"/>
              </a:tblGrid>
              <a:tr h="347472">
                <a:tc>
                  <a:txBody>
                    <a:bodyPr wrap="square"/>
                    <a:lstStyle/>
                    <a:p>
                      <a:pPr>
                        <a:lnSpc>
                          <a:spcPct val="108000"/>
                        </a:lnSpc>
                      </a:pPr>
                      <a:r>
                        <a:rPr sz="1000" b="1" lang="zh-CN" altLang="en-US">
                          <a:solidFill>
                            <a:srgbClr val="FFFFFF"/>
                          </a:solidFill>
                          <a:latin typeface="微软雅黑"/>
                          <a:ea typeface="微软雅黑"/>
                          <a:cs typeface="微软雅黑"/>
                        </a:rPr>
                        <a:t>公司与集团要求</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00" b="1" lang="zh-CN" altLang="en-US">
                          <a:solidFill>
                            <a:srgbClr val="FFFFFF"/>
                          </a:solidFill>
                          <a:latin typeface="微软雅黑"/>
                          <a:ea typeface="微软雅黑"/>
                          <a:cs typeface="微软雅黑"/>
                        </a:rPr>
                        <a:t>成果建成后的响应机制</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00" b="1" lang="zh-CN" altLang="en-US">
                          <a:solidFill>
                            <a:srgbClr val="FFFFFF"/>
                          </a:solidFill>
                          <a:latin typeface="微软雅黑"/>
                          <a:ea typeface="微软雅黑"/>
                          <a:cs typeface="微软雅黑"/>
                        </a:rPr>
                        <a:t>可检查的输出</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数字化转型与数字电网建设</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班组层派工、审票、授权确认、绩效确认、督办、调配全部写入操作流水与台账，按人员、班组、事件三类主题统一口径接入人资系统与数据平台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操作流水、十七张台账、画像与指标接口；班组数据一次产生、局级公司级复用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技能人才队伍建设与作业授权管理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42 个模块的授权状态、核心业务自主实施能力、断层风险按月形成报表报主管，支撑作业授权复审与技能人才评聘</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月度授权状态报表、带教取证任务、骨干培养计划、后备梯队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星级班组建设</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20 个维度的初步评分、必备条件核对、差距指标与提升措施按月自动形成，当前等级与距目标分随台账实时变化</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季度自评材料、差距指标与提升措施、排进班组计划的提升任务</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业绩责任书与绩效管理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考核指标实时红黄绿并督办；班长绩效按责任书季度自动取数初评；班员系数逐人确认、分配表留痕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考核指标看板与督办记录、班长绩效考评表、激励分配表与确认记录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安全生产责任制与基层减负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两票审核、作业授权、断层风险、关键节点在派工环节前置把关；文稿逐段生成、关怀主动提示</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派工理由表、两票审核记录、关键节点闭环记录；每月事务性用时减少约 25 小时的流水证据</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人工智能应用与数据安全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班组长 AI 助手人在回路、每次确认留名留痕；内网部署、数据不出域、角色分级授权</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可复制的班组级 AI 助手样板；权限矩阵、确认记录、操作流水</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9" name="Rectangle 8"/>
          <p:cNvSpPr/>
          <p:nvPr/>
        </p:nvSpPr>
        <p:spPr>
          <a:xfrm>
            <a:off x="320040" y="5623560"/>
            <a:ext cx="11548872" cy="62179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20040" y="5623560"/>
            <a:ext cx="91440" cy="621792"/>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8640" y="5623560"/>
            <a:ext cx="11155680" cy="621792"/>
          </a:xfrm>
          <a:prstGeom prst="rect">
            <a:avLst/>
          </a:prstGeom>
          <a:noFill/>
        </p:spPr>
        <p:txBody>
          <a:bodyPr wrap="square" anchor="ctr" lIns="45720" rIns="45720" tIns="27432" bIns="27432">
            <a:spAutoFit/>
          </a:bodyPr>
          <a:lstStyle/>
          <a:p>
            <a:pPr algn="l">
              <a:lnSpc>
                <a:spcPct val="115000"/>
              </a:lnSpc>
            </a:pPr>
            <a:r>
              <a:rPr sz="1150" b="1" lang="zh-CN" altLang="en-US">
                <a:solidFill>
                  <a:srgbClr val="002060"/>
                </a:solidFill>
                <a:latin typeface="微软雅黑"/>
                <a:ea typeface="微软雅黑"/>
                <a:cs typeface="微软雅黑"/>
              </a:rPr>
              <a:t>开展示范推广的作用和意义：</a:t>
            </a:r>
          </a:p>
          <a:p>
            <a:pPr algn="l">
              <a:lnSpc>
                <a:spcPct val="115000"/>
              </a:lnSpc>
            </a:pPr>
            <a:r>
              <a:rPr sz="1150" b="0" lang="zh-CN" altLang="en-US">
                <a:solidFill>
                  <a:srgbClr val="262626"/>
                </a:solidFill>
                <a:latin typeface="微软雅黑"/>
                <a:ea typeface="微软雅黑"/>
                <a:cs typeface="微软雅黑"/>
              </a:rPr>
              <a:t>公司对班组建设、人才队伍、绩效管理、安全生产与基层减负的要求在班组一级有了持续响应的机制；以配置化方式复制到配网、变电、输电专业班组，为公司提供可复制的班组级数字化样板。</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应用的设计思路</a:t>
            </a:r>
          </a:p>
        </p:txBody>
      </p:sp>
      <p:sp>
        <p:nvSpPr>
          <p:cNvPr id="5" name="Rectangle 4"/>
          <p:cNvSpPr/>
          <p:nvPr/>
        </p:nvSpPr>
        <p:spPr>
          <a:xfrm>
            <a:off x="320040" y="1371600"/>
            <a:ext cx="1463040" cy="9144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智能层</a:t>
            </a:r>
          </a:p>
        </p:txBody>
      </p:sp>
      <p:sp>
        <p:nvSpPr>
          <p:cNvPr id="6" name="Rectangle 5"/>
          <p:cNvSpPr/>
          <p:nvPr/>
        </p:nvSpPr>
        <p:spPr>
          <a:xfrm>
            <a:off x="1783080" y="1371600"/>
            <a:ext cx="5120640" cy="9144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920240" y="1371600"/>
            <a:ext cx="4892040" cy="914400"/>
          </a:xfrm>
          <a:prstGeom prst="rect">
            <a:avLst/>
          </a:prstGeom>
          <a:noFill/>
        </p:spPr>
        <p:txBody>
          <a:bodyPr wrap="square" anchor="ctr" lIns="45720" rIns="45720" tIns="27432" bIns="27432">
            <a:spAutoFit/>
          </a:bodyPr>
          <a:lstStyle/>
          <a:p>
            <a:pPr algn="l">
              <a:lnSpc>
                <a:spcPct val="115000"/>
              </a:lnSpc>
            </a:pPr>
            <a:r>
              <a:rPr sz="1200" b="0" lang="zh-CN" altLang="en-US">
                <a:solidFill>
                  <a:srgbClr val="262626"/>
                </a:solidFill>
                <a:latin typeface="微软雅黑"/>
                <a:ea typeface="微软雅黑"/>
                <a:cs typeface="微软雅黑"/>
              </a:rPr>
              <a:t>大模型：自然语言问答 · 文稿逐段生成 · 诊断归因 · 经验整理</a:t>
            </a:r>
          </a:p>
        </p:txBody>
      </p:sp>
      <p:sp>
        <p:nvSpPr>
          <p:cNvPr id="8" name="Rectangle 7"/>
          <p:cNvSpPr/>
          <p:nvPr/>
        </p:nvSpPr>
        <p:spPr>
          <a:xfrm>
            <a:off x="320040" y="2423160"/>
            <a:ext cx="1463040" cy="9144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规则层</a:t>
            </a:r>
          </a:p>
        </p:txBody>
      </p:sp>
      <p:sp>
        <p:nvSpPr>
          <p:cNvPr id="9" name="Rectangle 8"/>
          <p:cNvSpPr/>
          <p:nvPr/>
        </p:nvSpPr>
        <p:spPr>
          <a:xfrm>
            <a:off x="1783080" y="2423160"/>
            <a:ext cx="5120640" cy="9144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920240" y="2423160"/>
            <a:ext cx="4892040" cy="914400"/>
          </a:xfrm>
          <a:prstGeom prst="rect">
            <a:avLst/>
          </a:prstGeom>
          <a:noFill/>
        </p:spPr>
        <p:txBody>
          <a:bodyPr wrap="square" anchor="ctr" lIns="45720" rIns="45720" tIns="27432" bIns="27432">
            <a:spAutoFit/>
          </a:bodyPr>
          <a:lstStyle/>
          <a:p>
            <a:pPr algn="l">
              <a:lnSpc>
                <a:spcPct val="115000"/>
              </a:lnSpc>
            </a:pPr>
            <a:r>
              <a:rPr sz="1200" b="0" lang="zh-CN" altLang="en-US">
                <a:solidFill>
                  <a:srgbClr val="262626"/>
                </a:solidFill>
                <a:latin typeface="微软雅黑"/>
                <a:ea typeface="微软雅黑"/>
                <a:cs typeface="微软雅黑"/>
              </a:rPr>
              <a:t>派工四规则 · 断层判定 · 绩效系数 · 考核红黄绿 · 班长计分，可配置、可解释</a:t>
            </a:r>
          </a:p>
        </p:txBody>
      </p:sp>
      <p:sp>
        <p:nvSpPr>
          <p:cNvPr id="11" name="Rectangle 10"/>
          <p:cNvSpPr/>
          <p:nvPr/>
        </p:nvSpPr>
        <p:spPr>
          <a:xfrm>
            <a:off x="320040" y="3474720"/>
            <a:ext cx="1463040" cy="9144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指标层</a:t>
            </a:r>
          </a:p>
        </p:txBody>
      </p:sp>
      <p:sp>
        <p:nvSpPr>
          <p:cNvPr id="12" name="Rectangle 11"/>
          <p:cNvSpPr/>
          <p:nvPr/>
        </p:nvSpPr>
        <p:spPr>
          <a:xfrm>
            <a:off x="1783080" y="3474720"/>
            <a:ext cx="5120640" cy="9144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920240" y="3474720"/>
            <a:ext cx="4892040" cy="914400"/>
          </a:xfrm>
          <a:prstGeom prst="rect">
            <a:avLst/>
          </a:prstGeom>
          <a:noFill/>
        </p:spPr>
        <p:txBody>
          <a:bodyPr wrap="square" anchor="ctr" lIns="45720" rIns="45720" tIns="27432" bIns="27432">
            <a:spAutoFit/>
          </a:bodyPr>
          <a:lstStyle/>
          <a:p>
            <a:pPr algn="l">
              <a:lnSpc>
                <a:spcPct val="115000"/>
              </a:lnSpc>
            </a:pPr>
            <a:r>
              <a:rPr sz="1200" b="0" lang="zh-CN" altLang="en-US">
                <a:solidFill>
                  <a:srgbClr val="262626"/>
                </a:solidFill>
                <a:latin typeface="微软雅黑"/>
                <a:ea typeface="微软雅黑"/>
                <a:cs typeface="微软雅黑"/>
              </a:rPr>
              <a:t>星级评价 20 维 · 作业授权 42 模块 · 综合画像 5 项 / 专业画像 9 项 · 考评口径</a:t>
            </a:r>
          </a:p>
        </p:txBody>
      </p:sp>
      <p:sp>
        <p:nvSpPr>
          <p:cNvPr id="14" name="Rectangle 13"/>
          <p:cNvSpPr/>
          <p:nvPr/>
        </p:nvSpPr>
        <p:spPr>
          <a:xfrm>
            <a:off x="320040" y="4526279"/>
            <a:ext cx="1463040" cy="914400"/>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数据底座</a:t>
            </a:r>
          </a:p>
        </p:txBody>
      </p:sp>
      <p:sp>
        <p:nvSpPr>
          <p:cNvPr id="15" name="Rectangle 14"/>
          <p:cNvSpPr/>
          <p:nvPr/>
        </p:nvSpPr>
        <p:spPr>
          <a:xfrm>
            <a:off x="1783080" y="4526279"/>
            <a:ext cx="5120640" cy="9144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920240" y="4526279"/>
            <a:ext cx="4892040" cy="914400"/>
          </a:xfrm>
          <a:prstGeom prst="rect">
            <a:avLst/>
          </a:prstGeom>
          <a:noFill/>
        </p:spPr>
        <p:txBody>
          <a:bodyPr wrap="square" anchor="ctr" lIns="45720" rIns="45720" tIns="27432" bIns="27432">
            <a:spAutoFit/>
          </a:bodyPr>
          <a:lstStyle/>
          <a:p>
            <a:pPr algn="l">
              <a:lnSpc>
                <a:spcPct val="115000"/>
              </a:lnSpc>
            </a:pPr>
            <a:r>
              <a:rPr sz="1200" b="0" lang="zh-CN" altLang="en-US">
                <a:solidFill>
                  <a:srgbClr val="262626"/>
                </a:solidFill>
                <a:latin typeface="微软雅黑"/>
                <a:ea typeface="微软雅黑"/>
                <a:cs typeface="微软雅黑"/>
              </a:rPr>
              <a:t>十七张班组台账，统一人员与班组主键，每个数字可回溯</a:t>
            </a:r>
          </a:p>
        </p:txBody>
      </p:sp>
      <p:sp>
        <p:nvSpPr>
          <p:cNvPr id="17" name="Rectangle 16"/>
          <p:cNvSpPr/>
          <p:nvPr/>
        </p:nvSpPr>
        <p:spPr>
          <a:xfrm>
            <a:off x="7178040" y="1371600"/>
            <a:ext cx="46908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设计原则</a:t>
            </a:r>
          </a:p>
        </p:txBody>
      </p:sp>
      <p:sp>
        <p:nvSpPr>
          <p:cNvPr id="18" name="Rectangle 17"/>
          <p:cNvSpPr/>
          <p:nvPr/>
        </p:nvSpPr>
        <p:spPr>
          <a:xfrm>
            <a:off x="7178040" y="1755648"/>
            <a:ext cx="4690872" cy="3822191"/>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251192" y="1828800"/>
            <a:ext cx="4544568" cy="3675887"/>
          </a:xfrm>
          <a:prstGeom prst="rect">
            <a:avLst/>
          </a:prstGeom>
          <a:noFill/>
        </p:spPr>
        <p:txBody>
          <a:bodyPr wrap="square" anchor="t" lIns="73152" rIns="73152" tIns="27432" bIns="27432">
            <a:spAutoFit/>
          </a:bodyPr>
          <a:lstStyle/>
          <a:p>
            <a:pPr algn="l" marL="228600" indent="-228600">
              <a:lnSpc>
                <a:spcPct val="115000"/>
              </a:lnSpc>
              <a:spcAft>
                <a:spcPts val="600"/>
              </a:spcAft>
              <a:buFont typeface="Arial"/>
              <a:buChar char="•"/>
            </a:pPr>
            <a:r>
              <a:rPr sz="1200" b="0" lang="zh-CN" altLang="en-US">
                <a:solidFill>
                  <a:srgbClr val="262626"/>
                </a:solidFill>
                <a:latin typeface="微软雅黑"/>
                <a:ea typeface="微软雅黑"/>
                <a:cs typeface="微软雅黑"/>
              </a:rPr>
              <a:t>围绕班组长“派得准、带得好、评得公、管得住”和部门“看得全、督得到、配得动”的诉求组织功能</a:t>
            </a:r>
          </a:p>
          <a:p>
            <a:pPr algn="l" marL="228600" indent="-228600">
              <a:lnSpc>
                <a:spcPct val="115000"/>
              </a:lnSpc>
              <a:spcAft>
                <a:spcPts val="600"/>
              </a:spcAft>
              <a:buFont typeface="Arial"/>
              <a:buChar char="•"/>
            </a:pPr>
            <a:r>
              <a:rPr sz="1200" b="0" lang="zh-CN" altLang="en-US">
                <a:solidFill>
                  <a:srgbClr val="262626"/>
                </a:solidFill>
                <a:latin typeface="微软雅黑"/>
                <a:ea typeface="微软雅黑"/>
                <a:cs typeface="微软雅黑"/>
              </a:rPr>
              <a:t>系统给出依据与建议，班组长和管理者作出决定；涉及人的结论一律确认后生效、留名留痕</a:t>
            </a:r>
          </a:p>
          <a:p>
            <a:pPr algn="l" marL="228600" indent="-228600">
              <a:lnSpc>
                <a:spcPct val="115000"/>
              </a:lnSpc>
              <a:spcAft>
                <a:spcPts val="600"/>
              </a:spcAft>
              <a:buFont typeface="Arial"/>
              <a:buChar char="•"/>
            </a:pPr>
            <a:r>
              <a:rPr sz="1200" b="0" lang="zh-CN" altLang="en-US">
                <a:solidFill>
                  <a:srgbClr val="262626"/>
                </a:solidFill>
                <a:latin typeface="微软雅黑"/>
                <a:ea typeface="微软雅黑"/>
                <a:cs typeface="微软雅黑"/>
              </a:rPr>
              <a:t>页面只读状态层、按钮只写状态层，流程不预设，每一个动作都改变后面每一页的数字</a:t>
            </a:r>
          </a:p>
          <a:p>
            <a:pPr algn="l" marL="228600" indent="-228600">
              <a:lnSpc>
                <a:spcPct val="115000"/>
              </a:lnSpc>
              <a:spcAft>
                <a:spcPts val="600"/>
              </a:spcAft>
              <a:buFont typeface="Arial"/>
              <a:buChar char="•"/>
            </a:pPr>
            <a:r>
              <a:rPr sz="1200" b="0" lang="zh-CN" altLang="en-US">
                <a:solidFill>
                  <a:srgbClr val="262626"/>
                </a:solidFill>
                <a:latin typeface="微软雅黑"/>
                <a:ea typeface="微软雅黑"/>
                <a:cs typeface="微软雅黑"/>
              </a:rPr>
              <a:t>画像、看板、文稿中的每个数字可点开回溯至台账原始行</a:t>
            </a:r>
          </a:p>
          <a:p>
            <a:pPr algn="l" marL="228600" indent="-228600">
              <a:lnSpc>
                <a:spcPct val="115000"/>
              </a:lnSpc>
              <a:buFont typeface="Arial"/>
              <a:buChar char="•"/>
            </a:pPr>
            <a:r>
              <a:rPr sz="1200" b="0" lang="zh-CN" altLang="en-US">
                <a:solidFill>
                  <a:srgbClr val="262626"/>
                </a:solidFill>
                <a:latin typeface="微软雅黑"/>
                <a:ea typeface="微软雅黑"/>
                <a:cs typeface="微软雅黑"/>
              </a:rPr>
              <a:t>依托公司自主平台建设，内网部署，数据不出域，角色分级授权</a:t>
            </a:r>
          </a:p>
        </p:txBody>
      </p:sp>
      <p:sp>
        <p:nvSpPr>
          <p:cNvPr id="20" name="Rectangle 19"/>
          <p:cNvSpPr/>
          <p:nvPr/>
        </p:nvSpPr>
        <p:spPr>
          <a:xfrm>
            <a:off x="320040" y="5760720"/>
            <a:ext cx="11548872" cy="502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200" y="5760720"/>
            <a:ext cx="11247120" cy="502920"/>
          </a:xfrm>
          <a:prstGeom prst="rect">
            <a:avLst/>
          </a:prstGeom>
          <a:noFill/>
        </p:spPr>
        <p:txBody>
          <a:bodyPr wrap="square" anchor="ctr" lIns="45720" rIns="45720" tIns="27432" bIns="27432">
            <a:spAutoFit/>
          </a:bodyPr>
          <a:lstStyle/>
          <a:p>
            <a:pPr algn="l"/>
            <a:r>
              <a:rPr sz="1200" b="1" lang="zh-CN" altLang="en-US">
                <a:solidFill>
                  <a:srgbClr val="002060"/>
                </a:solidFill>
                <a:latin typeface="微软雅黑"/>
                <a:ea typeface="微软雅黑"/>
                <a:cs typeface="微软雅黑"/>
              </a:rPr>
              <a:t>一句话：</a:t>
            </a:r>
          </a:p>
          <a:p>
            <a:pPr algn="l"/>
            <a:r>
              <a:rPr sz="1200" b="0" lang="zh-CN" altLang="en-US">
                <a:solidFill>
                  <a:srgbClr val="262626"/>
                </a:solidFill>
                <a:latin typeface="微软雅黑"/>
                <a:ea typeface="微软雅黑"/>
                <a:cs typeface="微软雅黑"/>
              </a:rPr>
              <a:t>把分散在各系统的班组数据归集为统一台账，在台账之上建指标、立规则、用大模型，让班组长回到判断与确认。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应用的实现路径</a:t>
            </a:r>
          </a:p>
        </p:txBody>
      </p:sp>
      <p:sp>
        <p:nvSpPr>
          <p:cNvPr id="5" name="Pentagon 4"/>
          <p:cNvSpPr/>
          <p:nvPr/>
        </p:nvSpPr>
        <p:spPr>
          <a:xfrm>
            <a:off x="320040" y="1371600"/>
            <a:ext cx="2846070" cy="548640"/>
          </a:xfrm>
          <a:prstGeom prst="homePlat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一  数据归集</a:t>
            </a:r>
          </a:p>
        </p:txBody>
      </p:sp>
      <p:sp>
        <p:nvSpPr>
          <p:cNvPr id="6" name="Chevron 5"/>
          <p:cNvSpPr/>
          <p:nvPr/>
        </p:nvSpPr>
        <p:spPr>
          <a:xfrm>
            <a:off x="3220974" y="1371600"/>
            <a:ext cx="2846070" cy="548640"/>
          </a:xfrm>
          <a:prstGeom prst="chevron">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二  模型构建</a:t>
            </a:r>
          </a:p>
        </p:txBody>
      </p:sp>
      <p:sp>
        <p:nvSpPr>
          <p:cNvPr id="7" name="Chevron 6"/>
          <p:cNvSpPr/>
          <p:nvPr/>
        </p:nvSpPr>
        <p:spPr>
          <a:xfrm>
            <a:off x="6121908" y="1371600"/>
            <a:ext cx="2846070" cy="548640"/>
          </a:xfrm>
          <a:prstGeom prst="chevron">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三  场景落地</a:t>
            </a:r>
          </a:p>
        </p:txBody>
      </p:sp>
      <p:sp>
        <p:nvSpPr>
          <p:cNvPr id="8" name="Chevron 7"/>
          <p:cNvSpPr/>
          <p:nvPr/>
        </p:nvSpPr>
        <p:spPr>
          <a:xfrm>
            <a:off x="9022842" y="1371600"/>
            <a:ext cx="2846070" cy="548640"/>
          </a:xfrm>
          <a:prstGeom prst="chevron">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四  结果回流</a:t>
            </a:r>
          </a:p>
        </p:txBody>
      </p:sp>
      <p:sp>
        <p:nvSpPr>
          <p:cNvPr id="9" name="Rectangle 8"/>
          <p:cNvSpPr/>
          <p:nvPr/>
        </p:nvSpPr>
        <p:spPr>
          <a:xfrm>
            <a:off x="320040" y="2057400"/>
            <a:ext cx="2770632" cy="3017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29768" y="2148840"/>
            <a:ext cx="2560320" cy="283464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按工时、资质证书、作业授权认证、任务、缺陷、两票、周报指标、工作量（工分）、违章、安全活动、荣誉、培训（含学时）、派工记录、跨班组调配、值班、通知、操作流水建立十七张台账，统一人员与班组主键。</a:t>
            </a:r>
          </a:p>
        </p:txBody>
      </p:sp>
      <p:sp>
        <p:nvSpPr>
          <p:cNvPr id="11" name="Rectangle 10"/>
          <p:cNvSpPr/>
          <p:nvPr/>
        </p:nvSpPr>
        <p:spPr>
          <a:xfrm>
            <a:off x="3246120" y="2057400"/>
            <a:ext cx="2770632" cy="3017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355848" y="2148840"/>
            <a:ext cx="2560320" cy="283464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依据《技能类岗位胜任能力评价作业授权认证表》（7 个技能单元 42 个模块）、岗位说明书九项与通用素质模型五项、《星级班组评价标准》20 个维度、2026 年度业绩责任书三个维度、工分制考核办法建立指标与评分规则，每项明确来源、阈值、用途和确认人。</a:t>
            </a:r>
          </a:p>
        </p:txBody>
      </p:sp>
      <p:sp>
        <p:nvSpPr>
          <p:cNvPr id="13" name="Rectangle 12"/>
          <p:cNvSpPr/>
          <p:nvPr/>
        </p:nvSpPr>
        <p:spPr>
          <a:xfrm>
            <a:off x="6172200" y="2057400"/>
            <a:ext cx="2770632" cy="3017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81928" y="2148840"/>
            <a:ext cx="2560320" cy="283464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班组长端按“班组整体—人员情况—日常业务”故事线组织 12 页；管理者端覆盖考核指标、班组横向对比、团队画像总览、班长绩效、人员总览、结构对比、团队风险画像、员工关怀、分析参谋 9 页。</a:t>
            </a:r>
          </a:p>
        </p:txBody>
      </p:sp>
      <p:sp>
        <p:nvSpPr>
          <p:cNvPr id="15" name="Rectangle 14"/>
          <p:cNvSpPr/>
          <p:nvPr/>
        </p:nvSpPr>
        <p:spPr>
          <a:xfrm>
            <a:off x="9098280" y="2057400"/>
            <a:ext cx="2770632" cy="3017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208008" y="2148840"/>
            <a:ext cx="2560320" cy="283464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作业完工后工时、两票、缺陷、关键节点与实操量回写本人画像，考评与荣誉进入培养对象排序，帮扶活动改变星级得分；管理者的督办、提醒、调配、轮岗建议全部落到班组长的通知或确认，每一次确认写入操作流水。</a:t>
            </a:r>
          </a:p>
        </p:txBody>
      </p:sp>
      <p:sp>
        <p:nvSpPr>
          <p:cNvPr id="17" name="Rectangle 16"/>
          <p:cNvSpPr/>
          <p:nvPr/>
        </p:nvSpPr>
        <p:spPr>
          <a:xfrm>
            <a:off x="320040" y="5257800"/>
            <a:ext cx="1371600" cy="4114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交付形态</a:t>
            </a:r>
          </a:p>
        </p:txBody>
      </p:sp>
      <p:sp>
        <p:nvSpPr>
          <p:cNvPr id="18" name="TextBox 17"/>
          <p:cNvSpPr txBox="1"/>
          <p:nvPr/>
        </p:nvSpPr>
        <p:spPr>
          <a:xfrm>
            <a:off x="1783080" y="5212080"/>
            <a:ext cx="10058400" cy="502920"/>
          </a:xfrm>
          <a:prstGeom prst="rect">
            <a:avLst/>
          </a:prstGeom>
          <a:noFill/>
        </p:spPr>
        <p:txBody>
          <a:bodyPr wrap="square" anchor="ctr" lIns="45720" rIns="45720" tIns="27432" bIns="27432">
            <a:spAutoFit/>
          </a:bodyPr>
          <a:lstStyle/>
          <a:p>
            <a:pPr algn="l">
              <a:lnSpc>
                <a:spcPct val="115000"/>
              </a:lnSpc>
            </a:pPr>
            <a:r>
              <a:rPr sz="1150" b="0" lang="zh-CN" altLang="en-US">
                <a:solidFill>
                  <a:srgbClr val="262626"/>
                </a:solidFill>
                <a:latin typeface="微软雅黑"/>
                <a:ea typeface="微软雅黑"/>
                <a:cs typeface="微软雅黑"/>
              </a:rPr>
              <a:t>评审演示为单文件离线高保真原型（双击即开，不依赖外部网络）；正式部署依托公司电力人工智能创新平台与云景自助分析工具，数据经接口对接公司现有系统。</a:t>
            </a:r>
          </a:p>
        </p:txBody>
      </p:sp>
      <p:sp>
        <p:nvSpPr>
          <p:cNvPr id="19" name="TextBox 18"/>
          <p:cNvSpPr txBox="1"/>
          <p:nvPr/>
        </p:nvSpPr>
        <p:spPr>
          <a:xfrm>
            <a:off x="320040" y="5806440"/>
            <a:ext cx="11521440" cy="457200"/>
          </a:xfrm>
          <a:prstGeom prst="rect">
            <a:avLst/>
          </a:prstGeom>
          <a:noFill/>
        </p:spPr>
        <p:txBody>
          <a:bodyPr wrap="square" anchor="t" lIns="45720" rIns="45720" tIns="27432" bIns="27432">
            <a:spAutoFit/>
          </a:bodyPr>
          <a:lstStyle/>
          <a:p>
            <a:pPr algn="l"/>
            <a:r>
              <a:rPr sz="1100" b="0" lang="zh-CN" altLang="en-US">
                <a:solidFill>
                  <a:srgbClr val="595959"/>
                </a:solidFill>
                <a:latin typeface="微软雅黑"/>
                <a:ea typeface="微软雅黑"/>
                <a:cs typeface="微软雅黑"/>
              </a:rPr>
              <a:t>原则：系统给依据与建议，班组长和管理者作决定；页面只读状态层、按钮只写状态层，流程不预设。</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数据来源与数据结构</a:t>
            </a:r>
          </a:p>
        </p:txBody>
      </p:sp>
      <p:graphicFrame>
        <p:nvGraphicFramePr>
          <p:cNvPr id="5" name="Table 4"/>
          <p:cNvGraphicFramePr>
            <a:graphicFrameLocks noGrp="1"/>
          </p:cNvGraphicFramePr>
          <p:nvPr/>
        </p:nvGraphicFramePr>
        <p:xfrm>
          <a:off x="320040" y="1371600"/>
          <a:ext cx="6675120" cy="3675888"/>
        </p:xfrm>
        <a:graphic>
          <a:graphicData uri="http://schemas.openxmlformats.org/drawingml/2006/table">
            <a:tbl>
              <a:tblPr firstRow="0" bandRow="0">
                <a:tableStyleId>{2D5ABB26-0587-4C30-8999-92F81FD0307C}</a:tableStyleId>
              </a:tblPr>
              <a:tblGrid>
                <a:gridCol w="1828800"/>
                <a:gridCol w="2834640"/>
                <a:gridCol w="2011680"/>
              </a:tblGrid>
              <a:tr h="384048">
                <a:tc>
                  <a:txBody>
                    <a:bodyPr wrap="square"/>
                    <a:lstStyle/>
                    <a:p>
                      <a:pPr>
                        <a:lnSpc>
                          <a:spcPct val="108000"/>
                        </a:lnSpc>
                      </a:pPr>
                      <a:r>
                        <a:rPr sz="1100" b="1" lang="zh-CN" altLang="en-US">
                          <a:solidFill>
                            <a:srgbClr val="FFFFFF"/>
                          </a:solidFill>
                          <a:latin typeface="微软雅黑"/>
                          <a:ea typeface="微软雅黑"/>
                          <a:cs typeface="微软雅黑"/>
                        </a:rPr>
                        <a:t>来源系统 / 材料</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100" b="1" lang="zh-CN" altLang="en-US">
                          <a:solidFill>
                            <a:srgbClr val="FFFFFF"/>
                          </a:solidFill>
                          <a:latin typeface="微软雅黑"/>
                          <a:ea typeface="微软雅黑"/>
                          <a:cs typeface="微软雅黑"/>
                        </a:rPr>
                        <a:t>数据内容</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100" b="1" lang="zh-CN" altLang="en-US">
                          <a:solidFill>
                            <a:srgbClr val="FFFFFF"/>
                          </a:solidFill>
                          <a:latin typeface="微软雅黑"/>
                          <a:ea typeface="微软雅黑"/>
                          <a:cs typeface="微软雅黑"/>
                        </a:rPr>
                        <a:t>用于</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人资系统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人员、证书、作业授权、学时、考勤、绩效、工分制考核</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画像、授权认证、绩效系数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OMS</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缺陷与工单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任务池、核心业务管控、业务量趋势</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OCS</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终端在线状态</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核心业务管控指标</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电网管理平台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两票与作业计划、违章记录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审票、派工冲突、风险</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党建管理系统 / 荣誉台账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党建、集体与个人荣誉</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班组名片、星级评价、培养排序</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运行周报 / 年度业绩责任书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运行指标、考核指标目标值与评分标准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考核指标红黄绿、班长绩效</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6" name="Rectangle 5"/>
          <p:cNvSpPr/>
          <p:nvPr/>
        </p:nvSpPr>
        <p:spPr>
          <a:xfrm>
            <a:off x="7178040" y="1371600"/>
            <a:ext cx="46908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十七张班组台账</a:t>
            </a:r>
          </a:p>
        </p:txBody>
      </p:sp>
      <p:sp>
        <p:nvSpPr>
          <p:cNvPr id="7" name="Rectangle 6"/>
          <p:cNvSpPr/>
          <p:nvPr/>
        </p:nvSpPr>
        <p:spPr>
          <a:xfrm>
            <a:off x="7178040" y="1847088"/>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工时</a:t>
            </a:r>
          </a:p>
        </p:txBody>
      </p:sp>
      <p:sp>
        <p:nvSpPr>
          <p:cNvPr id="8" name="Rectangle 7"/>
          <p:cNvSpPr/>
          <p:nvPr/>
        </p:nvSpPr>
        <p:spPr>
          <a:xfrm>
            <a:off x="8366760" y="1847088"/>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资质证书</a:t>
            </a:r>
          </a:p>
        </p:txBody>
      </p:sp>
      <p:sp>
        <p:nvSpPr>
          <p:cNvPr id="9" name="Rectangle 8"/>
          <p:cNvSpPr/>
          <p:nvPr/>
        </p:nvSpPr>
        <p:spPr>
          <a:xfrm>
            <a:off x="9555480" y="1847088"/>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作业授权认证</a:t>
            </a:r>
          </a:p>
        </p:txBody>
      </p:sp>
      <p:sp>
        <p:nvSpPr>
          <p:cNvPr id="10" name="Rectangle 9"/>
          <p:cNvSpPr/>
          <p:nvPr/>
        </p:nvSpPr>
        <p:spPr>
          <a:xfrm>
            <a:off x="10744200" y="1847088"/>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任务</a:t>
            </a:r>
          </a:p>
        </p:txBody>
      </p:sp>
      <p:sp>
        <p:nvSpPr>
          <p:cNvPr id="11" name="Rectangle 10"/>
          <p:cNvSpPr/>
          <p:nvPr/>
        </p:nvSpPr>
        <p:spPr>
          <a:xfrm>
            <a:off x="7178040" y="2267712"/>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缺陷</a:t>
            </a:r>
          </a:p>
        </p:txBody>
      </p:sp>
      <p:sp>
        <p:nvSpPr>
          <p:cNvPr id="12" name="Rectangle 11"/>
          <p:cNvSpPr/>
          <p:nvPr/>
        </p:nvSpPr>
        <p:spPr>
          <a:xfrm>
            <a:off x="8366760" y="2267712"/>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两票</a:t>
            </a:r>
          </a:p>
        </p:txBody>
      </p:sp>
      <p:sp>
        <p:nvSpPr>
          <p:cNvPr id="13" name="Rectangle 12"/>
          <p:cNvSpPr/>
          <p:nvPr/>
        </p:nvSpPr>
        <p:spPr>
          <a:xfrm>
            <a:off x="9555480" y="2267712"/>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周报指标</a:t>
            </a:r>
          </a:p>
        </p:txBody>
      </p:sp>
      <p:sp>
        <p:nvSpPr>
          <p:cNvPr id="14" name="Rectangle 13"/>
          <p:cNvSpPr/>
          <p:nvPr/>
        </p:nvSpPr>
        <p:spPr>
          <a:xfrm>
            <a:off x="10744200" y="2267712"/>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工作量（工分）</a:t>
            </a:r>
          </a:p>
        </p:txBody>
      </p:sp>
      <p:sp>
        <p:nvSpPr>
          <p:cNvPr id="15" name="Rectangle 14"/>
          <p:cNvSpPr/>
          <p:nvPr/>
        </p:nvSpPr>
        <p:spPr>
          <a:xfrm>
            <a:off x="7178040" y="2688336"/>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违章</a:t>
            </a:r>
          </a:p>
        </p:txBody>
      </p:sp>
      <p:sp>
        <p:nvSpPr>
          <p:cNvPr id="16" name="Rectangle 15"/>
          <p:cNvSpPr/>
          <p:nvPr/>
        </p:nvSpPr>
        <p:spPr>
          <a:xfrm>
            <a:off x="8366760" y="2688336"/>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安全活动</a:t>
            </a:r>
          </a:p>
        </p:txBody>
      </p:sp>
      <p:sp>
        <p:nvSpPr>
          <p:cNvPr id="17" name="Rectangle 16"/>
          <p:cNvSpPr/>
          <p:nvPr/>
        </p:nvSpPr>
        <p:spPr>
          <a:xfrm>
            <a:off x="9555480" y="2688336"/>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荣誉</a:t>
            </a:r>
          </a:p>
        </p:txBody>
      </p:sp>
      <p:sp>
        <p:nvSpPr>
          <p:cNvPr id="18" name="Rectangle 17"/>
          <p:cNvSpPr/>
          <p:nvPr/>
        </p:nvSpPr>
        <p:spPr>
          <a:xfrm>
            <a:off x="10744200" y="2688336"/>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培训</a:t>
            </a:r>
          </a:p>
        </p:txBody>
      </p:sp>
      <p:sp>
        <p:nvSpPr>
          <p:cNvPr id="19" name="Rectangle 18"/>
          <p:cNvSpPr/>
          <p:nvPr/>
        </p:nvSpPr>
        <p:spPr>
          <a:xfrm>
            <a:off x="7178040" y="3108960"/>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派工记录</a:t>
            </a:r>
          </a:p>
        </p:txBody>
      </p:sp>
      <p:sp>
        <p:nvSpPr>
          <p:cNvPr id="20" name="Rectangle 19"/>
          <p:cNvSpPr/>
          <p:nvPr/>
        </p:nvSpPr>
        <p:spPr>
          <a:xfrm>
            <a:off x="8366760" y="3108960"/>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跨班组调配</a:t>
            </a:r>
          </a:p>
        </p:txBody>
      </p:sp>
      <p:sp>
        <p:nvSpPr>
          <p:cNvPr id="21" name="Rectangle 20"/>
          <p:cNvSpPr/>
          <p:nvPr/>
        </p:nvSpPr>
        <p:spPr>
          <a:xfrm>
            <a:off x="9555480" y="3108960"/>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值班</a:t>
            </a:r>
          </a:p>
        </p:txBody>
      </p:sp>
      <p:sp>
        <p:nvSpPr>
          <p:cNvPr id="22" name="Rectangle 21"/>
          <p:cNvSpPr/>
          <p:nvPr/>
        </p:nvSpPr>
        <p:spPr>
          <a:xfrm>
            <a:off x="10744200" y="3108960"/>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通知</a:t>
            </a:r>
          </a:p>
        </p:txBody>
      </p:sp>
      <p:sp>
        <p:nvSpPr>
          <p:cNvPr id="23" name="Rectangle 22"/>
          <p:cNvSpPr/>
          <p:nvPr/>
        </p:nvSpPr>
        <p:spPr>
          <a:xfrm>
            <a:off x="7178040" y="3529584"/>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操作流水</a:t>
            </a:r>
          </a:p>
        </p:txBody>
      </p:sp>
      <p:sp>
        <p:nvSpPr>
          <p:cNvPr id="24" name="Rectangle 23"/>
          <p:cNvSpPr/>
          <p:nvPr/>
        </p:nvSpPr>
        <p:spPr>
          <a:xfrm>
            <a:off x="7178040" y="4069080"/>
            <a:ext cx="46908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数据结构：三类主题</a:t>
            </a:r>
          </a:p>
        </p:txBody>
      </p:sp>
      <p:sp>
        <p:nvSpPr>
          <p:cNvPr id="25" name="Rectangle 24"/>
          <p:cNvSpPr/>
          <p:nvPr/>
        </p:nvSpPr>
        <p:spPr>
          <a:xfrm>
            <a:off x="7178040" y="4526280"/>
            <a:ext cx="1005840" cy="475488"/>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人员</a:t>
            </a:r>
          </a:p>
        </p:txBody>
      </p:sp>
      <p:sp>
        <p:nvSpPr>
          <p:cNvPr id="26" name="Rectangle 25"/>
          <p:cNvSpPr/>
          <p:nvPr/>
        </p:nvSpPr>
        <p:spPr>
          <a:xfrm>
            <a:off x="8183879" y="4526280"/>
            <a:ext cx="3685032" cy="475488"/>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75320" y="4526280"/>
            <a:ext cx="3520440" cy="475488"/>
          </a:xfrm>
          <a:prstGeom prst="rect">
            <a:avLst/>
          </a:prstGeom>
          <a:noFill/>
        </p:spPr>
        <p:txBody>
          <a:bodyPr wrap="square" anchor="ctr"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证书、作业授权、工时、工作量、作业、两票、绩效、荣誉</a:t>
            </a:r>
          </a:p>
        </p:txBody>
      </p:sp>
      <p:sp>
        <p:nvSpPr>
          <p:cNvPr id="28" name="Rectangle 27"/>
          <p:cNvSpPr/>
          <p:nvPr/>
        </p:nvSpPr>
        <p:spPr>
          <a:xfrm>
            <a:off x="7178040" y="5093208"/>
            <a:ext cx="1005840" cy="475488"/>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班组</a:t>
            </a:r>
          </a:p>
        </p:txBody>
      </p:sp>
      <p:sp>
        <p:nvSpPr>
          <p:cNvPr id="29" name="Rectangle 28"/>
          <p:cNvSpPr/>
          <p:nvPr/>
        </p:nvSpPr>
        <p:spPr>
          <a:xfrm>
            <a:off x="8183879" y="5093208"/>
            <a:ext cx="3685032" cy="475488"/>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75320" y="5093208"/>
            <a:ext cx="3520440" cy="475488"/>
          </a:xfrm>
          <a:prstGeom prst="rect">
            <a:avLst/>
          </a:prstGeom>
          <a:noFill/>
        </p:spPr>
        <p:txBody>
          <a:bodyPr wrap="square" anchor="ctr"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核心指标、星级评价、考核指标、风险</a:t>
            </a:r>
          </a:p>
        </p:txBody>
      </p:sp>
      <p:sp>
        <p:nvSpPr>
          <p:cNvPr id="31" name="Rectangle 30"/>
          <p:cNvSpPr/>
          <p:nvPr/>
        </p:nvSpPr>
        <p:spPr>
          <a:xfrm>
            <a:off x="7178040" y="5660136"/>
            <a:ext cx="1005840" cy="475488"/>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事件流水</a:t>
            </a:r>
          </a:p>
        </p:txBody>
      </p:sp>
      <p:sp>
        <p:nvSpPr>
          <p:cNvPr id="32" name="Rectangle 31"/>
          <p:cNvSpPr/>
          <p:nvPr/>
        </p:nvSpPr>
        <p:spPr>
          <a:xfrm>
            <a:off x="8183879" y="5660136"/>
            <a:ext cx="3685032" cy="475488"/>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275320" y="5660136"/>
            <a:ext cx="3520440" cy="475488"/>
          </a:xfrm>
          <a:prstGeom prst="rect">
            <a:avLst/>
          </a:prstGeom>
          <a:noFill/>
        </p:spPr>
        <p:txBody>
          <a:bodyPr wrap="square" anchor="ctr"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派工 → 审票 → 开工 → 回传 → 完工 → 验收、授权确认、调配确认</a:t>
            </a:r>
          </a:p>
        </p:txBody>
      </p:sp>
      <p:sp>
        <p:nvSpPr>
          <p:cNvPr id="34" name="TextBox 33"/>
          <p:cNvSpPr txBox="1"/>
          <p:nvPr/>
        </p:nvSpPr>
        <p:spPr>
          <a:xfrm>
            <a:off x="320040" y="5897880"/>
            <a:ext cx="11521440" cy="411480"/>
          </a:xfrm>
          <a:prstGeom prst="rect">
            <a:avLst/>
          </a:prstGeom>
          <a:noFill/>
        </p:spPr>
        <p:txBody>
          <a:bodyPr wrap="square" anchor="t" lIns="45720" rIns="45720" tIns="27432" bIns="27432">
            <a:spAutoFit/>
          </a:bodyPr>
          <a:lstStyle/>
          <a:p>
            <a:pPr algn="l"/>
            <a:r>
              <a:rPr sz="1100" b="0" lang="zh-CN" altLang="en-US">
                <a:solidFill>
                  <a:srgbClr val="595959"/>
                </a:solidFill>
                <a:latin typeface="微软雅黑"/>
                <a:ea typeface="微软雅黑"/>
                <a:cs typeface="微软雅黑"/>
              </a:rPr>
              <a:t>数据取自公司现有系统，不增加班组数据采集负担；画像、看板、文稿中的每个数字均可点开回溯至台账原始行。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技术架构：依托公司自主平台建设</a:t>
            </a:r>
          </a:p>
        </p:txBody>
      </p:sp>
      <p:pic>
        <p:nvPicPr>
          <p:cNvPr id="5" name="Picture 4" descr="高效班组管理助手_技术与数据架构.png"/>
          <p:cNvPicPr>
            <a:picLocks noChangeAspect="1"/>
          </p:cNvPicPr>
          <p:nvPr/>
        </p:nvPicPr>
        <p:blipFill>
          <a:blip r:embed="rId3"/>
          <a:stretch>
            <a:fillRect/>
          </a:stretch>
        </p:blipFill>
        <p:spPr>
          <a:xfrm>
            <a:off x="320040" y="1371600"/>
            <a:ext cx="8503920" cy="4639951"/>
          </a:xfrm>
          <a:prstGeom prst="rect">
            <a:avLst/>
          </a:prstGeom>
          <a:ln w="9525">
            <a:solidFill>
              <a:srgbClr val="BFBFBF"/>
            </a:solidFill>
          </a:ln>
        </p:spPr>
      </p:pic>
      <p:sp>
        <p:nvSpPr>
          <p:cNvPr id="6" name="Rectangle 5"/>
          <p:cNvSpPr/>
          <p:nvPr/>
        </p:nvSpPr>
        <p:spPr>
          <a:xfrm>
            <a:off x="9006840" y="137160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电力人工智能创新平台</a:t>
            </a:r>
          </a:p>
        </p:txBody>
      </p:sp>
      <p:sp>
        <p:nvSpPr>
          <p:cNvPr id="7" name="Rectangle 6"/>
          <p:cNvSpPr/>
          <p:nvPr/>
        </p:nvSpPr>
        <p:spPr>
          <a:xfrm>
            <a:off x="9006840" y="1700784"/>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070848" y="1719072"/>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大瓦特大模型：对话理解、文稿逐段生成、知识问答、诊断归因、经验整理</a:t>
            </a:r>
          </a:p>
        </p:txBody>
      </p:sp>
      <p:sp>
        <p:nvSpPr>
          <p:cNvPr id="9" name="Rectangle 8"/>
          <p:cNvSpPr/>
          <p:nvPr/>
        </p:nvSpPr>
        <p:spPr>
          <a:xfrm>
            <a:off x="9006840" y="233172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云景自助分析工具</a:t>
            </a:r>
          </a:p>
        </p:txBody>
      </p:sp>
      <p:sp>
        <p:nvSpPr>
          <p:cNvPr id="10" name="Rectangle 9"/>
          <p:cNvSpPr/>
          <p:nvPr/>
        </p:nvSpPr>
        <p:spPr>
          <a:xfrm>
            <a:off x="9006840" y="2660903"/>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070848" y="2679191"/>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班组画像、指标看板与多维分析图表</a:t>
            </a:r>
          </a:p>
        </p:txBody>
      </p:sp>
      <p:sp>
        <p:nvSpPr>
          <p:cNvPr id="12" name="Rectangle 11"/>
          <p:cNvSpPr/>
          <p:nvPr/>
        </p:nvSpPr>
        <p:spPr>
          <a:xfrm>
            <a:off x="9006840" y="329184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业务规则引擎</a:t>
            </a:r>
          </a:p>
        </p:txBody>
      </p:sp>
      <p:sp>
        <p:nvSpPr>
          <p:cNvPr id="13" name="Rectangle 12"/>
          <p:cNvSpPr/>
          <p:nvPr/>
        </p:nvSpPr>
        <p:spPr>
          <a:xfrm>
            <a:off x="9006840" y="3621024"/>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070848" y="3639312"/>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派工校验、断层判定、红黄绿预警、绩效系数推导、班长绩效计分</a:t>
            </a:r>
          </a:p>
        </p:txBody>
      </p:sp>
      <p:sp>
        <p:nvSpPr>
          <p:cNvPr id="15" name="Rectangle 14"/>
          <p:cNvSpPr/>
          <p:nvPr/>
        </p:nvSpPr>
        <p:spPr>
          <a:xfrm>
            <a:off x="9006840" y="425196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知识库</a:t>
            </a:r>
          </a:p>
        </p:txBody>
      </p:sp>
      <p:sp>
        <p:nvSpPr>
          <p:cNvPr id="16" name="Rectangle 15"/>
          <p:cNvSpPr/>
          <p:nvPr/>
        </p:nvSpPr>
        <p:spPr>
          <a:xfrm>
            <a:off x="9006840" y="4581144"/>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070848" y="4599432"/>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制度政策、生产技术、行政办公三类条目及班组案例与骨干经验，问答标注出处</a:t>
            </a:r>
          </a:p>
        </p:txBody>
      </p:sp>
      <p:sp>
        <p:nvSpPr>
          <p:cNvPr id="18" name="Rectangle 17"/>
          <p:cNvSpPr/>
          <p:nvPr/>
        </p:nvSpPr>
        <p:spPr>
          <a:xfrm>
            <a:off x="9006840" y="521208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安全与部署</a:t>
            </a:r>
          </a:p>
        </p:txBody>
      </p:sp>
      <p:sp>
        <p:nvSpPr>
          <p:cNvPr id="19" name="Rectangle 18"/>
          <p:cNvSpPr/>
          <p:nvPr/>
        </p:nvSpPr>
        <p:spPr>
          <a:xfrm>
            <a:off x="9006840" y="5541264"/>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070848" y="5559552"/>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公司内网部署、数据不出域；按角色分级授权、人员信息最小必要展示；全部操作记入流水</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解决方案的主要功能 · 班组长端</a:t>
            </a:r>
          </a:p>
        </p:txBody>
      </p:sp>
      <p:sp>
        <p:nvSpPr>
          <p:cNvPr id="5" name="Rectangle 4"/>
          <p:cNvSpPr/>
          <p:nvPr/>
        </p:nvSpPr>
        <p:spPr>
          <a:xfrm>
            <a:off x="320040" y="1371600"/>
            <a:ext cx="3931920" cy="82296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11480" y="1463040"/>
            <a:ext cx="1005840" cy="36576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班组整体</a:t>
            </a:r>
          </a:p>
        </p:txBody>
      </p:sp>
      <p:sp>
        <p:nvSpPr>
          <p:cNvPr id="7" name="Rectangle 6"/>
          <p:cNvSpPr/>
          <p:nvPr/>
        </p:nvSpPr>
        <p:spPr>
          <a:xfrm>
            <a:off x="1554480" y="1463040"/>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班组画像</a:t>
            </a:r>
          </a:p>
        </p:txBody>
      </p:sp>
      <p:sp>
        <p:nvSpPr>
          <p:cNvPr id="8" name="TextBox 7"/>
          <p:cNvSpPr txBox="1"/>
          <p:nvPr/>
        </p:nvSpPr>
        <p:spPr>
          <a:xfrm>
            <a:off x="1554480" y="1847088"/>
            <a:ext cx="2651760" cy="320040"/>
          </a:xfrm>
          <a:prstGeom prst="rect">
            <a:avLst/>
          </a:prstGeom>
          <a:noFill/>
        </p:spPr>
        <p:txBody>
          <a:bodyPr wrap="square" anchor="t" lIns="45720" rIns="45720" tIns="27432" bIns="27432">
            <a:spAutoFit/>
          </a:bodyPr>
          <a:lstStyle/>
          <a:p>
            <a:pPr algn="l"/>
            <a:r>
              <a:rPr sz="950" b="0" lang="zh-CN" altLang="en-US">
                <a:solidFill>
                  <a:srgbClr val="595959"/>
                </a:solidFill>
                <a:latin typeface="微软雅黑"/>
                <a:ea typeface="微软雅黑"/>
                <a:cs typeface="微软雅黑"/>
              </a:rPr>
              <a:t>名片荣誉 · 核心 KPI · 核心业务管控 · 星级规划</a:t>
            </a:r>
          </a:p>
        </p:txBody>
      </p:sp>
      <p:sp>
        <p:nvSpPr>
          <p:cNvPr id="9" name="Rectangle 8"/>
          <p:cNvSpPr/>
          <p:nvPr/>
        </p:nvSpPr>
        <p:spPr>
          <a:xfrm>
            <a:off x="320040" y="2331720"/>
            <a:ext cx="3931920" cy="1691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11480" y="2423160"/>
            <a:ext cx="1005840" cy="36576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人员情况</a:t>
            </a:r>
          </a:p>
        </p:txBody>
      </p:sp>
      <p:sp>
        <p:nvSpPr>
          <p:cNvPr id="11" name="Rectangle 10"/>
          <p:cNvSpPr/>
          <p:nvPr/>
        </p:nvSpPr>
        <p:spPr>
          <a:xfrm>
            <a:off x="1554480" y="2423160"/>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班员画像</a:t>
            </a:r>
          </a:p>
        </p:txBody>
      </p:sp>
      <p:sp>
        <p:nvSpPr>
          <p:cNvPr id="12" name="Rectangle 11"/>
          <p:cNvSpPr/>
          <p:nvPr/>
        </p:nvSpPr>
        <p:spPr>
          <a:xfrm>
            <a:off x="2880360" y="2423160"/>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授权认证</a:t>
            </a:r>
          </a:p>
        </p:txBody>
      </p:sp>
      <p:sp>
        <p:nvSpPr>
          <p:cNvPr id="13" name="Rectangle 12"/>
          <p:cNvSpPr/>
          <p:nvPr/>
        </p:nvSpPr>
        <p:spPr>
          <a:xfrm>
            <a:off x="1554480" y="2944368"/>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培养与梯队</a:t>
            </a:r>
          </a:p>
        </p:txBody>
      </p:sp>
      <p:sp>
        <p:nvSpPr>
          <p:cNvPr id="14" name="Rectangle 13"/>
          <p:cNvSpPr/>
          <p:nvPr/>
        </p:nvSpPr>
        <p:spPr>
          <a:xfrm>
            <a:off x="2880360" y="2944368"/>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绩效与激励</a:t>
            </a:r>
          </a:p>
        </p:txBody>
      </p:sp>
      <p:sp>
        <p:nvSpPr>
          <p:cNvPr id="15" name="Rectangle 14"/>
          <p:cNvSpPr/>
          <p:nvPr/>
        </p:nvSpPr>
        <p:spPr>
          <a:xfrm>
            <a:off x="1554480" y="3465576"/>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关怀与文化</a:t>
            </a:r>
          </a:p>
        </p:txBody>
      </p:sp>
      <p:sp>
        <p:nvSpPr>
          <p:cNvPr id="16" name="Rectangle 15"/>
          <p:cNvSpPr/>
          <p:nvPr/>
        </p:nvSpPr>
        <p:spPr>
          <a:xfrm>
            <a:off x="2880360" y="3465576"/>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分析参谋</a:t>
            </a:r>
          </a:p>
        </p:txBody>
      </p:sp>
      <p:sp>
        <p:nvSpPr>
          <p:cNvPr id="17" name="Rectangle 16"/>
          <p:cNvSpPr/>
          <p:nvPr/>
        </p:nvSpPr>
        <p:spPr>
          <a:xfrm>
            <a:off x="320040" y="4160520"/>
            <a:ext cx="3931920" cy="1691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11480" y="4251959"/>
            <a:ext cx="1005840" cy="36576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日常业务</a:t>
            </a:r>
          </a:p>
        </p:txBody>
      </p:sp>
      <p:sp>
        <p:nvSpPr>
          <p:cNvPr id="19" name="Rectangle 18"/>
          <p:cNvSpPr/>
          <p:nvPr/>
        </p:nvSpPr>
        <p:spPr>
          <a:xfrm>
            <a:off x="1554480" y="4251959"/>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今日工作台</a:t>
            </a:r>
          </a:p>
        </p:txBody>
      </p:sp>
      <p:sp>
        <p:nvSpPr>
          <p:cNvPr id="20" name="Rectangle 19"/>
          <p:cNvSpPr/>
          <p:nvPr/>
        </p:nvSpPr>
        <p:spPr>
          <a:xfrm>
            <a:off x="2880360" y="4251959"/>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用工安排</a:t>
            </a:r>
          </a:p>
        </p:txBody>
      </p:sp>
      <p:sp>
        <p:nvSpPr>
          <p:cNvPr id="21" name="Rectangle 20"/>
          <p:cNvSpPr/>
          <p:nvPr/>
        </p:nvSpPr>
        <p:spPr>
          <a:xfrm>
            <a:off x="1554480" y="4773168"/>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知识库</a:t>
            </a:r>
          </a:p>
        </p:txBody>
      </p:sp>
      <p:sp>
        <p:nvSpPr>
          <p:cNvPr id="22" name="Rectangle 21"/>
          <p:cNvSpPr/>
          <p:nvPr/>
        </p:nvSpPr>
        <p:spPr>
          <a:xfrm>
            <a:off x="2880360" y="4773168"/>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台账中心</a:t>
            </a:r>
          </a:p>
        </p:txBody>
      </p:sp>
      <p:sp>
        <p:nvSpPr>
          <p:cNvPr id="23" name="Rectangle 22"/>
          <p:cNvSpPr/>
          <p:nvPr/>
        </p:nvSpPr>
        <p:spPr>
          <a:xfrm>
            <a:off x="1554480" y="5294375"/>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问小瓦特</a:t>
            </a:r>
          </a:p>
        </p:txBody>
      </p:sp>
      <p:sp>
        <p:nvSpPr>
          <p:cNvPr id="24" name="TextBox 23"/>
          <p:cNvSpPr txBox="1"/>
          <p:nvPr/>
        </p:nvSpPr>
        <p:spPr>
          <a:xfrm>
            <a:off x="320040" y="5943600"/>
            <a:ext cx="3931920" cy="365760"/>
          </a:xfrm>
          <a:prstGeom prst="rect">
            <a:avLst/>
          </a:prstGeom>
          <a:noFill/>
        </p:spPr>
        <p:txBody>
          <a:bodyPr wrap="square" anchor="t" lIns="45720" rIns="45720" tIns="27432" bIns="27432">
            <a:spAutoFit/>
          </a:bodyPr>
          <a:lstStyle/>
          <a:p>
            <a:pPr algn="l">
              <a:lnSpc>
                <a:spcPct val="110000"/>
              </a:lnSpc>
            </a:pPr>
            <a:r>
              <a:rPr sz="1000" b="0" lang="zh-CN" altLang="en-US">
                <a:solidFill>
                  <a:srgbClr val="595959"/>
                </a:solidFill>
                <a:latin typeface="微软雅黑"/>
                <a:ea typeface="微软雅黑"/>
                <a:cs typeface="微软雅黑"/>
              </a:rPr>
              <a:t>每页底部有颜色说明；右侧小瓦特面板常驻；顶部指令栏可直接输入要办的事。</a:t>
            </a:r>
          </a:p>
        </p:txBody>
      </p:sp>
      <p:pic>
        <p:nvPicPr>
          <p:cNvPr id="25" name="Picture 24" descr="sb_team.png"/>
          <p:cNvPicPr>
            <a:picLocks noChangeAspect="1"/>
          </p:cNvPicPr>
          <p:nvPr/>
        </p:nvPicPr>
        <p:blipFill>
          <a:blip r:embed="rId3"/>
          <a:stretch>
            <a:fillRect/>
          </a:stretch>
        </p:blipFill>
        <p:spPr>
          <a:xfrm>
            <a:off x="4434840" y="1371600"/>
            <a:ext cx="7434072" cy="4646295"/>
          </a:xfrm>
          <a:prstGeom prst="rect">
            <a:avLst/>
          </a:prstGeom>
          <a:ln w="9525">
            <a:solidFill>
              <a:srgbClr val="BFBFBF"/>
            </a:solidFill>
          </a:ln>
        </p:spPr>
      </p:pic>
      <p:sp>
        <p:nvSpPr>
          <p:cNvPr id="26" name="TextBox 25"/>
          <p:cNvSpPr txBox="1"/>
          <p:nvPr/>
        </p:nvSpPr>
        <p:spPr>
          <a:xfrm>
            <a:off x="4434840" y="6091047"/>
            <a:ext cx="7434072" cy="548640"/>
          </a:xfrm>
          <a:prstGeom prst="rect">
            <a:avLst/>
          </a:prstGeom>
          <a:noFill/>
        </p:spPr>
        <p:txBody>
          <a:bodyPr wrap="square" anchor="t" lIns="45720" rIns="45720" tIns="27432" bIns="27432">
            <a:spAutoFit/>
          </a:bodyPr>
          <a:lstStyle/>
          <a:p>
            <a:pPr algn="l">
              <a:lnSpc>
                <a:spcPct val="110000"/>
              </a:lnSpc>
            </a:pPr>
            <a:r>
              <a:rPr sz="1050" b="0" lang="zh-CN" altLang="en-US">
                <a:solidFill>
                  <a:srgbClr val="595959"/>
                </a:solidFill>
                <a:latin typeface="微软雅黑"/>
                <a:ea typeface="微软雅黑"/>
                <a:cs typeface="微软雅黑"/>
              </a:rPr>
              <a:t>班组画像：名片荣誉 · 核心 KPI（班长责任书四项）· 核心业务管控 · 星级评价与班组发展规划 · 20 维度表 · 提升措施</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解决方案的主要功能 · 派工推荐与作业授权认证</a:t>
            </a:r>
          </a:p>
        </p:txBody>
      </p:sp>
      <p:pic>
        <p:nvPicPr>
          <p:cNvPr id="5" name="Picture 4" descr="sb_home.png"/>
          <p:cNvPicPr>
            <a:picLocks noChangeAspect="1"/>
          </p:cNvPicPr>
          <p:nvPr/>
        </p:nvPicPr>
        <p:blipFill>
          <a:blip r:embed="rId3"/>
          <a:stretch>
            <a:fillRect/>
          </a:stretch>
        </p:blipFill>
        <p:spPr>
          <a:xfrm>
            <a:off x="320040" y="1371600"/>
            <a:ext cx="5669280" cy="3543300"/>
          </a:xfrm>
          <a:prstGeom prst="rect">
            <a:avLst/>
          </a:prstGeom>
          <a:ln w="9525">
            <a:solidFill>
              <a:srgbClr val="BFBFBF"/>
            </a:solidFill>
          </a:ln>
        </p:spPr>
      </p:pic>
      <p:sp>
        <p:nvSpPr>
          <p:cNvPr id="6" name="Rectangle 5"/>
          <p:cNvSpPr/>
          <p:nvPr/>
        </p:nvSpPr>
        <p:spPr>
          <a:xfrm>
            <a:off x="320040"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今日工作台 · 派工推荐</a:t>
            </a:r>
          </a:p>
        </p:txBody>
      </p:sp>
      <p:sp>
        <p:nvSpPr>
          <p:cNvPr id="7" name="Rectangle 6"/>
          <p:cNvSpPr/>
          <p:nvPr/>
        </p:nvSpPr>
        <p:spPr>
          <a:xfrm>
            <a:off x="320040"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11479"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四条规则逐人判定：持有作业所需证书；对应 ★ 模块已授权；本周外勤 ≤ 24 小时（班组约定）；当日无冲突作业。班长不列入、休假不派、学员随队。展开后逐人显示推荐 / 随队 / 排除及理由，理由随派工单存档，工作票与班前会材料随单起草。</a:t>
            </a:r>
          </a:p>
        </p:txBody>
      </p:sp>
      <p:pic>
        <p:nvPicPr>
          <p:cNvPr id="9" name="Picture 8" descr="sb_auth.png"/>
          <p:cNvPicPr>
            <a:picLocks noChangeAspect="1"/>
          </p:cNvPicPr>
          <p:nvPr/>
        </p:nvPicPr>
        <p:blipFill>
          <a:blip r:embed="rId4"/>
          <a:stretch>
            <a:fillRect/>
          </a:stretch>
        </p:blipFill>
        <p:spPr>
          <a:xfrm>
            <a:off x="6190488" y="1371600"/>
            <a:ext cx="5669280" cy="3543300"/>
          </a:xfrm>
          <a:prstGeom prst="rect">
            <a:avLst/>
          </a:prstGeom>
          <a:ln w="9525">
            <a:solidFill>
              <a:srgbClr val="BFBFBF"/>
            </a:solidFill>
          </a:ln>
        </p:spPr>
      </p:pic>
      <p:sp>
        <p:nvSpPr>
          <p:cNvPr id="10" name="Rectangle 9"/>
          <p:cNvSpPr/>
          <p:nvPr/>
        </p:nvSpPr>
        <p:spPr>
          <a:xfrm>
            <a:off x="6190488"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授权认证 · 班员画像</a:t>
            </a:r>
          </a:p>
        </p:txBody>
      </p:sp>
      <p:sp>
        <p:nvSpPr>
          <p:cNvPr id="11" name="Rectangle 10"/>
          <p:cNvSpPr/>
          <p:nvPr/>
        </p:nvSpPr>
        <p:spPr>
          <a:xfrm>
            <a:off x="6190488"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81927"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《作业授权认证表》7 个技能单元 42 个模块逐人逐格确认授权、培训中、撤销，缺证不能确认；核心业务自主实施能力 = 已授权 ★ 模块 ÷ 本岗级应授权 ★ 模块；★ 模块断层风险（已授权 ≤ 2 人）一键排带教取证；确认本期授权报主管。</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解决方案的主要功能 · 管理者端</a:t>
            </a:r>
          </a:p>
        </p:txBody>
      </p:sp>
      <p:pic>
        <p:nvPicPr>
          <p:cNvPr id="5" name="Picture 4" descr="sb_goals.png"/>
          <p:cNvPicPr>
            <a:picLocks noChangeAspect="1"/>
          </p:cNvPicPr>
          <p:nvPr/>
        </p:nvPicPr>
        <p:blipFill>
          <a:blip r:embed="rId3"/>
          <a:stretch>
            <a:fillRect/>
          </a:stretch>
        </p:blipFill>
        <p:spPr>
          <a:xfrm>
            <a:off x="320040" y="1371600"/>
            <a:ext cx="5669280" cy="3543300"/>
          </a:xfrm>
          <a:prstGeom prst="rect">
            <a:avLst/>
          </a:prstGeom>
          <a:ln w="9525">
            <a:solidFill>
              <a:srgbClr val="BFBFBF"/>
            </a:solidFill>
          </a:ln>
        </p:spPr>
      </p:pic>
      <p:sp>
        <p:nvSpPr>
          <p:cNvPr id="6" name="Rectangle 5"/>
          <p:cNvSpPr/>
          <p:nvPr/>
        </p:nvSpPr>
        <p:spPr>
          <a:xfrm>
            <a:off x="320040"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考核指标 · 督办</a:t>
            </a:r>
          </a:p>
        </p:txBody>
      </p:sp>
      <p:sp>
        <p:nvSpPr>
          <p:cNvPr id="7" name="Rectangle 6"/>
          <p:cNvSpPr/>
          <p:nvPr/>
        </p:nvSpPr>
        <p:spPr>
          <a:xfrm>
            <a:off x="320040"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11479"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按 2026 年度业绩责任书分分管副总 / 主管 / 班长三个维度，权重、基础值、满分值、评分标准照录；预计得分实时计算，红黄绿按满分值与基础值判定；点行看评分标准，下钻班组，督办直达责任班长。</a:t>
            </a:r>
          </a:p>
        </p:txBody>
      </p:sp>
      <p:pic>
        <p:nvPicPr>
          <p:cNvPr id="9" name="Picture 8" descr="sb_lperf.png"/>
          <p:cNvPicPr>
            <a:picLocks noChangeAspect="1"/>
          </p:cNvPicPr>
          <p:nvPr/>
        </p:nvPicPr>
        <p:blipFill>
          <a:blip r:embed="rId4"/>
          <a:stretch>
            <a:fillRect/>
          </a:stretch>
        </p:blipFill>
        <p:spPr>
          <a:xfrm>
            <a:off x="6190488" y="1371600"/>
            <a:ext cx="5669280" cy="3543300"/>
          </a:xfrm>
          <a:prstGeom prst="rect">
            <a:avLst/>
          </a:prstGeom>
          <a:ln w="9525">
            <a:solidFill>
              <a:srgbClr val="BFBFBF"/>
            </a:solidFill>
          </a:ln>
        </p:spPr>
      </p:pic>
      <p:sp>
        <p:nvSpPr>
          <p:cNvPr id="10" name="Rectangle 9"/>
          <p:cNvSpPr/>
          <p:nvPr/>
        </p:nvSpPr>
        <p:spPr>
          <a:xfrm>
            <a:off x="6190488"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班长绩效 · 跨班组调配</a:t>
            </a:r>
          </a:p>
        </p:txBody>
      </p:sp>
      <p:sp>
        <p:nvSpPr>
          <p:cNvPr id="11" name="Rectangle 10"/>
          <p:cNvSpPr/>
          <p:nvPr/>
        </p:nvSpPr>
        <p:spPr>
          <a:xfrm>
            <a:off x="6190488"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81927"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考核指标 50% + 重点任务 10% + 综合评价 40% + 加扣分 + 红线，台账自动取数初评，分档不排名次，确认 → 下发 → 面谈 → 评价意见 → 考评表。跨班组调配：横向对比 → 影响测算 → 发起 → 双方班长确认 → 返岗评价。</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成果的原创性、创新点与应用场景创新突破点</a:t>
            </a:r>
          </a:p>
        </p:txBody>
      </p:sp>
      <p:sp>
        <p:nvSpPr>
          <p:cNvPr id="5" name="Rectangle 4"/>
          <p:cNvSpPr/>
          <p:nvPr/>
        </p:nvSpPr>
        <p:spPr>
          <a:xfrm>
            <a:off x="320040" y="1371600"/>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457200" y="1581912"/>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1</a:t>
            </a:r>
          </a:p>
        </p:txBody>
      </p:sp>
      <p:sp>
        <p:nvSpPr>
          <p:cNvPr id="7" name="TextBox 6"/>
          <p:cNvSpPr txBox="1"/>
          <p:nvPr/>
        </p:nvSpPr>
        <p:spPr>
          <a:xfrm>
            <a:off x="1051560" y="1426464"/>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经验判断规则化、可解释</a:t>
            </a:r>
          </a:p>
        </p:txBody>
      </p:sp>
      <p:sp>
        <p:nvSpPr>
          <p:cNvPr id="8" name="TextBox 7"/>
          <p:cNvSpPr txBox="1"/>
          <p:nvPr/>
        </p:nvSpPr>
        <p:spPr>
          <a:xfrm>
            <a:off x="1051560" y="1719072"/>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派工四项考量转化为逐人判定规则，班组约定一并纳入，推荐与排除理由随单存档</a:t>
            </a:r>
          </a:p>
        </p:txBody>
      </p:sp>
      <p:sp>
        <p:nvSpPr>
          <p:cNvPr id="9" name="Rectangle 8"/>
          <p:cNvSpPr/>
          <p:nvPr/>
        </p:nvSpPr>
        <p:spPr>
          <a:xfrm>
            <a:off x="320040" y="2340864"/>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57200" y="2551176"/>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2</a:t>
            </a:r>
          </a:p>
        </p:txBody>
      </p:sp>
      <p:sp>
        <p:nvSpPr>
          <p:cNvPr id="11" name="TextBox 10"/>
          <p:cNvSpPr txBox="1"/>
          <p:nvPr/>
        </p:nvSpPr>
        <p:spPr>
          <a:xfrm>
            <a:off x="1051560" y="2395728"/>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六环闭环打通培养、使用与激励</a:t>
            </a:r>
          </a:p>
        </p:txBody>
      </p:sp>
      <p:sp>
        <p:nvSpPr>
          <p:cNvPr id="12" name="TextBox 11"/>
          <p:cNvSpPr txBox="1"/>
          <p:nvPr/>
        </p:nvSpPr>
        <p:spPr>
          <a:xfrm>
            <a:off x="1051560" y="2688336"/>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完工实操量回写授权与画像，画像同时驱动派工推荐、培养排序、绩效系数，一次作业的数据三处复用</a:t>
            </a:r>
          </a:p>
        </p:txBody>
      </p:sp>
      <p:sp>
        <p:nvSpPr>
          <p:cNvPr id="13" name="Rectangle 12"/>
          <p:cNvSpPr/>
          <p:nvPr/>
        </p:nvSpPr>
        <p:spPr>
          <a:xfrm>
            <a:off x="320040" y="3310128"/>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57200" y="3520440"/>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3</a:t>
            </a:r>
          </a:p>
        </p:txBody>
      </p:sp>
      <p:sp>
        <p:nvSpPr>
          <p:cNvPr id="15" name="TextBox 14"/>
          <p:cNvSpPr txBox="1"/>
          <p:nvPr/>
        </p:nvSpPr>
        <p:spPr>
          <a:xfrm>
            <a:off x="1051560" y="3364992"/>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星级标准与授权认证数字化</a:t>
            </a:r>
          </a:p>
        </p:txBody>
      </p:sp>
      <p:sp>
        <p:nvSpPr>
          <p:cNvPr id="16" name="TextBox 15"/>
          <p:cNvSpPr txBox="1"/>
          <p:nvPr/>
        </p:nvSpPr>
        <p:spPr>
          <a:xfrm>
            <a:off x="1051560" y="3657600"/>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20 个评价维度台账驱动实时初评，差距直接生成提升方向；42 个模块逐人逐格可确认，断层风险随确认实时变化</a:t>
            </a:r>
          </a:p>
        </p:txBody>
      </p:sp>
      <p:sp>
        <p:nvSpPr>
          <p:cNvPr id="17" name="Rectangle 16"/>
          <p:cNvSpPr/>
          <p:nvPr/>
        </p:nvSpPr>
        <p:spPr>
          <a:xfrm>
            <a:off x="320040" y="4279392"/>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457200" y="4489704"/>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4</a:t>
            </a:r>
          </a:p>
        </p:txBody>
      </p:sp>
      <p:sp>
        <p:nvSpPr>
          <p:cNvPr id="19" name="TextBox 18"/>
          <p:cNvSpPr txBox="1"/>
          <p:nvPr/>
        </p:nvSpPr>
        <p:spPr>
          <a:xfrm>
            <a:off x="1051560" y="4334255"/>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班组与部门两级同源</a:t>
            </a:r>
          </a:p>
        </p:txBody>
      </p:sp>
      <p:sp>
        <p:nvSpPr>
          <p:cNvPr id="20" name="TextBox 19"/>
          <p:cNvSpPr txBox="1"/>
          <p:nvPr/>
        </p:nvSpPr>
        <p:spPr>
          <a:xfrm>
            <a:off x="1051560" y="4626864"/>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共用数据底座，班组长每一步即时反映到管理视图；考核指标与班长绩效照录责任书；跨班组调配五步闭环</a:t>
            </a:r>
          </a:p>
        </p:txBody>
      </p:sp>
      <p:sp>
        <p:nvSpPr>
          <p:cNvPr id="21" name="Rectangle 20"/>
          <p:cNvSpPr/>
          <p:nvPr/>
        </p:nvSpPr>
        <p:spPr>
          <a:xfrm>
            <a:off x="320040" y="5248656"/>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457200" y="5458968"/>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5</a:t>
            </a:r>
          </a:p>
        </p:txBody>
      </p:sp>
      <p:sp>
        <p:nvSpPr>
          <p:cNvPr id="23" name="TextBox 22"/>
          <p:cNvSpPr txBox="1"/>
          <p:nvPr/>
        </p:nvSpPr>
        <p:spPr>
          <a:xfrm>
            <a:off x="1051560" y="5303520"/>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人在回路的 AI 协作</a:t>
            </a:r>
          </a:p>
        </p:txBody>
      </p:sp>
      <p:sp>
        <p:nvSpPr>
          <p:cNvPr id="24" name="TextBox 23"/>
          <p:cNvSpPr txBox="1"/>
          <p:nvPr/>
        </p:nvSpPr>
        <p:spPr>
          <a:xfrm>
            <a:off x="1051560" y="5596128"/>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涉及人的结论一律确认后生效、留名留痕；骨干经验整理为可检索、可引用的知识库条目，经验可传承</a:t>
            </a:r>
          </a:p>
        </p:txBody>
      </p:sp>
      <p:sp>
        <p:nvSpPr>
          <p:cNvPr id="25" name="Rectangle 24"/>
          <p:cNvSpPr/>
          <p:nvPr/>
        </p:nvSpPr>
        <p:spPr>
          <a:xfrm>
            <a:off x="6080760" y="1371600"/>
            <a:ext cx="5788152" cy="36576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应用场景创新突破点：队伍建设六环闭环</a:t>
            </a:r>
          </a:p>
        </p:txBody>
      </p:sp>
      <p:pic>
        <p:nvPicPr>
          <p:cNvPr id="26" name="Picture 25" descr="高效班组管理助手_队伍建设六环闭环.png"/>
          <p:cNvPicPr>
            <a:picLocks noChangeAspect="1"/>
          </p:cNvPicPr>
          <p:nvPr/>
        </p:nvPicPr>
        <p:blipFill>
          <a:blip r:embed="rId3"/>
          <a:stretch>
            <a:fillRect/>
          </a:stretch>
        </p:blipFill>
        <p:spPr>
          <a:xfrm>
            <a:off x="6080760" y="1828800"/>
            <a:ext cx="5788152" cy="1910090"/>
          </a:xfrm>
          <a:prstGeom prst="rect">
            <a:avLst/>
          </a:prstGeom>
          <a:ln w="9525">
            <a:solidFill>
              <a:srgbClr val="BFBFBF"/>
            </a:solidFill>
          </a:ln>
        </p:spPr>
      </p:pic>
      <p:sp>
        <p:nvSpPr>
          <p:cNvPr id="27" name="Rectangle 26"/>
          <p:cNvSpPr/>
          <p:nvPr/>
        </p:nvSpPr>
        <p:spPr>
          <a:xfrm>
            <a:off x="6080760" y="3876050"/>
            <a:ext cx="5788152" cy="234186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172200" y="3921770"/>
            <a:ext cx="5605272" cy="2250429"/>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一次作业 → 三处复用：完工回写实操量 → 作业授权与画像 → 派工推荐 / 培养对象排序 / 绩效系数；考评与荣誉进入培养排序，帮扶活动改变星级得分，队伍能力随日常工作持续生长。</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三、应用成效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产生的管理或业务效益：六个业务环节应用前后对比</a:t>
            </a:r>
          </a:p>
        </p:txBody>
      </p:sp>
      <p:graphicFrame>
        <p:nvGraphicFramePr>
          <p:cNvPr id="5" name="Table 4"/>
          <p:cNvGraphicFramePr>
            <a:graphicFrameLocks noGrp="1"/>
          </p:cNvGraphicFramePr>
          <p:nvPr/>
        </p:nvGraphicFramePr>
        <p:xfrm>
          <a:off x="320040" y="1371600"/>
          <a:ext cx="11548872" cy="4224528"/>
        </p:xfrm>
        <a:graphic>
          <a:graphicData uri="http://schemas.openxmlformats.org/drawingml/2006/table">
            <a:tbl>
              <a:tblPr firstRow="0" bandRow="0">
                <a:tableStyleId>{2D5ABB26-0587-4C30-8999-92F81FD0307C}</a:tableStyleId>
              </a:tblPr>
              <a:tblGrid>
                <a:gridCol w="1463040"/>
                <a:gridCol w="3657600"/>
                <a:gridCol w="4206240"/>
                <a:gridCol w="2221992"/>
              </a:tblGrid>
              <a:tr h="384048">
                <a:tc>
                  <a:txBody>
                    <a:bodyPr wrap="square"/>
                    <a:lstStyle/>
                    <a:p>
                      <a:pPr>
                        <a:lnSpc>
                          <a:spcPct val="108000"/>
                        </a:lnSpc>
                      </a:pPr>
                      <a:r>
                        <a:rPr sz="1050" b="1" lang="zh-CN" altLang="en-US">
                          <a:solidFill>
                            <a:srgbClr val="FFFFFF"/>
                          </a:solidFill>
                          <a:latin typeface="微软雅黑"/>
                          <a:ea typeface="微软雅黑"/>
                          <a:cs typeface="微软雅黑"/>
                        </a:rPr>
                        <a:t>业务环节</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应用前</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应用后</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测算成效</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派工决策</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分别核对证书台账、作业授权认证表、工时记录与作业计划，依经验判断</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一屏给出逐人判定与推荐、随队、排除理由，理由随派工单存档</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30 分钟 → 5 分钟以内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月度绩效考评</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人工汇总工时、工作量、学时、荣誉、带徒等履职记录后评定系数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系数由五类履职证据与工分台账自动推导，证据逐条带出处，一键生成分配表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4 小时 → 1 小时以内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星级班组自评</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对照评价标准分册逐项翻查台账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20 个维度台账驱动实时初评并标红黄绿，差距指标与提升方向一页呈现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2 个工作日 → 半天以内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作业授权盘点</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按认证表逐人逐格人工核对</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42 个模块逐格确认，缺证不能确认，断层风险实时计算、一键排带教</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1 个工作日 → 1 小时以内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班组文稿</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班前会材料、月度总结、分配表、面谈提纲手工汇编</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逐段生成，每个数字可追溯至台账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月度总结 4 小时 → 1 小时以内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季度班长考评</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人工对照责任书汇总三位班长的指标与任务</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按责任书“50 + 10 + 40 + 加扣分 + 红线”自动取数初评，分档不排名次</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1 个工作日 → 2 小时以内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风险防控</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证书到期、技能断层、敏感岗位轮岗事后发现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证书到期前 90 天预警；★ 模块已授权 ≤ 2 人自动识别为断层并排带教；班长任职满 5 年提示轮岗</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事后发现 → 提前处置</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
        <p:nvSpPr>
          <p:cNvPr id="6" name="TextBox 5"/>
          <p:cNvSpPr txBox="1"/>
          <p:nvPr/>
        </p:nvSpPr>
        <p:spPr>
          <a:xfrm>
            <a:off x="320040" y="5943600"/>
            <a:ext cx="11521440" cy="365760"/>
          </a:xfrm>
          <a:prstGeom prst="rect">
            <a:avLst/>
          </a:prstGeom>
          <a:noFill/>
        </p:spPr>
        <p:txBody>
          <a:bodyPr wrap="square" anchor="t" lIns="45720" rIns="45720" tIns="27432" bIns="27432">
            <a:spAutoFit/>
          </a:bodyPr>
          <a:lstStyle/>
          <a:p>
            <a:pPr algn="l"/>
            <a:r>
              <a:rPr sz="1000" b="0" lang="zh-CN" altLang="en-US">
                <a:solidFill>
                  <a:srgbClr val="595959"/>
                </a:solidFill>
                <a:latin typeface="微软雅黑"/>
                <a:ea typeface="微软雅黑"/>
                <a:cs typeface="微软雅黑"/>
              </a:rPr>
              <a:t>注：按试点班组现行业务频次测算；演示数据按班组真实业务框架脱敏构建。</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三、应用成效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产生的可量化的经济效益或社会效益</a:t>
            </a:r>
          </a:p>
        </p:txBody>
      </p:sp>
      <p:sp>
        <p:nvSpPr>
          <p:cNvPr id="5" name="Rectangle 4"/>
          <p:cNvSpPr/>
          <p:nvPr/>
        </p:nvSpPr>
        <p:spPr>
          <a:xfrm>
            <a:off x="320040" y="1371600"/>
            <a:ext cx="2770632" cy="19202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71600"/>
            <a:ext cx="277063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57200" y="1554480"/>
            <a:ext cx="249631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25</a:t>
            </a:r>
            <a:r>
              <a:rPr sz="1300" b="1" lang="zh-CN" altLang="en-US">
                <a:solidFill>
                  <a:srgbClr val="002060"/>
                </a:solidFill>
                <a:latin typeface="微软雅黑"/>
                <a:ea typeface="微软雅黑"/>
                <a:cs typeface="微软雅黑"/>
              </a:rPr>
              <a:t>  小时 / 月</a:t>
            </a:r>
          </a:p>
        </p:txBody>
      </p:sp>
      <p:sp>
        <p:nvSpPr>
          <p:cNvPr id="8" name="TextBox 7"/>
          <p:cNvSpPr txBox="1"/>
          <p:nvPr/>
        </p:nvSpPr>
        <p:spPr>
          <a:xfrm>
            <a:off x="457200" y="2331720"/>
            <a:ext cx="249631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班组长事务性用时减少</a:t>
            </a:r>
          </a:p>
        </p:txBody>
      </p:sp>
      <p:sp>
        <p:nvSpPr>
          <p:cNvPr id="9" name="TextBox 8"/>
          <p:cNvSpPr txBox="1"/>
          <p:nvPr/>
        </p:nvSpPr>
        <p:spPr>
          <a:xfrm>
            <a:off x="457200" y="2697480"/>
            <a:ext cx="2496312" cy="50292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找数、抄数、排版回到判断与确认</a:t>
            </a:r>
          </a:p>
        </p:txBody>
      </p:sp>
      <p:sp>
        <p:nvSpPr>
          <p:cNvPr id="10" name="Rectangle 9"/>
          <p:cNvSpPr/>
          <p:nvPr/>
        </p:nvSpPr>
        <p:spPr>
          <a:xfrm>
            <a:off x="3246120" y="1371600"/>
            <a:ext cx="2770632" cy="19202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246120" y="1371600"/>
            <a:ext cx="277063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383280" y="1554480"/>
            <a:ext cx="249631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3</a:t>
            </a:r>
            <a:r>
              <a:rPr sz="1300" b="1" lang="zh-CN" altLang="en-US">
                <a:solidFill>
                  <a:srgbClr val="002060"/>
                </a:solidFill>
                <a:latin typeface="微软雅黑"/>
                <a:ea typeface="微软雅黑"/>
                <a:cs typeface="微软雅黑"/>
              </a:rPr>
              <a:t>  工作日 / 月</a:t>
            </a:r>
          </a:p>
        </p:txBody>
      </p:sp>
      <p:sp>
        <p:nvSpPr>
          <p:cNvPr id="13" name="TextBox 12"/>
          <p:cNvSpPr txBox="1"/>
          <p:nvPr/>
        </p:nvSpPr>
        <p:spPr>
          <a:xfrm>
            <a:off x="3383280" y="2331720"/>
            <a:ext cx="249631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释放回现场与培养</a:t>
            </a:r>
          </a:p>
        </p:txBody>
      </p:sp>
      <p:sp>
        <p:nvSpPr>
          <p:cNvPr id="14" name="TextBox 13"/>
          <p:cNvSpPr txBox="1"/>
          <p:nvPr/>
        </p:nvSpPr>
        <p:spPr>
          <a:xfrm>
            <a:off x="3383280" y="2697480"/>
            <a:ext cx="2496312" cy="50292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相当于每月多出三个工作日用于现场管理和人员培养</a:t>
            </a:r>
          </a:p>
        </p:txBody>
      </p:sp>
      <p:sp>
        <p:nvSpPr>
          <p:cNvPr id="15" name="Rectangle 14"/>
          <p:cNvSpPr/>
          <p:nvPr/>
        </p:nvSpPr>
        <p:spPr>
          <a:xfrm>
            <a:off x="6172200" y="1371600"/>
            <a:ext cx="2770632" cy="19202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172200" y="1371600"/>
            <a:ext cx="277063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09360" y="1554480"/>
            <a:ext cx="249631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3</a:t>
            </a:r>
            <a:r>
              <a:rPr sz="1300" b="1" lang="zh-CN" altLang="en-US">
                <a:solidFill>
                  <a:srgbClr val="002060"/>
                </a:solidFill>
                <a:latin typeface="微软雅黑"/>
                <a:ea typeface="微软雅黑"/>
                <a:cs typeface="微软雅黑"/>
              </a:rPr>
              <a:t>  工作日 / 季</a:t>
            </a:r>
          </a:p>
        </p:txBody>
      </p:sp>
      <p:sp>
        <p:nvSpPr>
          <p:cNvPr id="18" name="TextBox 17"/>
          <p:cNvSpPr txBox="1"/>
          <p:nvPr/>
        </p:nvSpPr>
        <p:spPr>
          <a:xfrm>
            <a:off x="6309360" y="2331720"/>
            <a:ext cx="249631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部门汇总分析用时减少</a:t>
            </a:r>
          </a:p>
        </p:txBody>
      </p:sp>
      <p:sp>
        <p:nvSpPr>
          <p:cNvPr id="19" name="TextBox 18"/>
          <p:cNvSpPr txBox="1"/>
          <p:nvPr/>
        </p:nvSpPr>
        <p:spPr>
          <a:xfrm>
            <a:off x="6309360" y="2697480"/>
            <a:ext cx="2496312" cy="50292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指标、对比、结构、风险报告逐段生成</a:t>
            </a:r>
          </a:p>
        </p:txBody>
      </p:sp>
      <p:sp>
        <p:nvSpPr>
          <p:cNvPr id="20" name="Rectangle 19"/>
          <p:cNvSpPr/>
          <p:nvPr/>
        </p:nvSpPr>
        <p:spPr>
          <a:xfrm>
            <a:off x="9098280" y="1371600"/>
            <a:ext cx="2770632" cy="19202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098280" y="1371600"/>
            <a:ext cx="277063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5440" y="1554480"/>
            <a:ext cx="249631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83</a:t>
            </a:r>
            <a:r>
              <a:rPr sz="1300" b="1" lang="zh-CN" altLang="en-US">
                <a:solidFill>
                  <a:srgbClr val="002060"/>
                </a:solidFill>
                <a:latin typeface="微软雅黑"/>
                <a:ea typeface="微软雅黑"/>
                <a:cs typeface="微软雅黑"/>
              </a:rPr>
              <a:t>  %</a:t>
            </a:r>
          </a:p>
        </p:txBody>
      </p:sp>
      <p:sp>
        <p:nvSpPr>
          <p:cNvPr id="23" name="TextBox 22"/>
          <p:cNvSpPr txBox="1"/>
          <p:nvPr/>
        </p:nvSpPr>
        <p:spPr>
          <a:xfrm>
            <a:off x="9235440" y="2331720"/>
            <a:ext cx="249631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单次派工决策时间下降</a:t>
            </a:r>
          </a:p>
        </p:txBody>
      </p:sp>
      <p:sp>
        <p:nvSpPr>
          <p:cNvPr id="24" name="TextBox 23"/>
          <p:cNvSpPr txBox="1"/>
          <p:nvPr/>
        </p:nvSpPr>
        <p:spPr>
          <a:xfrm>
            <a:off x="9235440" y="2697480"/>
            <a:ext cx="2496312" cy="50292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30 分钟降至 5 分钟以内，理由随单存档</a:t>
            </a:r>
          </a:p>
        </p:txBody>
      </p:sp>
      <p:sp>
        <p:nvSpPr>
          <p:cNvPr id="25" name="Rectangle 24"/>
          <p:cNvSpPr/>
          <p:nvPr/>
        </p:nvSpPr>
        <p:spPr>
          <a:xfrm>
            <a:off x="320040" y="3474720"/>
            <a:ext cx="6949440" cy="278892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26" name="Chart 25"/>
          <p:cNvGraphicFramePr>
            <a:graphicFrameLocks noGrp="1"/>
          </p:cNvGraphicFramePr>
          <p:nvPr/>
        </p:nvGraphicFramePr>
        <p:xfrm>
          <a:off x="411480" y="3520440"/>
          <a:ext cx="6766560" cy="2697480"/>
        </p:xfrm>
        <a:graphic>
          <a:graphicData uri="http://schemas.openxmlformats.org/drawingml/2006/chart">
            <c:chart xmlns:c="http://schemas.openxmlformats.org/drawingml/2006/chart" r:id="rId3"/>
          </a:graphicData>
        </a:graphic>
      </p:graphicFrame>
      <p:sp>
        <p:nvSpPr>
          <p:cNvPr id="27" name="Rectangle 26"/>
          <p:cNvSpPr/>
          <p:nvPr/>
        </p:nvSpPr>
        <p:spPr>
          <a:xfrm>
            <a:off x="7452360" y="3474720"/>
            <a:ext cx="441655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社会效益</a:t>
            </a:r>
          </a:p>
        </p:txBody>
      </p:sp>
      <p:sp>
        <p:nvSpPr>
          <p:cNvPr id="28" name="Rectangle 27"/>
          <p:cNvSpPr/>
          <p:nvPr/>
        </p:nvSpPr>
        <p:spPr>
          <a:xfrm>
            <a:off x="7452360" y="3931920"/>
            <a:ext cx="4416552" cy="731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452360" y="3931920"/>
            <a:ext cx="73152" cy="7315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5240" y="3968496"/>
            <a:ext cx="4160520" cy="274320"/>
          </a:xfrm>
          <a:prstGeom prst="rect">
            <a:avLst/>
          </a:prstGeom>
          <a:noFill/>
        </p:spPr>
        <p:txBody>
          <a:bodyPr wrap="square" anchor="ctr" lIns="45720" rIns="45720" tIns="27432" bIns="27432">
            <a:spAutoFit/>
          </a:bodyPr>
          <a:lstStyle/>
          <a:p>
            <a:pPr algn="l"/>
            <a:r>
              <a:rPr sz="1200" b="1" lang="zh-CN" altLang="en-US">
                <a:solidFill>
                  <a:srgbClr val="002060"/>
                </a:solidFill>
                <a:latin typeface="微软雅黑"/>
                <a:ea typeface="微软雅黑"/>
                <a:cs typeface="微软雅黑"/>
              </a:rPr>
              <a:t>依据留痕、公平透明</a:t>
            </a:r>
          </a:p>
        </p:txBody>
      </p:sp>
      <p:sp>
        <p:nvSpPr>
          <p:cNvPr id="31" name="TextBox 30"/>
          <p:cNvSpPr txBox="1"/>
          <p:nvPr/>
        </p:nvSpPr>
        <p:spPr>
          <a:xfrm>
            <a:off x="7635240" y="4242816"/>
            <a:ext cx="4160520" cy="411480"/>
          </a:xfrm>
          <a:prstGeom prst="rect">
            <a:avLst/>
          </a:prstGeom>
          <a:noFill/>
        </p:spPr>
        <p:txBody>
          <a:bodyPr wrap="square" anchor="t"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派工、考评、授权、调配的依据全程留痕，队伍建设由经验驱动转为数据驱动</a:t>
            </a:r>
          </a:p>
        </p:txBody>
      </p:sp>
      <p:sp>
        <p:nvSpPr>
          <p:cNvPr id="32" name="Rectangle 31"/>
          <p:cNvSpPr/>
          <p:nvPr/>
        </p:nvSpPr>
        <p:spPr>
          <a:xfrm>
            <a:off x="7452360" y="4727448"/>
            <a:ext cx="4416552" cy="731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452360" y="4727448"/>
            <a:ext cx="73152" cy="7315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635240" y="4764024"/>
            <a:ext cx="4160520" cy="274320"/>
          </a:xfrm>
          <a:prstGeom prst="rect">
            <a:avLst/>
          </a:prstGeom>
          <a:noFill/>
        </p:spPr>
        <p:txBody>
          <a:bodyPr wrap="square" anchor="ctr" lIns="45720" rIns="45720" tIns="27432" bIns="27432">
            <a:spAutoFit/>
          </a:bodyPr>
          <a:lstStyle/>
          <a:p>
            <a:pPr algn="l"/>
            <a:r>
              <a:rPr sz="1200" b="1" lang="zh-CN" altLang="en-US">
                <a:solidFill>
                  <a:srgbClr val="002060"/>
                </a:solidFill>
                <a:latin typeface="微软雅黑"/>
                <a:ea typeface="微软雅黑"/>
                <a:cs typeface="微软雅黑"/>
              </a:rPr>
              <a:t>经验可传承</a:t>
            </a:r>
          </a:p>
        </p:txBody>
      </p:sp>
      <p:sp>
        <p:nvSpPr>
          <p:cNvPr id="35" name="TextBox 34"/>
          <p:cNvSpPr txBox="1"/>
          <p:nvPr/>
        </p:nvSpPr>
        <p:spPr>
          <a:xfrm>
            <a:off x="7635240" y="5038344"/>
            <a:ext cx="4160520" cy="411480"/>
          </a:xfrm>
          <a:prstGeom prst="rect">
            <a:avLst/>
          </a:prstGeom>
          <a:noFill/>
        </p:spPr>
        <p:txBody>
          <a:bodyPr wrap="square" anchor="t"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骨干经验与案例进入知识库，问答带出处，新员工培养有路径</a:t>
            </a:r>
          </a:p>
        </p:txBody>
      </p:sp>
      <p:sp>
        <p:nvSpPr>
          <p:cNvPr id="36" name="Rectangle 35"/>
          <p:cNvSpPr/>
          <p:nvPr/>
        </p:nvSpPr>
        <p:spPr>
          <a:xfrm>
            <a:off x="7452360" y="5522976"/>
            <a:ext cx="4416552" cy="731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452360" y="5522976"/>
            <a:ext cx="73152" cy="7315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635240" y="5559552"/>
            <a:ext cx="4160520" cy="274320"/>
          </a:xfrm>
          <a:prstGeom prst="rect">
            <a:avLst/>
          </a:prstGeom>
          <a:noFill/>
        </p:spPr>
        <p:txBody>
          <a:bodyPr wrap="square" anchor="ctr" lIns="45720" rIns="45720" tIns="27432" bIns="27432">
            <a:spAutoFit/>
          </a:bodyPr>
          <a:lstStyle/>
          <a:p>
            <a:pPr algn="l"/>
            <a:r>
              <a:rPr sz="1200" b="1" lang="zh-CN" altLang="en-US">
                <a:solidFill>
                  <a:srgbClr val="002060"/>
                </a:solidFill>
                <a:latin typeface="微软雅黑"/>
                <a:ea typeface="微软雅黑"/>
                <a:cs typeface="微软雅黑"/>
              </a:rPr>
              <a:t>安全前置、风险提前</a:t>
            </a:r>
          </a:p>
        </p:txBody>
      </p:sp>
      <p:sp>
        <p:nvSpPr>
          <p:cNvPr id="39" name="TextBox 38"/>
          <p:cNvSpPr txBox="1"/>
          <p:nvPr/>
        </p:nvSpPr>
        <p:spPr>
          <a:xfrm>
            <a:off x="7635240" y="5833872"/>
            <a:ext cx="4160520" cy="411480"/>
          </a:xfrm>
          <a:prstGeom prst="rect">
            <a:avLst/>
          </a:prstGeom>
          <a:noFill/>
        </p:spPr>
        <p:txBody>
          <a:bodyPr wrap="square" anchor="t"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证书到期、断层风险、敏感岗位轮岗提前处置，安全责任落到班组一级</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三、应用成效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对南方电网集团要求的响应：成果投运后的机制与可检查的输出（逐项对照）</a:t>
            </a:r>
          </a:p>
        </p:txBody>
      </p:sp>
      <p:graphicFrame>
        <p:nvGraphicFramePr>
          <p:cNvPr id="5" name="Table 4"/>
          <p:cNvGraphicFramePr>
            <a:graphicFrameLocks noGrp="1"/>
          </p:cNvGraphicFramePr>
          <p:nvPr/>
        </p:nvGraphicFramePr>
        <p:xfrm>
          <a:off x="320040" y="1371600"/>
          <a:ext cx="11548872" cy="4736592"/>
        </p:xfrm>
        <a:graphic>
          <a:graphicData uri="http://schemas.openxmlformats.org/drawingml/2006/table">
            <a:tbl>
              <a:tblPr firstRow="0" bandRow="0">
                <a:tableStyleId>{2D5ABB26-0587-4C30-8999-92F81FD0307C}</a:tableStyleId>
              </a:tblPr>
              <a:tblGrid>
                <a:gridCol w="2377440"/>
                <a:gridCol w="5669280"/>
                <a:gridCol w="3502152"/>
              </a:tblGrid>
              <a:tr h="347472">
                <a:tc>
                  <a:txBody>
                    <a:bodyPr wrap="square"/>
                    <a:lstStyle/>
                    <a:p>
                      <a:pPr>
                        <a:lnSpc>
                          <a:spcPct val="108000"/>
                        </a:lnSpc>
                      </a:pPr>
                      <a:r>
                        <a:rPr sz="1000" b="1" lang="zh-CN" altLang="en-US">
                          <a:solidFill>
                            <a:srgbClr val="FFFFFF"/>
                          </a:solidFill>
                          <a:latin typeface="微软雅黑"/>
                          <a:ea typeface="微软雅黑"/>
                          <a:cs typeface="微软雅黑"/>
                        </a:rPr>
                        <a:t>南方电网集团要求</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00" b="1" lang="zh-CN" altLang="en-US">
                          <a:solidFill>
                            <a:srgbClr val="FFFFFF"/>
                          </a:solidFill>
                          <a:latin typeface="微软雅黑"/>
                          <a:ea typeface="微软雅黑"/>
                          <a:cs typeface="微软雅黑"/>
                        </a:rPr>
                        <a:t>成果建成后的响应机制</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00" b="1" lang="zh-CN" altLang="en-US">
                          <a:solidFill>
                            <a:srgbClr val="FFFFFF"/>
                          </a:solidFill>
                          <a:latin typeface="微软雅黑"/>
                          <a:ea typeface="微软雅黑"/>
                          <a:cs typeface="微软雅黑"/>
                        </a:rPr>
                        <a:t>可检查的输出</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数字化转型与数字电网建设</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班组层派工、审票、授权确认、绩效确认、督办、调配全部结构化留痕，按人员、班组、事件三类主题统一口径接入人资系统与数据平台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操作流水、十七张台账、画像与指标接口；班组数据一次产生、局级公司级复用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人才强企与技能人才队伍建设</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认证表 42 个模块逐人逐格确认，核心业务自主实施能力实时计算；师带徒、骨干培养、后备梯队纳入台账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月度授权状态报表报主管、带教取证任务、骨干培养计划、后备梯队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星级班组建设</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20 个评价维度台账驱动实时初评，当前等级、目标等级、距目标分、必备条件、差距指标按周期自动形成</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季度自评材料、差距指标与提升措施、排进班组计划的提升任务</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业绩责任书与绩效管理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考核指标三维度照录责任书实时红黄绿并督办；班长绩效季度自动取数初评、分档不排名次；班员系数由履职证据与工分推导</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考核指标看板与督办记录、班长绩效考评表、激励分配表与确认记录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安全生产责任制与本质安全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两票审核、作业授权、断层风险、违章与关键节点在派工环节前置把关；关键节点 19 项逐周闭环；安全与帮扶活动回写星级得分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派工理由表、两票审核记录、关键节点闭环记录、安全活动台账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基层减负与员工关怀</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班前会材料、月度总结、分配表、面谈提纲、诊断与参谋报告逐段生成；关键年份、谈心回访、高强度外勤主动提示</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每月事务性用时减少约 25 小时的操作流水证据、关怀提醒与面谈记录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人力资源数智化创新与人工智能应用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班组长 AI 助手依托电力人工智能创新平台与大瓦特大模型，查数、决策依据、文稿、诊断、经验整理五类能力，人在回路</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可复制的班组级 AI 助手样板；每次确认留名留痕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数据安全与员工权益保护</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内网部署、数据不出域；角色分级授权、人员信息最小必要展示；涉及人的结论由班组长或部门确认后生效</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权限矩阵、确认记录、操作流水</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三、应用成效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当前的实用化和运营情况</a:t>
            </a:r>
          </a:p>
        </p:txBody>
      </p:sp>
      <p:sp>
        <p:nvSpPr>
          <p:cNvPr id="5" name="Rectangle 4"/>
          <p:cNvSpPr/>
          <p:nvPr/>
        </p:nvSpPr>
        <p:spPr>
          <a:xfrm>
            <a:off x="320040" y="1371600"/>
            <a:ext cx="1280160" cy="10972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应用范围</a:t>
            </a:r>
          </a:p>
        </p:txBody>
      </p:sp>
      <p:sp>
        <p:nvSpPr>
          <p:cNvPr id="6" name="Rectangle 5"/>
          <p:cNvSpPr/>
          <p:nvPr/>
        </p:nvSpPr>
        <p:spPr>
          <a:xfrm>
            <a:off x="1600200" y="1371600"/>
            <a:ext cx="5257800" cy="10972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737360" y="1371600"/>
            <a:ext cx="5029200" cy="1097280"/>
          </a:xfrm>
          <a:prstGeom prst="rect">
            <a:avLst/>
          </a:prstGeom>
          <a:noFill/>
        </p:spPr>
        <p:txBody>
          <a:bodyPr wrap="square" anchor="ctr"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光明供电局配网资产部三个班组 31 人，班组长与部门管理者两类用户，覆盖班组整体、人员情况、日常业务与部门的业务、管理两条主线</a:t>
            </a:r>
          </a:p>
        </p:txBody>
      </p:sp>
      <p:sp>
        <p:nvSpPr>
          <p:cNvPr id="8" name="Rectangle 7"/>
          <p:cNvSpPr/>
          <p:nvPr/>
        </p:nvSpPr>
        <p:spPr>
          <a:xfrm>
            <a:off x="320040" y="2587752"/>
            <a:ext cx="1280160" cy="10972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建设进度</a:t>
            </a:r>
          </a:p>
        </p:txBody>
      </p:sp>
      <p:sp>
        <p:nvSpPr>
          <p:cNvPr id="9" name="Rectangle 8"/>
          <p:cNvSpPr/>
          <p:nvPr/>
        </p:nvSpPr>
        <p:spPr>
          <a:xfrm>
            <a:off x="1600200" y="2587752"/>
            <a:ext cx="5257800" cy="10972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37360" y="2587752"/>
            <a:ext cx="5029200" cy="1097280"/>
          </a:xfrm>
          <a:prstGeom prst="rect">
            <a:avLst/>
          </a:prstGeom>
          <a:noFill/>
        </p:spPr>
        <p:txBody>
          <a:bodyPr wrap="square" anchor="ctr"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班组长端 12 页、管理者端 9 页、十七张台账、派工与考评规则、作业授权认证表、星级评价初评模型已完成，单文件离线原型可演示；每一次确认留名留痕</a:t>
            </a:r>
          </a:p>
        </p:txBody>
      </p:sp>
      <p:sp>
        <p:nvSpPr>
          <p:cNvPr id="11" name="Rectangle 10"/>
          <p:cNvSpPr/>
          <p:nvPr/>
        </p:nvSpPr>
        <p:spPr>
          <a:xfrm>
            <a:off x="320040" y="3803904"/>
            <a:ext cx="1280160" cy="10972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数据对接</a:t>
            </a:r>
          </a:p>
        </p:txBody>
      </p:sp>
      <p:sp>
        <p:nvSpPr>
          <p:cNvPr id="12" name="Rectangle 11"/>
          <p:cNvSpPr/>
          <p:nvPr/>
        </p:nvSpPr>
        <p:spPr>
          <a:xfrm>
            <a:off x="1600200" y="3803904"/>
            <a:ext cx="5257800" cy="10972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737360" y="3803904"/>
            <a:ext cx="5029200" cy="1097280"/>
          </a:xfrm>
          <a:prstGeom prst="rect">
            <a:avLst/>
          </a:prstGeom>
          <a:noFill/>
        </p:spPr>
        <p:txBody>
          <a:bodyPr wrap="square" anchor="ctr"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人资系统、OMS、OCS、电网管理平台、党建与荣誉台账的接口口径已明确，取自公司现有系统，不增加班组数据采集负担</a:t>
            </a:r>
          </a:p>
        </p:txBody>
      </p:sp>
      <p:sp>
        <p:nvSpPr>
          <p:cNvPr id="14" name="Rectangle 13"/>
          <p:cNvSpPr/>
          <p:nvPr/>
        </p:nvSpPr>
        <p:spPr>
          <a:xfrm>
            <a:off x="320040" y="5020056"/>
            <a:ext cx="1280160" cy="10972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运行安排</a:t>
            </a:r>
          </a:p>
        </p:txBody>
      </p:sp>
      <p:sp>
        <p:nvSpPr>
          <p:cNvPr id="15" name="Rectangle 14"/>
          <p:cNvSpPr/>
          <p:nvPr/>
        </p:nvSpPr>
        <p:spPr>
          <a:xfrm>
            <a:off x="1600200" y="5020056"/>
            <a:ext cx="5257800" cy="10972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737360" y="5020056"/>
            <a:ext cx="5029200" cy="1097280"/>
          </a:xfrm>
          <a:prstGeom prst="rect">
            <a:avLst/>
          </a:prstGeom>
          <a:noFill/>
        </p:spPr>
        <p:txBody>
          <a:bodyPr wrap="square" anchor="ctr"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2026 年四季度在三个班组试点运行；按月形成授权状态、星级差距、班长绩效三类报表报主管；非台账维度的初步得分与另外两个班组底数待客户确认</a:t>
            </a:r>
          </a:p>
        </p:txBody>
      </p:sp>
      <p:pic>
        <p:nvPicPr>
          <p:cNvPr id="17" name="Picture 16" descr="sb_ask.png"/>
          <p:cNvPicPr>
            <a:picLocks noChangeAspect="1"/>
          </p:cNvPicPr>
          <p:nvPr/>
        </p:nvPicPr>
        <p:blipFill>
          <a:blip r:embed="rId3"/>
          <a:stretch>
            <a:fillRect/>
          </a:stretch>
        </p:blipFill>
        <p:spPr>
          <a:xfrm>
            <a:off x="7086600" y="1371600"/>
            <a:ext cx="4782312" cy="2988945"/>
          </a:xfrm>
          <a:prstGeom prst="rect">
            <a:avLst/>
          </a:prstGeom>
          <a:ln w="9525">
            <a:solidFill>
              <a:srgbClr val="BFBFBF"/>
            </a:solidFill>
          </a:ln>
        </p:spPr>
      </p:pic>
      <p:sp>
        <p:nvSpPr>
          <p:cNvPr id="18" name="Rectangle 17"/>
          <p:cNvSpPr/>
          <p:nvPr/>
        </p:nvSpPr>
        <p:spPr>
          <a:xfrm>
            <a:off x="7086600" y="4470273"/>
            <a:ext cx="4782312"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问小瓦特 · 班组长 AI 助手</a:t>
            </a:r>
          </a:p>
        </p:txBody>
      </p:sp>
      <p:sp>
        <p:nvSpPr>
          <p:cNvPr id="19" name="Rectangle 18"/>
          <p:cNvSpPr/>
          <p:nvPr/>
        </p:nvSpPr>
        <p:spPr>
          <a:xfrm>
            <a:off x="7086600" y="4817745"/>
            <a:ext cx="4782312" cy="140017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178040" y="4863465"/>
            <a:ext cx="4599432" cy="1308734"/>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查数配图、决策依据、文稿逐段生成、诊断归因、经验整理五类问法；数字类回答同步配图，名单可下钻；涉及人员评价的结论标注“由班组长确认后使用”；语音为辅，所有语音路径都有等价的点击路径。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四、推广价值</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推广计划：推广对象、推广模式、预期效果</a:t>
            </a:r>
          </a:p>
        </p:txBody>
      </p:sp>
      <p:sp>
        <p:nvSpPr>
          <p:cNvPr id="5" name="Rectangle 4"/>
          <p:cNvSpPr/>
          <p:nvPr/>
        </p:nvSpPr>
        <p:spPr>
          <a:xfrm>
            <a:off x="1097280" y="2130552"/>
            <a:ext cx="9966960" cy="457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2103120" y="1874519"/>
            <a:ext cx="548640" cy="54864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lang="zh-CN" altLang="en-US">
                <a:solidFill>
                  <a:srgbClr val="FFFFFF"/>
                </a:solidFill>
                <a:latin typeface="微软雅黑"/>
                <a:ea typeface="微软雅黑"/>
                <a:cs typeface="微软雅黑"/>
              </a:rPr>
              <a:t>1</a:t>
            </a:r>
          </a:p>
        </p:txBody>
      </p:sp>
      <p:sp>
        <p:nvSpPr>
          <p:cNvPr id="7" name="TextBox 6"/>
          <p:cNvSpPr txBox="1"/>
          <p:nvPr/>
        </p:nvSpPr>
        <p:spPr>
          <a:xfrm>
            <a:off x="731520" y="1371600"/>
            <a:ext cx="3291840" cy="411480"/>
          </a:xfrm>
          <a:prstGeom prst="rect">
            <a:avLst/>
          </a:prstGeom>
          <a:noFill/>
        </p:spPr>
        <p:txBody>
          <a:bodyPr wrap="square" anchor="ctr" lIns="45720" rIns="45720" tIns="27432" bIns="27432">
            <a:spAutoFit/>
          </a:bodyPr>
          <a:lstStyle/>
          <a:p>
            <a:pPr algn="ctr"/>
            <a:r>
              <a:rPr sz="1500" b="1" lang="zh-CN" altLang="en-US">
                <a:solidFill>
                  <a:srgbClr val="002060"/>
                </a:solidFill>
                <a:latin typeface="微软雅黑"/>
                <a:ea typeface="微软雅黑"/>
                <a:cs typeface="微软雅黑"/>
              </a:rPr>
              <a:t>2026 年四季度</a:t>
            </a:r>
          </a:p>
        </p:txBody>
      </p:sp>
      <p:sp>
        <p:nvSpPr>
          <p:cNvPr id="8" name="Rectangle 7"/>
          <p:cNvSpPr/>
          <p:nvPr/>
        </p:nvSpPr>
        <p:spPr>
          <a:xfrm>
            <a:off x="685800" y="2606040"/>
            <a:ext cx="3383280" cy="11887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2670048"/>
            <a:ext cx="3108960" cy="365760"/>
          </a:xfrm>
          <a:prstGeom prst="rect">
            <a:avLst/>
          </a:prstGeom>
          <a:noFill/>
        </p:spPr>
        <p:txBody>
          <a:bodyPr wrap="square" anchor="ctr" lIns="45720" rIns="45720" tIns="27432" bIns="27432">
            <a:spAutoFit/>
          </a:bodyPr>
          <a:lstStyle/>
          <a:p>
            <a:pPr algn="ctr"/>
            <a:r>
              <a:rPr sz="1400" b="1" lang="zh-CN" altLang="en-US">
                <a:solidFill>
                  <a:srgbClr val="002060"/>
                </a:solidFill>
                <a:latin typeface="微软雅黑"/>
                <a:ea typeface="微软雅黑"/>
                <a:cs typeface="微软雅黑"/>
              </a:rPr>
              <a:t>部门试点</a:t>
            </a:r>
          </a:p>
        </p:txBody>
      </p:sp>
      <p:sp>
        <p:nvSpPr>
          <p:cNvPr id="10" name="TextBox 9"/>
          <p:cNvSpPr txBox="1"/>
          <p:nvPr/>
        </p:nvSpPr>
        <p:spPr>
          <a:xfrm>
            <a:off x="822960" y="3035808"/>
            <a:ext cx="3108960" cy="731520"/>
          </a:xfrm>
          <a:prstGeom prst="rect">
            <a:avLst/>
          </a:prstGeom>
          <a:noFill/>
        </p:spPr>
        <p:txBody>
          <a:bodyPr wrap="square" anchor="t" lIns="45720" rIns="45720" tIns="27432" bIns="27432">
            <a:spAutoFit/>
          </a:bodyPr>
          <a:lstStyle/>
          <a:p>
            <a:pPr algn="ctr">
              <a:lnSpc>
                <a:spcPct val="115000"/>
              </a:lnSpc>
            </a:pPr>
            <a:r>
              <a:rPr sz="1050" b="0" lang="zh-CN" altLang="en-US">
                <a:solidFill>
                  <a:srgbClr val="262626"/>
                </a:solidFill>
                <a:latin typeface="微软雅黑"/>
                <a:ea typeface="微软雅黑"/>
                <a:cs typeface="微软雅黑"/>
              </a:rPr>
              <a:t>光明供电局配网资产部三个班组试点运行，形成第一轮运行数据与口径修订</a:t>
            </a:r>
          </a:p>
        </p:txBody>
      </p:sp>
      <p:sp>
        <p:nvSpPr>
          <p:cNvPr id="11" name="Oval 10"/>
          <p:cNvSpPr/>
          <p:nvPr/>
        </p:nvSpPr>
        <p:spPr>
          <a:xfrm>
            <a:off x="5824728" y="1874519"/>
            <a:ext cx="548640" cy="54864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lang="zh-CN" altLang="en-US">
                <a:solidFill>
                  <a:srgbClr val="FFFFFF"/>
                </a:solidFill>
                <a:latin typeface="微软雅黑"/>
                <a:ea typeface="微软雅黑"/>
                <a:cs typeface="微软雅黑"/>
              </a:rPr>
              <a:t>2</a:t>
            </a:r>
          </a:p>
        </p:txBody>
      </p:sp>
      <p:sp>
        <p:nvSpPr>
          <p:cNvPr id="12" name="TextBox 11"/>
          <p:cNvSpPr txBox="1"/>
          <p:nvPr/>
        </p:nvSpPr>
        <p:spPr>
          <a:xfrm>
            <a:off x="4453128" y="1371600"/>
            <a:ext cx="3291840" cy="411480"/>
          </a:xfrm>
          <a:prstGeom prst="rect">
            <a:avLst/>
          </a:prstGeom>
          <a:noFill/>
        </p:spPr>
        <p:txBody>
          <a:bodyPr wrap="square" anchor="ctr" lIns="45720" rIns="45720" tIns="27432" bIns="27432">
            <a:spAutoFit/>
          </a:bodyPr>
          <a:lstStyle/>
          <a:p>
            <a:pPr algn="ctr"/>
            <a:r>
              <a:rPr sz="1500" b="1" lang="zh-CN" altLang="en-US">
                <a:solidFill>
                  <a:srgbClr val="002060"/>
                </a:solidFill>
                <a:latin typeface="微软雅黑"/>
                <a:ea typeface="微软雅黑"/>
                <a:cs typeface="微软雅黑"/>
              </a:rPr>
              <a:t>2027 年上半年</a:t>
            </a:r>
          </a:p>
        </p:txBody>
      </p:sp>
      <p:sp>
        <p:nvSpPr>
          <p:cNvPr id="13" name="Rectangle 12"/>
          <p:cNvSpPr/>
          <p:nvPr/>
        </p:nvSpPr>
        <p:spPr>
          <a:xfrm>
            <a:off x="4407408" y="2606040"/>
            <a:ext cx="3383280" cy="11887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544568" y="2670048"/>
            <a:ext cx="3108960" cy="365760"/>
          </a:xfrm>
          <a:prstGeom prst="rect">
            <a:avLst/>
          </a:prstGeom>
          <a:noFill/>
        </p:spPr>
        <p:txBody>
          <a:bodyPr wrap="square" anchor="ctr" lIns="45720" rIns="45720" tIns="27432" bIns="27432">
            <a:spAutoFit/>
          </a:bodyPr>
          <a:lstStyle/>
          <a:p>
            <a:pPr algn="ctr"/>
            <a:r>
              <a:rPr sz="1400" b="1" lang="zh-CN" altLang="en-US">
                <a:solidFill>
                  <a:srgbClr val="002060"/>
                </a:solidFill>
                <a:latin typeface="微软雅黑"/>
                <a:ea typeface="微软雅黑"/>
                <a:cs typeface="微软雅黑"/>
              </a:rPr>
              <a:t>全局复制</a:t>
            </a:r>
          </a:p>
        </p:txBody>
      </p:sp>
      <p:sp>
        <p:nvSpPr>
          <p:cNvPr id="15" name="TextBox 14"/>
          <p:cNvSpPr txBox="1"/>
          <p:nvPr/>
        </p:nvSpPr>
        <p:spPr>
          <a:xfrm>
            <a:off x="4544568" y="3035808"/>
            <a:ext cx="3108960" cy="731520"/>
          </a:xfrm>
          <a:prstGeom prst="rect">
            <a:avLst/>
          </a:prstGeom>
          <a:noFill/>
        </p:spPr>
        <p:txBody>
          <a:bodyPr wrap="square" anchor="t" lIns="45720" rIns="45720" tIns="27432" bIns="27432">
            <a:spAutoFit/>
          </a:bodyPr>
          <a:lstStyle/>
          <a:p>
            <a:pPr algn="ctr">
              <a:lnSpc>
                <a:spcPct val="115000"/>
              </a:lnSpc>
            </a:pPr>
            <a:r>
              <a:rPr sz="1050" b="0" lang="zh-CN" altLang="en-US">
                <a:solidFill>
                  <a:srgbClr val="262626"/>
                </a:solidFill>
                <a:latin typeface="微软雅黑"/>
                <a:ea typeface="微软雅黑"/>
                <a:cs typeface="微软雅黑"/>
              </a:rPr>
              <a:t>推广至深圳供电局配网专业班组，完成变电、输电专业口径配置</a:t>
            </a:r>
          </a:p>
        </p:txBody>
      </p:sp>
      <p:sp>
        <p:nvSpPr>
          <p:cNvPr id="16" name="Oval 15"/>
          <p:cNvSpPr/>
          <p:nvPr/>
        </p:nvSpPr>
        <p:spPr>
          <a:xfrm>
            <a:off x="9546336" y="1874519"/>
            <a:ext cx="548640" cy="54864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lang="zh-CN" altLang="en-US">
                <a:solidFill>
                  <a:srgbClr val="FFFFFF"/>
                </a:solidFill>
                <a:latin typeface="微软雅黑"/>
                <a:ea typeface="微软雅黑"/>
                <a:cs typeface="微软雅黑"/>
              </a:rPr>
              <a:t>3</a:t>
            </a:r>
          </a:p>
        </p:txBody>
      </p:sp>
      <p:sp>
        <p:nvSpPr>
          <p:cNvPr id="17" name="TextBox 16"/>
          <p:cNvSpPr txBox="1"/>
          <p:nvPr/>
        </p:nvSpPr>
        <p:spPr>
          <a:xfrm>
            <a:off x="8174736" y="1371600"/>
            <a:ext cx="3291840" cy="411480"/>
          </a:xfrm>
          <a:prstGeom prst="rect">
            <a:avLst/>
          </a:prstGeom>
          <a:noFill/>
        </p:spPr>
        <p:txBody>
          <a:bodyPr wrap="square" anchor="ctr" lIns="45720" rIns="45720" tIns="27432" bIns="27432">
            <a:spAutoFit/>
          </a:bodyPr>
          <a:lstStyle/>
          <a:p>
            <a:pPr algn="ctr"/>
            <a:r>
              <a:rPr sz="1500" b="1" lang="zh-CN" altLang="en-US">
                <a:solidFill>
                  <a:srgbClr val="002060"/>
                </a:solidFill>
                <a:latin typeface="微软雅黑"/>
                <a:ea typeface="微软雅黑"/>
                <a:cs typeface="微软雅黑"/>
              </a:rPr>
              <a:t>2027 年下半年起</a:t>
            </a:r>
          </a:p>
        </p:txBody>
      </p:sp>
      <p:sp>
        <p:nvSpPr>
          <p:cNvPr id="18" name="Rectangle 17"/>
          <p:cNvSpPr/>
          <p:nvPr/>
        </p:nvSpPr>
        <p:spPr>
          <a:xfrm>
            <a:off x="8129016" y="2606040"/>
            <a:ext cx="3383280" cy="11887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66176" y="2670048"/>
            <a:ext cx="3108960" cy="365760"/>
          </a:xfrm>
          <a:prstGeom prst="rect">
            <a:avLst/>
          </a:prstGeom>
          <a:noFill/>
        </p:spPr>
        <p:txBody>
          <a:bodyPr wrap="square" anchor="ctr" lIns="45720" rIns="45720" tIns="27432" bIns="27432">
            <a:spAutoFit/>
          </a:bodyPr>
          <a:lstStyle/>
          <a:p>
            <a:pPr algn="ctr"/>
            <a:r>
              <a:rPr sz="1400" b="1" lang="zh-CN" altLang="en-US">
                <a:solidFill>
                  <a:srgbClr val="002060"/>
                </a:solidFill>
                <a:latin typeface="微软雅黑"/>
                <a:ea typeface="微软雅黑"/>
                <a:cs typeface="微软雅黑"/>
              </a:rPr>
              <a:t>网省推广</a:t>
            </a:r>
          </a:p>
        </p:txBody>
      </p:sp>
      <p:sp>
        <p:nvSpPr>
          <p:cNvPr id="20" name="TextBox 19"/>
          <p:cNvSpPr txBox="1"/>
          <p:nvPr/>
        </p:nvSpPr>
        <p:spPr>
          <a:xfrm>
            <a:off x="8266176" y="3035808"/>
            <a:ext cx="3108960" cy="731520"/>
          </a:xfrm>
          <a:prstGeom prst="rect">
            <a:avLst/>
          </a:prstGeom>
          <a:noFill/>
        </p:spPr>
        <p:txBody>
          <a:bodyPr wrap="square" anchor="t" lIns="45720" rIns="45720" tIns="27432" bIns="27432">
            <a:spAutoFit/>
          </a:bodyPr>
          <a:lstStyle/>
          <a:p>
            <a:pPr algn="ctr">
              <a:lnSpc>
                <a:spcPct val="115000"/>
              </a:lnSpc>
            </a:pPr>
            <a:r>
              <a:rPr sz="1050" b="0" lang="zh-CN" altLang="en-US">
                <a:solidFill>
                  <a:srgbClr val="262626"/>
                </a:solidFill>
                <a:latin typeface="微软雅黑"/>
                <a:ea typeface="微软雅黑"/>
                <a:cs typeface="微软雅黑"/>
              </a:rPr>
              <a:t>具备向网内其他单位推广的条件，形成公司级班组管理产品</a:t>
            </a:r>
          </a:p>
        </p:txBody>
      </p:sp>
      <p:sp>
        <p:nvSpPr>
          <p:cNvPr id="21" name="Rectangle 20"/>
          <p:cNvSpPr/>
          <p:nvPr/>
        </p:nvSpPr>
        <p:spPr>
          <a:xfrm>
            <a:off x="320040" y="4023360"/>
            <a:ext cx="37764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推广对象</a:t>
            </a:r>
          </a:p>
        </p:txBody>
      </p:sp>
      <p:sp>
        <p:nvSpPr>
          <p:cNvPr id="22" name="Rectangle 21"/>
          <p:cNvSpPr/>
          <p:nvPr/>
        </p:nvSpPr>
        <p:spPr>
          <a:xfrm>
            <a:off x="320040" y="4407408"/>
            <a:ext cx="3776472" cy="181051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93192" y="4480560"/>
            <a:ext cx="3630168" cy="166420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各供电局配网、变电、输电等专业生产班组的班组长及所在部门管理者</a:t>
            </a:r>
          </a:p>
        </p:txBody>
      </p:sp>
      <p:sp>
        <p:nvSpPr>
          <p:cNvPr id="24" name="Rectangle 23"/>
          <p:cNvSpPr/>
          <p:nvPr/>
        </p:nvSpPr>
        <p:spPr>
          <a:xfrm>
            <a:off x="4206240" y="4023360"/>
            <a:ext cx="37764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推广模式</a:t>
            </a:r>
          </a:p>
        </p:txBody>
      </p:sp>
      <p:sp>
        <p:nvSpPr>
          <p:cNvPr id="25" name="Rectangle 24"/>
          <p:cNvSpPr/>
          <p:nvPr/>
        </p:nvSpPr>
        <p:spPr>
          <a:xfrm>
            <a:off x="4206240" y="4407408"/>
            <a:ext cx="3776472" cy="181051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279392" y="4480560"/>
            <a:ext cx="3630168" cy="166420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配置化复制：认证表、星级分册、责任书指标、派工规则与班组约定、考评权重均为可配置口径，数据底座、规则框架与页面框架不变；页面与模型按模块组织，可按场景开关</a:t>
            </a:r>
          </a:p>
        </p:txBody>
      </p:sp>
      <p:sp>
        <p:nvSpPr>
          <p:cNvPr id="27" name="Rectangle 26"/>
          <p:cNvSpPr/>
          <p:nvPr/>
        </p:nvSpPr>
        <p:spPr>
          <a:xfrm>
            <a:off x="8092440" y="4023360"/>
            <a:ext cx="37764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预期效果</a:t>
            </a:r>
          </a:p>
        </p:txBody>
      </p:sp>
      <p:sp>
        <p:nvSpPr>
          <p:cNvPr id="28" name="Rectangle 27"/>
          <p:cNvSpPr/>
          <p:nvPr/>
        </p:nvSpPr>
        <p:spPr>
          <a:xfrm>
            <a:off x="8092440" y="4407408"/>
            <a:ext cx="3776472" cy="181051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165592" y="4480560"/>
            <a:ext cx="3630168" cy="166420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班组长每月事务性用时减少约 25 小时；派工、考评、授权、调配依据全程留痕；各班组星级对标与授权盘点按周期自动形成；班组数据按统一口径向公司、向集团汇聚，队伍建设由经验驱动转为数据驱动</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四、推广价值</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潜在的商业价值和社会价值 · 潜在价值的开发计划</a:t>
            </a:r>
          </a:p>
        </p:txBody>
      </p:sp>
      <p:sp>
        <p:nvSpPr>
          <p:cNvPr id="5" name="Rectangle 4"/>
          <p:cNvSpPr/>
          <p:nvPr/>
        </p:nvSpPr>
        <p:spPr>
          <a:xfrm>
            <a:off x="320040" y="1371600"/>
            <a:ext cx="5394960"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潜在价值</a:t>
            </a:r>
          </a:p>
        </p:txBody>
      </p:sp>
      <p:sp>
        <p:nvSpPr>
          <p:cNvPr id="6" name="Rectangle 5"/>
          <p:cNvSpPr/>
          <p:nvPr/>
        </p:nvSpPr>
        <p:spPr>
          <a:xfrm>
            <a:off x="320040" y="1874519"/>
            <a:ext cx="1188720" cy="1325880"/>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管理价值</a:t>
            </a:r>
          </a:p>
        </p:txBody>
      </p:sp>
      <p:sp>
        <p:nvSpPr>
          <p:cNvPr id="7" name="Rectangle 6"/>
          <p:cNvSpPr/>
          <p:nvPr/>
        </p:nvSpPr>
        <p:spPr>
          <a:xfrm>
            <a:off x="1508760" y="1874519"/>
            <a:ext cx="4206240" cy="13258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645920" y="1874519"/>
            <a:ext cx="3977639" cy="1325880"/>
          </a:xfrm>
          <a:prstGeom prst="rect">
            <a:avLst/>
          </a:prstGeom>
          <a:noFill/>
        </p:spPr>
        <p:txBody>
          <a:bodyPr wrap="square" anchor="ctr" lIns="45720" rIns="45720" tIns="27432" bIns="27432">
            <a:spAutoFit/>
          </a:bodyPr>
          <a:lstStyle/>
          <a:p>
            <a:pPr algn="l">
              <a:lnSpc>
                <a:spcPct val="118000"/>
              </a:lnSpc>
            </a:pPr>
            <a:r>
              <a:rPr sz="1150" b="0" lang="zh-CN" altLang="en-US">
                <a:solidFill>
                  <a:srgbClr val="262626"/>
                </a:solidFill>
                <a:latin typeface="微软雅黑"/>
                <a:ea typeface="微软雅黑"/>
                <a:cs typeface="微软雅黑"/>
              </a:rPr>
              <a:t>班组数据一次产生、局级公司级复用，星级对标、授权盘点、班长考评由一次性工作变为按周期自动形成</a:t>
            </a:r>
          </a:p>
        </p:txBody>
      </p:sp>
      <p:sp>
        <p:nvSpPr>
          <p:cNvPr id="9" name="Rectangle 8"/>
          <p:cNvSpPr/>
          <p:nvPr/>
        </p:nvSpPr>
        <p:spPr>
          <a:xfrm>
            <a:off x="320040" y="3337560"/>
            <a:ext cx="1188720" cy="1325880"/>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社会价值</a:t>
            </a:r>
          </a:p>
        </p:txBody>
      </p:sp>
      <p:sp>
        <p:nvSpPr>
          <p:cNvPr id="10" name="Rectangle 9"/>
          <p:cNvSpPr/>
          <p:nvPr/>
        </p:nvSpPr>
        <p:spPr>
          <a:xfrm>
            <a:off x="1508760" y="3337560"/>
            <a:ext cx="4206240" cy="13258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645920" y="3337560"/>
            <a:ext cx="3977639" cy="1325880"/>
          </a:xfrm>
          <a:prstGeom prst="rect">
            <a:avLst/>
          </a:prstGeom>
          <a:noFill/>
        </p:spPr>
        <p:txBody>
          <a:bodyPr wrap="square" anchor="ctr" lIns="45720" rIns="45720" tIns="27432" bIns="27432">
            <a:spAutoFit/>
          </a:bodyPr>
          <a:lstStyle/>
          <a:p>
            <a:pPr algn="l">
              <a:lnSpc>
                <a:spcPct val="118000"/>
              </a:lnSpc>
            </a:pPr>
            <a:r>
              <a:rPr sz="1150" b="0" lang="zh-CN" altLang="en-US">
                <a:solidFill>
                  <a:srgbClr val="262626"/>
                </a:solidFill>
                <a:latin typeface="微软雅黑"/>
                <a:ea typeface="微软雅黑"/>
                <a:cs typeface="微软雅黑"/>
              </a:rPr>
              <a:t>技能人才培养有依据、安全责任落到班组一级、基层减负有数据可证、骨干经验可传承</a:t>
            </a:r>
          </a:p>
        </p:txBody>
      </p:sp>
      <p:sp>
        <p:nvSpPr>
          <p:cNvPr id="12" name="Rectangle 11"/>
          <p:cNvSpPr/>
          <p:nvPr/>
        </p:nvSpPr>
        <p:spPr>
          <a:xfrm>
            <a:off x="320040" y="4800600"/>
            <a:ext cx="1188720" cy="1325880"/>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商业价值</a:t>
            </a:r>
          </a:p>
        </p:txBody>
      </p:sp>
      <p:sp>
        <p:nvSpPr>
          <p:cNvPr id="13" name="Rectangle 12"/>
          <p:cNvSpPr/>
          <p:nvPr/>
        </p:nvSpPr>
        <p:spPr>
          <a:xfrm>
            <a:off x="1508760" y="4800600"/>
            <a:ext cx="4206240" cy="13258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645920" y="4800600"/>
            <a:ext cx="3977639" cy="1325880"/>
          </a:xfrm>
          <a:prstGeom prst="rect">
            <a:avLst/>
          </a:prstGeom>
          <a:noFill/>
        </p:spPr>
        <p:txBody>
          <a:bodyPr wrap="square" anchor="ctr" lIns="45720" rIns="45720" tIns="27432" bIns="27432">
            <a:spAutoFit/>
          </a:bodyPr>
          <a:lstStyle/>
          <a:p>
            <a:pPr algn="l">
              <a:lnSpc>
                <a:spcPct val="118000"/>
              </a:lnSpc>
            </a:pPr>
            <a:r>
              <a:rPr sz="1150" b="0" lang="zh-CN" altLang="en-US">
                <a:solidFill>
                  <a:srgbClr val="262626"/>
                </a:solidFill>
                <a:latin typeface="微软雅黑"/>
                <a:ea typeface="微软雅黑"/>
                <a:cs typeface="微软雅黑"/>
              </a:rPr>
              <a:t>可配置复制到配网、变电、输电专业班组，形成公司级班组管理产品与班组级 AI 助手样板</a:t>
            </a:r>
          </a:p>
        </p:txBody>
      </p:sp>
      <p:sp>
        <p:nvSpPr>
          <p:cNvPr id="15" name="Rectangle 14"/>
          <p:cNvSpPr/>
          <p:nvPr/>
        </p:nvSpPr>
        <p:spPr>
          <a:xfrm>
            <a:off x="5943600" y="1371600"/>
            <a:ext cx="592531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潜在价值的开发计划</a:t>
            </a:r>
          </a:p>
        </p:txBody>
      </p:sp>
      <p:sp>
        <p:nvSpPr>
          <p:cNvPr id="16" name="Rectangle 15"/>
          <p:cNvSpPr/>
          <p:nvPr/>
        </p:nvSpPr>
        <p:spPr>
          <a:xfrm>
            <a:off x="5943600" y="1874519"/>
            <a:ext cx="5925312" cy="98755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080760" y="2139696"/>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1</a:t>
            </a:r>
          </a:p>
        </p:txBody>
      </p:sp>
      <p:sp>
        <p:nvSpPr>
          <p:cNvPr id="18" name="TextBox 17"/>
          <p:cNvSpPr txBox="1"/>
          <p:nvPr/>
        </p:nvSpPr>
        <p:spPr>
          <a:xfrm>
            <a:off x="6675120" y="1929384"/>
            <a:ext cx="5056632"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系统对接</a:t>
            </a:r>
          </a:p>
        </p:txBody>
      </p:sp>
      <p:sp>
        <p:nvSpPr>
          <p:cNvPr id="19" name="TextBox 18"/>
          <p:cNvSpPr txBox="1"/>
          <p:nvPr/>
        </p:nvSpPr>
        <p:spPr>
          <a:xfrm>
            <a:off x="6675120" y="2221991"/>
            <a:ext cx="5056632" cy="603504"/>
          </a:xfrm>
          <a:prstGeom prst="rect">
            <a:avLst/>
          </a:prstGeom>
          <a:noFill/>
        </p:spPr>
        <p:txBody>
          <a:bodyPr wrap="square" anchor="t" lIns="45720" rIns="45720" tIns="27432" bIns="27432">
            <a:spAutoFit/>
          </a:bodyPr>
          <a:lstStyle/>
          <a:p>
            <a:pPr algn="l">
              <a:lnSpc>
                <a:spcPct val="112000"/>
              </a:lnSpc>
            </a:pPr>
            <a:r>
              <a:rPr sz="1100" b="0" lang="zh-CN" altLang="en-US">
                <a:solidFill>
                  <a:srgbClr val="262626"/>
                </a:solidFill>
                <a:latin typeface="微软雅黑"/>
                <a:ea typeface="微软雅黑"/>
                <a:cs typeface="微软雅黑"/>
              </a:rPr>
              <a:t>接入人资系统、OMS、OCS、电网管理平台、党建系统，班组数据自动归集，班组层数据按统一口径向上汇聚</a:t>
            </a:r>
          </a:p>
        </p:txBody>
      </p:sp>
      <p:sp>
        <p:nvSpPr>
          <p:cNvPr id="20" name="Rectangle 19"/>
          <p:cNvSpPr/>
          <p:nvPr/>
        </p:nvSpPr>
        <p:spPr>
          <a:xfrm>
            <a:off x="5943600" y="2971800"/>
            <a:ext cx="5925312" cy="98755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080760" y="3236976"/>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2</a:t>
            </a:r>
          </a:p>
        </p:txBody>
      </p:sp>
      <p:sp>
        <p:nvSpPr>
          <p:cNvPr id="22" name="TextBox 21"/>
          <p:cNvSpPr txBox="1"/>
          <p:nvPr/>
        </p:nvSpPr>
        <p:spPr>
          <a:xfrm>
            <a:off x="6675120" y="3026664"/>
            <a:ext cx="5056632"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专业扩展</a:t>
            </a:r>
          </a:p>
        </p:txBody>
      </p:sp>
      <p:sp>
        <p:nvSpPr>
          <p:cNvPr id="23" name="TextBox 22"/>
          <p:cNvSpPr txBox="1"/>
          <p:nvPr/>
        </p:nvSpPr>
        <p:spPr>
          <a:xfrm>
            <a:off x="6675120" y="3319272"/>
            <a:ext cx="5056632" cy="603504"/>
          </a:xfrm>
          <a:prstGeom prst="rect">
            <a:avLst/>
          </a:prstGeom>
          <a:noFill/>
        </p:spPr>
        <p:txBody>
          <a:bodyPr wrap="square" anchor="t" lIns="45720" rIns="45720" tIns="27432" bIns="27432">
            <a:spAutoFit/>
          </a:bodyPr>
          <a:lstStyle/>
          <a:p>
            <a:pPr algn="l">
              <a:lnSpc>
                <a:spcPct val="112000"/>
              </a:lnSpc>
            </a:pPr>
            <a:r>
              <a:rPr sz="1100" b="0" lang="zh-CN" altLang="en-US">
                <a:solidFill>
                  <a:srgbClr val="262626"/>
                </a:solidFill>
                <a:latin typeface="微软雅黑"/>
                <a:ea typeface="微软雅黑"/>
                <a:cs typeface="微软雅黑"/>
              </a:rPr>
              <a:t>完成变电、输电专业认证表与岗位说明书口径配置，复制到其他专业班组</a:t>
            </a:r>
          </a:p>
        </p:txBody>
      </p:sp>
      <p:sp>
        <p:nvSpPr>
          <p:cNvPr id="24" name="Rectangle 23"/>
          <p:cNvSpPr/>
          <p:nvPr/>
        </p:nvSpPr>
        <p:spPr>
          <a:xfrm>
            <a:off x="5943600" y="4069079"/>
            <a:ext cx="5925312" cy="98755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080760" y="4334255"/>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3</a:t>
            </a:r>
          </a:p>
        </p:txBody>
      </p:sp>
      <p:sp>
        <p:nvSpPr>
          <p:cNvPr id="26" name="TextBox 25"/>
          <p:cNvSpPr txBox="1"/>
          <p:nvPr/>
        </p:nvSpPr>
        <p:spPr>
          <a:xfrm>
            <a:off x="6675120" y="4123943"/>
            <a:ext cx="5056632"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能力深化</a:t>
            </a:r>
          </a:p>
        </p:txBody>
      </p:sp>
      <p:sp>
        <p:nvSpPr>
          <p:cNvPr id="27" name="TextBox 26"/>
          <p:cNvSpPr txBox="1"/>
          <p:nvPr/>
        </p:nvSpPr>
        <p:spPr>
          <a:xfrm>
            <a:off x="6675120" y="4416551"/>
            <a:ext cx="5056632" cy="603504"/>
          </a:xfrm>
          <a:prstGeom prst="rect">
            <a:avLst/>
          </a:prstGeom>
          <a:noFill/>
        </p:spPr>
        <p:txBody>
          <a:bodyPr wrap="square" anchor="t" lIns="45720" rIns="45720" tIns="27432" bIns="27432">
            <a:spAutoFit/>
          </a:bodyPr>
          <a:lstStyle/>
          <a:p>
            <a:pPr algn="l">
              <a:lnSpc>
                <a:spcPct val="112000"/>
              </a:lnSpc>
            </a:pPr>
            <a:r>
              <a:rPr sz="1100" b="0" lang="zh-CN" altLang="en-US">
                <a:solidFill>
                  <a:srgbClr val="262626"/>
                </a:solidFill>
                <a:latin typeface="微软雅黑"/>
                <a:ea typeface="微软雅黑"/>
                <a:cs typeface="微软雅黑"/>
              </a:rPr>
              <a:t>文稿、诊断、参谋能力接入大瓦特大模型在线服务，知识库持续沉淀</a:t>
            </a:r>
          </a:p>
        </p:txBody>
      </p:sp>
      <p:sp>
        <p:nvSpPr>
          <p:cNvPr id="28" name="Rectangle 27"/>
          <p:cNvSpPr/>
          <p:nvPr/>
        </p:nvSpPr>
        <p:spPr>
          <a:xfrm>
            <a:off x="5943600" y="5166359"/>
            <a:ext cx="5925312" cy="98755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080760" y="5431536"/>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4</a:t>
            </a:r>
          </a:p>
        </p:txBody>
      </p:sp>
      <p:sp>
        <p:nvSpPr>
          <p:cNvPr id="30" name="TextBox 29"/>
          <p:cNvSpPr txBox="1"/>
          <p:nvPr/>
        </p:nvSpPr>
        <p:spPr>
          <a:xfrm>
            <a:off x="6675120" y="5221223"/>
            <a:ext cx="5056632"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知识沉淀</a:t>
            </a:r>
          </a:p>
        </p:txBody>
      </p:sp>
      <p:sp>
        <p:nvSpPr>
          <p:cNvPr id="31" name="TextBox 30"/>
          <p:cNvSpPr txBox="1"/>
          <p:nvPr/>
        </p:nvSpPr>
        <p:spPr>
          <a:xfrm>
            <a:off x="6675120" y="5513831"/>
            <a:ext cx="5056632" cy="603504"/>
          </a:xfrm>
          <a:prstGeom prst="rect">
            <a:avLst/>
          </a:prstGeom>
          <a:noFill/>
        </p:spPr>
        <p:txBody>
          <a:bodyPr wrap="square" anchor="t" lIns="45720" rIns="45720" tIns="27432" bIns="27432">
            <a:spAutoFit/>
          </a:bodyPr>
          <a:lstStyle/>
          <a:p>
            <a:pPr algn="l">
              <a:lnSpc>
                <a:spcPct val="112000"/>
              </a:lnSpc>
            </a:pPr>
            <a:r>
              <a:rPr sz="1100" b="0" lang="zh-CN" altLang="en-US">
                <a:solidFill>
                  <a:srgbClr val="262626"/>
                </a:solidFill>
                <a:latin typeface="微软雅黑"/>
                <a:ea typeface="微软雅黑"/>
                <a:cs typeface="微软雅黑"/>
              </a:rPr>
              <a:t>班组案例与骨干经验整理为可检索条目，形成公司级班组知识库</a:t>
            </a:r>
          </a:p>
        </p:txBody>
      </p:sp>
      <p:sp>
        <p:nvSpPr>
          <p:cNvPr id="32" name="Rectangle 31"/>
          <p:cNvSpPr/>
          <p:nvPr/>
        </p:nvSpPr>
        <p:spPr>
          <a:xfrm>
            <a:off x="320040" y="5806440"/>
            <a:ext cx="11548872" cy="4572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57200" y="5806440"/>
            <a:ext cx="11247120" cy="457200"/>
          </a:xfrm>
          <a:prstGeom prst="rect">
            <a:avLst/>
          </a:prstGeom>
          <a:noFill/>
        </p:spPr>
        <p:txBody>
          <a:bodyPr wrap="square" anchor="ctr" lIns="45720" rIns="45720" tIns="27432" bIns="27432">
            <a:spAutoFit/>
          </a:bodyPr>
          <a:lstStyle/>
          <a:p>
            <a:pPr algn="l"/>
            <a:r>
              <a:rPr sz="1150" b="1" lang="zh-CN" altLang="en-US">
                <a:solidFill>
                  <a:srgbClr val="002060"/>
                </a:solidFill>
                <a:latin typeface="微软雅黑"/>
                <a:ea typeface="微软雅黑"/>
                <a:cs typeface="微软雅黑"/>
              </a:rPr>
              <a:t>开发计划与推广计划同步推进：部门试点 → 全局复制 → 网省推广。</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四、推广价值</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价值定位：班组强则公司强——呼应开篇，对公司、对南方电网集团的要求有了持续响应</a:t>
            </a:r>
          </a:p>
        </p:txBody>
      </p:sp>
      <p:sp>
        <p:nvSpPr>
          <p:cNvPr id="5" name="Rectangle 4"/>
          <p:cNvSpPr/>
          <p:nvPr/>
        </p:nvSpPr>
        <p:spPr>
          <a:xfrm>
            <a:off x="320040" y="1371600"/>
            <a:ext cx="11548872" cy="9601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1371600"/>
            <a:ext cx="11064240" cy="960120"/>
          </a:xfrm>
          <a:prstGeom prst="rect">
            <a:avLst/>
          </a:prstGeom>
          <a:noFill/>
        </p:spPr>
        <p:txBody>
          <a:bodyPr wrap="square" anchor="ctr" lIns="45720" rIns="45720" tIns="27432" bIns="27432">
            <a:spAutoFit/>
          </a:bodyPr>
          <a:lstStyle/>
          <a:p>
            <a:pPr algn="ctr">
              <a:lnSpc>
                <a:spcPct val="125000"/>
              </a:lnSpc>
            </a:pPr>
            <a:r>
              <a:rPr sz="1900" b="1" lang="zh-CN" altLang="en-US">
                <a:solidFill>
                  <a:srgbClr val="FFFFFF"/>
                </a:solidFill>
                <a:latin typeface="微软雅黑"/>
                <a:ea typeface="微软雅黑"/>
                <a:cs typeface="微软雅黑"/>
              </a:rPr>
              <a:t>把公司已有的数据在班组这一级变成了派工的理由、考评的证据、建设的差距清单和带队伍的参谋</a:t>
            </a:r>
          </a:p>
        </p:txBody>
      </p:sp>
      <p:sp>
        <p:nvSpPr>
          <p:cNvPr id="7" name="Rectangle 6"/>
          <p:cNvSpPr/>
          <p:nvPr/>
        </p:nvSpPr>
        <p:spPr>
          <a:xfrm>
            <a:off x="320040" y="2514600"/>
            <a:ext cx="2770632" cy="56692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50" b="1" lang="zh-CN" altLang="en-US">
                <a:solidFill>
                  <a:srgbClr val="FFFFFF"/>
                </a:solidFill>
                <a:latin typeface="微软雅黑"/>
                <a:ea typeface="微软雅黑"/>
                <a:cs typeface="微软雅黑"/>
              </a:rPr>
              <a:t>对班组长</a:t>
            </a:r>
          </a:p>
        </p:txBody>
      </p:sp>
      <p:sp>
        <p:nvSpPr>
          <p:cNvPr id="8" name="Rectangle 7"/>
          <p:cNvSpPr/>
          <p:nvPr/>
        </p:nvSpPr>
        <p:spPr>
          <a:xfrm>
            <a:off x="320040" y="3081528"/>
            <a:ext cx="2770632" cy="22860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29768" y="3172968"/>
            <a:ext cx="2560320" cy="210312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回到判断与确认。时间从找数、抄数、排版回到现场管理和人员培养，每月减少约 25 小时事务性工作。</a:t>
            </a:r>
          </a:p>
        </p:txBody>
      </p:sp>
      <p:sp>
        <p:nvSpPr>
          <p:cNvPr id="10" name="Rectangle 9"/>
          <p:cNvSpPr/>
          <p:nvPr/>
        </p:nvSpPr>
        <p:spPr>
          <a:xfrm>
            <a:off x="3246120" y="2514600"/>
            <a:ext cx="2770632" cy="56692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50" b="1" lang="zh-CN" altLang="en-US">
                <a:solidFill>
                  <a:srgbClr val="FFFFFF"/>
                </a:solidFill>
                <a:latin typeface="微软雅黑"/>
                <a:ea typeface="微软雅黑"/>
                <a:cs typeface="微软雅黑"/>
              </a:rPr>
              <a:t>对管理者</a:t>
            </a:r>
          </a:p>
        </p:txBody>
      </p:sp>
      <p:sp>
        <p:nvSpPr>
          <p:cNvPr id="11" name="Rectangle 10"/>
          <p:cNvSpPr/>
          <p:nvPr/>
        </p:nvSpPr>
        <p:spPr>
          <a:xfrm>
            <a:off x="3246120" y="3081528"/>
            <a:ext cx="2770632" cy="22860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355848" y="3172968"/>
            <a:ext cx="2560320" cy="210312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每一个决定落到班组长的确认。看得全、督得到、配得动，班长考评与跨班组调配有同源数据。</a:t>
            </a:r>
          </a:p>
        </p:txBody>
      </p:sp>
      <p:sp>
        <p:nvSpPr>
          <p:cNvPr id="13" name="Rectangle 12"/>
          <p:cNvSpPr/>
          <p:nvPr/>
        </p:nvSpPr>
        <p:spPr>
          <a:xfrm>
            <a:off x="6172200" y="2514600"/>
            <a:ext cx="2770632" cy="566928"/>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50" b="1" lang="zh-CN" altLang="en-US">
                <a:solidFill>
                  <a:srgbClr val="FFFFFF"/>
                </a:solidFill>
                <a:latin typeface="微软雅黑"/>
                <a:ea typeface="微软雅黑"/>
                <a:cs typeface="微软雅黑"/>
              </a:rPr>
              <a:t>对公司（呼应“如何贴合公司要求”）</a:t>
            </a:r>
          </a:p>
        </p:txBody>
      </p:sp>
      <p:sp>
        <p:nvSpPr>
          <p:cNvPr id="14" name="Rectangle 13"/>
          <p:cNvSpPr/>
          <p:nvPr/>
        </p:nvSpPr>
        <p:spPr>
          <a:xfrm>
            <a:off x="6172200" y="3081528"/>
            <a:ext cx="2770632" cy="22860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281928" y="3172968"/>
            <a:ext cx="2560320" cy="210312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作业授权认证表、星级评价标准、业绩责任书等公司管理要求在班组一级有了数字化的执行与反馈；班组数据一次产生、局级公司级复用，成为公司人力资源数智化的基础单元。</a:t>
            </a:r>
          </a:p>
        </p:txBody>
      </p:sp>
      <p:sp>
        <p:nvSpPr>
          <p:cNvPr id="16" name="Rectangle 15"/>
          <p:cNvSpPr/>
          <p:nvPr/>
        </p:nvSpPr>
        <p:spPr>
          <a:xfrm>
            <a:off x="9098280" y="2514600"/>
            <a:ext cx="2770632" cy="566928"/>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50" b="1" lang="zh-CN" altLang="en-US">
                <a:solidFill>
                  <a:srgbClr val="FFFFFF"/>
                </a:solidFill>
                <a:latin typeface="微软雅黑"/>
                <a:ea typeface="微软雅黑"/>
                <a:cs typeface="微软雅黑"/>
              </a:rPr>
              <a:t>对南方电网集团（呼应“对集团要求的响应”）</a:t>
            </a:r>
          </a:p>
        </p:txBody>
      </p:sp>
      <p:sp>
        <p:nvSpPr>
          <p:cNvPr id="17" name="Rectangle 16"/>
          <p:cNvSpPr/>
          <p:nvPr/>
        </p:nvSpPr>
        <p:spPr>
          <a:xfrm>
            <a:off x="9098280" y="3081528"/>
            <a:ext cx="2770632" cy="22860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208008" y="3172968"/>
            <a:ext cx="2560320" cy="210312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集团数字化转型与数字电网建设、人才强企、星级班组建设、业绩责任书与绩效管理、安全生产责任制与基层减负、人工智能应用六项要求，在班组一级有了持续、可检查的响应机制：结构化留痕 → 统一口径向上汇聚 → 按周期自动形成结果。</a:t>
            </a:r>
          </a:p>
        </p:txBody>
      </p:sp>
      <p:sp>
        <p:nvSpPr>
          <p:cNvPr id="19" name="Rectangle 18"/>
          <p:cNvSpPr/>
          <p:nvPr/>
        </p:nvSpPr>
        <p:spPr>
          <a:xfrm>
            <a:off x="320040" y="5532120"/>
            <a:ext cx="11548872" cy="731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320040" y="5532120"/>
            <a:ext cx="91440" cy="7315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48640" y="5532120"/>
            <a:ext cx="11064240" cy="731520"/>
          </a:xfrm>
          <a:prstGeom prst="rect">
            <a:avLst/>
          </a:prstGeom>
          <a:noFill/>
        </p:spPr>
        <p:txBody>
          <a:bodyPr wrap="square" anchor="ctr" lIns="45720" rIns="45720" tIns="27432" bIns="27432">
            <a:spAutoFit/>
          </a:bodyPr>
          <a:lstStyle/>
          <a:p>
            <a:pPr algn="l">
              <a:lnSpc>
                <a:spcPct val="115000"/>
              </a:lnSpc>
            </a:pPr>
            <a:r>
              <a:rPr sz="1300" b="1" lang="zh-CN" altLang="en-US">
                <a:solidFill>
                  <a:srgbClr val="002060"/>
                </a:solidFill>
                <a:latin typeface="微软雅黑"/>
                <a:ea typeface="微软雅黑"/>
                <a:cs typeface="微软雅黑"/>
              </a:rPr>
              <a:t>让数字化转型在公司最基层的生产组织里持续运转。</a:t>
            </a:r>
          </a:p>
          <a:p>
            <a:pPr algn="l">
              <a:lnSpc>
                <a:spcPct val="115000"/>
              </a:lnSpc>
            </a:pPr>
            <a:r>
              <a:rPr sz="1100" b="0" lang="zh-CN" altLang="en-US">
                <a:solidFill>
                  <a:srgbClr val="262626"/>
                </a:solidFill>
                <a:latin typeface="微软雅黑"/>
                <a:ea typeface="微软雅黑"/>
                <a:cs typeface="微软雅黑"/>
              </a:rPr>
              <a:t>投运后班组数据按统一口径向上汇聚、星级对标与授权盘点按周期自动形成、班长绩效按责任书自动取数——公司的管理要求与南方电网集团对班组建设、人才队伍、绩效管理、安全生产、基层减负与人工智能应用的要求，在班组一级有了持续响应的机制，为集团提供可复制的班组级数字化样板。</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五、团队介绍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团队成员相关信息与具体职能分工</a:t>
            </a:r>
          </a:p>
        </p:txBody>
      </p:sp>
      <p:sp>
        <p:nvSpPr>
          <p:cNvPr id="5" name="Rectangle 4"/>
          <p:cNvSpPr/>
          <p:nvPr/>
        </p:nvSpPr>
        <p:spPr>
          <a:xfrm>
            <a:off x="320040" y="1371600"/>
            <a:ext cx="2770632" cy="4572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业务负责人</a:t>
            </a:r>
          </a:p>
        </p:txBody>
      </p:sp>
      <p:sp>
        <p:nvSpPr>
          <p:cNvPr id="6" name="Rectangle 5"/>
          <p:cNvSpPr/>
          <p:nvPr/>
        </p:nvSpPr>
        <p:spPr>
          <a:xfrm>
            <a:off x="320040" y="1828800"/>
            <a:ext cx="2770632" cy="3931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202435" y="2057400"/>
            <a:ext cx="1005840" cy="1005840"/>
          </a:xfrm>
          <a:prstGeom prst="ellipse">
            <a:avLst/>
          </a:prstGeom>
          <a:solidFill>
            <a:srgbClr val="CDCDC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
            </a:r>
          </a:p>
        </p:txBody>
      </p:sp>
      <p:sp>
        <p:nvSpPr>
          <p:cNvPr id="8" name="TextBox 7"/>
          <p:cNvSpPr txBox="1"/>
          <p:nvPr/>
        </p:nvSpPr>
        <p:spPr>
          <a:xfrm>
            <a:off x="320040" y="3200400"/>
            <a:ext cx="2770632" cy="411480"/>
          </a:xfrm>
          <a:prstGeom prst="rect">
            <a:avLst/>
          </a:prstGeom>
          <a:noFill/>
        </p:spPr>
        <p:txBody>
          <a:bodyPr wrap="square" anchor="ctr" lIns="45720" rIns="45720" tIns="27432" bIns="27432">
            <a:spAutoFit/>
          </a:bodyPr>
          <a:lstStyle/>
          <a:p>
            <a:pPr algn="ctr"/>
            <a:r>
              <a:rPr sz="1600" b="1" lang="zh-CN" altLang="en-US">
                <a:solidFill>
                  <a:srgbClr val="262626"/>
                </a:solidFill>
                <a:latin typeface="微软雅黑"/>
                <a:ea typeface="微软雅黑"/>
                <a:cs typeface="微软雅黑"/>
              </a:rPr>
              <a:t>（填写姓名）</a:t>
            </a:r>
          </a:p>
        </p:txBody>
      </p:sp>
      <p:sp>
        <p:nvSpPr>
          <p:cNvPr id="9" name="TextBox 8"/>
          <p:cNvSpPr txBox="1"/>
          <p:nvPr/>
        </p:nvSpPr>
        <p:spPr>
          <a:xfrm>
            <a:off x="320040" y="3611880"/>
            <a:ext cx="2770632" cy="320040"/>
          </a:xfrm>
          <a:prstGeom prst="rect">
            <a:avLst/>
          </a:prstGeom>
          <a:noFill/>
        </p:spPr>
        <p:txBody>
          <a:bodyPr wrap="square" anchor="ctr" lIns="45720" rIns="45720" tIns="27432" bIns="27432">
            <a:spAutoFit/>
          </a:bodyPr>
          <a:lstStyle/>
          <a:p>
            <a:pPr algn="ctr"/>
            <a:r>
              <a:rPr sz="1100" b="0" lang="zh-CN" altLang="en-US">
                <a:solidFill>
                  <a:srgbClr val="595959"/>
                </a:solidFill>
                <a:latin typeface="微软雅黑"/>
                <a:ea typeface="微软雅黑"/>
                <a:cs typeface="微软雅黑"/>
              </a:rPr>
              <a:t>单位 · 岗位</a:t>
            </a:r>
          </a:p>
        </p:txBody>
      </p:sp>
      <p:sp>
        <p:nvSpPr>
          <p:cNvPr id="10" name="Rectangle 9"/>
          <p:cNvSpPr/>
          <p:nvPr/>
        </p:nvSpPr>
        <p:spPr>
          <a:xfrm>
            <a:off x="1143000" y="4023360"/>
            <a:ext cx="1124712" cy="2743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02920" y="4160520"/>
            <a:ext cx="2404872" cy="1463040"/>
          </a:xfrm>
          <a:prstGeom prst="rect">
            <a:avLst/>
          </a:prstGeom>
          <a:noFill/>
        </p:spPr>
        <p:txBody>
          <a:bodyPr wrap="square" anchor="t" lIns="45720" rIns="45720" tIns="27432" bIns="27432">
            <a:spAutoFit/>
          </a:bodyPr>
          <a:lstStyle/>
          <a:p>
            <a:pPr algn="ctr">
              <a:lnSpc>
                <a:spcPct val="120000"/>
              </a:lnSpc>
            </a:pPr>
            <a:r>
              <a:rPr sz="1100" b="0" lang="zh-CN" altLang="en-US">
                <a:solidFill>
                  <a:srgbClr val="262626"/>
                </a:solidFill>
                <a:latin typeface="微软雅黑"/>
                <a:ea typeface="微软雅黑"/>
                <a:cs typeface="微软雅黑"/>
              </a:rPr>
              <a:t>提出业务需求与规则口径；组织班组长、部门管理者参与验证；确认指标阈值与评价口径</a:t>
            </a:r>
          </a:p>
        </p:txBody>
      </p:sp>
      <p:sp>
        <p:nvSpPr>
          <p:cNvPr id="12" name="Rectangle 11"/>
          <p:cNvSpPr/>
          <p:nvPr/>
        </p:nvSpPr>
        <p:spPr>
          <a:xfrm>
            <a:off x="3246120" y="1371600"/>
            <a:ext cx="2770632" cy="4572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技术负责人</a:t>
            </a:r>
          </a:p>
        </p:txBody>
      </p:sp>
      <p:sp>
        <p:nvSpPr>
          <p:cNvPr id="13" name="Rectangle 12"/>
          <p:cNvSpPr/>
          <p:nvPr/>
        </p:nvSpPr>
        <p:spPr>
          <a:xfrm>
            <a:off x="3246120" y="1828800"/>
            <a:ext cx="2770632" cy="3931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28516" y="2057400"/>
            <a:ext cx="1005840" cy="1005840"/>
          </a:xfrm>
          <a:prstGeom prst="ellipse">
            <a:avLst/>
          </a:prstGeom>
          <a:solidFill>
            <a:srgbClr val="CDCDC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
            </a:r>
          </a:p>
        </p:txBody>
      </p:sp>
      <p:sp>
        <p:nvSpPr>
          <p:cNvPr id="15" name="TextBox 14"/>
          <p:cNvSpPr txBox="1"/>
          <p:nvPr/>
        </p:nvSpPr>
        <p:spPr>
          <a:xfrm>
            <a:off x="3246120" y="3200400"/>
            <a:ext cx="2770632" cy="411480"/>
          </a:xfrm>
          <a:prstGeom prst="rect">
            <a:avLst/>
          </a:prstGeom>
          <a:noFill/>
        </p:spPr>
        <p:txBody>
          <a:bodyPr wrap="square" anchor="ctr" lIns="45720" rIns="45720" tIns="27432" bIns="27432">
            <a:spAutoFit/>
          </a:bodyPr>
          <a:lstStyle/>
          <a:p>
            <a:pPr algn="ctr"/>
            <a:r>
              <a:rPr sz="1600" b="1" lang="zh-CN" altLang="en-US">
                <a:solidFill>
                  <a:srgbClr val="262626"/>
                </a:solidFill>
                <a:latin typeface="微软雅黑"/>
                <a:ea typeface="微软雅黑"/>
                <a:cs typeface="微软雅黑"/>
              </a:rPr>
              <a:t>（填写姓名）</a:t>
            </a:r>
          </a:p>
        </p:txBody>
      </p:sp>
      <p:sp>
        <p:nvSpPr>
          <p:cNvPr id="16" name="TextBox 15"/>
          <p:cNvSpPr txBox="1"/>
          <p:nvPr/>
        </p:nvSpPr>
        <p:spPr>
          <a:xfrm>
            <a:off x="3246120" y="3611880"/>
            <a:ext cx="2770632" cy="320040"/>
          </a:xfrm>
          <a:prstGeom prst="rect">
            <a:avLst/>
          </a:prstGeom>
          <a:noFill/>
        </p:spPr>
        <p:txBody>
          <a:bodyPr wrap="square" anchor="ctr" lIns="45720" rIns="45720" tIns="27432" bIns="27432">
            <a:spAutoFit/>
          </a:bodyPr>
          <a:lstStyle/>
          <a:p>
            <a:pPr algn="ctr"/>
            <a:r>
              <a:rPr sz="1100" b="0" lang="zh-CN" altLang="en-US">
                <a:solidFill>
                  <a:srgbClr val="595959"/>
                </a:solidFill>
                <a:latin typeface="微软雅黑"/>
                <a:ea typeface="微软雅黑"/>
                <a:cs typeface="微软雅黑"/>
              </a:rPr>
              <a:t>单位 · 岗位</a:t>
            </a:r>
          </a:p>
        </p:txBody>
      </p:sp>
      <p:sp>
        <p:nvSpPr>
          <p:cNvPr id="17" name="Rectangle 16"/>
          <p:cNvSpPr/>
          <p:nvPr/>
        </p:nvSpPr>
        <p:spPr>
          <a:xfrm>
            <a:off x="4069080" y="4023360"/>
            <a:ext cx="1124712" cy="2743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429000" y="4160520"/>
            <a:ext cx="2404872" cy="1463040"/>
          </a:xfrm>
          <a:prstGeom prst="rect">
            <a:avLst/>
          </a:prstGeom>
          <a:noFill/>
        </p:spPr>
        <p:txBody>
          <a:bodyPr wrap="square" anchor="t" lIns="45720" rIns="45720" tIns="27432" bIns="27432">
            <a:spAutoFit/>
          </a:bodyPr>
          <a:lstStyle/>
          <a:p>
            <a:pPr algn="ctr">
              <a:lnSpc>
                <a:spcPct val="120000"/>
              </a:lnSpc>
            </a:pPr>
            <a:r>
              <a:rPr sz="1100" b="0" lang="zh-CN" altLang="en-US">
                <a:solidFill>
                  <a:srgbClr val="262626"/>
                </a:solidFill>
                <a:latin typeface="微软雅黑"/>
                <a:ea typeface="微软雅黑"/>
                <a:cs typeface="微软雅黑"/>
              </a:rPr>
              <a:t>负责数据归集、指标模型与业务规则实现、平台对接与内网部署</a:t>
            </a:r>
          </a:p>
        </p:txBody>
      </p:sp>
      <p:sp>
        <p:nvSpPr>
          <p:cNvPr id="19" name="Rectangle 18"/>
          <p:cNvSpPr/>
          <p:nvPr/>
        </p:nvSpPr>
        <p:spPr>
          <a:xfrm>
            <a:off x="6172200" y="1371600"/>
            <a:ext cx="2770632" cy="4572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项目负责人</a:t>
            </a:r>
          </a:p>
        </p:txBody>
      </p:sp>
      <p:sp>
        <p:nvSpPr>
          <p:cNvPr id="20" name="Rectangle 19"/>
          <p:cNvSpPr/>
          <p:nvPr/>
        </p:nvSpPr>
        <p:spPr>
          <a:xfrm>
            <a:off x="6172200" y="1828800"/>
            <a:ext cx="2770632" cy="3931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7054596" y="2057400"/>
            <a:ext cx="1005840" cy="1005840"/>
          </a:xfrm>
          <a:prstGeom prst="ellipse">
            <a:avLst/>
          </a:prstGeom>
          <a:solidFill>
            <a:srgbClr val="CDCDC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
            </a:r>
          </a:p>
        </p:txBody>
      </p:sp>
      <p:sp>
        <p:nvSpPr>
          <p:cNvPr id="22" name="TextBox 21"/>
          <p:cNvSpPr txBox="1"/>
          <p:nvPr/>
        </p:nvSpPr>
        <p:spPr>
          <a:xfrm>
            <a:off x="6172200" y="3200400"/>
            <a:ext cx="2770632" cy="411480"/>
          </a:xfrm>
          <a:prstGeom prst="rect">
            <a:avLst/>
          </a:prstGeom>
          <a:noFill/>
        </p:spPr>
        <p:txBody>
          <a:bodyPr wrap="square" anchor="ctr" lIns="45720" rIns="45720" tIns="27432" bIns="27432">
            <a:spAutoFit/>
          </a:bodyPr>
          <a:lstStyle/>
          <a:p>
            <a:pPr algn="ctr"/>
            <a:r>
              <a:rPr sz="1600" b="1" lang="zh-CN" altLang="en-US">
                <a:solidFill>
                  <a:srgbClr val="262626"/>
                </a:solidFill>
                <a:latin typeface="微软雅黑"/>
                <a:ea typeface="微软雅黑"/>
                <a:cs typeface="微软雅黑"/>
              </a:rPr>
              <a:t>（填写姓名）</a:t>
            </a:r>
          </a:p>
        </p:txBody>
      </p:sp>
      <p:sp>
        <p:nvSpPr>
          <p:cNvPr id="23" name="TextBox 22"/>
          <p:cNvSpPr txBox="1"/>
          <p:nvPr/>
        </p:nvSpPr>
        <p:spPr>
          <a:xfrm>
            <a:off x="6172200" y="3611880"/>
            <a:ext cx="2770632" cy="320040"/>
          </a:xfrm>
          <a:prstGeom prst="rect">
            <a:avLst/>
          </a:prstGeom>
          <a:noFill/>
        </p:spPr>
        <p:txBody>
          <a:bodyPr wrap="square" anchor="ctr" lIns="45720" rIns="45720" tIns="27432" bIns="27432">
            <a:spAutoFit/>
          </a:bodyPr>
          <a:lstStyle/>
          <a:p>
            <a:pPr algn="ctr"/>
            <a:r>
              <a:rPr sz="1100" b="0" lang="zh-CN" altLang="en-US">
                <a:solidFill>
                  <a:srgbClr val="595959"/>
                </a:solidFill>
                <a:latin typeface="微软雅黑"/>
                <a:ea typeface="微软雅黑"/>
                <a:cs typeface="微软雅黑"/>
              </a:rPr>
              <a:t>单位 · 岗位</a:t>
            </a:r>
          </a:p>
        </p:txBody>
      </p:sp>
      <p:sp>
        <p:nvSpPr>
          <p:cNvPr id="24" name="Rectangle 23"/>
          <p:cNvSpPr/>
          <p:nvPr/>
        </p:nvSpPr>
        <p:spPr>
          <a:xfrm>
            <a:off x="6995160" y="4023360"/>
            <a:ext cx="1124712" cy="2743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55080" y="4160520"/>
            <a:ext cx="2404872" cy="1463040"/>
          </a:xfrm>
          <a:prstGeom prst="rect">
            <a:avLst/>
          </a:prstGeom>
          <a:noFill/>
        </p:spPr>
        <p:txBody>
          <a:bodyPr wrap="square" anchor="t" lIns="45720" rIns="45720" tIns="27432" bIns="27432">
            <a:spAutoFit/>
          </a:bodyPr>
          <a:lstStyle/>
          <a:p>
            <a:pPr algn="ctr">
              <a:lnSpc>
                <a:spcPct val="120000"/>
              </a:lnSpc>
            </a:pPr>
            <a:r>
              <a:rPr sz="1100" b="0" lang="zh-CN" altLang="en-US">
                <a:solidFill>
                  <a:srgbClr val="262626"/>
                </a:solidFill>
                <a:latin typeface="微软雅黑"/>
                <a:ea typeface="微软雅黑"/>
                <a:cs typeface="微软雅黑"/>
              </a:rPr>
              <a:t>统筹进度、资源与质量，组织阶段评审与验收</a:t>
            </a:r>
          </a:p>
        </p:txBody>
      </p:sp>
      <p:sp>
        <p:nvSpPr>
          <p:cNvPr id="26" name="Rectangle 25"/>
          <p:cNvSpPr/>
          <p:nvPr/>
        </p:nvSpPr>
        <p:spPr>
          <a:xfrm>
            <a:off x="9098280" y="1371600"/>
            <a:ext cx="2770632" cy="4572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演示负责人</a:t>
            </a:r>
          </a:p>
        </p:txBody>
      </p:sp>
      <p:sp>
        <p:nvSpPr>
          <p:cNvPr id="27" name="Rectangle 26"/>
          <p:cNvSpPr/>
          <p:nvPr/>
        </p:nvSpPr>
        <p:spPr>
          <a:xfrm>
            <a:off x="9098280" y="1828800"/>
            <a:ext cx="2770632" cy="3931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9980676" y="2057400"/>
            <a:ext cx="1005840" cy="1005840"/>
          </a:xfrm>
          <a:prstGeom prst="ellipse">
            <a:avLst/>
          </a:prstGeom>
          <a:solidFill>
            <a:srgbClr val="CDCDC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
            </a:r>
          </a:p>
        </p:txBody>
      </p:sp>
      <p:sp>
        <p:nvSpPr>
          <p:cNvPr id="29" name="TextBox 28"/>
          <p:cNvSpPr txBox="1"/>
          <p:nvPr/>
        </p:nvSpPr>
        <p:spPr>
          <a:xfrm>
            <a:off x="9098280" y="3200400"/>
            <a:ext cx="2770632" cy="411480"/>
          </a:xfrm>
          <a:prstGeom prst="rect">
            <a:avLst/>
          </a:prstGeom>
          <a:noFill/>
        </p:spPr>
        <p:txBody>
          <a:bodyPr wrap="square" anchor="ctr" lIns="45720" rIns="45720" tIns="27432" bIns="27432">
            <a:spAutoFit/>
          </a:bodyPr>
          <a:lstStyle/>
          <a:p>
            <a:pPr algn="ctr"/>
            <a:r>
              <a:rPr sz="1600" b="1" lang="zh-CN" altLang="en-US">
                <a:solidFill>
                  <a:srgbClr val="262626"/>
                </a:solidFill>
                <a:latin typeface="微软雅黑"/>
                <a:ea typeface="微软雅黑"/>
                <a:cs typeface="微软雅黑"/>
              </a:rPr>
              <a:t>（填写姓名）</a:t>
            </a:r>
          </a:p>
        </p:txBody>
      </p:sp>
      <p:sp>
        <p:nvSpPr>
          <p:cNvPr id="30" name="TextBox 29"/>
          <p:cNvSpPr txBox="1"/>
          <p:nvPr/>
        </p:nvSpPr>
        <p:spPr>
          <a:xfrm>
            <a:off x="9098280" y="3611880"/>
            <a:ext cx="2770632" cy="320040"/>
          </a:xfrm>
          <a:prstGeom prst="rect">
            <a:avLst/>
          </a:prstGeom>
          <a:noFill/>
        </p:spPr>
        <p:txBody>
          <a:bodyPr wrap="square" anchor="ctr" lIns="45720" rIns="45720" tIns="27432" bIns="27432">
            <a:spAutoFit/>
          </a:bodyPr>
          <a:lstStyle/>
          <a:p>
            <a:pPr algn="ctr"/>
            <a:r>
              <a:rPr sz="1100" b="0" lang="zh-CN" altLang="en-US">
                <a:solidFill>
                  <a:srgbClr val="595959"/>
                </a:solidFill>
                <a:latin typeface="微软雅黑"/>
                <a:ea typeface="微软雅黑"/>
                <a:cs typeface="微软雅黑"/>
              </a:rPr>
              <a:t>单位 · 岗位</a:t>
            </a:r>
          </a:p>
        </p:txBody>
      </p:sp>
      <p:sp>
        <p:nvSpPr>
          <p:cNvPr id="31" name="Rectangle 30"/>
          <p:cNvSpPr/>
          <p:nvPr/>
        </p:nvSpPr>
        <p:spPr>
          <a:xfrm>
            <a:off x="9921240" y="4023360"/>
            <a:ext cx="1124712" cy="2743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281160" y="4160520"/>
            <a:ext cx="2404872" cy="1463040"/>
          </a:xfrm>
          <a:prstGeom prst="rect">
            <a:avLst/>
          </a:prstGeom>
          <a:noFill/>
        </p:spPr>
        <p:txBody>
          <a:bodyPr wrap="square" anchor="t" lIns="45720" rIns="45720" tIns="27432" bIns="27432">
            <a:spAutoFit/>
          </a:bodyPr>
          <a:lstStyle/>
          <a:p>
            <a:pPr algn="ctr">
              <a:lnSpc>
                <a:spcPct val="120000"/>
              </a:lnSpc>
            </a:pPr>
            <a:r>
              <a:rPr sz="1100" b="0" lang="zh-CN" altLang="en-US">
                <a:solidFill>
                  <a:srgbClr val="262626"/>
                </a:solidFill>
                <a:latin typeface="微软雅黑"/>
                <a:ea typeface="微软雅黑"/>
                <a:cs typeface="微软雅黑"/>
              </a:rPr>
              <a:t>负责演示路径设计、现场汇报与答辩</a:t>
            </a:r>
          </a:p>
        </p:txBody>
      </p:sp>
      <p:sp>
        <p:nvSpPr>
          <p:cNvPr id="33" name="TextBox 32"/>
          <p:cNvSpPr txBox="1"/>
          <p:nvPr/>
        </p:nvSpPr>
        <p:spPr>
          <a:xfrm>
            <a:off x="320040" y="5897880"/>
            <a:ext cx="11548872" cy="365760"/>
          </a:xfrm>
          <a:prstGeom prst="rect">
            <a:avLst/>
          </a:prstGeom>
          <a:noFill/>
        </p:spPr>
        <p:txBody>
          <a:bodyPr wrap="square" anchor="ctr" lIns="45720" rIns="45720" tIns="27432" bIns="27432">
            <a:spAutoFit/>
          </a:bodyPr>
          <a:lstStyle/>
          <a:p>
            <a:pPr algn="ctr"/>
            <a:r>
              <a:rPr sz="1250" b="0" lang="zh-CN" altLang="en-US">
                <a:solidFill>
                  <a:srgbClr val="262626"/>
                </a:solidFill>
                <a:latin typeface="微软雅黑"/>
                <a:ea typeface="微软雅黑"/>
                <a:cs typeface="微软雅黑"/>
              </a:rPr>
              <a:t>申报单位：深圳供电局有限公司　·　业务单位：光明供电局配网资产部</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ISLIDE.ICON" val="#109888;#164837;"/>
</p:tagLst>
</file>

<file path=ppt/tags/tag3.xml><?xml version="1.0" encoding="utf-8"?>
<p:tagLst xmlns:a="http://schemas.openxmlformats.org/drawingml/2006/main" xmlns:r="http://schemas.openxmlformats.org/officeDocument/2006/relationships" xmlns:p="http://schemas.openxmlformats.org/presentationml/2006/main">
  <p:tag name="ISLIDE.ICON" val="#109888;#164837;"/>
</p:tagLst>
</file>

<file path=ppt/tags/tag4.xml><?xml version="1.0" encoding="utf-8"?>
<p:tagLst xmlns:a="http://schemas.openxmlformats.org/drawingml/2006/main" xmlns:r="http://schemas.openxmlformats.org/officeDocument/2006/relationships" xmlns:p="http://schemas.openxmlformats.org/presentationml/2006/main">
  <p:tag name="ISLIDE.ICON" val="#109888;#164837;"/>
</p:tagLst>
</file>

<file path=ppt/tags/tag5.xml><?xml version="1.0" encoding="utf-8"?>
<p:tagLst xmlns:a="http://schemas.openxmlformats.org/drawingml/2006/main" xmlns:r="http://schemas.openxmlformats.org/officeDocument/2006/relationships" xmlns:p="http://schemas.openxmlformats.org/presentationml/2006/main">
  <p:tag name="ISLIDE.ICON" val="#109888;#164837;"/>
</p:tagLst>
</file>

<file path=ppt/tags/tag6.xml><?xml version="1.0" encoding="utf-8"?>
<p:tagLst xmlns:a="http://schemas.openxmlformats.org/drawingml/2006/main" xmlns:r="http://schemas.openxmlformats.org/officeDocument/2006/relationships" xmlns:p="http://schemas.openxmlformats.org/presentationml/2006/main">
  <p:tag name="ISLIDE.ICON" val="#109888;#164837;"/>
</p:tagLst>
</file>

<file path=ppt/theme/theme1.xml><?xml version="1.0" encoding="utf-8"?>
<a:theme xmlns:a="http://schemas.openxmlformats.org/drawingml/2006/main" name="1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vertOverflow="overflow" horzOverflow="overflow" vert="horz" wrap="square" numCol="1" spcCol="0" rtlCol="0" fromWordArt="0" anchor="ctr" anchorCtr="0" compatLnSpc="1">
        <a:noAutofit/>
      </a:bodyPr>
      <a:lstStyle>
        <a:defPPr algn="ctr">
          <a:defRPr lang="zh-CN" altLang="en-US" sz="1100" b="1">
            <a:solidFill>
              <a:schemeClr val="bg1"/>
            </a:solidFill>
            <a:latin typeface="微软雅黑" panose="020B0503020204020204" charset="-122"/>
            <a:ea typeface="微软雅黑" panose="020B0503020204020204" charset="-122"/>
          </a:defRPr>
        </a:defPPr>
      </a:lstStyle>
      <a:style>
        <a:lnRef idx="0">
          <a:schemeClr val="accent1"/>
        </a:lnRef>
        <a:fillRef idx="3">
          <a:schemeClr val="accent1"/>
        </a:fillRef>
        <a:effectRef idx="3">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TotalTime>
  <Words>449</Words>
  <Application>Microsoft Macintosh PowerPoint</Application>
  <PresentationFormat>宽屏</PresentationFormat>
  <Paragraphs>101</Paragraphs>
  <Slides>13</Slides>
  <Notes>7</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13</vt:i4>
      </vt:variant>
    </vt:vector>
  </HeadingPairs>
  <TitlesOfParts>
    <vt:vector size="20" baseType="lpstr">
      <vt:lpstr>微软雅黑</vt:lpstr>
      <vt:lpstr>Arial</vt:lpstr>
      <vt:lpstr>Calibri</vt:lpstr>
      <vt:lpstr>Calibri Light</vt:lpstr>
      <vt:lpstr>Franklin Gothic Heavy</vt:lpstr>
      <vt:lpstr>Times New Roman</vt:lpstr>
      <vt:lpstr>1_Office Theme</vt:lpstr>
      <vt:lpstr>PowerPoint 演示文稿</vt:lpstr>
      <vt:lpstr>PowerPoint 演示文稿</vt:lpstr>
      <vt:lpstr>目录</vt:lpstr>
      <vt:lpstr>一、成果介绍</vt:lpstr>
      <vt:lpstr>目录</vt:lpstr>
      <vt:lpstr>二、解决方案</vt:lpstr>
      <vt:lpstr>目录</vt:lpstr>
      <vt:lpstr>三、应用成效</vt:lpstr>
      <vt:lpstr>目录</vt:lpstr>
      <vt:lpstr>四、推广价值</vt:lpstr>
      <vt:lpstr>目录</vt:lpstr>
      <vt:lpstr>五、团队介绍</vt:lpstr>
      <vt:lpstr>THANKS 请输入您的团队名称</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赵梦YTC</dc:creator>
  <cp:lastModifiedBy>Michael</cp:lastModifiedBy>
  <cp:revision>5592</cp:revision>
  <dcterms:created xsi:type="dcterms:W3CDTF">2019-09-25T07:48:00Z</dcterms:created>
  <dcterms:modified xsi:type="dcterms:W3CDTF">2026-10-01T22:11:15Z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2052-11.8.2.8696</vt:lpwstr>
  </property>
  <property fmtid="{D5CDD505-2E9C-101B-9397-08002B2CF9AE}" pid="3" name="ICV">
    <vt:lpwstr>4BB4B8C4EEF5403CB91AB7092390F09B</vt:lpwstr>
  </property>
  <property fmtid="{D5CDD505-2E9C-101B-9397-08002B2CF9AE}" pid="4" name="WondersoftTag">
    <vt:lpwstr>96531D2F-53CC-d344-9E4E-17A3C0123FB3#2#B49C4656-D46A480D-9080F35D-65318667##0</vt:lpwstr>
  </property>
</Properties>
</file>