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11"/>
  </p:handoutMasterIdLst>
  <p:sldIdLst>
    <p:sldId id="863" r:id="rId4"/>
    <p:sldId id="922" r:id="rId6"/>
    <p:sldId id="921" r:id="rId7"/>
    <p:sldId id="916" r:id="rId8"/>
    <p:sldId id="917" r:id="rId9"/>
    <p:sldId id="920" r:id="rId1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RY" initials="LRY" lastIdx="1" clrIdx="0"/>
  <p:cmAuthor id="1" name="Bin Xia" initials="B" lastIdx="0" clrIdx="0"/>
  <p:cmAuthor id="2" name="陆海应" initials="陆" lastIdx="3" clrIdx="0"/>
  <p:cmAuthor id="3" name="Song, Aaron Zhenzhen" initials="S" lastIdx="66" clrIdx="1"/>
  <p:cmAuthor id="4" name="池超鹏" initials="池" lastIdx="0" clrIdx="2"/>
  <p:cmAuthor id="5" name="Zhiwen Yu" initials="Z" lastIdx="3" clrIdx="4"/>
  <p:cmAuthor id="6" name="pp" initials="p" lastIdx="12" clrIdx="6"/>
  <p:cmAuthor id="7" name="广州供电局" initials="广州局" lastIdx="76" clrIdx="7"/>
  <p:cmAuthor id="8" name="饶毅" initials="饶毅" lastIdx="6" clrIdx="8"/>
  <p:cmAuthor id="9" name="孙 诚" initials="孙" lastIdx="3" clrIdx="9"/>
  <p:cmAuthor id="10" name="fengdong" initials="fd" lastIdx="2" clrIdx="10"/>
  <p:cmAuthor id="11" name="龙 启" initials="龙" lastIdx="1" clrIdx="11"/>
  <p:cmAuthor id="12" name="xbany" initials="x" lastIdx="3" clrIdx="6"/>
  <p:cmAuthor id="13" name="张兰" initials="张" lastIdx="2" clrIdx="11"/>
  <p:cmAuthor id="14" name="landy1125@outlook.com" initials="l" lastIdx="2" clrIdx="12"/>
  <p:cmAuthor id="15" name="zengkaiwen" initials="z" lastIdx="1" clrIdx="14"/>
  <p:cmAuthor id="16" name="hxx" initials="h" lastIdx="1" clrIdx="15"/>
  <p:cmAuthor id="17" name="Chan sher" initials="Cs" lastIdx="2" clrIdx="16"/>
  <p:cmAuthor id="18" name="许士锦" initials="许" lastIdx="1" clrIdx="17"/>
  <p:cmAuthor id="19" name="林建熙" initials="林" lastIdx="10" clrIdx="0"/>
  <p:cmAuthor id="20" name="黄剑玲" initials="黄" lastIdx="1" clrIdx="0"/>
  <p:cmAuthor id="21" name="Administrator" initials="A" lastIdx="1" clrIdx="18"/>
  <p:cmAuthor id="22" name="jiao chuang" initials="jc" lastIdx="1" clrIdx="19"/>
  <p:cmAuthor id="23" name="JACK" initials="J" lastIdx="18" clrIdx="20"/>
  <p:cmAuthor id="24" name="Admin" initials="A" lastIdx="1" clrIdx="2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B2B2B2"/>
    <a:srgbClr val="202020"/>
    <a:srgbClr val="323232"/>
    <a:srgbClr val="CC3300"/>
    <a:srgbClr val="CC00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78" autoAdjust="0"/>
    <p:restoredTop sz="94660"/>
  </p:normalViewPr>
  <p:slideViewPr>
    <p:cSldViewPr snapToGrid="0" showGuides="1">
      <p:cViewPr varScale="1">
        <p:scale>
          <a:sx n="114" d="100"/>
          <a:sy n="114" d="100"/>
        </p:scale>
        <p:origin x="630" y="108"/>
      </p:cViewPr>
      <p:guideLst>
        <p:guide orient="horz" pos="2150"/>
        <p:guide pos="3727"/>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1" Type="http://schemas.openxmlformats.org/officeDocument/2006/relationships/theme" Target="../theme/theme2.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2.xml"/><Relationship Id="rId7" Type="http://schemas.openxmlformats.org/officeDocument/2006/relationships/image" Target="../media/image7.png"/><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495935" y="1149350"/>
            <a:ext cx="270000" cy="270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80365" y="1066800"/>
            <a:ext cx="292100" cy="292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963295" y="1059180"/>
            <a:ext cx="2897505" cy="431800"/>
            <a:chOff x="730" y="2380"/>
            <a:chExt cx="4563" cy="680"/>
          </a:xfrm>
          <a:solidFill>
            <a:schemeClr val="tx2">
              <a:lumMod val="20000"/>
              <a:lumOff val="80000"/>
              <a:alpha val="34000"/>
            </a:schemeClr>
          </a:solidFill>
        </p:grpSpPr>
        <p:sp>
          <p:nvSpPr>
            <p:cNvPr id="7" name="圆角矩形 6"/>
            <p:cNvSpPr/>
            <p:nvPr/>
          </p:nvSpPr>
          <p:spPr>
            <a:xfrm>
              <a:off x="730" y="2380"/>
              <a:ext cx="4386" cy="68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 name="文本框 8"/>
            <p:cNvSpPr txBox="1"/>
            <p:nvPr/>
          </p:nvSpPr>
          <p:spPr>
            <a:xfrm>
              <a:off x="957" y="2445"/>
              <a:ext cx="4336" cy="580"/>
            </a:xfrm>
            <a:prstGeom prst="rect">
              <a:avLst/>
            </a:prstGeom>
            <a:noFill/>
          </p:spPr>
          <p:txBody>
            <a:bodyPr wrap="square" rtlCol="0">
              <a:spAutoFit/>
            </a:bodyPr>
            <a:p>
              <a:r>
                <a:rPr lang="zh-CN" b="1" dirty="0">
                  <a:latin typeface="微软雅黑" panose="020B0503020204020204" charset="-122"/>
                  <a:ea typeface="微软雅黑" panose="020B0503020204020204" charset="-122"/>
                  <a:sym typeface="宋体" panose="02010600030101010101" pitchFamily="2" charset="-122"/>
                </a:rPr>
                <a:t>施工</a:t>
              </a:r>
              <a:r>
                <a:rPr lang="zh-CN" b="1" dirty="0">
                  <a:latin typeface="微软雅黑" panose="020B0503020204020204" charset="-122"/>
                  <a:ea typeface="微软雅黑" panose="020B0503020204020204" charset="-122"/>
                  <a:sym typeface="宋体" panose="02010600030101010101" pitchFamily="2" charset="-122"/>
                </a:rPr>
                <a:t>方案典型违章案例</a:t>
              </a:r>
              <a:endParaRPr lang="zh-CN" b="1" dirty="0">
                <a:latin typeface="微软雅黑" panose="020B0503020204020204" charset="-122"/>
                <a:ea typeface="微软雅黑" panose="020B0503020204020204" charset="-122"/>
              </a:endParaRPr>
            </a:p>
          </p:txBody>
        </p:sp>
      </p:grpSp>
      <p:pic>
        <p:nvPicPr>
          <p:cNvPr id="5" name="图片 4"/>
          <p:cNvPicPr>
            <a:picLocks noChangeAspect="1"/>
          </p:cNvPicPr>
          <p:nvPr/>
        </p:nvPicPr>
        <p:blipFill>
          <a:blip r:embed="rId2"/>
          <a:stretch>
            <a:fillRect/>
          </a:stretch>
        </p:blipFill>
        <p:spPr>
          <a:xfrm>
            <a:off x="7026275" y="1847850"/>
            <a:ext cx="1231900" cy="1694815"/>
          </a:xfrm>
          <a:prstGeom prst="rect">
            <a:avLst/>
          </a:prstGeom>
        </p:spPr>
      </p:pic>
      <p:pic>
        <p:nvPicPr>
          <p:cNvPr id="8" name="图片 7"/>
          <p:cNvPicPr>
            <a:picLocks noChangeAspect="1"/>
          </p:cNvPicPr>
          <p:nvPr/>
        </p:nvPicPr>
        <p:blipFill>
          <a:blip r:embed="rId3"/>
          <a:stretch>
            <a:fillRect/>
          </a:stretch>
        </p:blipFill>
        <p:spPr>
          <a:xfrm>
            <a:off x="8495665" y="1835785"/>
            <a:ext cx="3066415" cy="1718310"/>
          </a:xfrm>
          <a:prstGeom prst="rect">
            <a:avLst/>
          </a:prstGeom>
        </p:spPr>
      </p:pic>
      <p:pic>
        <p:nvPicPr>
          <p:cNvPr id="10" name="图片 2"/>
          <p:cNvPicPr>
            <a:picLocks noChangeAspect="1"/>
          </p:cNvPicPr>
          <p:nvPr/>
        </p:nvPicPr>
        <p:blipFill>
          <a:blip r:embed="rId4"/>
          <a:stretch>
            <a:fillRect/>
          </a:stretch>
        </p:blipFill>
        <p:spPr>
          <a:xfrm>
            <a:off x="380365" y="1569085"/>
            <a:ext cx="1927225" cy="2534920"/>
          </a:xfrm>
          <a:prstGeom prst="rect">
            <a:avLst/>
          </a:prstGeom>
          <a:noFill/>
          <a:ln>
            <a:noFill/>
          </a:ln>
        </p:spPr>
      </p:pic>
      <p:pic>
        <p:nvPicPr>
          <p:cNvPr id="12" name="图片 3"/>
          <p:cNvPicPr>
            <a:picLocks noChangeAspect="1"/>
          </p:cNvPicPr>
          <p:nvPr/>
        </p:nvPicPr>
        <p:blipFill>
          <a:blip r:embed="rId5"/>
          <a:stretch>
            <a:fillRect/>
          </a:stretch>
        </p:blipFill>
        <p:spPr>
          <a:xfrm>
            <a:off x="2307590" y="1483360"/>
            <a:ext cx="4407535" cy="4010660"/>
          </a:xfrm>
          <a:prstGeom prst="rect">
            <a:avLst/>
          </a:prstGeom>
          <a:noFill/>
          <a:ln>
            <a:noFill/>
          </a:ln>
        </p:spPr>
      </p:pic>
      <p:sp>
        <p:nvSpPr>
          <p:cNvPr id="13" name="矩形 12"/>
          <p:cNvSpPr/>
          <p:nvPr/>
        </p:nvSpPr>
        <p:spPr>
          <a:xfrm>
            <a:off x="2909570" y="3751580"/>
            <a:ext cx="3566160" cy="69405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nvSpPr>
        <p:spPr>
          <a:xfrm>
            <a:off x="495935" y="1690370"/>
            <a:ext cx="1693545" cy="42862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矩形 14"/>
          <p:cNvSpPr/>
          <p:nvPr/>
        </p:nvSpPr>
        <p:spPr>
          <a:xfrm>
            <a:off x="614045" y="3663315"/>
            <a:ext cx="1380490" cy="37147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00" name="图片 99"/>
          <p:cNvPicPr>
            <a:picLocks noChangeAspect="1"/>
          </p:cNvPicPr>
          <p:nvPr/>
        </p:nvPicPr>
        <p:blipFill>
          <a:blip r:embed="rId6"/>
          <a:stretch>
            <a:fillRect/>
          </a:stretch>
        </p:blipFill>
        <p:spPr>
          <a:xfrm>
            <a:off x="554990" y="4034790"/>
            <a:ext cx="1575435" cy="2496820"/>
          </a:xfrm>
          <a:prstGeom prst="rect">
            <a:avLst/>
          </a:prstGeom>
          <a:noFill/>
          <a:ln w="9525">
            <a:noFill/>
          </a:ln>
        </p:spPr>
      </p:pic>
      <p:sp>
        <p:nvSpPr>
          <p:cNvPr id="17" name="矩形 16"/>
          <p:cNvSpPr/>
          <p:nvPr/>
        </p:nvSpPr>
        <p:spPr>
          <a:xfrm>
            <a:off x="1107440" y="5908040"/>
            <a:ext cx="1022350" cy="37147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6626860" y="1269365"/>
            <a:ext cx="0" cy="5392420"/>
          </a:xfrm>
          <a:prstGeom prst="line">
            <a:avLst/>
          </a:prstGeom>
        </p:spPr>
        <p:style>
          <a:lnRef idx="1">
            <a:schemeClr val="accent1"/>
          </a:lnRef>
          <a:fillRef idx="0">
            <a:schemeClr val="accent1"/>
          </a:fillRef>
          <a:effectRef idx="0">
            <a:schemeClr val="accent1"/>
          </a:effectRef>
          <a:fontRef idx="minor">
            <a:schemeClr val="tx1"/>
          </a:fontRef>
        </p:style>
      </p:cxnSp>
      <p:pic>
        <p:nvPicPr>
          <p:cNvPr id="101" name="图片 100"/>
          <p:cNvPicPr/>
          <p:nvPr/>
        </p:nvPicPr>
        <p:blipFill>
          <a:blip r:embed="rId7"/>
          <a:stretch>
            <a:fillRect/>
          </a:stretch>
        </p:blipFill>
        <p:spPr>
          <a:xfrm>
            <a:off x="7254875" y="3695700"/>
            <a:ext cx="4002405" cy="2212340"/>
          </a:xfrm>
          <a:prstGeom prst="rect">
            <a:avLst/>
          </a:prstGeom>
          <a:noFill/>
          <a:ln w="9525">
            <a:noFill/>
          </a:ln>
        </p:spPr>
      </p:pic>
      <p:sp>
        <p:nvSpPr>
          <p:cNvPr id="22" name="矩形 21"/>
          <p:cNvSpPr/>
          <p:nvPr/>
        </p:nvSpPr>
        <p:spPr>
          <a:xfrm>
            <a:off x="7390765" y="3751580"/>
            <a:ext cx="3382645" cy="54419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715760" y="1364615"/>
            <a:ext cx="5247005" cy="306705"/>
          </a:xfrm>
          <a:prstGeom prst="rect">
            <a:avLst/>
          </a:prstGeom>
          <a:noFill/>
        </p:spPr>
        <p:txBody>
          <a:bodyPr wrap="square" rtlCol="0">
            <a:spAutoFit/>
          </a:bodyPr>
          <a:p>
            <a:r>
              <a:rPr lang="en-US" altLang="zh-CN" sz="1400">
                <a:latin typeface="微软雅黑" panose="020B0503020204020204" charset="-122"/>
                <a:ea typeface="微软雅黑" panose="020B0503020204020204" charset="-122"/>
                <a:cs typeface="微软雅黑" panose="020B0503020204020204" charset="-122"/>
              </a:rPr>
              <a:t>1</a:t>
            </a:r>
            <a:r>
              <a:rPr lang="zh-CN" altLang="en-US" sz="1400">
                <a:latin typeface="微软雅黑" panose="020B0503020204020204" charset="-122"/>
                <a:ea typeface="微软雅黑" panose="020B0503020204020204" charset="-122"/>
                <a:cs typeface="微软雅黑" panose="020B0503020204020204" charset="-122"/>
              </a:rPr>
              <a:t>、上传审批完成的施工方案；不能光上传电子版。</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6777990" y="5911215"/>
            <a:ext cx="5247005" cy="521970"/>
          </a:xfrm>
          <a:prstGeom prst="rect">
            <a:avLst/>
          </a:prstGeom>
          <a:noFill/>
        </p:spPr>
        <p:txBody>
          <a:bodyPr wrap="square" rtlCol="0">
            <a:spAutoFit/>
          </a:bodyPr>
          <a:p>
            <a:r>
              <a:rPr lang="en-US" altLang="zh-CN" sz="1400">
                <a:latin typeface="微软雅黑" panose="020B0503020204020204" charset="-122"/>
                <a:ea typeface="微软雅黑" panose="020B0503020204020204" charset="-122"/>
                <a:cs typeface="微软雅黑" panose="020B0503020204020204" charset="-122"/>
              </a:rPr>
              <a:t>2</a:t>
            </a:r>
            <a:r>
              <a:rPr lang="zh-CN" altLang="en-US" sz="1400">
                <a:latin typeface="微软雅黑" panose="020B0503020204020204" charset="-122"/>
                <a:ea typeface="微软雅黑" panose="020B0503020204020204" charset="-122"/>
                <a:cs typeface="微软雅黑" panose="020B0503020204020204" charset="-122"/>
              </a:rPr>
              <a:t>、审批过程要加大对人员资质、作业风险评估全面性、准确性审查力度，出现问题按照</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谁签字、谁负责</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进行连带</a:t>
            </a:r>
            <a:r>
              <a:rPr lang="zh-CN" altLang="en-US" sz="1400">
                <a:latin typeface="微软雅黑" panose="020B0503020204020204" charset="-122"/>
                <a:ea typeface="微软雅黑" panose="020B0503020204020204" charset="-122"/>
                <a:cs typeface="微软雅黑" panose="020B0503020204020204" charset="-122"/>
              </a:rPr>
              <a:t>处罚。</a:t>
            </a:r>
            <a:endParaRPr lang="zh-CN" altLang="en-US"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6841490" y="1886585"/>
            <a:ext cx="4995545" cy="1716405"/>
          </a:xfrm>
          <a:prstGeom prst="rect">
            <a:avLst/>
          </a:prstGeom>
        </p:spPr>
      </p:pic>
      <p:pic>
        <p:nvPicPr>
          <p:cNvPr id="102" name="图片 101"/>
          <p:cNvPicPr>
            <a:picLocks noChangeAspect="1"/>
          </p:cNvPicPr>
          <p:nvPr/>
        </p:nvPicPr>
        <p:blipFill>
          <a:blip r:embed="rId3"/>
          <a:stretch>
            <a:fillRect/>
          </a:stretch>
        </p:blipFill>
        <p:spPr>
          <a:xfrm rot="5400000">
            <a:off x="-273685" y="2136140"/>
            <a:ext cx="4314190" cy="3235960"/>
          </a:xfrm>
          <a:prstGeom prst="rect">
            <a:avLst/>
          </a:prstGeom>
          <a:noFill/>
          <a:ln w="9525">
            <a:noFill/>
          </a:ln>
        </p:spPr>
      </p:pic>
      <p:pic>
        <p:nvPicPr>
          <p:cNvPr id="2" name="图片 1"/>
          <p:cNvPicPr>
            <a:picLocks noChangeAspect="1"/>
          </p:cNvPicPr>
          <p:nvPr/>
        </p:nvPicPr>
        <p:blipFill>
          <a:blip r:embed="rId3"/>
          <a:srcRect l="61540" t="11264" r="12437" b="14227"/>
          <a:stretch>
            <a:fillRect/>
          </a:stretch>
        </p:blipFill>
        <p:spPr>
          <a:xfrm rot="5400000">
            <a:off x="2731770" y="417830"/>
            <a:ext cx="2626995" cy="4984750"/>
          </a:xfrm>
          <a:prstGeom prst="rect">
            <a:avLst/>
          </a:prstGeom>
          <a:noFill/>
          <a:ln w="9525">
            <a:noFill/>
          </a:ln>
        </p:spPr>
      </p:pic>
      <p:sp>
        <p:nvSpPr>
          <p:cNvPr id="4" name="矩形 3"/>
          <p:cNvSpPr/>
          <p:nvPr/>
        </p:nvSpPr>
        <p:spPr>
          <a:xfrm>
            <a:off x="495935" y="1149350"/>
            <a:ext cx="270000" cy="270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80365" y="1066800"/>
            <a:ext cx="292100" cy="292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963295" y="1059180"/>
            <a:ext cx="2897505" cy="431800"/>
            <a:chOff x="730" y="2380"/>
            <a:chExt cx="4563" cy="680"/>
          </a:xfrm>
          <a:solidFill>
            <a:schemeClr val="tx2">
              <a:lumMod val="20000"/>
              <a:lumOff val="80000"/>
              <a:alpha val="34000"/>
            </a:schemeClr>
          </a:solidFill>
        </p:grpSpPr>
        <p:sp>
          <p:nvSpPr>
            <p:cNvPr id="7" name="圆角矩形 6"/>
            <p:cNvSpPr/>
            <p:nvPr/>
          </p:nvSpPr>
          <p:spPr>
            <a:xfrm>
              <a:off x="730" y="2380"/>
              <a:ext cx="4386" cy="68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 name="文本框 8"/>
            <p:cNvSpPr txBox="1"/>
            <p:nvPr/>
          </p:nvSpPr>
          <p:spPr>
            <a:xfrm>
              <a:off x="957" y="2445"/>
              <a:ext cx="4336" cy="580"/>
            </a:xfrm>
            <a:prstGeom prst="rect">
              <a:avLst/>
            </a:prstGeom>
            <a:noFill/>
          </p:spPr>
          <p:txBody>
            <a:bodyPr wrap="square" rtlCol="0">
              <a:spAutoFit/>
            </a:bodyPr>
            <a:p>
              <a:r>
                <a:rPr lang="zh-CN" b="1" dirty="0">
                  <a:latin typeface="微软雅黑" panose="020B0503020204020204" charset="-122"/>
                  <a:ea typeface="微软雅黑" panose="020B0503020204020204" charset="-122"/>
                  <a:sym typeface="宋体" panose="02010600030101010101" pitchFamily="2" charset="-122"/>
                </a:rPr>
                <a:t>工作票</a:t>
              </a:r>
              <a:r>
                <a:rPr lang="zh-CN" b="1" dirty="0">
                  <a:latin typeface="微软雅黑" panose="020B0503020204020204" charset="-122"/>
                  <a:ea typeface="微软雅黑" panose="020B0503020204020204" charset="-122"/>
                  <a:sym typeface="宋体" panose="02010600030101010101" pitchFamily="2" charset="-122"/>
                </a:rPr>
                <a:t>间断典型违章案例</a:t>
              </a:r>
              <a:endParaRPr lang="zh-CN" b="1" dirty="0">
                <a:latin typeface="微软雅黑" panose="020B0503020204020204" charset="-122"/>
                <a:ea typeface="微软雅黑" panose="020B0503020204020204" charset="-122"/>
              </a:endParaRPr>
            </a:p>
          </p:txBody>
        </p:sp>
      </p:grpSp>
      <p:sp>
        <p:nvSpPr>
          <p:cNvPr id="13" name="矩形 12"/>
          <p:cNvSpPr/>
          <p:nvPr/>
        </p:nvSpPr>
        <p:spPr>
          <a:xfrm>
            <a:off x="582295" y="4748530"/>
            <a:ext cx="2790190" cy="62674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nvSpPr>
        <p:spPr>
          <a:xfrm>
            <a:off x="1807845" y="2983865"/>
            <a:ext cx="1693545" cy="42862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6626860" y="1278890"/>
            <a:ext cx="0" cy="5392420"/>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6715760" y="1364615"/>
            <a:ext cx="5247005" cy="521970"/>
          </a:xfrm>
          <a:prstGeom prst="rect">
            <a:avLst/>
          </a:prstGeom>
          <a:noFill/>
        </p:spPr>
        <p:txBody>
          <a:bodyPr wrap="square" rtlCol="0">
            <a:spAutoFit/>
          </a:bodyPr>
          <a:p>
            <a:r>
              <a:rPr lang="en-US" altLang="zh-CN" sz="1400">
                <a:latin typeface="微软雅黑" panose="020B0503020204020204" charset="-122"/>
                <a:ea typeface="微软雅黑" panose="020B0503020204020204" charset="-122"/>
                <a:cs typeface="微软雅黑" panose="020B0503020204020204" charset="-122"/>
              </a:rPr>
              <a:t>1</a:t>
            </a:r>
            <a:r>
              <a:rPr lang="zh-CN" altLang="en-US" sz="1400">
                <a:latin typeface="微软雅黑" panose="020B0503020204020204" charset="-122"/>
                <a:ea typeface="微软雅黑" panose="020B0503020204020204" charset="-122"/>
                <a:cs typeface="微软雅黑" panose="020B0503020204020204" charset="-122"/>
              </a:rPr>
              <a:t>、新版安规执行后，配电</a:t>
            </a:r>
            <a:r>
              <a:rPr lang="zh-CN" altLang="en-US" sz="1400">
                <a:latin typeface="微软雅黑" panose="020B0503020204020204" charset="-122"/>
                <a:ea typeface="微软雅黑" panose="020B0503020204020204" charset="-122"/>
                <a:cs typeface="微软雅黑" panose="020B0503020204020204" charset="-122"/>
              </a:rPr>
              <a:t>第一种、配电第二种工作票持续时间长的，需办理间断</a:t>
            </a:r>
            <a:r>
              <a:rPr lang="zh-CN" altLang="en-US" sz="1400">
                <a:latin typeface="微软雅黑" panose="020B0503020204020204" charset="-122"/>
                <a:ea typeface="微软雅黑" panose="020B0503020204020204" charset="-122"/>
                <a:cs typeface="微软雅黑" panose="020B0503020204020204" charset="-122"/>
              </a:rPr>
              <a:t>手续。</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8406765" y="1997075"/>
            <a:ext cx="2239645" cy="42862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rgbClr val="FF0000"/>
                </a:solidFill>
              </a:rPr>
              <a:t>一种票间断填写</a:t>
            </a:r>
            <a:endParaRPr lang="zh-CN" altLang="en-US">
              <a:solidFill>
                <a:srgbClr val="FF0000"/>
              </a:solidFill>
            </a:endParaRPr>
          </a:p>
        </p:txBody>
      </p:sp>
      <p:pic>
        <p:nvPicPr>
          <p:cNvPr id="18" name="图片 17"/>
          <p:cNvPicPr>
            <a:picLocks noChangeAspect="1"/>
          </p:cNvPicPr>
          <p:nvPr/>
        </p:nvPicPr>
        <p:blipFill>
          <a:blip r:embed="rId4"/>
          <a:stretch>
            <a:fillRect/>
          </a:stretch>
        </p:blipFill>
        <p:spPr>
          <a:xfrm>
            <a:off x="7073265" y="3902075"/>
            <a:ext cx="4763770" cy="1787525"/>
          </a:xfrm>
          <a:prstGeom prst="rect">
            <a:avLst/>
          </a:prstGeom>
        </p:spPr>
      </p:pic>
      <p:sp>
        <p:nvSpPr>
          <p:cNvPr id="19" name="矩形 18"/>
          <p:cNvSpPr/>
          <p:nvPr/>
        </p:nvSpPr>
        <p:spPr>
          <a:xfrm>
            <a:off x="8160385" y="4441190"/>
            <a:ext cx="2872105" cy="42862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rgbClr val="FF0000"/>
                </a:solidFill>
              </a:rPr>
              <a:t>二种票间断在</a:t>
            </a:r>
            <a:r>
              <a:rPr lang="zh-CN" altLang="en-US">
                <a:solidFill>
                  <a:srgbClr val="FF0000"/>
                </a:solidFill>
              </a:rPr>
              <a:t>备注栏填写</a:t>
            </a:r>
            <a:endParaRPr lang="zh-CN" altLang="en-US">
              <a:solidFill>
                <a:srgbClr val="FF0000"/>
              </a:solidFill>
            </a:endParaRPr>
          </a:p>
        </p:txBody>
      </p:sp>
      <p:sp>
        <p:nvSpPr>
          <p:cNvPr id="20" name="矩形 19"/>
          <p:cNvSpPr/>
          <p:nvPr/>
        </p:nvSpPr>
        <p:spPr>
          <a:xfrm>
            <a:off x="6715760" y="5491480"/>
            <a:ext cx="5345430" cy="12230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rgbClr val="FF0000"/>
                </a:solidFill>
              </a:rPr>
              <a:t>建议填写格式参照一种票字段</a:t>
            </a:r>
            <a:r>
              <a:rPr lang="zh-CN" altLang="en-US">
                <a:solidFill>
                  <a:srgbClr val="FF0000"/>
                </a:solidFill>
              </a:rPr>
              <a:t>填写。</a:t>
            </a:r>
            <a:endParaRPr lang="zh-CN" altLang="en-US">
              <a:solidFill>
                <a:srgbClr val="FF0000"/>
              </a:solidFill>
            </a:endParaRPr>
          </a:p>
          <a:p>
            <a:pPr algn="l"/>
            <a:r>
              <a:rPr lang="zh-CN" altLang="en-US" sz="1000">
                <a:solidFill>
                  <a:srgbClr val="FF0000"/>
                </a:solidFill>
              </a:rPr>
              <a:t>如：</a:t>
            </a:r>
            <a:r>
              <a:rPr lang="en-US" altLang="zh-CN" sz="1000">
                <a:solidFill>
                  <a:srgbClr val="FF0000"/>
                </a:solidFill>
              </a:rPr>
              <a:t>1</a:t>
            </a:r>
            <a:r>
              <a:rPr lang="zh-CN" altLang="en-US" sz="1000">
                <a:solidFill>
                  <a:srgbClr val="FF0000"/>
                </a:solidFill>
              </a:rPr>
              <a:t>、工作间断时间：</a:t>
            </a:r>
            <a:r>
              <a:rPr lang="en-US" altLang="zh-CN" sz="1000">
                <a:solidFill>
                  <a:srgbClr val="FF0000"/>
                </a:solidFill>
              </a:rPr>
              <a:t>2023</a:t>
            </a:r>
            <a:r>
              <a:rPr lang="zh-CN" altLang="en-US" sz="1000">
                <a:solidFill>
                  <a:srgbClr val="FF0000"/>
                </a:solidFill>
              </a:rPr>
              <a:t>年</a:t>
            </a:r>
            <a:r>
              <a:rPr lang="en-US" altLang="zh-CN" sz="1000">
                <a:solidFill>
                  <a:srgbClr val="FF0000"/>
                </a:solidFill>
              </a:rPr>
              <a:t>5</a:t>
            </a:r>
            <a:r>
              <a:rPr lang="zh-CN" altLang="en-US" sz="1000">
                <a:solidFill>
                  <a:srgbClr val="FF0000"/>
                </a:solidFill>
              </a:rPr>
              <a:t>月</a:t>
            </a:r>
            <a:r>
              <a:rPr lang="en-US" altLang="zh-CN" sz="1000">
                <a:solidFill>
                  <a:srgbClr val="FF0000"/>
                </a:solidFill>
              </a:rPr>
              <a:t>12</a:t>
            </a:r>
            <a:r>
              <a:rPr lang="zh-CN" altLang="en-US" sz="1000">
                <a:solidFill>
                  <a:srgbClr val="FF0000"/>
                </a:solidFill>
              </a:rPr>
              <a:t>日</a:t>
            </a:r>
            <a:r>
              <a:rPr lang="en-US" altLang="zh-CN" sz="1000">
                <a:solidFill>
                  <a:srgbClr val="FF0000"/>
                </a:solidFill>
              </a:rPr>
              <a:t>18</a:t>
            </a:r>
            <a:r>
              <a:rPr lang="zh-CN" altLang="en-US" sz="1000">
                <a:solidFill>
                  <a:srgbClr val="FF0000"/>
                </a:solidFill>
              </a:rPr>
              <a:t>：</a:t>
            </a:r>
            <a:r>
              <a:rPr lang="en-US" altLang="zh-CN" sz="1000">
                <a:solidFill>
                  <a:srgbClr val="FF0000"/>
                </a:solidFill>
              </a:rPr>
              <a:t>00</a:t>
            </a:r>
            <a:r>
              <a:rPr lang="zh-CN" altLang="en-US" sz="1000">
                <a:solidFill>
                  <a:srgbClr val="FF0000"/>
                </a:solidFill>
              </a:rPr>
              <a:t>，许可人：张三</a:t>
            </a:r>
            <a:r>
              <a:rPr lang="en-US" altLang="zh-CN" sz="1000">
                <a:solidFill>
                  <a:srgbClr val="FF0000"/>
                </a:solidFill>
              </a:rPr>
              <a:t>;</a:t>
            </a:r>
            <a:r>
              <a:rPr lang="zh-CN" altLang="en-US" sz="1000">
                <a:solidFill>
                  <a:srgbClr val="FF0000"/>
                </a:solidFill>
              </a:rPr>
              <a:t>工作负责人：</a:t>
            </a:r>
            <a:r>
              <a:rPr lang="zh-CN" altLang="en-US" sz="1000">
                <a:solidFill>
                  <a:srgbClr val="FF0000"/>
                </a:solidFill>
              </a:rPr>
              <a:t>李四；当面下达。</a:t>
            </a:r>
            <a:endParaRPr lang="zh-CN" altLang="en-US" sz="1000">
              <a:solidFill>
                <a:srgbClr val="FF0000"/>
              </a:solidFill>
            </a:endParaRPr>
          </a:p>
          <a:p>
            <a:pPr algn="l"/>
            <a:r>
              <a:rPr lang="en-US" altLang="zh-CN" sz="1000">
                <a:solidFill>
                  <a:srgbClr val="FF0000"/>
                </a:solidFill>
              </a:rPr>
              <a:t>2</a:t>
            </a:r>
            <a:r>
              <a:rPr lang="zh-CN" altLang="en-US" sz="1000">
                <a:solidFill>
                  <a:srgbClr val="FF0000"/>
                </a:solidFill>
              </a:rPr>
              <a:t>、</a:t>
            </a:r>
            <a:r>
              <a:rPr lang="zh-CN" altLang="en-US" sz="1000">
                <a:solidFill>
                  <a:srgbClr val="FF0000"/>
                </a:solidFill>
                <a:sym typeface="+mn-ea"/>
              </a:rPr>
              <a:t>工作开始时间：</a:t>
            </a:r>
            <a:r>
              <a:rPr lang="en-US" altLang="zh-CN" sz="1000">
                <a:solidFill>
                  <a:srgbClr val="FF0000"/>
                </a:solidFill>
                <a:sym typeface="+mn-ea"/>
              </a:rPr>
              <a:t>2023</a:t>
            </a:r>
            <a:r>
              <a:rPr lang="zh-CN" altLang="en-US" sz="1000">
                <a:solidFill>
                  <a:srgbClr val="FF0000"/>
                </a:solidFill>
                <a:sym typeface="+mn-ea"/>
              </a:rPr>
              <a:t>年</a:t>
            </a:r>
            <a:r>
              <a:rPr lang="en-US" altLang="zh-CN" sz="1000">
                <a:solidFill>
                  <a:srgbClr val="FF0000"/>
                </a:solidFill>
                <a:sym typeface="+mn-ea"/>
              </a:rPr>
              <a:t>5</a:t>
            </a:r>
            <a:r>
              <a:rPr lang="zh-CN" altLang="en-US" sz="1000">
                <a:solidFill>
                  <a:srgbClr val="FF0000"/>
                </a:solidFill>
                <a:sym typeface="+mn-ea"/>
              </a:rPr>
              <a:t>月</a:t>
            </a:r>
            <a:r>
              <a:rPr lang="en-US" altLang="zh-CN" sz="1000">
                <a:solidFill>
                  <a:srgbClr val="FF0000"/>
                </a:solidFill>
                <a:sym typeface="+mn-ea"/>
              </a:rPr>
              <a:t>13</a:t>
            </a:r>
            <a:r>
              <a:rPr lang="zh-CN" altLang="en-US" sz="1000">
                <a:solidFill>
                  <a:srgbClr val="FF0000"/>
                </a:solidFill>
                <a:sym typeface="+mn-ea"/>
              </a:rPr>
              <a:t>日</a:t>
            </a:r>
            <a:r>
              <a:rPr lang="en-US" altLang="zh-CN" sz="1000">
                <a:solidFill>
                  <a:srgbClr val="FF0000"/>
                </a:solidFill>
                <a:sym typeface="+mn-ea"/>
              </a:rPr>
              <a:t>09</a:t>
            </a:r>
            <a:r>
              <a:rPr lang="zh-CN" altLang="en-US" sz="1000">
                <a:solidFill>
                  <a:srgbClr val="FF0000"/>
                </a:solidFill>
                <a:sym typeface="+mn-ea"/>
              </a:rPr>
              <a:t>：</a:t>
            </a:r>
            <a:r>
              <a:rPr lang="en-US" altLang="zh-CN" sz="1000">
                <a:solidFill>
                  <a:srgbClr val="FF0000"/>
                </a:solidFill>
                <a:sym typeface="+mn-ea"/>
              </a:rPr>
              <a:t>00</a:t>
            </a:r>
            <a:r>
              <a:rPr lang="zh-CN" altLang="en-US" sz="1000">
                <a:solidFill>
                  <a:srgbClr val="FF0000"/>
                </a:solidFill>
                <a:sym typeface="+mn-ea"/>
              </a:rPr>
              <a:t>，许可人：张三（李四代）</a:t>
            </a:r>
            <a:r>
              <a:rPr lang="en-US" altLang="zh-CN" sz="1000">
                <a:solidFill>
                  <a:srgbClr val="FF0000"/>
                </a:solidFill>
                <a:sym typeface="+mn-ea"/>
              </a:rPr>
              <a:t>;</a:t>
            </a:r>
            <a:r>
              <a:rPr lang="zh-CN" altLang="en-US" sz="1000">
                <a:solidFill>
                  <a:srgbClr val="FF0000"/>
                </a:solidFill>
                <a:sym typeface="+mn-ea"/>
              </a:rPr>
              <a:t>工作负责人：</a:t>
            </a:r>
            <a:r>
              <a:rPr lang="zh-CN" altLang="en-US" sz="1000">
                <a:solidFill>
                  <a:srgbClr val="FF0000"/>
                </a:solidFill>
                <a:sym typeface="+mn-ea"/>
              </a:rPr>
              <a:t>李四</a:t>
            </a:r>
            <a:r>
              <a:rPr lang="zh-CN" altLang="en-US" sz="1000">
                <a:solidFill>
                  <a:srgbClr val="FF0000"/>
                </a:solidFill>
                <a:sym typeface="+mn-ea"/>
              </a:rPr>
              <a:t>；</a:t>
            </a:r>
            <a:r>
              <a:rPr lang="zh-CN" altLang="en-US" sz="1000">
                <a:solidFill>
                  <a:srgbClr val="FF0000"/>
                </a:solidFill>
                <a:sym typeface="+mn-ea"/>
              </a:rPr>
              <a:t>电话下达</a:t>
            </a:r>
            <a:endParaRPr lang="zh-CN" altLang="en-US" sz="1000">
              <a:solidFill>
                <a:srgbClr val="FF0000"/>
              </a:solidFill>
              <a:sym typeface="+mn-ea"/>
            </a:endParaRPr>
          </a:p>
          <a:p>
            <a:pPr algn="l"/>
            <a:r>
              <a:rPr lang="zh-CN" altLang="en-US" sz="1000">
                <a:solidFill>
                  <a:srgbClr val="FF0000"/>
                </a:solidFill>
                <a:sym typeface="+mn-ea"/>
              </a:rPr>
              <a:t>注：系统闭环时应将工作票间断情况拍照上传至系统；如系统不支持拍照上传附件，需线下保持存档，备查。</a:t>
            </a:r>
            <a:endParaRPr lang="zh-CN" altLang="en-US" sz="1000">
              <a:solidFill>
                <a:srgbClr val="FF0000"/>
              </a:solidFill>
            </a:endParaRPr>
          </a:p>
          <a:p>
            <a:pPr algn="l"/>
            <a:endParaRPr lang="zh-CN" altLang="en-US" sz="10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495935" y="1149350"/>
            <a:ext cx="270000" cy="270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80365" y="1066800"/>
            <a:ext cx="292100" cy="292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963295" y="1059180"/>
            <a:ext cx="2897505" cy="431800"/>
            <a:chOff x="730" y="2380"/>
            <a:chExt cx="4563" cy="680"/>
          </a:xfrm>
          <a:solidFill>
            <a:schemeClr val="tx2">
              <a:lumMod val="20000"/>
              <a:lumOff val="80000"/>
              <a:alpha val="34000"/>
            </a:schemeClr>
          </a:solidFill>
        </p:grpSpPr>
        <p:sp>
          <p:nvSpPr>
            <p:cNvPr id="7" name="圆角矩形 6"/>
            <p:cNvSpPr/>
            <p:nvPr/>
          </p:nvSpPr>
          <p:spPr>
            <a:xfrm>
              <a:off x="730" y="2380"/>
              <a:ext cx="4386" cy="68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 name="文本框 8"/>
            <p:cNvSpPr txBox="1"/>
            <p:nvPr/>
          </p:nvSpPr>
          <p:spPr>
            <a:xfrm>
              <a:off x="957" y="2445"/>
              <a:ext cx="4336" cy="580"/>
            </a:xfrm>
            <a:prstGeom prst="rect">
              <a:avLst/>
            </a:prstGeom>
            <a:noFill/>
          </p:spPr>
          <p:txBody>
            <a:bodyPr wrap="square" rtlCol="0">
              <a:spAutoFit/>
            </a:bodyPr>
            <a:p>
              <a:r>
                <a:rPr lang="zh-CN" b="1" dirty="0">
                  <a:latin typeface="微软雅黑" panose="020B0503020204020204" charset="-122"/>
                  <a:ea typeface="微软雅黑" panose="020B0503020204020204" charset="-122"/>
                  <a:sym typeface="宋体" panose="02010600030101010101" pitchFamily="2" charset="-122"/>
                </a:rPr>
                <a:t>动火作业典型违章案例</a:t>
              </a:r>
              <a:endParaRPr lang="zh-CN" b="1" dirty="0">
                <a:latin typeface="微软雅黑" panose="020B0503020204020204" charset="-122"/>
                <a:ea typeface="微软雅黑" panose="020B0503020204020204" charset="-122"/>
              </a:endParaRPr>
            </a:p>
          </p:txBody>
        </p:sp>
      </p:grpSp>
      <p:sp>
        <p:nvSpPr>
          <p:cNvPr id="11" name="文本框 14"/>
          <p:cNvSpPr txBox="1"/>
          <p:nvPr/>
        </p:nvSpPr>
        <p:spPr>
          <a:xfrm>
            <a:off x="1884680" y="4628515"/>
            <a:ext cx="3947795" cy="1870075"/>
          </a:xfrm>
          <a:prstGeom prst="rect">
            <a:avLst/>
          </a:prstGeom>
          <a:solidFill>
            <a:schemeClr val="lt1"/>
          </a:solidFill>
          <a:ln w="6350">
            <a:solidFill>
              <a:schemeClr val="tx1"/>
            </a:solidFill>
            <a:prstDash val="dash"/>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主网生产指挥中心</a:t>
            </a:r>
            <a:r>
              <a:rPr lang="en-US" altLang="zh-CN" sz="1050" kern="100">
                <a:latin typeface="+mj-ea"/>
                <a:ea typeface="+mj-ea"/>
                <a:cs typeface="+mj-ea"/>
                <a:sym typeface="Times New Roman" panose="02020603050405020304"/>
              </a:rPr>
              <a:t>检查</a:t>
            </a:r>
            <a:r>
              <a:rPr lang="zh-CN" sz="1050" kern="100">
                <a:latin typeface="+mj-ea"/>
                <a:ea typeface="+mj-ea"/>
                <a:cs typeface="+mj-ea"/>
                <a:sym typeface="Times New Roman" panose="02020603050405020304"/>
              </a:rPr>
              <a:t>项目中心</a:t>
            </a:r>
            <a:r>
              <a:rPr lang="en-US" altLang="zh-CN" sz="1050" kern="100">
                <a:latin typeface="+mj-ea"/>
                <a:ea typeface="+mj-ea"/>
                <a:cs typeface="+mj-ea"/>
                <a:sym typeface="Times New Roman" panose="02020603050405020304"/>
              </a:rPr>
              <a:t>110kV福永站#2主变、#3主变、112PT、沥福II线、平福II线间隔刀闸及连接线安装、二次电缆铺设工程</a:t>
            </a:r>
            <a:endParaRPr lang="en-US" alt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sz="1050" kern="100">
                <a:latin typeface="+mj-ea"/>
                <a:ea typeface="+mj-ea"/>
                <a:cs typeface="+mj-ea"/>
                <a:sym typeface="Times New Roman" panose="02020603050405020304"/>
              </a:rPr>
              <a:t>违章问题：非动火执行人开展动火作业，且无特种作业资质</a:t>
            </a:r>
            <a:endParaRPr 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项目管理单位：工程项目管理中心</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责任承包商：中国能源建设集团广东火电工程有限公司</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违反《中国南方电网有限责任公司电力安全工作规程（第1部分：发电厂和变电站部分）》</a:t>
            </a:r>
            <a:r>
              <a:rPr lang="en-US" altLang="zh-CN" sz="1050" kern="100">
                <a:latin typeface="+mj-ea"/>
                <a:ea typeface="+mj-ea"/>
                <a:cs typeface="+mj-ea"/>
                <a:sym typeface="Times New Roman" panose="02020603050405020304"/>
              </a:rPr>
              <a:t>20.3.3.5</a:t>
            </a:r>
            <a:r>
              <a:rPr lang="zh-CN" altLang="en-US" sz="1050" kern="100">
                <a:latin typeface="+mj-ea"/>
                <a:ea typeface="+mj-ea"/>
                <a:cs typeface="+mj-ea"/>
                <a:sym typeface="Times New Roman" panose="02020603050405020304"/>
              </a:rPr>
              <a:t>条：焊接与热切割作业的动火执行人应持有政府有关部门颁发的有效证件。</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属</a:t>
            </a:r>
            <a:r>
              <a:rPr lang="en-US" altLang="zh-CN" sz="1050" kern="100">
                <a:latin typeface="+mj-ea"/>
                <a:ea typeface="+mj-ea"/>
                <a:cs typeface="+mj-ea"/>
                <a:sym typeface="Times New Roman" panose="02020603050405020304"/>
              </a:rPr>
              <a:t>A</a:t>
            </a:r>
            <a:r>
              <a:rPr lang="zh-CN" altLang="en-US" sz="1050" kern="100">
                <a:latin typeface="+mj-ea"/>
                <a:ea typeface="+mj-ea"/>
                <a:cs typeface="+mj-ea"/>
                <a:sym typeface="Times New Roman" panose="02020603050405020304"/>
              </a:rPr>
              <a:t>类违章，违章条款</a:t>
            </a:r>
            <a:r>
              <a:rPr lang="en-US" altLang="zh-CN" sz="1050" kern="100">
                <a:latin typeface="+mj-ea"/>
                <a:ea typeface="+mj-ea"/>
                <a:cs typeface="+mj-ea"/>
                <a:sym typeface="Times New Roman" panose="02020603050405020304"/>
              </a:rPr>
              <a:t>A17</a:t>
            </a:r>
            <a:endParaRPr lang="en-US" altLang="zh-CN" sz="1050" kern="100">
              <a:latin typeface="+mj-ea"/>
              <a:ea typeface="+mj-ea"/>
              <a:cs typeface="+mj-ea"/>
              <a:sym typeface="Times New Roman" panose="02020603050405020304"/>
            </a:endParaRPr>
          </a:p>
        </p:txBody>
      </p:sp>
      <p:grpSp>
        <p:nvGrpSpPr>
          <p:cNvPr id="20" name="组合 19"/>
          <p:cNvGrpSpPr/>
          <p:nvPr/>
        </p:nvGrpSpPr>
        <p:grpSpPr>
          <a:xfrm>
            <a:off x="380365" y="1704975"/>
            <a:ext cx="6544945" cy="2707640"/>
            <a:chOff x="8310" y="2616"/>
            <a:chExt cx="10307" cy="4264"/>
          </a:xfrm>
        </p:grpSpPr>
        <p:pic>
          <p:nvPicPr>
            <p:cNvPr id="18" name="图片 17"/>
            <p:cNvPicPr>
              <a:picLocks noChangeAspect="1"/>
            </p:cNvPicPr>
            <p:nvPr>
              <p:custDataLst>
                <p:tags r:id="rId2"/>
              </p:custDataLst>
            </p:nvPr>
          </p:nvPicPr>
          <p:blipFill>
            <a:blip r:embed="rId3"/>
            <a:stretch>
              <a:fillRect/>
            </a:stretch>
          </p:blipFill>
          <p:spPr>
            <a:xfrm>
              <a:off x="14181" y="3364"/>
              <a:ext cx="4436" cy="2918"/>
            </a:xfrm>
            <a:prstGeom prst="rect">
              <a:avLst/>
            </a:prstGeom>
          </p:spPr>
        </p:pic>
        <p:pic>
          <p:nvPicPr>
            <p:cNvPr id="19" name="图片 18" descr="企业微信截图_16757498602669"/>
            <p:cNvPicPr>
              <a:picLocks noChangeAspect="1"/>
            </p:cNvPicPr>
            <p:nvPr/>
          </p:nvPicPr>
          <p:blipFill>
            <a:blip r:embed="rId4"/>
            <a:srcRect l="15469" r="15043"/>
            <a:stretch>
              <a:fillRect/>
            </a:stretch>
          </p:blipFill>
          <p:spPr>
            <a:xfrm>
              <a:off x="8310" y="2616"/>
              <a:ext cx="5871" cy="4264"/>
            </a:xfrm>
            <a:prstGeom prst="rect">
              <a:avLst/>
            </a:prstGeom>
            <a:ln>
              <a:solidFill>
                <a:schemeClr val="tx1"/>
              </a:solidFill>
            </a:ln>
          </p:spPr>
        </p:pic>
      </p:grpSp>
      <p:sp>
        <p:nvSpPr>
          <p:cNvPr id="2" name="文本框 14"/>
          <p:cNvSpPr txBox="1"/>
          <p:nvPr/>
        </p:nvSpPr>
        <p:spPr>
          <a:xfrm>
            <a:off x="7334250" y="4540885"/>
            <a:ext cx="3947795" cy="2188845"/>
          </a:xfrm>
          <a:prstGeom prst="rect">
            <a:avLst/>
          </a:prstGeom>
          <a:solidFill>
            <a:schemeClr val="lt1"/>
          </a:solidFill>
          <a:ln w="6350">
            <a:solidFill>
              <a:schemeClr val="tx1"/>
            </a:solidFill>
            <a:prstDash val="dash"/>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变电二所</a:t>
            </a:r>
            <a:r>
              <a:rPr lang="en-US" altLang="zh-CN" sz="1050" kern="100">
                <a:latin typeface="+mj-ea"/>
                <a:ea typeface="+mj-ea"/>
                <a:cs typeface="+mj-ea"/>
                <a:sym typeface="Times New Roman" panose="02020603050405020304"/>
              </a:rPr>
              <a:t>检查</a:t>
            </a:r>
            <a:r>
              <a:rPr lang="zh-CN" sz="1050" kern="100">
                <a:latin typeface="+mj-ea"/>
                <a:ea typeface="+mj-ea"/>
                <a:cs typeface="+mj-ea"/>
                <a:sym typeface="Times New Roman" panose="02020603050405020304"/>
              </a:rPr>
              <a:t>项目中心</a:t>
            </a:r>
            <a:r>
              <a:rPr lang="en-US" altLang="zh-CN" sz="1050" kern="100">
                <a:latin typeface="+mj-ea"/>
                <a:ea typeface="+mj-ea"/>
                <a:cs typeface="+mj-ea"/>
                <a:sym typeface="Times New Roman" panose="02020603050405020304"/>
              </a:rPr>
              <a:t>110kV福永站110kV 2M刀闸旧底座、机构箱切割工程</a:t>
            </a:r>
            <a:endParaRPr lang="en-US" alt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sz="1050" kern="100">
                <a:latin typeface="+mj-ea"/>
                <a:ea typeface="+mj-ea"/>
                <a:cs typeface="+mj-ea"/>
                <a:sym typeface="Times New Roman" panose="02020603050405020304"/>
              </a:rPr>
              <a:t>违章问题：安排</a:t>
            </a:r>
            <a:r>
              <a:rPr lang="zh-CN" altLang="en-US" sz="1050" kern="100">
                <a:latin typeface="+mj-ea"/>
                <a:ea typeface="+mj-ea"/>
                <a:cs typeface="+mj-ea"/>
                <a:sym typeface="Times New Roman" panose="02020603050405020304"/>
              </a:rPr>
              <a:t>非动火工作票所列动火执行人开展动火作业</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项目管理单位：工程项目管理中心</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责任承包商：中国能源建设集团广东火电工程有限公司</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违反《中国南方电网有限责任公司电力安全工作规程（第1部分：发电厂和变电站部分）》</a:t>
            </a:r>
            <a:r>
              <a:rPr lang="en-US" altLang="zh-CN" sz="1050" kern="100">
                <a:latin typeface="+mj-ea"/>
                <a:ea typeface="+mj-ea"/>
                <a:cs typeface="+mj-ea"/>
                <a:sym typeface="Times New Roman" panose="02020603050405020304"/>
              </a:rPr>
              <a:t>5.9.7</a:t>
            </a:r>
            <a:r>
              <a:rPr lang="zh-CN" altLang="en-US" sz="1050" kern="100">
                <a:latin typeface="+mj-ea"/>
                <a:ea typeface="+mj-ea"/>
                <a:cs typeface="+mj-ea"/>
                <a:sym typeface="Times New Roman" panose="02020603050405020304"/>
              </a:rPr>
              <a:t>条：书面布置记录票、紧急抢修工作票的工作人员变更时，工作负责人需征得工作许可人的同意，并在备注栏注明；其他工作票的工作人员变更时，工作负责人应与工作票签发人（会签人）办理变更手续，并通知工作许可人。</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属</a:t>
            </a:r>
            <a:r>
              <a:rPr lang="en-US" altLang="zh-CN" sz="1050" kern="100">
                <a:latin typeface="+mj-ea"/>
                <a:ea typeface="+mj-ea"/>
                <a:cs typeface="+mj-ea"/>
                <a:sym typeface="Times New Roman" panose="02020603050405020304"/>
              </a:rPr>
              <a:t>B</a:t>
            </a:r>
            <a:r>
              <a:rPr lang="zh-CN" altLang="en-US" sz="1050" kern="100">
                <a:latin typeface="+mj-ea"/>
                <a:ea typeface="+mj-ea"/>
                <a:cs typeface="+mj-ea"/>
                <a:sym typeface="Times New Roman" panose="02020603050405020304"/>
              </a:rPr>
              <a:t>类违章，违章条款</a:t>
            </a:r>
            <a:r>
              <a:rPr lang="en-US" altLang="zh-CN" sz="1050" kern="100">
                <a:latin typeface="+mj-ea"/>
                <a:ea typeface="+mj-ea"/>
                <a:cs typeface="+mj-ea"/>
                <a:sym typeface="Times New Roman" panose="02020603050405020304"/>
              </a:rPr>
              <a:t>B06</a:t>
            </a:r>
            <a:endParaRPr lang="en-US" altLang="zh-CN" sz="1050" kern="100">
              <a:latin typeface="+mj-ea"/>
              <a:ea typeface="+mj-ea"/>
              <a:cs typeface="+mj-ea"/>
              <a:sym typeface="Times New Roman" panose="02020603050405020304"/>
            </a:endParaRPr>
          </a:p>
        </p:txBody>
      </p:sp>
      <p:pic>
        <p:nvPicPr>
          <p:cNvPr id="3" name="图片 2"/>
          <p:cNvPicPr>
            <a:picLocks noChangeAspect="1"/>
          </p:cNvPicPr>
          <p:nvPr/>
        </p:nvPicPr>
        <p:blipFill>
          <a:blip r:embed="rId5"/>
          <a:stretch>
            <a:fillRect/>
          </a:stretch>
        </p:blipFill>
        <p:spPr>
          <a:xfrm>
            <a:off x="7334250" y="1858010"/>
            <a:ext cx="3368040" cy="24968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495935" y="1149350"/>
            <a:ext cx="270000" cy="270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80365" y="1066800"/>
            <a:ext cx="292100" cy="292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963295" y="1059180"/>
            <a:ext cx="2897505" cy="431800"/>
            <a:chOff x="730" y="2380"/>
            <a:chExt cx="4563" cy="680"/>
          </a:xfrm>
          <a:solidFill>
            <a:schemeClr val="tx2">
              <a:lumMod val="20000"/>
              <a:lumOff val="80000"/>
              <a:alpha val="34000"/>
            </a:schemeClr>
          </a:solidFill>
        </p:grpSpPr>
        <p:sp>
          <p:nvSpPr>
            <p:cNvPr id="7" name="圆角矩形 6"/>
            <p:cNvSpPr/>
            <p:nvPr/>
          </p:nvSpPr>
          <p:spPr>
            <a:xfrm>
              <a:off x="730" y="2380"/>
              <a:ext cx="4386" cy="68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 name="文本框 8"/>
            <p:cNvSpPr txBox="1"/>
            <p:nvPr/>
          </p:nvSpPr>
          <p:spPr>
            <a:xfrm>
              <a:off x="957" y="2445"/>
              <a:ext cx="4336" cy="580"/>
            </a:xfrm>
            <a:prstGeom prst="rect">
              <a:avLst/>
            </a:prstGeom>
            <a:noFill/>
          </p:spPr>
          <p:txBody>
            <a:bodyPr wrap="square" rtlCol="0">
              <a:spAutoFit/>
            </a:bodyPr>
            <a:p>
              <a:r>
                <a:rPr lang="zh-CN" b="1" dirty="0">
                  <a:latin typeface="微软雅黑" panose="020B0503020204020204" charset="-122"/>
                  <a:ea typeface="微软雅黑" panose="020B0503020204020204" charset="-122"/>
                  <a:sym typeface="宋体" panose="02010600030101010101" pitchFamily="2" charset="-122"/>
                </a:rPr>
                <a:t>动火作业典型违章案例</a:t>
              </a:r>
              <a:endParaRPr lang="zh-CN" b="1" dirty="0">
                <a:latin typeface="微软雅黑" panose="020B0503020204020204" charset="-122"/>
                <a:ea typeface="微软雅黑" panose="020B0503020204020204" charset="-122"/>
              </a:endParaRPr>
            </a:p>
          </p:txBody>
        </p:sp>
      </p:grpSp>
      <p:sp>
        <p:nvSpPr>
          <p:cNvPr id="14" name="文本框 14"/>
          <p:cNvSpPr txBox="1"/>
          <p:nvPr/>
        </p:nvSpPr>
        <p:spPr>
          <a:xfrm>
            <a:off x="924560" y="4958080"/>
            <a:ext cx="3947795" cy="1869440"/>
          </a:xfrm>
          <a:prstGeom prst="rect">
            <a:avLst/>
          </a:prstGeom>
          <a:solidFill>
            <a:schemeClr val="lt1"/>
          </a:solidFill>
          <a:ln w="6350">
            <a:solidFill>
              <a:schemeClr val="tx1"/>
            </a:solidFill>
            <a:prstDash val="dash"/>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marL="171450" indent="-171450" algn="l">
              <a:buFont typeface="Wingdings" panose="05000000000000000000" charset="0"/>
              <a:buChar char="u"/>
            </a:pPr>
            <a:r>
              <a:rPr lang="en-US" altLang="zh-CN" sz="1050" kern="100">
                <a:latin typeface="+mj-ea"/>
                <a:ea typeface="+mj-ea"/>
                <a:cs typeface="+mj-ea"/>
                <a:sym typeface="Times New Roman" panose="02020603050405020304"/>
              </a:rPr>
              <a:t>安全督查大队检查</a:t>
            </a:r>
            <a:r>
              <a:rPr lang="zh-CN" sz="1050" kern="100">
                <a:latin typeface="+mj-ea"/>
                <a:ea typeface="+mj-ea"/>
                <a:cs typeface="+mj-ea"/>
                <a:sym typeface="Times New Roman" panose="02020603050405020304"/>
              </a:rPr>
              <a:t>变电一所</a:t>
            </a:r>
            <a:r>
              <a:rPr lang="en-US" altLang="zh-CN" sz="1050" kern="100">
                <a:latin typeface="+mj-ea"/>
                <a:ea typeface="+mj-ea"/>
                <a:cs typeface="+mj-ea"/>
                <a:sym typeface="Times New Roman" panose="02020603050405020304"/>
              </a:rPr>
              <a:t>500kV</a:t>
            </a:r>
            <a:r>
              <a:rPr lang="zh-CN" altLang="en-US" sz="1050" kern="100">
                <a:latin typeface="+mj-ea"/>
                <a:ea typeface="+mj-ea"/>
                <a:cs typeface="+mj-ea"/>
                <a:sym typeface="Times New Roman" panose="02020603050405020304"/>
              </a:rPr>
              <a:t>深圳</a:t>
            </a:r>
            <a:r>
              <a:rPr lang="en-US" altLang="zh-CN" sz="1050" kern="100">
                <a:latin typeface="+mj-ea"/>
                <a:ea typeface="+mj-ea"/>
                <a:cs typeface="+mj-ea"/>
                <a:sym typeface="Times New Roman" panose="02020603050405020304"/>
              </a:rPr>
              <a:t>变电站#4</a:t>
            </a:r>
            <a:r>
              <a:rPr lang="zh-CN" altLang="en-US" sz="1050" kern="100">
                <a:latin typeface="+mj-ea"/>
                <a:ea typeface="+mj-ea"/>
                <a:cs typeface="+mj-ea"/>
                <a:sym typeface="Times New Roman" panose="02020603050405020304"/>
              </a:rPr>
              <a:t>主变变中避雷器安装</a:t>
            </a:r>
            <a:r>
              <a:rPr lang="en-US" altLang="zh-CN" sz="1050" kern="100">
                <a:latin typeface="+mj-ea"/>
                <a:ea typeface="+mj-ea"/>
                <a:cs typeface="+mj-ea"/>
                <a:sym typeface="Times New Roman" panose="02020603050405020304"/>
              </a:rPr>
              <a:t>工程</a:t>
            </a:r>
            <a:endParaRPr lang="en-US" alt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sz="1050" kern="100">
                <a:latin typeface="+mj-ea"/>
                <a:ea typeface="+mj-ea"/>
                <a:cs typeface="+mj-ea"/>
                <a:sym typeface="Times New Roman" panose="02020603050405020304"/>
              </a:rPr>
              <a:t>违章问题：</a:t>
            </a:r>
            <a:r>
              <a:rPr lang="zh-CN" altLang="en-US" sz="1050" kern="100">
                <a:latin typeface="+mj-ea"/>
                <a:ea typeface="+mj-ea"/>
                <a:cs typeface="+mj-ea"/>
                <a:sym typeface="Times New Roman" panose="02020603050405020304"/>
              </a:rPr>
              <a:t>动火工作监护人签发动火工作票</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项目管理单位：变电管理一所</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责任承包商：深圳市福供供电服务有限公司</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违反《中国南方电网有限责任公司电力安全工作规程（第1部分：发电厂和变电站部分）》</a:t>
            </a:r>
            <a:r>
              <a:rPr lang="en-US" altLang="zh-CN" sz="1050" kern="100">
                <a:latin typeface="+mj-ea"/>
                <a:ea typeface="+mj-ea"/>
                <a:cs typeface="+mj-ea"/>
                <a:sym typeface="Times New Roman" panose="02020603050405020304"/>
              </a:rPr>
              <a:t>20.3.6.3</a:t>
            </a:r>
            <a:r>
              <a:rPr lang="zh-CN" altLang="en-US" sz="1050" kern="100">
                <a:latin typeface="+mj-ea"/>
                <a:ea typeface="+mj-ea"/>
                <a:cs typeface="+mj-ea"/>
                <a:sym typeface="Times New Roman" panose="02020603050405020304"/>
              </a:rPr>
              <a:t>条：动火工作票签发人不应兼任动火工作负责人。动火工作票审批人、动火工作监护人不应签发动火工作票</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属</a:t>
            </a:r>
            <a:r>
              <a:rPr lang="en-US" altLang="zh-CN" sz="1050" kern="100">
                <a:latin typeface="+mj-ea"/>
                <a:ea typeface="+mj-ea"/>
                <a:cs typeface="+mj-ea"/>
                <a:sym typeface="Times New Roman" panose="02020603050405020304"/>
              </a:rPr>
              <a:t>C</a:t>
            </a:r>
            <a:r>
              <a:rPr lang="zh-CN" altLang="en-US" sz="1050" kern="100">
                <a:latin typeface="+mj-ea"/>
                <a:ea typeface="+mj-ea"/>
                <a:cs typeface="+mj-ea"/>
                <a:sym typeface="Times New Roman" panose="02020603050405020304"/>
              </a:rPr>
              <a:t>类违章，违章条款</a:t>
            </a:r>
            <a:r>
              <a:rPr lang="en-US" altLang="zh-CN" sz="1050" kern="100">
                <a:latin typeface="+mj-ea"/>
                <a:ea typeface="+mj-ea"/>
                <a:cs typeface="+mj-ea"/>
                <a:sym typeface="Times New Roman" panose="02020603050405020304"/>
              </a:rPr>
              <a:t>C81</a:t>
            </a:r>
            <a:endParaRPr lang="en-US" altLang="zh-CN" sz="1050" kern="100">
              <a:latin typeface="+mj-ea"/>
              <a:ea typeface="+mj-ea"/>
              <a:cs typeface="+mj-ea"/>
              <a:sym typeface="Times New Roman" panose="02020603050405020304"/>
            </a:endParaRPr>
          </a:p>
        </p:txBody>
      </p:sp>
      <p:pic>
        <p:nvPicPr>
          <p:cNvPr id="2" name="图片 1"/>
          <p:cNvPicPr>
            <a:picLocks noChangeAspect="1"/>
          </p:cNvPicPr>
          <p:nvPr/>
        </p:nvPicPr>
        <p:blipFill>
          <a:blip r:embed="rId2"/>
          <a:srcRect l="3598" b="10751"/>
          <a:stretch>
            <a:fillRect/>
          </a:stretch>
        </p:blipFill>
        <p:spPr>
          <a:xfrm>
            <a:off x="765810" y="1699895"/>
            <a:ext cx="4106545" cy="3072130"/>
          </a:xfrm>
          <a:prstGeom prst="rect">
            <a:avLst/>
          </a:prstGeom>
          <a:noFill/>
          <a:ln>
            <a:noFill/>
          </a:ln>
        </p:spPr>
      </p:pic>
      <p:sp>
        <p:nvSpPr>
          <p:cNvPr id="5" name="文本框 14"/>
          <p:cNvSpPr txBox="1"/>
          <p:nvPr/>
        </p:nvSpPr>
        <p:spPr>
          <a:xfrm>
            <a:off x="6741160" y="4958080"/>
            <a:ext cx="3947795" cy="1816100"/>
          </a:xfrm>
          <a:prstGeom prst="rect">
            <a:avLst/>
          </a:prstGeom>
          <a:solidFill>
            <a:schemeClr val="lt1"/>
          </a:solidFill>
          <a:ln w="6350">
            <a:solidFill>
              <a:schemeClr val="tx1"/>
            </a:solidFill>
            <a:prstDash val="dash"/>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输电所</a:t>
            </a:r>
            <a:r>
              <a:rPr lang="en-US" altLang="zh-CN" sz="1050" kern="100">
                <a:latin typeface="+mj-ea"/>
                <a:ea typeface="+mj-ea"/>
                <a:cs typeface="+mj-ea"/>
                <a:sym typeface="Times New Roman" panose="02020603050405020304"/>
              </a:rPr>
              <a:t>检查</a:t>
            </a:r>
            <a:r>
              <a:rPr lang="zh-CN" sz="1050" kern="100">
                <a:latin typeface="+mj-ea"/>
                <a:ea typeface="+mj-ea"/>
                <a:cs typeface="+mj-ea"/>
                <a:sym typeface="Times New Roman" panose="02020603050405020304"/>
              </a:rPr>
              <a:t>迁改中心</a:t>
            </a:r>
            <a:r>
              <a:rPr lang="en-US" altLang="zh-CN" sz="1050" kern="100">
                <a:latin typeface="+mj-ea"/>
                <a:ea typeface="+mj-ea"/>
                <a:cs typeface="+mj-ea"/>
                <a:sym typeface="Times New Roman" panose="02020603050405020304"/>
              </a:rPr>
              <a:t>地铁13号线北延电力迁改工程涉及110kV公塘Ⅰ线（1313）改迁工程</a:t>
            </a:r>
            <a:endParaRPr lang="en-US" alt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sz="1050" kern="100">
                <a:latin typeface="+mj-ea"/>
                <a:ea typeface="+mj-ea"/>
                <a:cs typeface="+mj-ea"/>
                <a:sym typeface="Times New Roman" panose="02020603050405020304"/>
              </a:rPr>
              <a:t>违章问题：动火作业现场未放置足够、合格的灭火器材</a:t>
            </a:r>
            <a:endParaRPr 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项目管理单位：迁改项目管理中心</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责任承包商：深圳市高力特实业有限公司</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违反《中国南方电网有限责任公司电力安全工作规程（第2部分：高压输电部分）》</a:t>
            </a:r>
            <a:r>
              <a:rPr lang="en-US" altLang="zh-CN" sz="1050" kern="100">
                <a:latin typeface="+mj-ea"/>
                <a:ea typeface="+mj-ea"/>
                <a:cs typeface="+mj-ea"/>
                <a:sym typeface="Times New Roman" panose="02020603050405020304"/>
              </a:rPr>
              <a:t>16.1.5</a:t>
            </a:r>
            <a:r>
              <a:rPr lang="zh-CN" altLang="en-US" sz="1050" kern="100">
                <a:latin typeface="+mj-ea"/>
                <a:ea typeface="+mj-ea"/>
                <a:cs typeface="+mj-ea"/>
                <a:sym typeface="Times New Roman" panose="02020603050405020304"/>
              </a:rPr>
              <a:t>条：动火现场及周围的易燃物品应清除，或已采取其他有效的防火安全措施，配备足够适用的消防器材。</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属</a:t>
            </a:r>
            <a:r>
              <a:rPr lang="en-US" altLang="zh-CN" sz="1050" kern="100">
                <a:latin typeface="+mj-ea"/>
                <a:ea typeface="+mj-ea"/>
                <a:cs typeface="+mj-ea"/>
                <a:sym typeface="Times New Roman" panose="02020603050405020304"/>
              </a:rPr>
              <a:t>C</a:t>
            </a:r>
            <a:r>
              <a:rPr lang="zh-CN" altLang="en-US" sz="1050" kern="100">
                <a:latin typeface="+mj-ea"/>
                <a:ea typeface="+mj-ea"/>
                <a:cs typeface="+mj-ea"/>
                <a:sym typeface="Times New Roman" panose="02020603050405020304"/>
              </a:rPr>
              <a:t>类违章，违章条款</a:t>
            </a:r>
            <a:r>
              <a:rPr lang="en-US" altLang="zh-CN" sz="1050" kern="100">
                <a:latin typeface="+mj-ea"/>
                <a:ea typeface="+mj-ea"/>
                <a:cs typeface="+mj-ea"/>
                <a:sym typeface="Times New Roman" panose="02020603050405020304"/>
              </a:rPr>
              <a:t>C71</a:t>
            </a:r>
            <a:endParaRPr lang="en-US" altLang="zh-CN" sz="1050" kern="100">
              <a:latin typeface="+mj-ea"/>
              <a:ea typeface="+mj-ea"/>
              <a:cs typeface="+mj-ea"/>
              <a:sym typeface="Times New Roman" panose="02020603050405020304"/>
            </a:endParaRPr>
          </a:p>
        </p:txBody>
      </p:sp>
      <p:pic>
        <p:nvPicPr>
          <p:cNvPr id="100" name="图片 99"/>
          <p:cNvPicPr/>
          <p:nvPr/>
        </p:nvPicPr>
        <p:blipFill>
          <a:blip r:embed="rId3"/>
          <a:stretch>
            <a:fillRect/>
          </a:stretch>
        </p:blipFill>
        <p:spPr>
          <a:xfrm>
            <a:off x="7549515" y="1548130"/>
            <a:ext cx="2512695" cy="322326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495935" y="1149350"/>
            <a:ext cx="270000" cy="270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80365" y="1066800"/>
            <a:ext cx="292100" cy="292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963295" y="1059180"/>
            <a:ext cx="2897505" cy="431800"/>
            <a:chOff x="730" y="2380"/>
            <a:chExt cx="4563" cy="680"/>
          </a:xfrm>
          <a:solidFill>
            <a:schemeClr val="tx2">
              <a:lumMod val="20000"/>
              <a:lumOff val="80000"/>
              <a:alpha val="34000"/>
            </a:schemeClr>
          </a:solidFill>
        </p:grpSpPr>
        <p:sp>
          <p:nvSpPr>
            <p:cNvPr id="7" name="圆角矩形 6"/>
            <p:cNvSpPr/>
            <p:nvPr/>
          </p:nvSpPr>
          <p:spPr>
            <a:xfrm>
              <a:off x="730" y="2380"/>
              <a:ext cx="4386" cy="68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 name="文本框 8"/>
            <p:cNvSpPr txBox="1"/>
            <p:nvPr/>
          </p:nvSpPr>
          <p:spPr>
            <a:xfrm>
              <a:off x="957" y="2445"/>
              <a:ext cx="4336" cy="580"/>
            </a:xfrm>
            <a:prstGeom prst="rect">
              <a:avLst/>
            </a:prstGeom>
            <a:noFill/>
          </p:spPr>
          <p:txBody>
            <a:bodyPr wrap="square" rtlCol="0">
              <a:spAutoFit/>
            </a:bodyPr>
            <a:p>
              <a:r>
                <a:rPr lang="zh-CN" b="1" dirty="0">
                  <a:latin typeface="微软雅黑" panose="020B0503020204020204" charset="-122"/>
                  <a:ea typeface="微软雅黑" panose="020B0503020204020204" charset="-122"/>
                  <a:sym typeface="宋体" panose="02010600030101010101" pitchFamily="2" charset="-122"/>
                </a:rPr>
                <a:t>动火作业典型违章案例</a:t>
              </a:r>
              <a:endParaRPr lang="zh-CN" b="1" dirty="0">
                <a:latin typeface="微软雅黑" panose="020B0503020204020204" charset="-122"/>
                <a:ea typeface="微软雅黑" panose="020B0503020204020204" charset="-122"/>
              </a:endParaRPr>
            </a:p>
          </p:txBody>
        </p:sp>
      </p:grpSp>
      <p:sp>
        <p:nvSpPr>
          <p:cNvPr id="2" name="文本框 14"/>
          <p:cNvSpPr txBox="1"/>
          <p:nvPr>
            <p:custDataLst>
              <p:tags r:id="rId2"/>
            </p:custDataLst>
          </p:nvPr>
        </p:nvSpPr>
        <p:spPr>
          <a:xfrm>
            <a:off x="1190625" y="4438015"/>
            <a:ext cx="3947795" cy="1870075"/>
          </a:xfrm>
          <a:prstGeom prst="rect">
            <a:avLst/>
          </a:prstGeom>
          <a:solidFill>
            <a:schemeClr val="lt1"/>
          </a:solidFill>
          <a:ln w="6350">
            <a:solidFill>
              <a:schemeClr val="tx1"/>
            </a:solidFill>
            <a:prstDash val="dash"/>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主网生产指挥中心</a:t>
            </a:r>
            <a:r>
              <a:rPr lang="en-US" altLang="zh-CN" sz="1050" kern="100">
                <a:latin typeface="+mj-ea"/>
                <a:ea typeface="+mj-ea"/>
                <a:cs typeface="+mj-ea"/>
                <a:sym typeface="Times New Roman" panose="02020603050405020304"/>
              </a:rPr>
              <a:t>检查</a:t>
            </a:r>
            <a:r>
              <a:rPr lang="zh-CN" sz="1050" kern="100">
                <a:latin typeface="+mj-ea"/>
                <a:ea typeface="+mj-ea"/>
                <a:cs typeface="+mj-ea"/>
                <a:sym typeface="Times New Roman" panose="02020603050405020304"/>
              </a:rPr>
              <a:t>项目中心</a:t>
            </a:r>
            <a:r>
              <a:rPr lang="en-US" altLang="zh-CN" sz="1050" kern="100">
                <a:latin typeface="+mj-ea"/>
                <a:ea typeface="+mj-ea"/>
                <a:cs typeface="+mj-ea"/>
                <a:sym typeface="Times New Roman" panose="02020603050405020304"/>
              </a:rPr>
              <a:t>110kV福永站#2主变、#3主变、112PT、沥福II线、平福II线间隔刀闸及连接线安装、二次电缆铺设工程</a:t>
            </a:r>
            <a:endParaRPr lang="en-US" alt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sz="1050" kern="100">
                <a:latin typeface="+mj-ea"/>
                <a:ea typeface="+mj-ea"/>
                <a:cs typeface="+mj-ea"/>
                <a:sym typeface="Times New Roman" panose="02020603050405020304"/>
              </a:rPr>
              <a:t>违章问题：动火执行人在动火过程中未戴防护手套及护目镜</a:t>
            </a:r>
            <a:endParaRPr 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项目管理单位：工程项目管理中心</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责任承包商：中国能源建设集团广东火电工程有限公司</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违反《中国南方电网有限责任公司电力安全工作规程（第1部分：发电厂和变电站部分）》</a:t>
            </a:r>
            <a:r>
              <a:rPr lang="en-US" altLang="zh-CN" sz="1050" kern="100">
                <a:latin typeface="+mj-ea"/>
                <a:ea typeface="+mj-ea"/>
                <a:cs typeface="+mj-ea"/>
                <a:sym typeface="Times New Roman" panose="02020603050405020304"/>
              </a:rPr>
              <a:t>21.1.4</a:t>
            </a:r>
            <a:r>
              <a:rPr lang="zh-CN" altLang="en-US" sz="1050" kern="100">
                <a:latin typeface="+mj-ea"/>
                <a:ea typeface="+mj-ea"/>
                <a:cs typeface="+mj-ea"/>
                <a:sym typeface="Times New Roman" panose="02020603050405020304"/>
              </a:rPr>
              <a:t>条：焊接与热切割作业应使用合格、完整的机具、气瓶等，作业人员应穿戴专用劳动防护用品。</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属</a:t>
            </a:r>
            <a:r>
              <a:rPr lang="en-US" altLang="zh-CN" sz="1050" kern="100">
                <a:latin typeface="+mj-ea"/>
                <a:ea typeface="+mj-ea"/>
                <a:cs typeface="+mj-ea"/>
                <a:sym typeface="Times New Roman" panose="02020603050405020304"/>
              </a:rPr>
              <a:t>C</a:t>
            </a:r>
            <a:r>
              <a:rPr lang="zh-CN" altLang="en-US" sz="1050" kern="100">
                <a:latin typeface="+mj-ea"/>
                <a:ea typeface="+mj-ea"/>
                <a:cs typeface="+mj-ea"/>
                <a:sym typeface="Times New Roman" panose="02020603050405020304"/>
              </a:rPr>
              <a:t>类违章，违章条款</a:t>
            </a:r>
            <a:r>
              <a:rPr lang="en-US" altLang="zh-CN" sz="1050" kern="100">
                <a:latin typeface="+mj-ea"/>
                <a:ea typeface="+mj-ea"/>
                <a:cs typeface="+mj-ea"/>
                <a:sym typeface="Times New Roman" panose="02020603050405020304"/>
              </a:rPr>
              <a:t>C61</a:t>
            </a:r>
            <a:endParaRPr lang="en-US" altLang="zh-CN" sz="1050" kern="100">
              <a:latin typeface="+mj-ea"/>
              <a:ea typeface="+mj-ea"/>
              <a:cs typeface="+mj-ea"/>
              <a:sym typeface="Times New Roman" panose="02020603050405020304"/>
            </a:endParaRPr>
          </a:p>
        </p:txBody>
      </p:sp>
      <p:pic>
        <p:nvPicPr>
          <p:cNvPr id="3" name="图片 2"/>
          <p:cNvPicPr>
            <a:picLocks noChangeAspect="1"/>
          </p:cNvPicPr>
          <p:nvPr>
            <p:custDataLst>
              <p:tags r:id="rId3"/>
            </p:custDataLst>
          </p:nvPr>
        </p:nvPicPr>
        <p:blipFill>
          <a:blip r:embed="rId4"/>
          <a:stretch>
            <a:fillRect/>
          </a:stretch>
        </p:blipFill>
        <p:spPr>
          <a:xfrm>
            <a:off x="1107440" y="1467485"/>
            <a:ext cx="5151120" cy="2970530"/>
          </a:xfrm>
          <a:prstGeom prst="rect">
            <a:avLst/>
          </a:prstGeom>
        </p:spPr>
      </p:pic>
      <p:sp>
        <p:nvSpPr>
          <p:cNvPr id="5" name="文本框 14"/>
          <p:cNvSpPr txBox="1"/>
          <p:nvPr/>
        </p:nvSpPr>
        <p:spPr>
          <a:xfrm>
            <a:off x="6557645" y="4803775"/>
            <a:ext cx="3947795" cy="1516380"/>
          </a:xfrm>
          <a:prstGeom prst="rect">
            <a:avLst/>
          </a:prstGeom>
          <a:solidFill>
            <a:schemeClr val="lt1"/>
          </a:solidFill>
          <a:ln w="6350">
            <a:solidFill>
              <a:schemeClr val="tx1"/>
            </a:solidFill>
            <a:prstDash val="dash"/>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变电二所</a:t>
            </a:r>
            <a:r>
              <a:rPr lang="en-US" altLang="zh-CN" sz="1050" kern="100">
                <a:latin typeface="+mj-ea"/>
                <a:ea typeface="+mj-ea"/>
                <a:cs typeface="+mj-ea"/>
                <a:sym typeface="Times New Roman" panose="02020603050405020304"/>
              </a:rPr>
              <a:t>检查</a:t>
            </a:r>
            <a:r>
              <a:rPr lang="zh-CN" altLang="en-US" sz="1050" kern="100">
                <a:latin typeface="+mj-ea"/>
                <a:ea typeface="+mj-ea"/>
                <a:cs typeface="+mj-ea"/>
                <a:sym typeface="Times New Roman" panose="02020603050405020304"/>
              </a:rPr>
              <a:t>项目</a:t>
            </a:r>
            <a:r>
              <a:rPr sz="1050" kern="100">
                <a:latin typeface="+mj-ea"/>
                <a:ea typeface="+mj-ea"/>
                <a:cs typeface="+mj-ea"/>
                <a:sym typeface="Times New Roman" panose="02020603050405020304"/>
              </a:rPr>
              <a:t>STAT</a:t>
            </a:r>
            <a:r>
              <a:rPr lang="zh-CN" altLang="en-US" sz="1050" kern="100">
                <a:latin typeface="+mj-ea"/>
                <a:ea typeface="+mj-ea"/>
                <a:cs typeface="+mj-ea"/>
                <a:sym typeface="Times New Roman" panose="02020603050405020304"/>
              </a:rPr>
              <a:t>COM土建工程</a:t>
            </a:r>
            <a:endParaRPr sz="1050" kern="100">
              <a:latin typeface="+mj-ea"/>
              <a:ea typeface="+mj-ea"/>
              <a:cs typeface="+mj-ea"/>
              <a:sym typeface="Times New Roman" panose="02020603050405020304"/>
            </a:endParaRPr>
          </a:p>
          <a:p>
            <a:pPr marL="171450" indent="-171450" algn="l">
              <a:buFont typeface="Wingdings" panose="05000000000000000000" charset="0"/>
              <a:buChar char="u"/>
            </a:pPr>
            <a:r>
              <a:rPr lang="zh-CN" sz="1050" kern="100">
                <a:latin typeface="+mj-ea"/>
                <a:ea typeface="+mj-ea"/>
                <a:cs typeface="+mj-ea"/>
                <a:sym typeface="Times New Roman" panose="02020603050405020304"/>
              </a:rPr>
              <a:t>违章问题：动火作业监护不到位</a:t>
            </a:r>
            <a:endParaRPr lang="zh-CN"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项目管理单位：工程项目管理中心</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责任承包商：深圳市输变电工程有限公司</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违反《中国南方电网有限责任公司电力安全工作规程（第2部分：高压输电部分）》</a:t>
            </a:r>
            <a:r>
              <a:rPr lang="en-US" altLang="zh-CN" sz="1050" kern="100">
                <a:latin typeface="+mj-ea"/>
                <a:ea typeface="+mj-ea"/>
                <a:cs typeface="+mj-ea"/>
                <a:sym typeface="Times New Roman" panose="02020603050405020304"/>
              </a:rPr>
              <a:t>20.3.8.1</a:t>
            </a:r>
            <a:r>
              <a:rPr lang="zh-CN" altLang="en-US" sz="1050" kern="100">
                <a:latin typeface="+mj-ea"/>
                <a:ea typeface="+mj-ea"/>
                <a:cs typeface="+mj-ea"/>
                <a:sym typeface="Times New Roman" panose="02020603050405020304"/>
              </a:rPr>
              <a:t>条：动火作业全程应设有专人监护。</a:t>
            </a:r>
            <a:endParaRPr lang="zh-CN" altLang="en-US" sz="1050" kern="100">
              <a:latin typeface="+mj-ea"/>
              <a:ea typeface="+mj-ea"/>
              <a:cs typeface="+mj-ea"/>
              <a:sym typeface="Times New Roman" panose="02020603050405020304"/>
            </a:endParaRPr>
          </a:p>
          <a:p>
            <a:pPr marL="171450" indent="-171450" algn="l">
              <a:buFont typeface="Wingdings" panose="05000000000000000000" charset="0"/>
              <a:buChar char="u"/>
            </a:pPr>
            <a:r>
              <a:rPr lang="zh-CN" altLang="en-US" sz="1050" kern="100">
                <a:latin typeface="+mj-ea"/>
                <a:ea typeface="+mj-ea"/>
                <a:cs typeface="+mj-ea"/>
                <a:sym typeface="Times New Roman" panose="02020603050405020304"/>
              </a:rPr>
              <a:t>属</a:t>
            </a:r>
            <a:r>
              <a:rPr lang="en-US" altLang="zh-CN" sz="1050" kern="100">
                <a:latin typeface="+mj-ea"/>
                <a:ea typeface="+mj-ea"/>
                <a:cs typeface="+mj-ea"/>
                <a:sym typeface="Times New Roman" panose="02020603050405020304"/>
              </a:rPr>
              <a:t>C</a:t>
            </a:r>
            <a:r>
              <a:rPr lang="zh-CN" altLang="en-US" sz="1050" kern="100">
                <a:latin typeface="+mj-ea"/>
                <a:ea typeface="+mj-ea"/>
                <a:cs typeface="+mj-ea"/>
                <a:sym typeface="Times New Roman" panose="02020603050405020304"/>
              </a:rPr>
              <a:t>类违章，违章条款</a:t>
            </a:r>
            <a:r>
              <a:rPr lang="en-US" altLang="zh-CN" sz="1050" kern="100">
                <a:latin typeface="+mj-ea"/>
                <a:ea typeface="+mj-ea"/>
                <a:cs typeface="+mj-ea"/>
                <a:sym typeface="Times New Roman" panose="02020603050405020304"/>
              </a:rPr>
              <a:t>C37</a:t>
            </a:r>
            <a:endParaRPr lang="en-US" altLang="zh-CN" sz="1050" kern="100">
              <a:latin typeface="+mj-ea"/>
              <a:ea typeface="+mj-ea"/>
              <a:cs typeface="+mj-ea"/>
              <a:sym typeface="Times New Roman" panose="02020603050405020304"/>
            </a:endParaRPr>
          </a:p>
        </p:txBody>
      </p:sp>
      <p:pic>
        <p:nvPicPr>
          <p:cNvPr id="8" name="图片 7"/>
          <p:cNvPicPr>
            <a:picLocks noChangeAspect="1"/>
          </p:cNvPicPr>
          <p:nvPr/>
        </p:nvPicPr>
        <p:blipFill>
          <a:blip r:embed="rId5"/>
          <a:srcRect l="38454" t="33026" r="21867" b="10745"/>
          <a:stretch>
            <a:fillRect/>
          </a:stretch>
        </p:blipFill>
        <p:spPr>
          <a:xfrm>
            <a:off x="6557645" y="1229360"/>
            <a:ext cx="4607560" cy="343725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495935" y="1078230"/>
            <a:ext cx="270000" cy="270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80365" y="995680"/>
            <a:ext cx="292100" cy="292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963295" y="988060"/>
            <a:ext cx="2897505" cy="431800"/>
            <a:chOff x="730" y="2380"/>
            <a:chExt cx="4563" cy="680"/>
          </a:xfrm>
          <a:solidFill>
            <a:schemeClr val="tx2">
              <a:lumMod val="20000"/>
              <a:lumOff val="80000"/>
              <a:alpha val="34000"/>
            </a:schemeClr>
          </a:solidFill>
        </p:grpSpPr>
        <p:sp>
          <p:nvSpPr>
            <p:cNvPr id="7" name="圆角矩形 6"/>
            <p:cNvSpPr/>
            <p:nvPr/>
          </p:nvSpPr>
          <p:spPr>
            <a:xfrm>
              <a:off x="730" y="2380"/>
              <a:ext cx="4386" cy="68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 name="文本框 8"/>
            <p:cNvSpPr txBox="1"/>
            <p:nvPr/>
          </p:nvSpPr>
          <p:spPr>
            <a:xfrm>
              <a:off x="957" y="2445"/>
              <a:ext cx="4336" cy="580"/>
            </a:xfrm>
            <a:prstGeom prst="rect">
              <a:avLst/>
            </a:prstGeom>
            <a:noFill/>
          </p:spPr>
          <p:txBody>
            <a:bodyPr wrap="square" rtlCol="0">
              <a:spAutoFit/>
            </a:bodyPr>
            <a:p>
              <a:r>
                <a:rPr lang="zh-CN" b="1" dirty="0">
                  <a:latin typeface="微软雅黑" panose="020B0503020204020204" charset="-122"/>
                  <a:ea typeface="微软雅黑" panose="020B0503020204020204" charset="-122"/>
                </a:rPr>
                <a:t>下一步工作要求</a:t>
              </a:r>
              <a:endParaRPr lang="zh-CN" b="1" dirty="0">
                <a:latin typeface="微软雅黑" panose="020B0503020204020204" charset="-122"/>
                <a:ea typeface="微软雅黑" panose="020B0503020204020204" charset="-122"/>
              </a:endParaRPr>
            </a:p>
          </p:txBody>
        </p:sp>
      </p:grpSp>
      <p:sp>
        <p:nvSpPr>
          <p:cNvPr id="2" name="文本框 1"/>
          <p:cNvSpPr txBox="1"/>
          <p:nvPr/>
        </p:nvSpPr>
        <p:spPr>
          <a:xfrm>
            <a:off x="380365" y="1453515"/>
            <a:ext cx="11586845" cy="4892675"/>
          </a:xfrm>
          <a:prstGeom prst="rect">
            <a:avLst/>
          </a:prstGeom>
          <a:noFill/>
        </p:spPr>
        <p:txBody>
          <a:bodyPr wrap="square" rtlCol="0">
            <a:spAutoFit/>
          </a:bodyPr>
          <a:p>
            <a:pPr marL="285750" indent="-285750" fontAlgn="auto">
              <a:lnSpc>
                <a:spcPct val="150000"/>
              </a:lnSpc>
              <a:buFont typeface="Wingdings" panose="05000000000000000000" charset="0"/>
              <a:buChar char="u"/>
            </a:pPr>
            <a:r>
              <a:rPr lang="zh-CN" altLang="en-US" sz="1600" b="1">
                <a:latin typeface="微软雅黑" panose="020B0503020204020204" charset="-122"/>
                <a:ea typeface="微软雅黑" panose="020B0503020204020204" charset="-122"/>
                <a:cs typeface="微软雅黑" panose="020B0503020204020204" charset="-122"/>
              </a:rPr>
              <a:t>一是</a:t>
            </a:r>
            <a:r>
              <a:rPr lang="zh-CN" altLang="en-US" sz="1600">
                <a:latin typeface="微软雅黑" panose="020B0503020204020204" charset="-122"/>
                <a:ea typeface="微软雅黑" panose="020B0503020204020204" charset="-122"/>
                <a:cs typeface="微软雅黑" panose="020B0503020204020204" charset="-122"/>
              </a:rPr>
              <a:t>请各部门组织本部门作业人员通过班组安全学习或专项培训，</a:t>
            </a:r>
            <a:r>
              <a:rPr lang="zh-CN" altLang="en-US" sz="1600">
                <a:latin typeface="微软雅黑" panose="020B0503020204020204" charset="-122"/>
                <a:ea typeface="微软雅黑" panose="020B0503020204020204" charset="-122"/>
                <a:cs typeface="微软雅黑" panose="020B0503020204020204" charset="-122"/>
                <a:sym typeface="+mn-ea"/>
              </a:rPr>
              <a:t>请</a:t>
            </a:r>
            <a:r>
              <a:rPr lang="zh-CN" altLang="en-US" sz="1600">
                <a:latin typeface="微软雅黑" panose="020B0503020204020204" charset="-122"/>
                <a:ea typeface="微软雅黑" panose="020B0503020204020204" charset="-122"/>
                <a:cs typeface="微软雅黑" panose="020B0503020204020204" charset="-122"/>
                <a:sym typeface="+mn-ea"/>
              </a:rPr>
              <a:t>各部门部组织承包商及战略合作单位，</a:t>
            </a:r>
            <a:r>
              <a:rPr lang="zh-CN" altLang="en-US" sz="1600">
                <a:latin typeface="微软雅黑" panose="020B0503020204020204" charset="-122"/>
                <a:ea typeface="微软雅黑" panose="020B0503020204020204" charset="-122"/>
                <a:cs typeface="微软雅黑" panose="020B0503020204020204" charset="-122"/>
              </a:rPr>
              <a:t>开展一次动火作业组织措施、安全措施要求的学习宣贯；特别是要理解吃透新版安规关于动火作业的相关规范与要求。</a:t>
            </a:r>
            <a:r>
              <a:rPr lang="zh-CN" altLang="en-US" sz="1600">
                <a:latin typeface="微软雅黑" panose="020B0503020204020204" charset="-122"/>
                <a:ea typeface="微软雅黑" panose="020B0503020204020204" charset="-122"/>
                <a:cs typeface="微软雅黑" panose="020B0503020204020204" charset="-122"/>
                <a:sym typeface="+mn-ea"/>
              </a:rPr>
              <a:t>（</a:t>
            </a:r>
            <a:r>
              <a:rPr lang="en-US" altLang="zh-CN" sz="1600">
                <a:latin typeface="微软雅黑" panose="020B0503020204020204" charset="-122"/>
                <a:ea typeface="微软雅黑" panose="020B0503020204020204" charset="-122"/>
                <a:cs typeface="微软雅黑" panose="020B0503020204020204" charset="-122"/>
                <a:sym typeface="+mn-ea"/>
              </a:rPr>
              <a:t>5</a:t>
            </a:r>
            <a:r>
              <a:rPr lang="zh-CN" altLang="en-US" sz="1600">
                <a:latin typeface="微软雅黑" panose="020B0503020204020204" charset="-122"/>
                <a:ea typeface="微软雅黑" panose="020B0503020204020204" charset="-122"/>
                <a:cs typeface="微软雅黑" panose="020B0503020204020204" charset="-122"/>
                <a:sym typeface="+mn-ea"/>
              </a:rPr>
              <a:t>月</a:t>
            </a:r>
            <a:r>
              <a:rPr lang="en-US" altLang="zh-CN" sz="1600">
                <a:latin typeface="微软雅黑" panose="020B0503020204020204" charset="-122"/>
                <a:ea typeface="微软雅黑" panose="020B0503020204020204" charset="-122"/>
                <a:cs typeface="微软雅黑" panose="020B0503020204020204" charset="-122"/>
                <a:sym typeface="+mn-ea"/>
              </a:rPr>
              <a:t>20</a:t>
            </a:r>
            <a:r>
              <a:rPr lang="zh-CN" altLang="en-US" sz="1600">
                <a:latin typeface="微软雅黑" panose="020B0503020204020204" charset="-122"/>
                <a:ea typeface="微软雅黑" panose="020B0503020204020204" charset="-122"/>
                <a:cs typeface="微软雅黑" panose="020B0503020204020204" charset="-122"/>
                <a:sym typeface="+mn-ea"/>
              </a:rPr>
              <a:t>日前完成）</a:t>
            </a:r>
            <a:endParaRPr lang="zh-CN" altLang="en-US" sz="1600">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buFont typeface="Wingdings" panose="05000000000000000000" charset="0"/>
              <a:buChar char="u"/>
            </a:pPr>
            <a:r>
              <a:rPr lang="zh-CN" altLang="en-US" sz="1600" b="1">
                <a:latin typeface="微软雅黑" panose="020B0503020204020204" charset="-122"/>
                <a:ea typeface="微软雅黑" panose="020B0503020204020204" charset="-122"/>
                <a:cs typeface="微软雅黑" panose="020B0503020204020204" charset="-122"/>
                <a:sym typeface="+mn-ea"/>
              </a:rPr>
              <a:t>二是</a:t>
            </a:r>
            <a:r>
              <a:rPr lang="zh-CN" altLang="en-US" sz="1600">
                <a:latin typeface="微软雅黑" panose="020B0503020204020204" charset="-122"/>
                <a:ea typeface="微软雅黑" panose="020B0503020204020204" charset="-122"/>
                <a:cs typeface="微软雅黑" panose="020B0503020204020204" charset="-122"/>
                <a:sym typeface="+mn-ea"/>
              </a:rPr>
              <a:t>请配资部、综合部按照新版安规要求对设备运维范围内、局属办公区域所涉及的动火区域进行划分，建立一、二级动火区域台帐并明确具体涉及的作业内容，并根据实际情况动态修订。（</a:t>
            </a:r>
            <a:r>
              <a:rPr lang="en-US" altLang="zh-CN" sz="1600">
                <a:latin typeface="微软雅黑" panose="020B0503020204020204" charset="-122"/>
                <a:ea typeface="微软雅黑" panose="020B0503020204020204" charset="-122"/>
                <a:cs typeface="微软雅黑" panose="020B0503020204020204" charset="-122"/>
                <a:sym typeface="+mn-ea"/>
              </a:rPr>
              <a:t>5</a:t>
            </a:r>
            <a:r>
              <a:rPr lang="zh-CN" altLang="en-US" sz="1600">
                <a:latin typeface="微软雅黑" panose="020B0503020204020204" charset="-122"/>
                <a:ea typeface="微软雅黑" panose="020B0503020204020204" charset="-122"/>
                <a:cs typeface="微软雅黑" panose="020B0503020204020204" charset="-122"/>
                <a:sym typeface="+mn-ea"/>
              </a:rPr>
              <a:t>月</a:t>
            </a:r>
            <a:r>
              <a:rPr lang="en-US" altLang="zh-CN" sz="1600">
                <a:latin typeface="微软雅黑" panose="020B0503020204020204" charset="-122"/>
                <a:ea typeface="微软雅黑" panose="020B0503020204020204" charset="-122"/>
                <a:cs typeface="微软雅黑" panose="020B0503020204020204" charset="-122"/>
                <a:sym typeface="+mn-ea"/>
              </a:rPr>
              <a:t>20</a:t>
            </a:r>
            <a:r>
              <a:rPr lang="zh-CN" altLang="en-US" sz="1600">
                <a:latin typeface="微软雅黑" panose="020B0503020204020204" charset="-122"/>
                <a:ea typeface="微软雅黑" panose="020B0503020204020204" charset="-122"/>
                <a:cs typeface="微软雅黑" panose="020B0503020204020204" charset="-122"/>
                <a:sym typeface="+mn-ea"/>
              </a:rPr>
              <a:t>日前完</a:t>
            </a:r>
            <a:r>
              <a:rPr lang="zh-CN" altLang="en-US" sz="1600">
                <a:latin typeface="微软雅黑" panose="020B0503020204020204" charset="-122"/>
                <a:ea typeface="微软雅黑" panose="020B0503020204020204" charset="-122"/>
                <a:cs typeface="微软雅黑" panose="020B0503020204020204" charset="-122"/>
                <a:sym typeface="+mn-ea"/>
              </a:rPr>
              <a:t>成</a:t>
            </a:r>
            <a:r>
              <a:rPr lang="zh-CN" altLang="en-US" sz="1600">
                <a:latin typeface="微软雅黑" panose="020B0503020204020204" charset="-122"/>
                <a:ea typeface="微软雅黑" panose="020B0503020204020204" charset="-122"/>
                <a:cs typeface="微软雅黑" panose="020B0503020204020204" charset="-122"/>
                <a:sym typeface="+mn-ea"/>
              </a:rPr>
              <a:t>）</a:t>
            </a:r>
            <a:endParaRPr lang="zh-CN" altLang="en-US" sz="1600">
              <a:latin typeface="微软雅黑" panose="020B0503020204020204" charset="-122"/>
              <a:ea typeface="微软雅黑" panose="020B0503020204020204" charset="-122"/>
              <a:cs typeface="微软雅黑" panose="020B0503020204020204" charset="-122"/>
              <a:sym typeface="+mn-ea"/>
            </a:endParaRPr>
          </a:p>
          <a:p>
            <a:pPr marL="285750" indent="-285750" fontAlgn="auto">
              <a:lnSpc>
                <a:spcPct val="150000"/>
              </a:lnSpc>
              <a:buFont typeface="Wingdings" panose="05000000000000000000" charset="0"/>
              <a:buChar char="u"/>
            </a:pPr>
            <a:r>
              <a:rPr lang="zh-CN" altLang="en-US" sz="1600" b="1">
                <a:latin typeface="微软雅黑" panose="020B0503020204020204" charset="-122"/>
                <a:ea typeface="微软雅黑" panose="020B0503020204020204" charset="-122"/>
                <a:cs typeface="微软雅黑" panose="020B0503020204020204" charset="-122"/>
                <a:sym typeface="+mn-ea"/>
              </a:rPr>
              <a:t>三是</a:t>
            </a:r>
            <a:r>
              <a:rPr lang="zh-CN" altLang="en-US" sz="1600">
                <a:latin typeface="微软雅黑" panose="020B0503020204020204" charset="-122"/>
                <a:ea typeface="微软雅黑" panose="020B0503020204020204" charset="-122"/>
                <a:cs typeface="微软雅黑" panose="020B0503020204020204" charset="-122"/>
                <a:sym typeface="+mn-ea"/>
              </a:rPr>
              <a:t>请福供安监部组织做好各专业部门及战略合作单位</a:t>
            </a:r>
            <a:r>
              <a:rPr lang="zh-CN" altLang="en-US" sz="1600">
                <a:latin typeface="微软雅黑" panose="020B0503020204020204" charset="-122"/>
                <a:ea typeface="微软雅黑" panose="020B0503020204020204" charset="-122"/>
                <a:cs typeface="微软雅黑" panose="020B0503020204020204" charset="-122"/>
                <a:sym typeface="+mn-ea"/>
              </a:rPr>
              <a:t>动火作业组织措施、安全措施要求的学习宣贯</a:t>
            </a:r>
            <a:r>
              <a:rPr lang="zh-CN" altLang="en-US" sz="1600">
                <a:latin typeface="微软雅黑" panose="020B0503020204020204" charset="-122"/>
                <a:ea typeface="微软雅黑" panose="020B0503020204020204" charset="-122"/>
                <a:cs typeface="微软雅黑" panose="020B0503020204020204" charset="-122"/>
                <a:sym typeface="+mn-ea"/>
              </a:rPr>
              <a:t>，并做好动火工作负责人、签发人培训考试需求统计，由华睿丰盛按照</a:t>
            </a:r>
            <a:r>
              <a:rPr lang="en-US" altLang="zh-CN" sz="1600">
                <a:latin typeface="微软雅黑" panose="020B0503020204020204" charset="-122"/>
                <a:ea typeface="微软雅黑" panose="020B0503020204020204" charset="-122"/>
                <a:cs typeface="微软雅黑" panose="020B0503020204020204" charset="-122"/>
                <a:sym typeface="+mn-ea"/>
              </a:rPr>
              <a:t>DL 5027-2015</a:t>
            </a:r>
            <a:r>
              <a:rPr lang="zh-CN" altLang="en-US" sz="1600">
                <a:latin typeface="微软雅黑" panose="020B0503020204020204" charset="-122"/>
                <a:ea typeface="微软雅黑" panose="020B0503020204020204" charset="-122"/>
                <a:cs typeface="微软雅黑" panose="020B0503020204020204" charset="-122"/>
                <a:sym typeface="+mn-ea"/>
              </a:rPr>
              <a:t>《电力设备典型消防规程》条款，定期对所管辖施工单位的动火工作票签发人、工作负责人组织开展培训考试，考试合格的人员名单以正式文件的形式进行发布并报公司安监部和福田供电局备案。</a:t>
            </a:r>
            <a:endParaRPr lang="zh-CN" altLang="en-US" sz="1600">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buFont typeface="Wingdings" panose="05000000000000000000" charset="0"/>
              <a:buChar char="u"/>
            </a:pPr>
            <a:r>
              <a:rPr lang="zh-CN" altLang="en-US" sz="1600" b="1">
                <a:latin typeface="微软雅黑" panose="020B0503020204020204" charset="-122"/>
                <a:ea typeface="微软雅黑" panose="020B0503020204020204" charset="-122"/>
                <a:cs typeface="微软雅黑" panose="020B0503020204020204" charset="-122"/>
              </a:rPr>
              <a:t>四是</a:t>
            </a:r>
            <a:r>
              <a:rPr lang="zh-CN" altLang="en-US" sz="1600">
                <a:latin typeface="微软雅黑" panose="020B0503020204020204" charset="-122"/>
                <a:ea typeface="微软雅黑" panose="020B0503020204020204" charset="-122"/>
                <a:cs typeface="微软雅黑" panose="020B0503020204020204" charset="-122"/>
              </a:rPr>
              <a:t>请各配资部、营业部、工程部、综合部，针对近期动火作业易发生违章的行为以及</a:t>
            </a:r>
            <a:r>
              <a:rPr lang="en-US" altLang="zh-CN" sz="1600">
                <a:latin typeface="微软雅黑" panose="020B0503020204020204" charset="-122"/>
                <a:ea typeface="微软雅黑" panose="020B0503020204020204" charset="-122"/>
                <a:cs typeface="微软雅黑" panose="020B0503020204020204" charset="-122"/>
              </a:rPr>
              <a:t>2022</a:t>
            </a:r>
            <a:r>
              <a:rPr lang="zh-CN" altLang="en-US" sz="1600">
                <a:latin typeface="微软雅黑" panose="020B0503020204020204" charset="-122"/>
                <a:ea typeface="微软雅黑" panose="020B0503020204020204" charset="-122"/>
                <a:cs typeface="微软雅黑" panose="020B0503020204020204" charset="-122"/>
              </a:rPr>
              <a:t>年</a:t>
            </a:r>
            <a:r>
              <a:rPr lang="en-US" altLang="zh-CN" sz="1600">
                <a:latin typeface="微软雅黑" panose="020B0503020204020204" charset="-122"/>
                <a:ea typeface="微软雅黑" panose="020B0503020204020204" charset="-122"/>
                <a:cs typeface="微软雅黑" panose="020B0503020204020204" charset="-122"/>
              </a:rPr>
              <a:t>6</a:t>
            </a:r>
            <a:r>
              <a:rPr lang="zh-CN" altLang="en-US" sz="1600">
                <a:latin typeface="微软雅黑" panose="020B0503020204020204" charset="-122"/>
                <a:ea typeface="微软雅黑" panose="020B0503020204020204" charset="-122"/>
                <a:cs typeface="微软雅黑" panose="020B0503020204020204" charset="-122"/>
              </a:rPr>
              <a:t>月至今动火作业票办理情况开展一次全面大排查，重点关注动火作业是否凭票工作；动火工作票双签发及审批流程是否满足要求；一、二级动火工作票签发人、工作负责人的培训考核是否符合规定等；</a:t>
            </a:r>
            <a:endParaRPr lang="zh-CN" altLang="en-US" sz="1600">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buFont typeface="Wingdings" panose="05000000000000000000" charset="0"/>
              <a:buChar char="u"/>
            </a:pPr>
            <a:r>
              <a:rPr lang="zh-CN" altLang="en-US" sz="1600">
                <a:latin typeface="微软雅黑" panose="020B0503020204020204" charset="-122"/>
                <a:ea typeface="微软雅黑" panose="020B0503020204020204" charset="-122"/>
                <a:cs typeface="微软雅黑" panose="020B0503020204020204" charset="-122"/>
              </a:rPr>
              <a:t>请各部门主动对接上级专业管理部门，及时获取最新本专业领域制度、业务</a:t>
            </a:r>
            <a:r>
              <a:rPr lang="zh-CN" altLang="en-US" sz="1600">
                <a:latin typeface="微软雅黑" panose="020B0503020204020204" charset="-122"/>
                <a:ea typeface="微软雅黑" panose="020B0503020204020204" charset="-122"/>
                <a:cs typeface="微软雅黑" panose="020B0503020204020204" charset="-122"/>
              </a:rPr>
              <a:t>要求并做好培训及宣贯，定期安排人员开展专项检查。</a:t>
            </a:r>
            <a:endParaRPr lang="zh-CN" altLang="en-US"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2178</Words>
  <Application>WPS 演示</Application>
  <PresentationFormat>宽屏</PresentationFormat>
  <Paragraphs>76</Paragraphs>
  <Slides>6</Slides>
  <Notes>7</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6</vt:i4>
      </vt:variant>
    </vt:vector>
  </HeadingPairs>
  <TitlesOfParts>
    <vt:vector size="17" baseType="lpstr">
      <vt:lpstr>Arial</vt:lpstr>
      <vt:lpstr>宋体</vt:lpstr>
      <vt:lpstr>Wingdings</vt:lpstr>
      <vt:lpstr>微软雅黑</vt:lpstr>
      <vt:lpstr>Wingdings</vt:lpstr>
      <vt:lpstr>Times New Roman</vt:lpstr>
      <vt:lpstr>Arial Unicode MS</vt:lpstr>
      <vt:lpstr>Arial Black</vt:lpstr>
      <vt:lpstr>黑体</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邓造柱</dc:creator>
  <cp:lastModifiedBy>胡正伟</cp:lastModifiedBy>
  <cp:revision>1133</cp:revision>
  <dcterms:created xsi:type="dcterms:W3CDTF">2019-09-19T02:01:00Z</dcterms:created>
  <dcterms:modified xsi:type="dcterms:W3CDTF">2023-05-12T05:46:48Z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2052-11.8.2.11739</vt:lpwstr>
  </property>
  <property fmtid="{D5CDD505-2E9C-101B-9397-08002B2CF9AE}" pid="3" name="ICV">
    <vt:lpwstr>5B526546CE094906A1C9E7691F17FFA8</vt:lpwstr>
  </property>
</Properties>
</file>