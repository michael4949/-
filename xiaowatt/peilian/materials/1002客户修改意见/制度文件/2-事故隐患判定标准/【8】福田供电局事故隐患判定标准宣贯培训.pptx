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20.svg" ContentType="image/svg+xml"/>
  <Override PartName="/ppt/media/image22.svg" ContentType="image/svg+xml"/>
  <Override PartName="/ppt/media/image24.svg" ContentType="image/svg+xml"/>
  <Override PartName="/ppt/media/image26.svg" ContentType="image/svg+xml"/>
  <Override PartName="/ppt/media/image28.svg" ContentType="image/svg+xml"/>
  <Override PartName="/ppt/media/image30.svg" ContentType="image/svg+xml"/>
  <Override PartName="/ppt/media/image32.svg" ContentType="image/svg+xml"/>
  <Override PartName="/ppt/media/image34.svg" ContentType="image/svg+xml"/>
  <Override PartName="/ppt/media/image36.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9" r:id="rId3"/>
  </p:sldMasterIdLst>
  <p:notesMasterIdLst>
    <p:notesMasterId r:id="rId6"/>
  </p:notesMasterIdLst>
  <p:handoutMasterIdLst>
    <p:handoutMasterId r:id="rId36"/>
  </p:handoutMasterIdLst>
  <p:sldIdLst>
    <p:sldId id="257" r:id="rId4"/>
    <p:sldId id="258" r:id="rId5"/>
    <p:sldId id="259" r:id="rId7"/>
    <p:sldId id="260" r:id="rId8"/>
    <p:sldId id="261" r:id="rId9"/>
    <p:sldId id="262" r:id="rId10"/>
    <p:sldId id="264" r:id="rId11"/>
    <p:sldId id="265" r:id="rId12"/>
    <p:sldId id="266" r:id="rId13"/>
    <p:sldId id="267" r:id="rId14"/>
    <p:sldId id="268" r:id="rId15"/>
    <p:sldId id="269" r:id="rId16"/>
    <p:sldId id="271" r:id="rId17"/>
    <p:sldId id="270" r:id="rId18"/>
    <p:sldId id="277" r:id="rId19"/>
    <p:sldId id="278" r:id="rId20"/>
    <p:sldId id="279" r:id="rId21"/>
    <p:sldId id="280" r:id="rId22"/>
    <p:sldId id="281" r:id="rId23"/>
    <p:sldId id="282" r:id="rId24"/>
    <p:sldId id="283" r:id="rId25"/>
    <p:sldId id="285" r:id="rId26"/>
    <p:sldId id="286" r:id="rId27"/>
    <p:sldId id="288" r:id="rId28"/>
    <p:sldId id="287" r:id="rId29"/>
    <p:sldId id="289" r:id="rId30"/>
    <p:sldId id="272" r:id="rId31"/>
    <p:sldId id="273" r:id="rId32"/>
    <p:sldId id="274" r:id="rId33"/>
    <p:sldId id="275" r:id="rId34"/>
    <p:sldId id="276" r:id="rId35"/>
  </p:sldIdLst>
  <p:sldSz cx="12192000" cy="6858000"/>
  <p:notesSz cx="7103745" cy="10234295"/>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dell" initials="d" lastIdx="52" clrIdx="0"/>
  <p:cmAuthor id="71" name="Vanessa Carels van de Vliet" initials="VCV [87]" lastIdx="1" clrIdx="70"/>
  <p:cmAuthor id="1" name="陈鹏" initials="csg" lastIdx="7" clrIdx="0"/>
  <p:cmAuthor id="72" name="jiajia wang" initials="jw" lastIdx="1" clrIdx="71"/>
  <p:cmAuthor id="2" name="Administrator" initials="A" lastIdx="1" clrIdx="0"/>
  <p:cmAuthor id="3" name="陈潇" initials="cx" lastIdx="1" clrIdx="1"/>
  <p:cmAuthor id="4" name="张宏钊" initials="张宏钊" lastIdx="1" clrIdx="3"/>
  <p:cmAuthor id="75" name="作者" initials="A" lastIdx="0" clrIdx="24"/>
  <p:cmAuthor id="5" name="杨林" initials="杨" lastIdx="3" clrIdx="0"/>
  <p:cmAuthor id="76" name="刘 力豪" initials="刘" lastIdx="1" clrIdx="25"/>
  <p:cmAuthor id="6" name="MC SYSTEM" initials="M" lastIdx="27" clrIdx="0"/>
  <p:cmAuthor id="77" name="杨 骏" initials="杨" lastIdx="3" clrIdx="26"/>
  <p:cmAuthor id="7" name="ShangLL" initials="S" lastIdx="1" clrIdx="6"/>
  <p:cmAuthor id="78" name="yu jy" initials="yj" lastIdx="1" clrIdx="27"/>
  <p:cmAuthor id="8" name="User" initials="U" lastIdx="7" clrIdx="3"/>
  <p:cmAuthor id="79" name="嘉隆" initials="嘉隆" lastIdx="1" clrIdx="39"/>
  <p:cmAuthor id="9" name="LIN AMAY" initials="L" lastIdx="3" clrIdx="4"/>
  <p:cmAuthor id="80" name="Menglong Guo" initials="MG" lastIdx="1" clrIdx="36"/>
  <p:cmAuthor id="10" name="刘" initials="刘" lastIdx="1" clrIdx="5"/>
  <p:cmAuthor id="11" name="xbany" initials="x" lastIdx="3" clrIdx="6"/>
  <p:cmAuthor id="12" name="张兰" initials="张" lastIdx="2" clrIdx="11"/>
  <p:cmAuthor id="83" name="Author" initials="A" lastIdx="0" clrIdx="39"/>
  <p:cmAuthor id="2000" name="镑镑_NVfeJZnE" initials="authorId_749372670" lastIdx="0" clrIdx="0"/>
  <p:cmAuthor id="13" name="landy1125@outlook.com" initials="l" lastIdx="2" clrIdx="12"/>
  <p:cmAuthor id="2001" name="Liu Guowei" initials="GL" lastIdx="0" clrIdx="33"/>
  <p:cmAuthor id="14" name="zengkaiwen" initials="z" lastIdx="1" clrIdx="14"/>
  <p:cmAuthor id="2002" name="Li Lin" initials="LL" lastIdx="1" clrIdx="34"/>
  <p:cmAuthor id="15" name="hxx" initials="h" lastIdx="1" clrIdx="15"/>
  <p:cmAuthor id="2003" name="alen.ao" initials="a" lastIdx="1" clrIdx="35"/>
  <p:cmAuthor id="16" name="许士锦" initials="许" lastIdx="1" clrIdx="17"/>
  <p:cmAuthor id="395475554" name="岸上鱼" initials="岸" lastIdx="1" clrIdx="63"/>
  <p:cmAuthor id="17" name="林建熙" initials="林" lastIdx="10" clrIdx="0"/>
  <p:cmAuthor id="18" name="黄剑玲" initials="黄" lastIdx="1" clrIdx="0"/>
  <p:cmAuthor id="19" name="XIAOQH" initials="XQH" lastIdx="2" clrIdx="18"/>
  <p:cmAuthor id="20" name="linxiaobin" initials="l" lastIdx="1" clrIdx="19"/>
  <p:cmAuthor id="21" name="10066351" initials="1" lastIdx="2" clrIdx="0"/>
  <p:cmAuthor id="22" name="jiao chuang" initials="jc" lastIdx="1" clrIdx="19"/>
  <p:cmAuthor id="23" name="JACK" initials="J" lastIdx="18" clrIdx="20"/>
  <p:cmAuthor id="24" name="Admin" initials="A" lastIdx="1" clrIdx="23"/>
  <p:cmAuthor id="25" name="liuchenghao" initials="l" lastIdx="1" clrIdx="24"/>
  <p:cmAuthor id="26" name="杨骏" initials="杨" lastIdx="4" clrIdx="25"/>
  <p:cmAuthor id="1030956095" name="12138" initials="1" lastIdx="1" clrIdx="54"/>
  <p:cmAuthor id="27" name="赵磊" initials="赵" lastIdx="5" clrIdx="26"/>
  <p:cmAuthor id="1030956096" name="刘佳" initials="刘佳" lastIdx="1" clrIdx="1030956095"/>
  <p:cmAuthor id="28" name="ajjk" initials="a" lastIdx="1" clrIdx="27"/>
  <p:cmAuthor id="29" name="donluk" initials="d" lastIdx="21" clrIdx="28"/>
  <p:cmAuthor id="30" name="陈朝晖" initials="陈朝晖" lastIdx="1" clrIdx="29"/>
  <p:cmAuthor id="31" name="sinx" initials="s" lastIdx="1" clrIdx="30"/>
  <p:cmAuthor id="32" name="王凯10177225" initials="王凯10177225" lastIdx="2" clrIdx="31"/>
  <p:cmAuthor id="238538662" name="李欣洋" initials="李" lastIdx="1" clrIdx="43"/>
  <p:cmAuthor id="33" name="MP" initials="M" lastIdx="1" clrIdx="32"/>
  <p:cmAuthor id="34" name="tian" initials="t" lastIdx="1" clrIdx="33"/>
  <p:cmAuthor id="35" name="LYP" initials="Lu" lastIdx="2" clrIdx="34"/>
  <p:cmAuthor id="36" name="何思名" initials="何" lastIdx="14" clrIdx="16"/>
  <p:cmAuthor id="37" name="冯国聪" initials="冯" lastIdx="1" clrIdx="34"/>
  <p:cmAuthor id="38" name="梁志宏" initials="梁" lastIdx="1" clrIdx="37"/>
  <p:cmAuthor id="39" name="liusg" initials="liusg" lastIdx="4" clrIdx="38"/>
  <p:cmAuthor id="40" name="陈旭" initials="陈" lastIdx="1" clrIdx="39"/>
  <p:cmAuthor id="41" name="T470S" initials="T" lastIdx="2" clrIdx="40"/>
  <p:cmAuthor id="42" name="梅超宇" initials="梅" lastIdx="1" clrIdx="41"/>
  <p:cmAuthor id="43" name="洪沐燕" initials="洪沐燕" lastIdx="10" clrIdx="42"/>
  <p:cmAuthor id="44" name="win10" initials="w" lastIdx="2" clrIdx="43"/>
  <p:cmAuthor id="45" name="冯 光璐" initials="冯" lastIdx="1" clrIdx="26"/>
  <p:cmAuthor id="46" name="zhanghuan" initials="z" lastIdx="1" clrIdx="45"/>
  <p:cmAuthor id="47" name="李思鉴" initials="李" lastIdx="2" clrIdx="46"/>
  <p:cmAuthor id="48" name="Tang, Carrie Ying" initials="T" lastIdx="0" clrIdx="34"/>
  <p:cmAuthor id="49" name="sunyuhuai" initials="s" lastIdx="2" clrIdx="48"/>
  <p:cmAuthor id="50" name="田得良" initials="田得良" lastIdx="1" clrIdx="49"/>
  <p:cmAuthor id="51" name="yanchen" initials="y" lastIdx="1" clrIdx="50"/>
  <p:cmAuthor id="52" name="shizhiliang" initials="s" lastIdx="1" clrIdx="41"/>
  <p:cmAuthor id="55" name="china" initials="c" lastIdx="2" clrIdx="0"/>
  <p:cmAuthor id="56" name="ygm20" initials="y" lastIdx="1" clrIdx="45"/>
  <p:cmAuthor id="57" name="Fan Isaac" initials="F" lastIdx="1" clrIdx="48"/>
  <p:cmAuthor id="58" name="lvyt" initials="l" lastIdx="2" clrIdx="57"/>
  <p:cmAuthor id="59" name="侯方迪" initials="侯方迪" lastIdx="1" clrIdx="58"/>
  <p:cmAuthor id="60" name="何成艳" initials="何" lastIdx="1" clrIdx="53"/>
  <p:cmAuthor id="61" name="Chen Deyang" initials="cdy" lastIdx="1" clrIdx="60"/>
  <p:cmAuthor id="62" name="唐田" initials="唐" lastIdx="3" clrIdx="61"/>
  <p:cmAuthor id="1411827" name="黄晓平" initials="黄" lastIdx="0" clrIdx="0"/>
  <p:cmAuthor id="63" name="lidang" initials="l" lastIdx="18" clrIdx="62"/>
  <p:cmAuthor id="1411828" name="zhujisong" initials="zhujisong" lastIdx="1" clrIdx="1411827"/>
  <p:cmAuthor id="64" name="可达" initials="可" lastIdx="1" clrIdx="63"/>
  <p:cmAuthor id="66" name="liuli" initials="l" lastIdx="1" clrIdx="0"/>
  <p:cmAuthor id="69" name="潘岐深" initials="潘" lastIdx="2" clrIdx="1411827"/>
  <p:cmAuthor id="70" name="杨若朴" initials="ddc" lastIdx="1" clrIdx="69"/>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B2B2B2"/>
    <a:srgbClr val="202020"/>
    <a:srgbClr val="323232"/>
    <a:srgbClr val="CC3300"/>
    <a:srgbClr val="CC0000"/>
    <a:srgbClr val="FF3300"/>
    <a:srgbClr val="990000"/>
    <a:srgbClr val="FF8D41"/>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2838BEF-8BB2-4498-84A7-C5851F593DF1}" styleName="中度样式 4 - 强调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278" autoAdjust="0"/>
    <p:restoredTop sz="94660"/>
  </p:normalViewPr>
  <p:slideViewPr>
    <p:cSldViewPr snapToGrid="0" showGuides="1">
      <p:cViewPr varScale="1">
        <p:scale>
          <a:sx n="75" d="100"/>
          <a:sy n="75" d="100"/>
        </p:scale>
        <p:origin x="90" y="96"/>
      </p:cViewPr>
      <p:guideLst>
        <p:guide orient="horz" pos="2159"/>
        <p:guide pos="3840"/>
      </p:guideLst>
    </p:cSldViewPr>
  </p:slid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notesMaster" Target="notesMasters/notesMaster1.xml"/><Relationship Id="rId5" Type="http://schemas.openxmlformats.org/officeDocument/2006/relationships/slide" Target="slides/slide2.xml"/><Relationship Id="rId40" Type="http://schemas.openxmlformats.org/officeDocument/2006/relationships/commentAuthors" Target="commentAuthors.xml"/><Relationship Id="rId4" Type="http://schemas.openxmlformats.org/officeDocument/2006/relationships/slide" Target="slides/slide1.xml"/><Relationship Id="rId39" Type="http://schemas.openxmlformats.org/officeDocument/2006/relationships/tableStyles" Target="tableStyles.xml"/><Relationship Id="rId38" Type="http://schemas.openxmlformats.org/officeDocument/2006/relationships/viewProps" Target="viewProps.xml"/><Relationship Id="rId37" Type="http://schemas.openxmlformats.org/officeDocument/2006/relationships/presProps" Target="presProps.xml"/><Relationship Id="rId36" Type="http://schemas.openxmlformats.org/officeDocument/2006/relationships/handoutMaster" Target="handoutMasters/handoutMaster1.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灯片编号占位符 3"/>
          <p:cNvSpPr>
            <a:spLocks noGrp="1"/>
          </p:cNvSpPr>
          <p:nvPr>
            <p:ph type="sldNum" sz="quarter" idx="5"/>
          </p:nvPr>
        </p:nvSpPr>
        <p:spPr/>
        <p:txBody>
          <a:bodyPr/>
          <a:lstStyle/>
          <a:p>
            <a:fld id="{1E061D8F-60C6-44EC-8C94-4B240321709E}"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indent="0" algn="l" fontAlgn="auto">
              <a:lnSpc>
                <a:spcPct val="100000"/>
              </a:lnSpc>
              <a:spcBef>
                <a:spcPts val="0"/>
              </a:spcBef>
              <a:buClr>
                <a:srgbClr val="FF0000"/>
              </a:buClr>
              <a:buNone/>
            </a:pPr>
            <a:endParaRPr lang="zh-CN" altLang="en-US">
              <a:solidFill>
                <a:schemeClr val="tx1"/>
              </a:solidFill>
              <a:latin typeface="+mn-ea"/>
              <a:cs typeface="+mn-ea"/>
              <a:sym typeface="+mn-ea"/>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indent="0" algn="l" fontAlgn="auto">
              <a:lnSpc>
                <a:spcPct val="100000"/>
              </a:lnSpc>
              <a:spcBef>
                <a:spcPts val="0"/>
              </a:spcBef>
              <a:buClr>
                <a:srgbClr val="FF0000"/>
              </a:buClr>
              <a:buNone/>
            </a:pPr>
            <a:endParaRPr lang="zh-CN" altLang="en-US">
              <a:solidFill>
                <a:schemeClr val="tx1"/>
              </a:solidFill>
              <a:latin typeface="+mn-ea"/>
              <a:cs typeface="+mn-ea"/>
              <a:sym typeface="+mn-ea"/>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indent="0" algn="l" fontAlgn="auto">
              <a:lnSpc>
                <a:spcPct val="100000"/>
              </a:lnSpc>
              <a:spcBef>
                <a:spcPts val="0"/>
              </a:spcBef>
              <a:buClr>
                <a:srgbClr val="FF0000"/>
              </a:buClr>
              <a:buNone/>
            </a:pPr>
            <a:endParaRPr lang="zh-CN" altLang="en-US">
              <a:solidFill>
                <a:schemeClr val="tx1"/>
              </a:solidFill>
              <a:latin typeface="+mn-ea"/>
              <a:cs typeface="+mn-ea"/>
              <a:sym typeface="+mn-ea"/>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indent="0" algn="l" fontAlgn="auto">
              <a:lnSpc>
                <a:spcPct val="100000"/>
              </a:lnSpc>
              <a:spcBef>
                <a:spcPts val="0"/>
              </a:spcBef>
              <a:buClr>
                <a:srgbClr val="FF0000"/>
              </a:buClr>
              <a:buNone/>
            </a:pPr>
            <a:endParaRPr lang="zh-CN" altLang="en-US">
              <a:solidFill>
                <a:schemeClr val="tx1"/>
              </a:solidFill>
              <a:latin typeface="+mn-ea"/>
              <a:cs typeface="+mn-ea"/>
              <a:sym typeface="+mn-ea"/>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indent="0" algn="l" fontAlgn="auto">
              <a:lnSpc>
                <a:spcPct val="100000"/>
              </a:lnSpc>
              <a:spcBef>
                <a:spcPts val="0"/>
              </a:spcBef>
              <a:buClr>
                <a:srgbClr val="FF0000"/>
              </a:buClr>
              <a:buNone/>
            </a:pPr>
            <a:endParaRPr lang="zh-CN" altLang="en-US">
              <a:solidFill>
                <a:schemeClr val="tx1"/>
              </a:solidFill>
              <a:latin typeface="+mn-ea"/>
              <a:cs typeface="+mn-ea"/>
              <a:sym typeface="+mn-ea"/>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indent="0" algn="l" fontAlgn="auto">
              <a:lnSpc>
                <a:spcPct val="100000"/>
              </a:lnSpc>
              <a:spcBef>
                <a:spcPts val="0"/>
              </a:spcBef>
              <a:buClr>
                <a:srgbClr val="FF0000"/>
              </a:buClr>
              <a:buNone/>
            </a:pPr>
            <a:endParaRPr lang="zh-CN" altLang="en-US">
              <a:solidFill>
                <a:schemeClr val="tx1"/>
              </a:solidFill>
              <a:latin typeface="+mn-ea"/>
              <a:cs typeface="+mn-ea"/>
              <a:sym typeface="+mn-ea"/>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indent="0" algn="l" fontAlgn="auto">
              <a:lnSpc>
                <a:spcPct val="100000"/>
              </a:lnSpc>
              <a:spcBef>
                <a:spcPts val="0"/>
              </a:spcBef>
              <a:buClr>
                <a:srgbClr val="FF0000"/>
              </a:buClr>
              <a:buNone/>
            </a:pPr>
            <a:endParaRPr lang="zh-CN" altLang="en-US">
              <a:solidFill>
                <a:schemeClr val="tx1"/>
              </a:solidFill>
              <a:latin typeface="+mn-ea"/>
              <a:cs typeface="+mn-ea"/>
              <a:sym typeface="+mn-ea"/>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indent="0" algn="l" fontAlgn="auto">
              <a:lnSpc>
                <a:spcPct val="100000"/>
              </a:lnSpc>
              <a:spcBef>
                <a:spcPts val="0"/>
              </a:spcBef>
              <a:buClr>
                <a:srgbClr val="FF0000"/>
              </a:buClr>
              <a:buNone/>
            </a:pPr>
            <a:endParaRPr lang="zh-CN" altLang="en-US">
              <a:solidFill>
                <a:schemeClr val="tx1"/>
              </a:solidFill>
              <a:latin typeface="+mn-ea"/>
              <a:cs typeface="+mn-ea"/>
              <a:sym typeface="+mn-ea"/>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indent="0" algn="l" fontAlgn="auto">
              <a:lnSpc>
                <a:spcPct val="100000"/>
              </a:lnSpc>
              <a:spcBef>
                <a:spcPts val="0"/>
              </a:spcBef>
              <a:buClr>
                <a:srgbClr val="FF0000"/>
              </a:buClr>
              <a:buNone/>
            </a:pPr>
            <a:endParaRPr lang="zh-CN" altLang="en-US">
              <a:solidFill>
                <a:schemeClr val="tx1"/>
              </a:solidFill>
              <a:latin typeface="+mn-ea"/>
              <a:cs typeface="+mn-ea"/>
              <a:sym typeface="+mn-ea"/>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524000" y="1322962"/>
            <a:ext cx="9144000" cy="2187001"/>
          </a:xfrm>
        </p:spPr>
        <p:txBody>
          <a:bodyPr anchor="b">
            <a:normAutofit/>
          </a:bodyPr>
          <a:lstStyle>
            <a:lvl1pPr algn="ctr">
              <a:lnSpc>
                <a:spcPct val="130000"/>
              </a:lnSpc>
              <a:defRPr sz="6000">
                <a:effectLst>
                  <a:outerShdw blurRad="38100" dist="38100" dir="2700000" algn="tl">
                    <a:srgbClr val="000000">
                      <a:alpha val="43137"/>
                    </a:srgbClr>
                  </a:outerShdw>
                </a:effectLst>
              </a:defRPr>
            </a:lvl1pPr>
          </a:lstStyle>
          <a:p>
            <a:r>
              <a:rPr lang="zh-CN" altLang="en-US" dirty="0"/>
              <a:t>单击此处添加标题</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3" name="副标题 2"/>
          <p:cNvSpPr>
            <a:spLocks noGrp="1"/>
          </p:cNvSpPr>
          <p:nvPr>
            <p:ph type="subTitle" idx="1" hasCustomPrompt="1"/>
          </p:nvPr>
        </p:nvSpPr>
        <p:spPr>
          <a:xfrm>
            <a:off x="1524000" y="3602038"/>
            <a:ext cx="9144000" cy="1655762"/>
          </a:xfrm>
        </p:spPr>
        <p:txBody>
          <a:bodyPr>
            <a:normAutofit/>
          </a:bodyPr>
          <a:lstStyle>
            <a:lvl1pPr marL="0" indent="0" algn="ctr">
              <a:buNone/>
              <a:defRPr sz="1800">
                <a:solidFill>
                  <a:schemeClr val="tx1">
                    <a:lumMod val="75000"/>
                    <a:lumOff val="25000"/>
                  </a:schemeClr>
                </a:solidFill>
                <a:effectLst/>
                <a:latin typeface="+mj-lt"/>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单击此处添加副标题</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647700" y="1825625"/>
            <a:ext cx="10515600" cy="4351338"/>
          </a:xfrm>
        </p:spPr>
        <p:txBody>
          <a:bodyPr>
            <a:normAutofit/>
          </a:bodyPr>
          <a:lstStyle>
            <a:lvl1pPr>
              <a:defRPr sz="2000">
                <a:solidFill>
                  <a:schemeClr val="tx1">
                    <a:lumMod val="75000"/>
                    <a:lumOff val="25000"/>
                  </a:schemeClr>
                </a:solidFill>
              </a:defRPr>
            </a:lvl1pPr>
            <a:lvl2pPr>
              <a:defRPr sz="18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3751117"/>
            <a:ext cx="7321550" cy="811357"/>
          </a:xfrm>
        </p:spPr>
        <p:txBody>
          <a:bodyPr anchor="b">
            <a:normAutofit/>
          </a:bodyPr>
          <a:lstStyle>
            <a:lvl1pPr>
              <a:defRPr sz="400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1850" y="4610028"/>
            <a:ext cx="7321550" cy="647555"/>
          </a:xfrm>
        </p:spPr>
        <p:txBody>
          <a:bodyPr>
            <a:normAutofit/>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ormAutofit/>
          </a:bodyPr>
          <a:lstStyle>
            <a:lvl1pPr>
              <a:defRPr sz="2400" b="1" i="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内容占位符 2"/>
          <p:cNvSpPr>
            <a:spLocks noGrp="1"/>
          </p:cNvSpPr>
          <p:nvPr>
            <p:ph sz="half" idx="1"/>
          </p:nvPr>
        </p:nvSpPr>
        <p:spPr>
          <a:xfrm>
            <a:off x="647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内容占位符 3"/>
          <p:cNvSpPr>
            <a:spLocks noGrp="1"/>
          </p:cNvSpPr>
          <p:nvPr>
            <p:ph sz="half" idx="2"/>
          </p:nvPr>
        </p:nvSpPr>
        <p:spPr>
          <a:xfrm>
            <a:off x="5981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744961"/>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4" name="内容占位符 3"/>
          <p:cNvSpPr>
            <a:spLocks noGrp="1"/>
          </p:cNvSpPr>
          <p:nvPr>
            <p:ph sz="half" idx="2"/>
          </p:nvPr>
        </p:nvSpPr>
        <p:spPr>
          <a:xfrm>
            <a:off x="839788" y="2615609"/>
            <a:ext cx="5157787" cy="3574054"/>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文本占位符 4"/>
          <p:cNvSpPr>
            <a:spLocks noGrp="1"/>
          </p:cNvSpPr>
          <p:nvPr>
            <p:ph type="body" sz="quarter" idx="3"/>
          </p:nvPr>
        </p:nvSpPr>
        <p:spPr>
          <a:xfrm>
            <a:off x="6172200" y="1744961"/>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6" name="内容占位符 5"/>
          <p:cNvSpPr>
            <a:spLocks noGrp="1"/>
          </p:cNvSpPr>
          <p:nvPr>
            <p:ph sz="quarter" idx="4"/>
          </p:nvPr>
        </p:nvSpPr>
        <p:spPr>
          <a:xfrm>
            <a:off x="6172200" y="2615609"/>
            <a:ext cx="5183188" cy="3574054"/>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日期占位符 6"/>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2766219"/>
            <a:ext cx="10515600" cy="1325563"/>
          </a:xfrm>
        </p:spPr>
        <p:txBody>
          <a:bodyPr>
            <a:normAutofit/>
          </a:bodyPr>
          <a:lstStyle>
            <a:lvl1pPr algn="ctr">
              <a:defRPr sz="4800" b="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46747" y="127000"/>
            <a:ext cx="4165200" cy="1600200"/>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单击此处编辑标题</a:t>
            </a:r>
            <a:endParaRPr lang="zh-CN" altLang="en-US" dirty="0"/>
          </a:p>
        </p:txBody>
      </p:sp>
      <p:sp>
        <p:nvSpPr>
          <p:cNvPr id="3" name="图片占位符 2"/>
          <p:cNvSpPr>
            <a:spLocks noGrp="1" noChangeAspect="1"/>
          </p:cNvSpPr>
          <p:nvPr>
            <p:ph type="pic" idx="1"/>
          </p:nvPr>
        </p:nvSpPr>
        <p:spPr>
          <a:xfrm>
            <a:off x="5184000" y="766354"/>
            <a:ext cx="5817375"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1"/>
          </p:cNvSpPr>
          <p:nvPr>
            <p:ph type="body" sz="half" idx="2"/>
          </p:nvPr>
        </p:nvSpPr>
        <p:spPr>
          <a:xfrm>
            <a:off x="651827" y="2057400"/>
            <a:ext cx="4165200" cy="3811588"/>
          </a:xfrm>
        </p:spPr>
        <p:txBody>
          <a:bodyPr>
            <a:normAutofit/>
          </a:bodyPr>
          <a:lstStyle>
            <a:lvl1pPr marL="0" indent="0">
              <a:lnSpc>
                <a:spcPct val="15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endParaRPr lang="zh-CN" altLang="en-US" dirty="0"/>
          </a:p>
        </p:txBody>
      </p:sp>
      <p:sp>
        <p:nvSpPr>
          <p:cNvPr id="5" name="日期占位符 4"/>
          <p:cNvSpPr>
            <a:spLocks noGrp="1"/>
          </p:cNvSpPr>
          <p:nvPr>
            <p:ph type="dt" sz="half" idx="10"/>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nvPr>
        </p:nvSpPr>
        <p:spPr/>
        <p:txBody>
          <a:bodyPr/>
          <a:lstStyle/>
          <a:p>
            <a:endParaRPr lang="zh-CN" altLang="en-US" dirty="0"/>
          </a:p>
        </p:txBody>
      </p:sp>
      <p:sp>
        <p:nvSpPr>
          <p:cNvPr id="7" name="灯片编号占位符 6"/>
          <p:cNvSpPr>
            <a:spLocks noGrp="1"/>
          </p:cNvSpPr>
          <p:nvPr>
            <p:ph type="sldNum" sz="quarter" idx="12"/>
          </p:nvPr>
        </p:nvSpPr>
        <p:spPr/>
        <p:txBody>
          <a:bodyPr/>
          <a:lstStyle/>
          <a:p>
            <a:fld id="{FABC47A4-756D-490B-A52F-7D9E2C9FC05F}"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24484" y="365125"/>
            <a:ext cx="1529316" cy="5811838"/>
          </a:xfrm>
        </p:spPr>
        <p:txBody>
          <a:bodyPr vert="eaVert">
            <a:normAutofit/>
          </a:bodyPr>
          <a:lstStyle>
            <a:lvl1pPr>
              <a:defRPr sz="3600"/>
            </a:lvl1p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8879958" cy="5811838"/>
          </a:xfrm>
        </p:spPr>
        <p:txBody>
          <a:bodyPr vert="eaVert"/>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nvPr>
        </p:nvSpPr>
        <p:spPr>
          <a:xfrm>
            <a:off x="838200" y="551543"/>
            <a:ext cx="10515600" cy="5558971"/>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cxnSp>
        <p:nvCxnSpPr>
          <p:cNvPr id="8" name="直接连接符 7"/>
          <p:cNvCxnSpPr/>
          <p:nvPr userDrawn="1"/>
        </p:nvCxnSpPr>
        <p:spPr>
          <a:xfrm>
            <a:off x="0" y="1049690"/>
            <a:ext cx="12192000" cy="0"/>
          </a:xfrm>
          <a:prstGeom prst="line">
            <a:avLst/>
          </a:prstGeom>
          <a:ln w="28575">
            <a:solidFill>
              <a:srgbClr val="003679"/>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10" name="文本框 9"/>
          <p:cNvSpPr txBox="1"/>
          <p:nvPr userDrawn="1"/>
        </p:nvSpPr>
        <p:spPr>
          <a:xfrm>
            <a:off x="154940" y="6536690"/>
            <a:ext cx="4682913" cy="275590"/>
          </a:xfrm>
          <a:prstGeom prst="rect">
            <a:avLst/>
          </a:prstGeom>
          <a:solidFill>
            <a:schemeClr val="bg1"/>
          </a:solidFill>
        </p:spPr>
        <p:txBody>
          <a:bodyPr wrap="square" rtlCol="0">
            <a:spAutoFit/>
          </a:bodyPr>
          <a:lstStyle/>
          <a:p>
            <a:r>
              <a:rPr lang="en-US" altLang="zh-CN" sz="1200" noProof="0" dirty="0">
                <a:ln>
                  <a:noFill/>
                </a:ln>
                <a:solidFill>
                  <a:schemeClr val="bg1">
                    <a:lumMod val="50000"/>
                  </a:schemeClr>
                </a:solidFill>
                <a:effectLst/>
                <a:uLnTx/>
                <a:uFillTx/>
                <a:latin typeface="微软雅黑" panose="020B0503020204020204" charset="-122"/>
                <a:cs typeface="Times New Roman" panose="02020603050405020304" pitchFamily="18" charset="0"/>
              </a:rPr>
              <a:t>©CSG2026.AllRightsReserved</a:t>
            </a:r>
            <a:endParaRPr lang="en-US" altLang="zh-CN" sz="1200" noProof="0" dirty="0">
              <a:ln>
                <a:noFill/>
              </a:ln>
              <a:solidFill>
                <a:schemeClr val="bg1">
                  <a:lumMod val="50000"/>
                </a:schemeClr>
              </a:solidFill>
              <a:effectLst/>
              <a:uLnTx/>
              <a:uFillTx/>
              <a:latin typeface="微软雅黑" panose="020B0503020204020204" charset="-122"/>
              <a:cs typeface="Times New Roman" panose="02020603050405020304" pitchFamily="18" charset="0"/>
            </a:endParaRPr>
          </a:p>
        </p:txBody>
      </p:sp>
      <p:cxnSp>
        <p:nvCxnSpPr>
          <p:cNvPr id="8" name="直接连接符 7"/>
          <p:cNvCxnSpPr/>
          <p:nvPr userDrawn="1"/>
        </p:nvCxnSpPr>
        <p:spPr>
          <a:xfrm>
            <a:off x="0" y="908720"/>
            <a:ext cx="12192000" cy="0"/>
          </a:xfrm>
          <a:prstGeom prst="line">
            <a:avLst/>
          </a:prstGeom>
          <a:ln w="28575">
            <a:solidFill>
              <a:srgbClr val="003679"/>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cxnSp>
        <p:nvCxnSpPr>
          <p:cNvPr id="8" name="直接连接符 7"/>
          <p:cNvCxnSpPr/>
          <p:nvPr userDrawn="1"/>
        </p:nvCxnSpPr>
        <p:spPr>
          <a:xfrm>
            <a:off x="0" y="908720"/>
            <a:ext cx="12192000" cy="0"/>
          </a:xfrm>
          <a:prstGeom prst="line">
            <a:avLst/>
          </a:prstGeom>
          <a:ln w="28575">
            <a:solidFill>
              <a:srgbClr val="003679"/>
            </a:solidFill>
          </a:ln>
        </p:spPr>
        <p:style>
          <a:lnRef idx="1">
            <a:schemeClr val="accent1"/>
          </a:lnRef>
          <a:fillRef idx="0">
            <a:schemeClr val="accent1"/>
          </a:fillRef>
          <a:effectRef idx="0">
            <a:schemeClr val="accent1"/>
          </a:effectRef>
          <a:fontRef idx="minor">
            <a:schemeClr val="tx1"/>
          </a:fontRef>
        </p:style>
      </p:cxnSp>
      <p:sp>
        <p:nvSpPr>
          <p:cNvPr id="10" name="文本框 9"/>
          <p:cNvSpPr txBox="1"/>
          <p:nvPr userDrawn="1"/>
        </p:nvSpPr>
        <p:spPr>
          <a:xfrm>
            <a:off x="154940" y="6536690"/>
            <a:ext cx="4682913" cy="275590"/>
          </a:xfrm>
          <a:prstGeom prst="rect">
            <a:avLst/>
          </a:prstGeom>
          <a:solidFill>
            <a:schemeClr val="bg1"/>
          </a:solidFill>
        </p:spPr>
        <p:txBody>
          <a:bodyPr wrap="square" rtlCol="0">
            <a:spAutoFit/>
          </a:bodyPr>
          <a:lstStyle/>
          <a:p>
            <a:r>
              <a:rPr lang="en-US" altLang="zh-CN" sz="1200" noProof="0" dirty="0">
                <a:ln>
                  <a:noFill/>
                </a:ln>
                <a:solidFill>
                  <a:schemeClr val="bg1">
                    <a:lumMod val="50000"/>
                  </a:schemeClr>
                </a:solidFill>
                <a:effectLst/>
                <a:uLnTx/>
                <a:uFillTx/>
                <a:latin typeface="微软雅黑" panose="020B0503020204020204" charset="-122"/>
                <a:cs typeface="Times New Roman" panose="02020603050405020304" pitchFamily="18" charset="0"/>
              </a:rPr>
              <a:t>©CSG2026.AllRightsReserved</a:t>
            </a:r>
            <a:endParaRPr lang="en-US" altLang="zh-CN" sz="1200" noProof="0" dirty="0">
              <a:ln>
                <a:noFill/>
              </a:ln>
              <a:solidFill>
                <a:schemeClr val="bg1">
                  <a:lumMod val="50000"/>
                </a:schemeClr>
              </a:solidFill>
              <a:effectLst/>
              <a:uLnTx/>
              <a:uFillTx/>
              <a:latin typeface="微软雅黑" panose="020B0503020204020204" charset="-122"/>
              <a:cs typeface="Times New Roman" panose="02020603050405020304" pitchFamily="18" charset="0"/>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advClick="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6" Type="http://schemas.openxmlformats.org/officeDocument/2006/relationships/theme" Target="../theme/theme2.xml"/><Relationship Id="rId5" Type="http://schemas.openxmlformats.org/officeDocument/2006/relationships/image" Target="../media/image1.png"/><Relationship Id="rId4" Type="http://schemas.openxmlformats.org/officeDocument/2006/relationships/slideLayout" Target="../slideLayouts/slideLayout14.xml"/><Relationship Id="rId3" Type="http://schemas.openxmlformats.org/officeDocument/2006/relationships/slideLayout" Target="../slideLayouts/slideLayout13.xml"/><Relationship Id="rId2" Type="http://schemas.openxmlformats.org/officeDocument/2006/relationships/slideLayout" Target="../slideLayouts/slideLayout12.xml"/><Relationship Id="rId1"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灯片编号占位符 5"/>
          <p:cNvSpPr>
            <a:spLocks noGrp="1"/>
          </p:cNvSpPr>
          <p:nvPr>
            <p:ph type="sldNum" sz="quarter" idx="4"/>
          </p:nvPr>
        </p:nvSpPr>
        <p:spPr>
          <a:xfrm>
            <a:off x="9997440" y="6499860"/>
            <a:ext cx="2133600" cy="365125"/>
          </a:xfrm>
        </p:spPr>
        <p:txBody>
          <a:bodyPr/>
          <a:lstStyle>
            <a:lvl1pPr algn="r">
              <a:defRPr>
                <a:latin typeface="微软雅黑" panose="020B0503020204020204" charset="-122"/>
              </a:defRPr>
            </a:lvl1pPr>
          </a:lstStyle>
          <a:p>
            <a:fld id="{A10E9369-8E4E-4DE7-B129-F0280ABC27D7}" type="slidenum">
              <a:rPr lang="zh-CN" altLang="en-US" smtClean="0"/>
            </a:fld>
            <a:endParaRPr lang="zh-CN" altLang="en-US" dirty="0"/>
          </a:p>
        </p:txBody>
      </p:sp>
      <p:pic>
        <p:nvPicPr>
          <p:cNvPr id="6" name="Picture 7" descr="C:\Users\Administrator\Desktop\B15会议文件封面-11.png"/>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l="2368" r="22060" b="77960"/>
          <a:stretch>
            <a:fillRect/>
          </a:stretch>
        </p:blipFill>
        <p:spPr bwMode="auto">
          <a:xfrm>
            <a:off x="8904312" y="87923"/>
            <a:ext cx="3096344" cy="676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8.xml"/><Relationship Id="rId2" Type="http://schemas.openxmlformats.org/officeDocument/2006/relationships/tags" Target="../tags/tag1.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8.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0" Type="http://schemas.openxmlformats.org/officeDocument/2006/relationships/notesSlide" Target="../notesSlides/notesSlide4.xml"/><Relationship Id="rId4" Type="http://schemas.openxmlformats.org/officeDocument/2006/relationships/tags" Target="../tags/tag4.xml"/><Relationship Id="rId39" Type="http://schemas.openxmlformats.org/officeDocument/2006/relationships/slideLayout" Target="../slideLayouts/slideLayout8.xml"/><Relationship Id="rId38" Type="http://schemas.openxmlformats.org/officeDocument/2006/relationships/tags" Target="../tags/tag38.xml"/><Relationship Id="rId37" Type="http://schemas.openxmlformats.org/officeDocument/2006/relationships/tags" Target="../tags/tag37.xml"/><Relationship Id="rId36" Type="http://schemas.openxmlformats.org/officeDocument/2006/relationships/tags" Target="../tags/tag36.xml"/><Relationship Id="rId35" Type="http://schemas.openxmlformats.org/officeDocument/2006/relationships/tags" Target="../tags/tag35.xml"/><Relationship Id="rId34" Type="http://schemas.openxmlformats.org/officeDocument/2006/relationships/tags" Target="../tags/tag34.xml"/><Relationship Id="rId33" Type="http://schemas.openxmlformats.org/officeDocument/2006/relationships/tags" Target="../tags/tag33.xml"/><Relationship Id="rId32" Type="http://schemas.openxmlformats.org/officeDocument/2006/relationships/tags" Target="../tags/tag32.xml"/><Relationship Id="rId31" Type="http://schemas.openxmlformats.org/officeDocument/2006/relationships/tags" Target="../tags/tag31.xml"/><Relationship Id="rId30" Type="http://schemas.openxmlformats.org/officeDocument/2006/relationships/tags" Target="../tags/tag30.xml"/><Relationship Id="rId3" Type="http://schemas.openxmlformats.org/officeDocument/2006/relationships/tags" Target="../tags/tag3.xml"/><Relationship Id="rId29" Type="http://schemas.openxmlformats.org/officeDocument/2006/relationships/tags" Target="../tags/tag29.xml"/><Relationship Id="rId28" Type="http://schemas.openxmlformats.org/officeDocument/2006/relationships/tags" Target="../tags/tag28.xml"/><Relationship Id="rId27" Type="http://schemas.openxmlformats.org/officeDocument/2006/relationships/tags" Target="../tags/tag27.xml"/><Relationship Id="rId26" Type="http://schemas.openxmlformats.org/officeDocument/2006/relationships/tags" Target="../tags/tag26.xml"/><Relationship Id="rId25" Type="http://schemas.openxmlformats.org/officeDocument/2006/relationships/tags" Target="../tags/tag25.xml"/><Relationship Id="rId24" Type="http://schemas.openxmlformats.org/officeDocument/2006/relationships/tags" Target="../tags/tag24.xml"/><Relationship Id="rId23" Type="http://schemas.openxmlformats.org/officeDocument/2006/relationships/tags" Target="../tags/tag23.xml"/><Relationship Id="rId22" Type="http://schemas.openxmlformats.org/officeDocument/2006/relationships/tags" Target="../tags/tag22.xml"/><Relationship Id="rId21" Type="http://schemas.openxmlformats.org/officeDocument/2006/relationships/tags" Target="../tags/tag21.xml"/><Relationship Id="rId20" Type="http://schemas.openxmlformats.org/officeDocument/2006/relationships/tags" Target="../tags/tag20.xml"/><Relationship Id="rId2" Type="http://schemas.openxmlformats.org/officeDocument/2006/relationships/tags" Target="../tags/tag2.xml"/><Relationship Id="rId19" Type="http://schemas.openxmlformats.org/officeDocument/2006/relationships/tags" Target="../tags/tag19.xml"/><Relationship Id="rId18" Type="http://schemas.openxmlformats.org/officeDocument/2006/relationships/tags" Target="../tags/tag18.xml"/><Relationship Id="rId17" Type="http://schemas.openxmlformats.org/officeDocument/2006/relationships/tags" Target="../tags/tag17.xml"/><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7" Type="http://schemas.openxmlformats.org/officeDocument/2006/relationships/notesSlide" Target="../notesSlides/notesSlide5.xml"/><Relationship Id="rId6" Type="http://schemas.openxmlformats.org/officeDocument/2006/relationships/slideLayout" Target="../slideLayouts/slideLayout8.xml"/><Relationship Id="rId5" Type="http://schemas.openxmlformats.org/officeDocument/2006/relationships/image" Target="../media/image2.jpeg"/><Relationship Id="rId4" Type="http://schemas.openxmlformats.org/officeDocument/2006/relationships/tags" Target="../tags/tag41.xml"/><Relationship Id="rId3" Type="http://schemas.openxmlformats.org/officeDocument/2006/relationships/tags" Target="../tags/tag40.xml"/><Relationship Id="rId2" Type="http://schemas.openxmlformats.org/officeDocument/2006/relationships/tags" Target="../tags/tag39.xml"/><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slideLayout" Target="../slideLayouts/slideLayout8.xml"/><Relationship Id="rId4" Type="http://schemas.openxmlformats.org/officeDocument/2006/relationships/image" Target="../media/image3.jpeg"/><Relationship Id="rId3" Type="http://schemas.openxmlformats.org/officeDocument/2006/relationships/tags" Target="../tags/tag43.xml"/><Relationship Id="rId2" Type="http://schemas.openxmlformats.org/officeDocument/2006/relationships/tags" Target="../tags/tag42.xml"/><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6" Type="http://schemas.openxmlformats.org/officeDocument/2006/relationships/notesSlide" Target="../notesSlides/notesSlide7.xml"/><Relationship Id="rId5" Type="http://schemas.openxmlformats.org/officeDocument/2006/relationships/slideLayout" Target="../slideLayouts/slideLayout8.xml"/><Relationship Id="rId4" Type="http://schemas.openxmlformats.org/officeDocument/2006/relationships/image" Target="../media/image4.jpeg"/><Relationship Id="rId3" Type="http://schemas.openxmlformats.org/officeDocument/2006/relationships/tags" Target="../tags/tag45.xml"/><Relationship Id="rId2" Type="http://schemas.openxmlformats.org/officeDocument/2006/relationships/tags" Target="../tags/tag44.xml"/><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9" Type="http://schemas.openxmlformats.org/officeDocument/2006/relationships/image" Target="../media/image12.svg"/><Relationship Id="rId8" Type="http://schemas.openxmlformats.org/officeDocument/2006/relationships/image" Target="../media/image11.png"/><Relationship Id="rId7" Type="http://schemas.openxmlformats.org/officeDocument/2006/relationships/image" Target="../media/image10.svg"/><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 Id="rId3" Type="http://schemas.openxmlformats.org/officeDocument/2006/relationships/image" Target="../media/image6.svg"/><Relationship Id="rId2" Type="http://schemas.openxmlformats.org/officeDocument/2006/relationships/image" Target="../media/image5.png"/><Relationship Id="rId17" Type="http://schemas.openxmlformats.org/officeDocument/2006/relationships/notesSlide" Target="../notesSlides/notesSlide8.xml"/><Relationship Id="rId16" Type="http://schemas.openxmlformats.org/officeDocument/2006/relationships/slideLayout" Target="../slideLayouts/slideLayout8.xml"/><Relationship Id="rId15" Type="http://schemas.openxmlformats.org/officeDocument/2006/relationships/image" Target="../media/image18.svg"/><Relationship Id="rId14" Type="http://schemas.openxmlformats.org/officeDocument/2006/relationships/image" Target="../media/image17.png"/><Relationship Id="rId13" Type="http://schemas.openxmlformats.org/officeDocument/2006/relationships/image" Target="../media/image16.svg"/><Relationship Id="rId12" Type="http://schemas.openxmlformats.org/officeDocument/2006/relationships/image" Target="../media/image15.png"/><Relationship Id="rId11" Type="http://schemas.openxmlformats.org/officeDocument/2006/relationships/image" Target="../media/image14.svg"/><Relationship Id="rId10" Type="http://schemas.openxmlformats.org/officeDocument/2006/relationships/image" Target="../media/image13.png"/><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9" Type="http://schemas.openxmlformats.org/officeDocument/2006/relationships/tags" Target="../tags/tag51.xml"/><Relationship Id="rId8" Type="http://schemas.openxmlformats.org/officeDocument/2006/relationships/tags" Target="../tags/tag50.xml"/><Relationship Id="rId7" Type="http://schemas.openxmlformats.org/officeDocument/2006/relationships/tags" Target="../tags/tag49.xml"/><Relationship Id="rId6" Type="http://schemas.openxmlformats.org/officeDocument/2006/relationships/tags" Target="../tags/tag48.xml"/><Relationship Id="rId5" Type="http://schemas.openxmlformats.org/officeDocument/2006/relationships/image" Target="../media/image20.svg"/><Relationship Id="rId4" Type="http://schemas.openxmlformats.org/officeDocument/2006/relationships/image" Target="../media/image19.png"/><Relationship Id="rId3" Type="http://schemas.openxmlformats.org/officeDocument/2006/relationships/tags" Target="../tags/tag47.xml"/><Relationship Id="rId26" Type="http://schemas.openxmlformats.org/officeDocument/2006/relationships/notesSlide" Target="../notesSlides/notesSlide9.xml"/><Relationship Id="rId25" Type="http://schemas.openxmlformats.org/officeDocument/2006/relationships/slideLayout" Target="../slideLayouts/slideLayout8.xml"/><Relationship Id="rId24" Type="http://schemas.openxmlformats.org/officeDocument/2006/relationships/image" Target="../media/image28.svg"/><Relationship Id="rId23" Type="http://schemas.openxmlformats.org/officeDocument/2006/relationships/image" Target="../media/image27.png"/><Relationship Id="rId22" Type="http://schemas.openxmlformats.org/officeDocument/2006/relationships/tags" Target="../tags/tag58.xml"/><Relationship Id="rId21" Type="http://schemas.openxmlformats.org/officeDocument/2006/relationships/tags" Target="../tags/tag57.xml"/><Relationship Id="rId20" Type="http://schemas.openxmlformats.org/officeDocument/2006/relationships/tags" Target="../tags/tag56.xml"/><Relationship Id="rId2" Type="http://schemas.openxmlformats.org/officeDocument/2006/relationships/tags" Target="../tags/tag46.xml"/><Relationship Id="rId19" Type="http://schemas.openxmlformats.org/officeDocument/2006/relationships/image" Target="../media/image26.svg"/><Relationship Id="rId18" Type="http://schemas.openxmlformats.org/officeDocument/2006/relationships/image" Target="../media/image25.png"/><Relationship Id="rId17" Type="http://schemas.openxmlformats.org/officeDocument/2006/relationships/tags" Target="../tags/tag55.xml"/><Relationship Id="rId16" Type="http://schemas.openxmlformats.org/officeDocument/2006/relationships/tags" Target="../tags/tag54.xml"/><Relationship Id="rId15" Type="http://schemas.openxmlformats.org/officeDocument/2006/relationships/image" Target="../media/image24.svg"/><Relationship Id="rId14" Type="http://schemas.openxmlformats.org/officeDocument/2006/relationships/image" Target="../media/image23.png"/><Relationship Id="rId13" Type="http://schemas.openxmlformats.org/officeDocument/2006/relationships/tags" Target="../tags/tag53.xml"/><Relationship Id="rId12" Type="http://schemas.openxmlformats.org/officeDocument/2006/relationships/tags" Target="../tags/tag52.xml"/><Relationship Id="rId11" Type="http://schemas.openxmlformats.org/officeDocument/2006/relationships/image" Target="../media/image22.svg"/><Relationship Id="rId10" Type="http://schemas.openxmlformats.org/officeDocument/2006/relationships/image" Target="../media/image21.png"/><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9" Type="http://schemas.openxmlformats.org/officeDocument/2006/relationships/tags" Target="../tags/tag62.xml"/><Relationship Id="rId8" Type="http://schemas.openxmlformats.org/officeDocument/2006/relationships/image" Target="../media/image6.svg"/><Relationship Id="rId7" Type="http://schemas.openxmlformats.org/officeDocument/2006/relationships/image" Target="../media/image5.png"/><Relationship Id="rId6" Type="http://schemas.openxmlformats.org/officeDocument/2006/relationships/tags" Target="../tags/tag61.xml"/><Relationship Id="rId5" Type="http://schemas.openxmlformats.org/officeDocument/2006/relationships/tags" Target="../tags/tag60.xml"/><Relationship Id="rId4" Type="http://schemas.openxmlformats.org/officeDocument/2006/relationships/image" Target="../media/image30.svg"/><Relationship Id="rId3" Type="http://schemas.openxmlformats.org/officeDocument/2006/relationships/image" Target="../media/image29.png"/><Relationship Id="rId29" Type="http://schemas.openxmlformats.org/officeDocument/2006/relationships/notesSlide" Target="../notesSlides/notesSlide10.xml"/><Relationship Id="rId28" Type="http://schemas.openxmlformats.org/officeDocument/2006/relationships/slideLayout" Target="../slideLayouts/slideLayout8.xml"/><Relationship Id="rId27" Type="http://schemas.openxmlformats.org/officeDocument/2006/relationships/image" Target="../media/image36.svg"/><Relationship Id="rId26" Type="http://schemas.openxmlformats.org/officeDocument/2006/relationships/image" Target="../media/image35.png"/><Relationship Id="rId25" Type="http://schemas.openxmlformats.org/officeDocument/2006/relationships/tags" Target="../tags/tag74.xml"/><Relationship Id="rId24" Type="http://schemas.openxmlformats.org/officeDocument/2006/relationships/tags" Target="../tags/tag73.xml"/><Relationship Id="rId23" Type="http://schemas.openxmlformats.org/officeDocument/2006/relationships/tags" Target="../tags/tag72.xml"/><Relationship Id="rId22" Type="http://schemas.openxmlformats.org/officeDocument/2006/relationships/tags" Target="../tags/tag71.xml"/><Relationship Id="rId21" Type="http://schemas.openxmlformats.org/officeDocument/2006/relationships/image" Target="../media/image34.svg"/><Relationship Id="rId20" Type="http://schemas.openxmlformats.org/officeDocument/2006/relationships/image" Target="../media/image33.png"/><Relationship Id="rId2" Type="http://schemas.openxmlformats.org/officeDocument/2006/relationships/image" Target="../media/image1.png"/><Relationship Id="rId19" Type="http://schemas.openxmlformats.org/officeDocument/2006/relationships/tags" Target="../tags/tag70.xml"/><Relationship Id="rId18" Type="http://schemas.openxmlformats.org/officeDocument/2006/relationships/tags" Target="../tags/tag69.xml"/><Relationship Id="rId17" Type="http://schemas.openxmlformats.org/officeDocument/2006/relationships/tags" Target="../tags/tag68.xml"/><Relationship Id="rId16" Type="http://schemas.openxmlformats.org/officeDocument/2006/relationships/tags" Target="../tags/tag67.xml"/><Relationship Id="rId15" Type="http://schemas.openxmlformats.org/officeDocument/2006/relationships/tags" Target="../tags/tag66.xml"/><Relationship Id="rId14" Type="http://schemas.openxmlformats.org/officeDocument/2006/relationships/tags" Target="../tags/tag65.xml"/><Relationship Id="rId13" Type="http://schemas.openxmlformats.org/officeDocument/2006/relationships/image" Target="../media/image32.svg"/><Relationship Id="rId12" Type="http://schemas.openxmlformats.org/officeDocument/2006/relationships/image" Target="../media/image31.png"/><Relationship Id="rId11" Type="http://schemas.openxmlformats.org/officeDocument/2006/relationships/tags" Target="../tags/tag64.xml"/><Relationship Id="rId10" Type="http://schemas.openxmlformats.org/officeDocument/2006/relationships/tags" Target="../tags/tag63.xml"/><Relationship Id="rId1" Type="http://schemas.openxmlformats.org/officeDocument/2006/relationships/tags" Target="../tags/tag5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tags" Target="../tags/tag76.xml"/><Relationship Id="rId1" Type="http://schemas.openxmlformats.org/officeDocument/2006/relationships/tags" Target="../tags/tag75.xml"/></Relationships>
</file>

<file path=ppt/slides/_rels/slide15.xml.rels><?xml version="1.0" encoding="UTF-8" standalone="yes"?>
<Relationships xmlns="http://schemas.openxmlformats.org/package/2006/relationships"><Relationship Id="rId8" Type="http://schemas.openxmlformats.org/officeDocument/2006/relationships/slideLayout" Target="../slideLayouts/slideLayout8.xml"/><Relationship Id="rId7" Type="http://schemas.openxmlformats.org/officeDocument/2006/relationships/image" Target="../media/image38.png"/><Relationship Id="rId6" Type="http://schemas.openxmlformats.org/officeDocument/2006/relationships/tags" Target="../tags/tag81.xml"/><Relationship Id="rId5" Type="http://schemas.openxmlformats.org/officeDocument/2006/relationships/image" Target="../media/image37.png"/><Relationship Id="rId4" Type="http://schemas.openxmlformats.org/officeDocument/2006/relationships/tags" Target="../tags/tag80.xml"/><Relationship Id="rId3" Type="http://schemas.openxmlformats.org/officeDocument/2006/relationships/tags" Target="../tags/tag79.xml"/><Relationship Id="rId2" Type="http://schemas.openxmlformats.org/officeDocument/2006/relationships/tags" Target="../tags/tag78.xml"/><Relationship Id="rId1" Type="http://schemas.openxmlformats.org/officeDocument/2006/relationships/tags" Target="../tags/tag77.xml"/></Relationships>
</file>

<file path=ppt/slides/_rels/slide16.xml.rels><?xml version="1.0" encoding="UTF-8" standalone="yes"?>
<Relationships xmlns="http://schemas.openxmlformats.org/package/2006/relationships"><Relationship Id="rId6" Type="http://schemas.openxmlformats.org/officeDocument/2006/relationships/slideLayout" Target="../slideLayouts/slideLayout8.xml"/><Relationship Id="rId5" Type="http://schemas.openxmlformats.org/officeDocument/2006/relationships/image" Target="../media/image40.png"/><Relationship Id="rId4" Type="http://schemas.openxmlformats.org/officeDocument/2006/relationships/image" Target="../media/image39.png"/><Relationship Id="rId3" Type="http://schemas.openxmlformats.org/officeDocument/2006/relationships/tags" Target="../tags/tag84.xml"/><Relationship Id="rId2" Type="http://schemas.openxmlformats.org/officeDocument/2006/relationships/tags" Target="../tags/tag83.xml"/><Relationship Id="rId1" Type="http://schemas.openxmlformats.org/officeDocument/2006/relationships/tags" Target="../tags/tag82.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8.xml"/><Relationship Id="rId1" Type="http://schemas.openxmlformats.org/officeDocument/2006/relationships/tags" Target="../tags/tag85.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8.xml"/><Relationship Id="rId1" Type="http://schemas.openxmlformats.org/officeDocument/2006/relationships/image" Target="../media/image41.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8.xml"/><Relationship Id="rId1" Type="http://schemas.openxmlformats.org/officeDocument/2006/relationships/tags" Target="../tags/tag8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87.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88.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89.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90.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9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92.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93.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9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4079776" y="4655713"/>
            <a:ext cx="4032448" cy="1050290"/>
          </a:xfrm>
          <a:prstGeom prst="rect">
            <a:avLst/>
          </a:prstGeom>
          <a:noFill/>
        </p:spPr>
        <p:txBody>
          <a:bodyPr wrap="square" rtlCol="0">
            <a:spAutoFit/>
          </a:bodyPr>
          <a:lstStyle/>
          <a:p>
            <a:pPr algn="ctr">
              <a:lnSpc>
                <a:spcPct val="130000"/>
              </a:lnSpc>
            </a:pPr>
            <a:r>
              <a:rPr lang="zh-CN" altLang="en-US" sz="2400" dirty="0">
                <a:latin typeface="微软雅黑" panose="020B0503020204020204" charset="-122"/>
                <a:ea typeface="微软雅黑" panose="020B0503020204020204" charset="-122"/>
              </a:rPr>
              <a:t>安全监管部</a:t>
            </a:r>
            <a:endParaRPr lang="zh-CN" altLang="en-US" sz="2400" dirty="0">
              <a:latin typeface="微软雅黑" panose="020B0503020204020204" charset="-122"/>
              <a:ea typeface="微软雅黑" panose="020B0503020204020204" charset="-122"/>
            </a:endParaRPr>
          </a:p>
          <a:p>
            <a:pPr algn="ctr">
              <a:lnSpc>
                <a:spcPct val="130000"/>
              </a:lnSpc>
            </a:pPr>
            <a:r>
              <a:rPr lang="en-US" altLang="zh-CN" sz="2400" dirty="0">
                <a:latin typeface="微软雅黑" panose="020B0503020204020204" charset="-122"/>
                <a:ea typeface="微软雅黑" panose="020B0503020204020204" charset="-122"/>
              </a:rPr>
              <a:t>2026</a:t>
            </a:r>
            <a:r>
              <a:rPr lang="zh-CN" altLang="en-US" sz="2400" dirty="0">
                <a:latin typeface="微软雅黑" panose="020B0503020204020204" charset="-122"/>
                <a:ea typeface="微软雅黑" panose="020B0503020204020204" charset="-122"/>
              </a:rPr>
              <a:t>年</a:t>
            </a:r>
            <a:r>
              <a:rPr lang="en-US" altLang="zh-CN" sz="2400" dirty="0">
                <a:latin typeface="微软雅黑" panose="020B0503020204020204" charset="-122"/>
                <a:ea typeface="微软雅黑" panose="020B0503020204020204" charset="-122"/>
              </a:rPr>
              <a:t>5</a:t>
            </a:r>
            <a:r>
              <a:rPr lang="zh-CN" altLang="en-US" sz="2400" dirty="0">
                <a:latin typeface="微软雅黑" panose="020B0503020204020204" charset="-122"/>
                <a:ea typeface="微软雅黑" panose="020B0503020204020204" charset="-122"/>
              </a:rPr>
              <a:t>月</a:t>
            </a:r>
            <a:r>
              <a:rPr lang="en-US" altLang="zh-CN" sz="2400" dirty="0">
                <a:latin typeface="微软雅黑" panose="020B0503020204020204" charset="-122"/>
                <a:ea typeface="微软雅黑" panose="020B0503020204020204" charset="-122"/>
              </a:rPr>
              <a:t>25</a:t>
            </a:r>
            <a:r>
              <a:rPr lang="zh-CN" altLang="en-US" sz="2400" dirty="0">
                <a:latin typeface="微软雅黑" panose="020B0503020204020204" charset="-122"/>
                <a:ea typeface="微软雅黑" panose="020B0503020204020204" charset="-122"/>
              </a:rPr>
              <a:t>日</a:t>
            </a:r>
            <a:endParaRPr lang="zh-CN" altLang="en-US" sz="2400" dirty="0">
              <a:latin typeface="微软雅黑" panose="020B0503020204020204" charset="-122"/>
              <a:ea typeface="微软雅黑" panose="020B0503020204020204" charset="-122"/>
            </a:endParaRPr>
          </a:p>
        </p:txBody>
      </p:sp>
      <p:sp>
        <p:nvSpPr>
          <p:cNvPr id="4" name="文本框 3"/>
          <p:cNvSpPr txBox="1"/>
          <p:nvPr/>
        </p:nvSpPr>
        <p:spPr>
          <a:xfrm>
            <a:off x="11598275" y="6384925"/>
            <a:ext cx="448310" cy="368300"/>
          </a:xfrm>
          <a:prstGeom prst="rect">
            <a:avLst/>
          </a:prstGeom>
          <a:solidFill>
            <a:schemeClr val="bg1"/>
          </a:solidFill>
        </p:spPr>
        <p:txBody>
          <a:bodyPr wrap="square" rtlCol="0">
            <a:spAutoFit/>
          </a:bodyPr>
          <a:lstStyle/>
          <a:p>
            <a:endParaRPr lang="zh-CN" altLang="en-US" dirty="0">
              <a:latin typeface="微软雅黑" panose="020B0503020204020204" charset="-122"/>
            </a:endParaRPr>
          </a:p>
        </p:txBody>
      </p:sp>
      <p:sp>
        <p:nvSpPr>
          <p:cNvPr id="9" name="TextBox 6"/>
          <p:cNvSpPr txBox="1"/>
          <p:nvPr/>
        </p:nvSpPr>
        <p:spPr>
          <a:xfrm>
            <a:off x="1880870" y="2564904"/>
            <a:ext cx="8430260" cy="1568450"/>
          </a:xfrm>
          <a:prstGeom prst="rect">
            <a:avLst/>
          </a:prstGeom>
          <a:noFill/>
        </p:spPr>
        <p:txBody>
          <a:bodyPr wrap="square" rtlCol="0">
            <a:spAutoFit/>
          </a:bodyPr>
          <a:lstStyle/>
          <a:p>
            <a:pPr indent="0" algn="ctr">
              <a:lnSpc>
                <a:spcPct val="100000"/>
              </a:lnSpc>
              <a:defRPr/>
            </a:pPr>
            <a:r>
              <a:rPr lang="zh-CN" altLang="en-US" sz="4800" b="1" dirty="0" err="1">
                <a:solidFill>
                  <a:srgbClr val="204D93"/>
                </a:solidFill>
                <a:latin typeface="微软雅黑" panose="020B0503020204020204" charset="-122"/>
                <a:ea typeface="微软雅黑" panose="020B0503020204020204" charset="-122"/>
                <a:cs typeface="微软雅黑" panose="020B0503020204020204" charset="-122"/>
                <a:sym typeface="Noto Sans SC" panose="020B0200000000000000" charset="-122"/>
              </a:rPr>
              <a:t>福田供电局</a:t>
            </a:r>
            <a:r>
              <a:rPr lang="en-US" sz="4800" b="1" dirty="0" err="1">
                <a:solidFill>
                  <a:srgbClr val="204D93"/>
                </a:solidFill>
                <a:latin typeface="微软雅黑" panose="020B0503020204020204" charset="-122"/>
                <a:ea typeface="微软雅黑" panose="020B0503020204020204" charset="-122"/>
                <a:cs typeface="微软雅黑" panose="020B0503020204020204" charset="-122"/>
                <a:sym typeface="Noto Sans SC" panose="020B0200000000000000" charset="-122"/>
              </a:rPr>
              <a:t>事故隐患判定标准</a:t>
            </a:r>
            <a:r>
              <a:rPr lang="zh-CN" altLang="en-US" sz="4800" b="1" dirty="0">
                <a:solidFill>
                  <a:srgbClr val="204D93"/>
                </a:solidFill>
                <a:latin typeface="微软雅黑" panose="020B0503020204020204" charset="-122"/>
                <a:ea typeface="微软雅黑" panose="020B0503020204020204" charset="-122"/>
                <a:cs typeface="微软雅黑" panose="020B0503020204020204" charset="-122"/>
                <a:sym typeface="Noto Sans SC" panose="020B0200000000000000" charset="-122"/>
              </a:rPr>
              <a:t>宣贯培训</a:t>
            </a:r>
            <a:endParaRPr lang="zh-CN" altLang="en-US" sz="4800" b="1" dirty="0">
              <a:solidFill>
                <a:srgbClr val="204D93"/>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文本框 9"/>
          <p:cNvSpPr txBox="1">
            <a:spLocks noChangeArrowheads="1"/>
          </p:cNvSpPr>
          <p:nvPr/>
        </p:nvSpPr>
        <p:spPr bwMode="auto">
          <a:xfrm>
            <a:off x="1127448" y="1556792"/>
            <a:ext cx="9959836" cy="4560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0"/>
              </a:spcBef>
              <a:spcAft>
                <a:spcPts val="600"/>
              </a:spcAft>
              <a:buClrTx/>
              <a:buSzTx/>
              <a:buFontTx/>
              <a:buNone/>
              <a:defRPr/>
            </a:pPr>
            <a:r>
              <a:rPr kumimoji="0" lang="zh-CN" altLang="en-US" sz="2400" b="1" i="0" u="none" strike="noStrike" kern="1200" cap="none" spc="0" normalizeH="0" baseline="0" noProof="0" dirty="0">
                <a:ln>
                  <a:noFill/>
                </a:ln>
                <a:effectLst/>
                <a:uLnTx/>
                <a:uFillTx/>
                <a:latin typeface="微软雅黑" panose="020B0503020204020204" charset="-122"/>
                <a:ea typeface="微软雅黑" panose="020B0503020204020204" charset="-122"/>
                <a:cs typeface="+mn-cs"/>
              </a:rPr>
              <a:t>知识产权声明</a:t>
            </a:r>
            <a:endParaRPr kumimoji="0" lang="en-US" altLang="zh-CN" sz="1600" b="1" i="0" u="none" strike="noStrike" kern="1200" cap="none" spc="0" normalizeH="0" baseline="0" noProof="0" dirty="0">
              <a:ln>
                <a:noFill/>
              </a:ln>
              <a:effectLst/>
              <a:uLnTx/>
              <a:uFillTx/>
              <a:latin typeface="微软雅黑" panose="020B0503020204020204" charset="-122"/>
              <a:ea typeface="微软雅黑" panose="020B0503020204020204" charset="-122"/>
              <a:cs typeface="+mn-cs"/>
            </a:endParaRPr>
          </a:p>
          <a:p>
            <a:pPr marL="0" marR="0" lvl="0" indent="0" algn="just" defTabSz="914400" rtl="0" eaLnBrk="1" fontAlgn="base" latinLnBrk="0" hangingPunct="1">
              <a:lnSpc>
                <a:spcPct val="150000"/>
              </a:lnSpc>
              <a:spcBef>
                <a:spcPct val="0"/>
              </a:spcBef>
              <a:spcAft>
                <a:spcPct val="0"/>
              </a:spcAft>
              <a:buClrTx/>
              <a:buSzTx/>
              <a:buFontTx/>
              <a:buNone/>
              <a:defRPr/>
            </a:pPr>
            <a:r>
              <a:rPr kumimoji="0" lang="zh-CN" altLang="en-US" sz="2000" b="0" i="0" u="none" strike="noStrike" kern="1200" cap="none" spc="0" normalizeH="0" baseline="0" noProof="0" dirty="0">
                <a:ln>
                  <a:noFill/>
                </a:ln>
                <a:effectLst/>
                <a:uLnTx/>
                <a:uFillTx/>
                <a:latin typeface="微软雅黑" panose="020B0503020204020204" charset="-122"/>
                <a:ea typeface="微软雅黑" panose="020B0503020204020204" charset="-122"/>
                <a:cs typeface="+mn-cs"/>
              </a:rPr>
              <a:t>本文件的知识产权属南方电网公司所有。对本文件的使用及处置应严格遵循南方电网公司有关规定或</a:t>
            </a:r>
            <a:r>
              <a:rPr lang="zh-CN" altLang="en-US" sz="2000" strike="noStrike" noProof="0" dirty="0">
                <a:ln>
                  <a:noFill/>
                </a:ln>
                <a:effectLst/>
                <a:uLnTx/>
                <a:uFillTx/>
                <a:latin typeface="微软雅黑" panose="020B0503020204020204" charset="-122"/>
                <a:ea typeface="微软雅黑" panose="020B0503020204020204" charset="-122"/>
                <a:cs typeface="+mn-cs"/>
                <a:sym typeface="+mn-ea"/>
              </a:rPr>
              <a:t>获取</a:t>
            </a:r>
            <a:r>
              <a:rPr kumimoji="0" lang="zh-CN" altLang="en-US" sz="2000" b="0" i="0" u="none" strike="noStrike" kern="1200" cap="none" spc="0" normalizeH="0" baseline="0" noProof="0" dirty="0">
                <a:ln>
                  <a:noFill/>
                </a:ln>
                <a:effectLst/>
                <a:uLnTx/>
                <a:uFillTx/>
                <a:latin typeface="微软雅黑" panose="020B0503020204020204" charset="-122"/>
                <a:ea typeface="微软雅黑" panose="020B0503020204020204" charset="-122"/>
                <a:cs typeface="+mn-cs"/>
              </a:rPr>
              <a:t>本文件的合同及约定的条件和要求。未经南方电网公司事先书面同意，不得对外披露、复制。</a:t>
            </a:r>
            <a:endParaRPr kumimoji="0" lang="zh-CN" altLang="en-US" sz="2000" b="0" i="0" u="none" strike="noStrike" kern="1200" cap="none" spc="0" normalizeH="0" baseline="0" noProof="0" dirty="0">
              <a:ln>
                <a:noFill/>
              </a:ln>
              <a:effectLst/>
              <a:uLnTx/>
              <a:uFillTx/>
              <a:latin typeface="微软雅黑" panose="020B0503020204020204" charset="-122"/>
              <a:ea typeface="微软雅黑" panose="020B0503020204020204" charset="-122"/>
              <a:cs typeface="+mn-cs"/>
            </a:endParaRPr>
          </a:p>
          <a:p>
            <a:pPr marL="0" marR="0" lvl="0" indent="0" algn="just" defTabSz="914400" rtl="0" eaLnBrk="1" fontAlgn="base" latinLnBrk="0" hangingPunct="1">
              <a:lnSpc>
                <a:spcPct val="150000"/>
              </a:lnSpc>
              <a:spcBef>
                <a:spcPct val="0"/>
              </a:spcBef>
              <a:spcAft>
                <a:spcPct val="0"/>
              </a:spcAft>
              <a:buClrTx/>
              <a:buSzTx/>
              <a:buFontTx/>
              <a:buNone/>
              <a:defRPr/>
            </a:pPr>
            <a:endParaRPr kumimoji="0" lang="en-US" altLang="zh-CN" sz="1200" b="0" i="0" u="none" strike="noStrike" kern="1200" cap="none" spc="0" normalizeH="0" baseline="0" noProof="0" dirty="0">
              <a:ln>
                <a:noFill/>
              </a:ln>
              <a:effectLst/>
              <a:uLnTx/>
              <a:uFillTx/>
              <a:latin typeface="微软雅黑" panose="020B0503020204020204" charset="-122"/>
              <a:ea typeface="微软雅黑" panose="020B0503020204020204" charset="-122"/>
              <a:cs typeface="+mn-cs"/>
            </a:endParaRPr>
          </a:p>
          <a:p>
            <a:pPr marL="0" marR="0" lvl="0" indent="0" algn="just" defTabSz="914400" rtl="0" eaLnBrk="1" fontAlgn="base" latinLnBrk="0" hangingPunct="1">
              <a:lnSpc>
                <a:spcPct val="150000"/>
              </a:lnSpc>
              <a:spcBef>
                <a:spcPct val="0"/>
              </a:spcBef>
              <a:spcAft>
                <a:spcPct val="0"/>
              </a:spcAft>
              <a:buClrTx/>
              <a:buSzTx/>
              <a:buFontTx/>
              <a:buNone/>
              <a:defRPr/>
            </a:pPr>
            <a:endParaRPr kumimoji="0" lang="en-US" altLang="zh-CN" sz="1200" b="0" i="0" u="none" strike="noStrike" kern="1200" cap="none" spc="0" normalizeH="0" baseline="0" noProof="0" dirty="0">
              <a:ln>
                <a:noFill/>
              </a:ln>
              <a:effectLst/>
              <a:uLnTx/>
              <a:uFillTx/>
              <a:latin typeface="微软雅黑" panose="020B0503020204020204" charset="-122"/>
              <a:ea typeface="宋体" panose="02010600030101010101" pitchFamily="2" charset="-122"/>
              <a:cs typeface="+mn-cs"/>
            </a:endParaRPr>
          </a:p>
          <a:p>
            <a:pPr marL="0" marR="0" lvl="0" indent="0" algn="ctr" defTabSz="914400" rtl="0" eaLnBrk="1" fontAlgn="base" latinLnBrk="0" hangingPunct="1">
              <a:lnSpc>
                <a:spcPts val="3200"/>
              </a:lnSpc>
              <a:spcBef>
                <a:spcPct val="0"/>
              </a:spcBef>
              <a:spcAft>
                <a:spcPts val="600"/>
              </a:spcAft>
              <a:buClrTx/>
              <a:buSzTx/>
              <a:buFontTx/>
              <a:buNone/>
              <a:defRPr/>
            </a:pPr>
            <a:r>
              <a:rPr kumimoji="0" lang="en-US" altLang="zh-CN" sz="2400" b="1" i="1" u="none" strike="noStrike" kern="1200" cap="none" spc="0" normalizeH="0" baseline="0" noProof="0" dirty="0">
                <a:ln>
                  <a:noFill/>
                </a:ln>
                <a:effectLst/>
                <a:uLnTx/>
                <a:uFillTx/>
                <a:latin typeface="微软雅黑" panose="020B0503020204020204" charset="-122"/>
                <a:ea typeface="宋体" panose="02010600030101010101" pitchFamily="2" charset="-122"/>
                <a:cs typeface="Times New Roman" panose="02020603050405020304" pitchFamily="18" charset="0"/>
              </a:rPr>
              <a:t>Intellectual Property Rights Statement </a:t>
            </a:r>
            <a:endParaRPr kumimoji="0" lang="en-US" altLang="zh-CN" sz="1600" b="1" i="1" u="none" strike="noStrike" kern="1200" cap="none" spc="0" normalizeH="0" baseline="0" noProof="0" dirty="0">
              <a:ln>
                <a:noFill/>
              </a:ln>
              <a:effectLst/>
              <a:uLnTx/>
              <a:uFillTx/>
              <a:latin typeface="微软雅黑" panose="020B0503020204020204" charset="-122"/>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ts val="2200"/>
              </a:lnSpc>
              <a:spcBef>
                <a:spcPct val="0"/>
              </a:spcBef>
              <a:spcAft>
                <a:spcPct val="0"/>
              </a:spcAft>
              <a:buClrTx/>
              <a:buSzTx/>
              <a:buFontTx/>
              <a:buNone/>
              <a:defRPr/>
            </a:pPr>
            <a:r>
              <a:rPr kumimoji="0" lang="en-US" altLang="zh-CN" sz="2000" b="0" i="1" u="none" strike="noStrike" kern="1200" cap="none" spc="0" normalizeH="0" baseline="0" noProof="0" dirty="0">
                <a:ln>
                  <a:noFill/>
                </a:ln>
                <a:effectLst/>
                <a:uLnTx/>
                <a:uFillTx/>
                <a:latin typeface="微软雅黑" panose="020B0503020204020204" charset="-122"/>
                <a:ea typeface="宋体" panose="02010600030101010101" pitchFamily="2" charset="-122"/>
                <a:cs typeface="Times New Roman" panose="02020603050405020304" pitchFamily="18" charset="0"/>
              </a:rPr>
              <a:t>This document is the property of and contains proprietary information owned by CSG and/or its related proprietor. You agree to treat this document in strict accordance with the terms and conditions of the agreement under which it was provided to you. No disclosure or copy of this document is permitted without the prior written permission of CSG.</a:t>
            </a:r>
            <a:endParaRPr kumimoji="0" lang="en-US" altLang="zh-CN" sz="2000" b="0" i="1" u="none" strike="noStrike" kern="1200" cap="none" spc="0" normalizeH="0" baseline="0" noProof="0" dirty="0">
              <a:ln>
                <a:noFill/>
              </a:ln>
              <a:effectLst/>
              <a:uLnTx/>
              <a:uFillTx/>
              <a:latin typeface="微软雅黑" panose="020B0503020204020204" charset="-122"/>
              <a:ea typeface="宋体" panose="02010600030101010101" pitchFamily="2" charset="-122"/>
              <a:cs typeface="Times New Roman" panose="02020603050405020304" pitchFamily="18" charset="0"/>
            </a:endParaRPr>
          </a:p>
        </p:txBody>
      </p:sp>
      <p:cxnSp>
        <p:nvCxnSpPr>
          <p:cNvPr id="4" name="直接连接符 3"/>
          <p:cNvCxnSpPr/>
          <p:nvPr/>
        </p:nvCxnSpPr>
        <p:spPr>
          <a:xfrm>
            <a:off x="1524000" y="908720"/>
            <a:ext cx="9144000" cy="0"/>
          </a:xfrm>
          <a:prstGeom prst="line">
            <a:avLst/>
          </a:prstGeom>
          <a:ln w="28575">
            <a:solidFill>
              <a:srgbClr val="003679"/>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4294967295"/>
          </p:nvPr>
        </p:nvSpPr>
        <p:spPr>
          <a:xfrm>
            <a:off x="9997440" y="6499860"/>
            <a:ext cx="2133600" cy="365125"/>
          </a:xfrm>
        </p:spPr>
        <p:txBody>
          <a:bodyPr/>
          <a:lstStyle/>
          <a:p>
            <a:fld id="{A10E9369-8E4E-4DE7-B129-F0280ABC27D7}" type="slidenum">
              <a:rPr lang="zh-CN" altLang="en-US" smtClean="0"/>
            </a:fld>
            <a:endParaRPr lang="zh-CN" altLang="en-US" dirty="0"/>
          </a:p>
        </p:txBody>
      </p:sp>
      <p:sp>
        <p:nvSpPr>
          <p:cNvPr id="26" name="TextBox 8"/>
          <p:cNvSpPr txBox="1"/>
          <p:nvPr/>
        </p:nvSpPr>
        <p:spPr>
          <a:xfrm>
            <a:off x="168335" y="271329"/>
            <a:ext cx="7002524" cy="52197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charset="-122"/>
                <a:ea typeface="微软雅黑" panose="020B0503020204020204" charset="-122"/>
              </a:rPr>
              <a:t>目录</a:t>
            </a:r>
            <a:endParaRPr lang="zh-CN" altLang="en-US" sz="2800" b="1" dirty="0">
              <a:latin typeface="微软雅黑" panose="020B0503020204020204" charset="-122"/>
              <a:ea typeface="微软雅黑" panose="020B0503020204020204" charset="-122"/>
            </a:endParaRPr>
          </a:p>
        </p:txBody>
      </p:sp>
      <p:grpSp>
        <p:nvGrpSpPr>
          <p:cNvPr id="42" name="组合 41"/>
          <p:cNvGrpSpPr/>
          <p:nvPr/>
        </p:nvGrpSpPr>
        <p:grpSpPr>
          <a:xfrm>
            <a:off x="1376866" y="2622242"/>
            <a:ext cx="1326804" cy="2005100"/>
            <a:chOff x="1752600" y="2439316"/>
            <a:chExt cx="1326804" cy="2005100"/>
          </a:xfrm>
        </p:grpSpPr>
        <p:sp>
          <p:nvSpPr>
            <p:cNvPr id="43" name="矩形 42"/>
            <p:cNvSpPr/>
            <p:nvPr/>
          </p:nvSpPr>
          <p:spPr>
            <a:xfrm>
              <a:off x="1752600" y="2439316"/>
              <a:ext cx="1198120" cy="2005100"/>
            </a:xfrm>
            <a:prstGeom prst="rect">
              <a:avLst/>
            </a:prstGeom>
            <a:noFill/>
            <a:ln w="3175">
              <a:solidFill>
                <a:srgbClr val="0070C0">
                  <a:alpha val="7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accent1">
                    <a:lumMod val="75000"/>
                  </a:schemeClr>
                </a:solidFill>
                <a:effectLst/>
                <a:uLnTx/>
                <a:uFillTx/>
                <a:latin typeface="微软雅黑" panose="020B0503020204020204" charset="-122"/>
                <a:ea typeface="微软雅黑" panose="020B0503020204020204" charset="-122"/>
              </a:endParaRPr>
            </a:p>
          </p:txBody>
        </p:sp>
        <p:sp>
          <p:nvSpPr>
            <p:cNvPr id="44" name="文本框 43"/>
            <p:cNvSpPr txBox="1"/>
            <p:nvPr/>
          </p:nvSpPr>
          <p:spPr>
            <a:xfrm>
              <a:off x="2837424" y="2662237"/>
              <a:ext cx="241980" cy="1576387"/>
            </a:xfrm>
            <a:prstGeom prst="rect">
              <a:avLst/>
            </a:prstGeom>
            <a:solidFill>
              <a:srgbClr val="0070C0"/>
            </a:solidFill>
          </p:spPr>
          <p:txBody>
            <a:bodyPr vert="eaVert" wrap="square" lIns="36000" tIns="72000" rIns="36000" bIns="7200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100" b="1" i="0" u="none" strike="noStrike" kern="1200" cap="none" spc="400" normalizeH="0" baseline="0" noProof="0" dirty="0">
                  <a:ln>
                    <a:noFill/>
                  </a:ln>
                  <a:solidFill>
                    <a:prstClr val="white"/>
                  </a:solidFill>
                  <a:effectLst/>
                  <a:uLnTx/>
                  <a:uFillTx/>
                  <a:latin typeface="微软雅黑" panose="020B0503020204020204" charset="-122"/>
                  <a:ea typeface="微软雅黑" panose="020B0503020204020204" charset="-122"/>
                  <a:sym typeface="思源黑体 CN ExtraLight" panose="020B0200000000000000" pitchFamily="34" charset="-122"/>
                </a:rPr>
                <a:t>CONTENTS</a:t>
              </a:r>
              <a:endParaRPr kumimoji="0" lang="zh-CN" altLang="en-US" sz="1100" b="1" i="0" u="none" strike="noStrike" kern="1200" cap="none" spc="400" normalizeH="0" baseline="0" noProof="0" dirty="0">
                <a:ln>
                  <a:noFill/>
                </a:ln>
                <a:solidFill>
                  <a:prstClr val="white"/>
                </a:solidFill>
                <a:effectLst/>
                <a:uLnTx/>
                <a:uFillTx/>
                <a:latin typeface="微软雅黑" panose="020B0503020204020204" charset="-122"/>
                <a:ea typeface="微软雅黑" panose="020B0503020204020204" charset="-122"/>
                <a:sym typeface="思源黑体 CN ExtraLight" panose="020B0200000000000000" pitchFamily="34" charset="-122"/>
              </a:endParaRPr>
            </a:p>
          </p:txBody>
        </p:sp>
        <p:sp>
          <p:nvSpPr>
            <p:cNvPr id="45" name="文本框 44"/>
            <p:cNvSpPr txBox="1"/>
            <p:nvPr/>
          </p:nvSpPr>
          <p:spPr>
            <a:xfrm>
              <a:off x="1752600" y="2563317"/>
              <a:ext cx="1107996" cy="1731366"/>
            </a:xfrm>
            <a:prstGeom prst="rect">
              <a:avLst/>
            </a:prstGeom>
            <a:noFill/>
          </p:spPr>
          <p:txBody>
            <a:bodyPr vert="eaVert"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dirty="0">
                  <a:ln>
                    <a:noFill/>
                  </a:ln>
                  <a:solidFill>
                    <a:srgbClr val="0070C0"/>
                  </a:solidFill>
                  <a:effectLst/>
                  <a:uLnTx/>
                  <a:uFillTx/>
                  <a:latin typeface="微软雅黑" panose="020B0503020204020204" charset="-122"/>
                  <a:ea typeface="微软雅黑" panose="020B0503020204020204" charset="-122"/>
                  <a:sym typeface="思源黑体 CN Medium" panose="020B0600000000000000" pitchFamily="34" charset="-122"/>
                </a:rPr>
                <a:t>目录</a:t>
              </a:r>
              <a:endParaRPr kumimoji="0" lang="zh-CN" altLang="en-US" sz="6000" b="1" i="0" u="none" strike="noStrike" kern="1200" cap="none" spc="0" normalizeH="0" baseline="0" noProof="0" dirty="0">
                <a:ln>
                  <a:noFill/>
                </a:ln>
                <a:solidFill>
                  <a:srgbClr val="0070C0"/>
                </a:solidFill>
                <a:effectLst/>
                <a:uLnTx/>
                <a:uFillTx/>
                <a:latin typeface="微软雅黑" panose="020B0503020204020204" charset="-122"/>
                <a:ea typeface="微软雅黑" panose="020B0503020204020204" charset="-122"/>
                <a:sym typeface="思源黑体 CN Medium" panose="020B0600000000000000" pitchFamily="34" charset="-122"/>
              </a:endParaRPr>
            </a:p>
          </p:txBody>
        </p:sp>
      </p:grpSp>
      <p:grpSp>
        <p:nvGrpSpPr>
          <p:cNvPr id="8" name="组合 7"/>
          <p:cNvGrpSpPr/>
          <p:nvPr/>
        </p:nvGrpSpPr>
        <p:grpSpPr>
          <a:xfrm>
            <a:off x="3919649" y="3181350"/>
            <a:ext cx="6715125" cy="864235"/>
            <a:chOff x="4463831" y="4623435"/>
            <a:chExt cx="6715125" cy="864235"/>
          </a:xfrm>
        </p:grpSpPr>
        <p:grpSp>
          <p:nvGrpSpPr>
            <p:cNvPr id="9" name="组合 8"/>
            <p:cNvGrpSpPr/>
            <p:nvPr/>
          </p:nvGrpSpPr>
          <p:grpSpPr>
            <a:xfrm>
              <a:off x="4463831" y="4623435"/>
              <a:ext cx="6715125" cy="864235"/>
              <a:chOff x="4369485" y="4140059"/>
              <a:chExt cx="6715125" cy="864235"/>
            </a:xfrm>
          </p:grpSpPr>
          <p:sp>
            <p:nvSpPr>
              <p:cNvPr id="23" name="矩形 22"/>
              <p:cNvSpPr/>
              <p:nvPr/>
            </p:nvSpPr>
            <p:spPr>
              <a:xfrm>
                <a:off x="4369485" y="4140059"/>
                <a:ext cx="1873885" cy="864000"/>
              </a:xfrm>
              <a:prstGeom prst="rect">
                <a:avLst/>
              </a:prstGeom>
              <a:solidFill>
                <a:schemeClr val="bg1">
                  <a:lumMod val="6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spc="300" dirty="0">
                  <a:latin typeface="微软雅黑" panose="020B0503020204020204" charset="-122"/>
                </a:endParaRPr>
              </a:p>
            </p:txBody>
          </p:sp>
          <p:sp>
            <p:nvSpPr>
              <p:cNvPr id="24" name="矩形 23"/>
              <p:cNvSpPr/>
              <p:nvPr/>
            </p:nvSpPr>
            <p:spPr>
              <a:xfrm>
                <a:off x="4369485" y="4140059"/>
                <a:ext cx="6715125" cy="864235"/>
              </a:xfrm>
              <a:prstGeom prst="rect">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schemeClr val="accent1">
                      <a:lumMod val="75000"/>
                    </a:schemeClr>
                  </a:solidFill>
                  <a:effectLst/>
                  <a:uLnTx/>
                  <a:uFillTx/>
                  <a:latin typeface="微软雅黑" panose="020B0503020204020204" charset="-122"/>
                  <a:ea typeface="微软雅黑" panose="020B0503020204020204" charset="-122"/>
                </a:endParaRPr>
              </a:p>
            </p:txBody>
          </p:sp>
        </p:grpSp>
        <p:sp>
          <p:nvSpPr>
            <p:cNvPr id="37" name="文本框 36"/>
            <p:cNvSpPr txBox="1"/>
            <p:nvPr/>
          </p:nvSpPr>
          <p:spPr>
            <a:xfrm>
              <a:off x="4712287" y="4825248"/>
              <a:ext cx="1555515" cy="460375"/>
            </a:xfrm>
            <a:prstGeom prst="rect">
              <a:avLst/>
            </a:prstGeom>
            <a:solidFill>
              <a:schemeClr val="bg1">
                <a:lumMod val="65000"/>
              </a:schemeClr>
            </a:solidFill>
            <a:ln>
              <a:solidFill>
                <a:schemeClr val="bg1">
                  <a:lumMod val="65000"/>
                </a:schemeClr>
              </a:solidFill>
            </a:ln>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300" normalizeH="0" noProof="0" dirty="0">
                  <a:ln>
                    <a:noFill/>
                  </a:ln>
                  <a:solidFill>
                    <a:schemeClr val="bg1"/>
                  </a:solidFill>
                  <a:effectLst/>
                  <a:uLnTx/>
                  <a:uFillTx/>
                  <a:latin typeface="微软雅黑" panose="020B0503020204020204" charset="-122"/>
                  <a:ea typeface="微软雅黑" panose="020B0503020204020204" charset="-122"/>
                </a:rPr>
                <a:t>第二部分</a:t>
              </a:r>
              <a:endParaRPr kumimoji="0" lang="zh-CN" altLang="en-US" sz="2400" b="1" i="0" u="none" strike="noStrike" kern="1200" cap="none" spc="300" normalizeH="0" noProof="0" dirty="0">
                <a:ln>
                  <a:noFill/>
                </a:ln>
                <a:solidFill>
                  <a:schemeClr val="bg1"/>
                </a:solidFill>
                <a:effectLst/>
                <a:uLnTx/>
                <a:uFillTx/>
                <a:latin typeface="微软雅黑" panose="020B0503020204020204" charset="-122"/>
                <a:ea typeface="微软雅黑" panose="020B0503020204020204" charset="-122"/>
              </a:endParaRPr>
            </a:p>
          </p:txBody>
        </p:sp>
        <p:sp>
          <p:nvSpPr>
            <p:cNvPr id="38" name="文本框 37"/>
            <p:cNvSpPr txBox="1"/>
            <p:nvPr/>
          </p:nvSpPr>
          <p:spPr>
            <a:xfrm>
              <a:off x="6337716" y="4825365"/>
              <a:ext cx="4841240" cy="460375"/>
            </a:xfrm>
            <a:prstGeom prst="rect">
              <a:avLst/>
            </a:prstGeom>
            <a:noFill/>
            <a:ln>
              <a:noFill/>
            </a:ln>
          </p:spPr>
          <p:txBody>
            <a:bodyPr wrap="square" rtlCol="0" anchor="ctr">
              <a:spAutoFit/>
            </a:bodyPr>
            <a:lstStyle/>
            <a:p>
              <a:pPr marL="0" marR="0" lvl="0" algn="l" defTabSz="914400" rtl="0" eaLnBrk="1" fontAlgn="auto" latinLnBrk="0" hangingPunct="1">
                <a:lnSpc>
                  <a:spcPct val="100000"/>
                </a:lnSpc>
                <a:spcBef>
                  <a:spcPts val="0"/>
                </a:spcBef>
                <a:spcAft>
                  <a:spcPts val="0"/>
                </a:spcAft>
                <a:buClrTx/>
                <a:buSzTx/>
                <a:buFontTx/>
                <a:buNone/>
                <a:defRPr/>
              </a:pPr>
              <a:r>
                <a:rPr lang="zh-CN" altLang="en-US" sz="2400" b="1" noProof="0" dirty="0">
                  <a:ln>
                    <a:noFill/>
                  </a:ln>
                  <a:solidFill>
                    <a:schemeClr val="bg1">
                      <a:lumMod val="65000"/>
                    </a:schemeClr>
                  </a:solidFill>
                  <a:effectLst/>
                  <a:uLnTx/>
                  <a:uFillTx/>
                  <a:latin typeface="微软雅黑" panose="020B0503020204020204" charset="-122"/>
                  <a:ea typeface="微软雅黑" panose="020B0503020204020204" charset="-122"/>
                  <a:sym typeface="+mn-ea"/>
                </a:rPr>
                <a:t>网公司事故隐患判定标准宣贯学习</a:t>
              </a:r>
              <a:endParaRPr kumimoji="0" lang="zh-CN" altLang="en-US" sz="2400" b="1" i="0" noProof="0" dirty="0">
                <a:ln>
                  <a:noFill/>
                </a:ln>
                <a:solidFill>
                  <a:schemeClr val="bg1">
                    <a:lumMod val="65000"/>
                  </a:schemeClr>
                </a:solidFill>
                <a:effectLst/>
                <a:uLnTx/>
                <a:uFillTx/>
                <a:latin typeface="微软雅黑" panose="020B0503020204020204" charset="-122"/>
                <a:ea typeface="微软雅黑" panose="020B0503020204020204" charset="-122"/>
                <a:sym typeface="+mn-ea"/>
              </a:endParaRPr>
            </a:p>
          </p:txBody>
        </p:sp>
      </p:grpSp>
      <p:sp>
        <p:nvSpPr>
          <p:cNvPr id="30" name="矩形 29"/>
          <p:cNvSpPr/>
          <p:nvPr/>
        </p:nvSpPr>
        <p:spPr>
          <a:xfrm>
            <a:off x="3919649" y="1854732"/>
            <a:ext cx="1873885" cy="864000"/>
          </a:xfrm>
          <a:prstGeom prst="rect">
            <a:avLst/>
          </a:prstGeom>
          <a:solidFill>
            <a:srgbClr val="0070C0"/>
          </a:solidFill>
          <a:ln>
            <a:solidFill>
              <a:srgbClr val="37609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spc="300" dirty="0">
              <a:latin typeface="微软雅黑" panose="020B0503020204020204" charset="-122"/>
            </a:endParaRPr>
          </a:p>
        </p:txBody>
      </p:sp>
      <p:sp>
        <p:nvSpPr>
          <p:cNvPr id="31" name="矩形 30"/>
          <p:cNvSpPr/>
          <p:nvPr/>
        </p:nvSpPr>
        <p:spPr>
          <a:xfrm>
            <a:off x="3919855" y="1854835"/>
            <a:ext cx="6715125" cy="864235"/>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schemeClr val="accent1">
                  <a:lumMod val="75000"/>
                </a:schemeClr>
              </a:solidFill>
              <a:effectLst/>
              <a:uLnTx/>
              <a:uFillTx/>
              <a:latin typeface="微软雅黑" panose="020B0503020204020204" charset="-122"/>
              <a:ea typeface="微软雅黑" panose="020B0503020204020204" charset="-122"/>
            </a:endParaRPr>
          </a:p>
        </p:txBody>
      </p:sp>
      <p:sp>
        <p:nvSpPr>
          <p:cNvPr id="32" name="文本框 31"/>
          <p:cNvSpPr txBox="1"/>
          <p:nvPr/>
        </p:nvSpPr>
        <p:spPr>
          <a:xfrm>
            <a:off x="4168105" y="2056545"/>
            <a:ext cx="1555515" cy="460375"/>
          </a:xfrm>
          <a:prstGeom prst="rect">
            <a:avLst/>
          </a:prstGeom>
          <a:solidFill>
            <a:srgbClr val="0070C0"/>
          </a:solidFill>
          <a:ln>
            <a:solidFill>
              <a:srgbClr val="0070C0"/>
            </a:solidFill>
          </a:ln>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300" normalizeH="0" noProof="0" dirty="0">
                <a:ln>
                  <a:noFill/>
                </a:ln>
                <a:solidFill>
                  <a:schemeClr val="bg1"/>
                </a:solidFill>
                <a:effectLst/>
                <a:uLnTx/>
                <a:uFillTx/>
                <a:latin typeface="微软雅黑" panose="020B0503020204020204" charset="-122"/>
                <a:ea typeface="微软雅黑" panose="020B0503020204020204" charset="-122"/>
              </a:rPr>
              <a:t>第一部分</a:t>
            </a:r>
            <a:endParaRPr kumimoji="0" lang="zh-CN" altLang="en-US" sz="2400" b="1" i="0" u="none" strike="noStrike" kern="1200" cap="none" spc="300" normalizeH="0" noProof="0" dirty="0">
              <a:ln>
                <a:noFill/>
              </a:ln>
              <a:solidFill>
                <a:schemeClr val="bg1"/>
              </a:solidFill>
              <a:effectLst/>
              <a:uLnTx/>
              <a:uFillTx/>
              <a:latin typeface="微软雅黑" panose="020B0503020204020204" charset="-122"/>
              <a:ea typeface="微软雅黑" panose="020B0503020204020204" charset="-122"/>
            </a:endParaRPr>
          </a:p>
        </p:txBody>
      </p:sp>
      <p:sp>
        <p:nvSpPr>
          <p:cNvPr id="33" name="文本框 32"/>
          <p:cNvSpPr txBox="1"/>
          <p:nvPr/>
        </p:nvSpPr>
        <p:spPr>
          <a:xfrm>
            <a:off x="5794375" y="2056765"/>
            <a:ext cx="4579620" cy="460375"/>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400" b="1" noProof="0" dirty="0">
                <a:ln>
                  <a:noFill/>
                </a:ln>
                <a:solidFill>
                  <a:srgbClr val="0070C0"/>
                </a:solidFill>
                <a:effectLst/>
                <a:uLnTx/>
                <a:uFillTx/>
                <a:latin typeface="微软雅黑" panose="020B0503020204020204" charset="-122"/>
                <a:ea typeface="微软雅黑" panose="020B0503020204020204" charset="-122"/>
                <a:sym typeface="+mn-ea"/>
              </a:rPr>
              <a:t>国家发改委第41号令宣贯学习</a:t>
            </a:r>
            <a:endParaRPr kumimoji="0" lang="zh-CN" altLang="en-US" sz="2400" b="1" i="0" noProof="0" dirty="0">
              <a:ln>
                <a:noFill/>
              </a:ln>
              <a:solidFill>
                <a:srgbClr val="0070C0"/>
              </a:solidFill>
              <a:effectLst/>
              <a:uLnTx/>
              <a:uFillTx/>
              <a:latin typeface="微软雅黑" panose="020B0503020204020204" charset="-122"/>
              <a:ea typeface="微软雅黑" panose="020B0503020204020204" charset="-122"/>
              <a:sym typeface="思源黑体 CN Medium" panose="020B0600000000000000" pitchFamily="34" charset="-122"/>
            </a:endParaRPr>
          </a:p>
        </p:txBody>
      </p:sp>
      <p:grpSp>
        <p:nvGrpSpPr>
          <p:cNvPr id="3" name="组合 2"/>
          <p:cNvGrpSpPr/>
          <p:nvPr/>
        </p:nvGrpSpPr>
        <p:grpSpPr>
          <a:xfrm>
            <a:off x="3936159" y="4469130"/>
            <a:ext cx="6715125" cy="864235"/>
            <a:chOff x="4463831" y="4623435"/>
            <a:chExt cx="6715125" cy="864235"/>
          </a:xfrm>
        </p:grpSpPr>
        <p:grpSp>
          <p:nvGrpSpPr>
            <p:cNvPr id="4" name="组合 3"/>
            <p:cNvGrpSpPr/>
            <p:nvPr/>
          </p:nvGrpSpPr>
          <p:grpSpPr>
            <a:xfrm>
              <a:off x="4463831" y="4623435"/>
              <a:ext cx="6715125" cy="864235"/>
              <a:chOff x="4369485" y="4140059"/>
              <a:chExt cx="6715125" cy="864235"/>
            </a:xfrm>
          </p:grpSpPr>
          <p:sp>
            <p:nvSpPr>
              <p:cNvPr id="5" name="矩形 4"/>
              <p:cNvSpPr/>
              <p:nvPr/>
            </p:nvSpPr>
            <p:spPr>
              <a:xfrm>
                <a:off x="4369485" y="4140059"/>
                <a:ext cx="1873885" cy="864000"/>
              </a:xfrm>
              <a:prstGeom prst="rect">
                <a:avLst/>
              </a:prstGeom>
              <a:solidFill>
                <a:schemeClr val="bg1">
                  <a:lumMod val="6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spc="300" dirty="0">
                  <a:latin typeface="微软雅黑" panose="020B0503020204020204" charset="-122"/>
                </a:endParaRPr>
              </a:p>
            </p:txBody>
          </p:sp>
          <p:sp>
            <p:nvSpPr>
              <p:cNvPr id="7" name="矩形 6"/>
              <p:cNvSpPr/>
              <p:nvPr/>
            </p:nvSpPr>
            <p:spPr>
              <a:xfrm>
                <a:off x="4369485" y="4140059"/>
                <a:ext cx="6715125" cy="864235"/>
              </a:xfrm>
              <a:prstGeom prst="rect">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schemeClr val="accent1">
                      <a:lumMod val="75000"/>
                    </a:schemeClr>
                  </a:solidFill>
                  <a:effectLst/>
                  <a:uLnTx/>
                  <a:uFillTx/>
                  <a:latin typeface="微软雅黑" panose="020B0503020204020204" charset="-122"/>
                  <a:ea typeface="微软雅黑" panose="020B0503020204020204" charset="-122"/>
                </a:endParaRPr>
              </a:p>
            </p:txBody>
          </p:sp>
        </p:grpSp>
        <p:sp>
          <p:nvSpPr>
            <p:cNvPr id="10" name="文本框 9"/>
            <p:cNvSpPr txBox="1"/>
            <p:nvPr/>
          </p:nvSpPr>
          <p:spPr>
            <a:xfrm>
              <a:off x="4712287" y="4825248"/>
              <a:ext cx="1555515" cy="460375"/>
            </a:xfrm>
            <a:prstGeom prst="rect">
              <a:avLst/>
            </a:prstGeom>
            <a:solidFill>
              <a:schemeClr val="bg1">
                <a:lumMod val="65000"/>
              </a:schemeClr>
            </a:solidFill>
            <a:ln>
              <a:solidFill>
                <a:schemeClr val="bg1">
                  <a:lumMod val="65000"/>
                </a:schemeClr>
              </a:solidFill>
            </a:ln>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300" normalizeH="0" noProof="0" dirty="0">
                  <a:ln>
                    <a:noFill/>
                  </a:ln>
                  <a:solidFill>
                    <a:schemeClr val="bg1"/>
                  </a:solidFill>
                  <a:effectLst/>
                  <a:uLnTx/>
                  <a:uFillTx/>
                  <a:latin typeface="微软雅黑" panose="020B0503020204020204" charset="-122"/>
                  <a:ea typeface="微软雅黑" panose="020B0503020204020204" charset="-122"/>
                </a:rPr>
                <a:t>第</a:t>
              </a:r>
              <a:r>
                <a:rPr kumimoji="0" lang="zh-CN" altLang="en-US" sz="2400" b="1" i="0" u="none" strike="noStrike" kern="1200" cap="none" spc="300" normalizeH="0" noProof="0" dirty="0">
                  <a:ln>
                    <a:noFill/>
                  </a:ln>
                  <a:solidFill>
                    <a:schemeClr val="bg1"/>
                  </a:solidFill>
                  <a:effectLst/>
                  <a:uLnTx/>
                  <a:uFillTx/>
                  <a:latin typeface="微软雅黑" panose="020B0503020204020204" charset="-122"/>
                  <a:ea typeface="微软雅黑" panose="020B0503020204020204" charset="-122"/>
                </a:rPr>
                <a:t>四部分</a:t>
              </a:r>
              <a:endParaRPr kumimoji="0" lang="zh-CN" altLang="en-US" sz="2400" b="1" i="0" u="none" strike="noStrike" kern="1200" cap="none" spc="300" normalizeH="0" noProof="0" dirty="0">
                <a:ln>
                  <a:noFill/>
                </a:ln>
                <a:solidFill>
                  <a:schemeClr val="bg1"/>
                </a:solidFill>
                <a:effectLst/>
                <a:uLnTx/>
                <a:uFillTx/>
                <a:latin typeface="微软雅黑" panose="020B0503020204020204" charset="-122"/>
                <a:ea typeface="微软雅黑" panose="020B0503020204020204" charset="-122"/>
              </a:endParaRPr>
            </a:p>
          </p:txBody>
        </p:sp>
        <p:sp>
          <p:nvSpPr>
            <p:cNvPr id="11" name="文本框 10"/>
            <p:cNvSpPr txBox="1"/>
            <p:nvPr/>
          </p:nvSpPr>
          <p:spPr>
            <a:xfrm>
              <a:off x="6337716" y="4825365"/>
              <a:ext cx="3420110" cy="460375"/>
            </a:xfrm>
            <a:prstGeom prst="rect">
              <a:avLst/>
            </a:prstGeom>
            <a:noFill/>
            <a:ln>
              <a:noFill/>
            </a:ln>
          </p:spPr>
          <p:txBody>
            <a:bodyPr wrap="square" rtlCol="0" anchor="ctr">
              <a:spAutoFit/>
            </a:bodyPr>
            <a:lstStyle/>
            <a:p>
              <a:pPr marL="0" marR="0" lvl="0" algn="l" defTabSz="914400" rtl="0" eaLnBrk="1" fontAlgn="auto" latinLnBrk="0" hangingPunct="1">
                <a:lnSpc>
                  <a:spcPct val="100000"/>
                </a:lnSpc>
                <a:spcBef>
                  <a:spcPts val="0"/>
                </a:spcBef>
                <a:spcAft>
                  <a:spcPts val="0"/>
                </a:spcAft>
                <a:buClrTx/>
                <a:buSzTx/>
                <a:buFontTx/>
                <a:buNone/>
                <a:defRPr/>
              </a:pPr>
              <a:r>
                <a:rPr lang="zh-CN" altLang="en-US" sz="2400" b="1" noProof="0" dirty="0">
                  <a:ln>
                    <a:noFill/>
                  </a:ln>
                  <a:solidFill>
                    <a:schemeClr val="bg1">
                      <a:lumMod val="65000"/>
                    </a:schemeClr>
                  </a:solidFill>
                  <a:effectLst/>
                  <a:uLnTx/>
                  <a:uFillTx/>
                  <a:latin typeface="微软雅黑" panose="020B0503020204020204" charset="-122"/>
                  <a:ea typeface="微软雅黑" panose="020B0503020204020204" charset="-122"/>
                  <a:sym typeface="+mn-ea"/>
                </a:rPr>
                <a:t>有关工作要求</a:t>
              </a:r>
              <a:endParaRPr kumimoji="0" lang="zh-CN" altLang="en-US" sz="2400" b="1" i="0" noProof="0" dirty="0">
                <a:ln>
                  <a:noFill/>
                </a:ln>
                <a:solidFill>
                  <a:schemeClr val="bg1">
                    <a:lumMod val="65000"/>
                  </a:schemeClr>
                </a:solidFill>
                <a:effectLst/>
                <a:uLnTx/>
                <a:uFillTx/>
                <a:latin typeface="微软雅黑" panose="020B0503020204020204" charset="-122"/>
                <a:ea typeface="微软雅黑" panose="020B0503020204020204" charset="-122"/>
                <a:sym typeface="+mn-ea"/>
              </a:endParaRPr>
            </a:p>
          </p:txBody>
        </p:sp>
      </p:gr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C:\Users\Administrator\Desktop\B15会议文件封面-11.png"/>
          <p:cNvPicPr>
            <a:picLocks noChangeAspect="1" noChangeArrowheads="1"/>
          </p:cNvPicPr>
          <p:nvPr/>
        </p:nvPicPr>
        <p:blipFill>
          <a:blip r:embed="rId1" cstate="print">
            <a:extLst>
              <a:ext uri="{28A0092B-C50C-407E-A947-70E740481C1C}">
                <a14:useLocalDpi xmlns:a14="http://schemas.microsoft.com/office/drawing/2010/main" val="0"/>
              </a:ext>
            </a:extLst>
          </a:blip>
          <a:srcRect l="2368" r="22060" b="77960"/>
          <a:stretch>
            <a:fillRect/>
          </a:stretch>
        </p:blipFill>
        <p:spPr bwMode="auto">
          <a:xfrm>
            <a:off x="8904312" y="87923"/>
            <a:ext cx="3096344" cy="676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8"/>
          <p:cNvSpPr txBox="1"/>
          <p:nvPr/>
        </p:nvSpPr>
        <p:spPr>
          <a:xfrm>
            <a:off x="168275" y="347345"/>
            <a:ext cx="6793865" cy="491490"/>
          </a:xfrm>
          <a:prstGeom prst="rect">
            <a:avLst/>
          </a:prstGeom>
          <a:noFill/>
        </p:spPr>
        <p:txBody>
          <a:bodyPr wrap="square" rtlCol="0">
            <a:spAutoFit/>
          </a:bodyPr>
          <a:p>
            <a:pPr algn="l">
              <a:buClrTx/>
              <a:buSzTx/>
              <a:buFont typeface="Wingdings" panose="05000000000000000000" charset="0"/>
              <a:buNone/>
            </a:pPr>
            <a:r>
              <a:rPr lang="zh-CN" sz="2600" b="1">
                <a:latin typeface="微软雅黑" panose="020B0503020204020204" charset="-122"/>
                <a:ea typeface="微软雅黑" panose="020B0503020204020204" charset="-122"/>
                <a:sym typeface="+mn-ea"/>
              </a:rPr>
              <a:t>一、</a:t>
            </a:r>
            <a:r>
              <a:rPr lang="zh-CN" sz="2600" b="1">
                <a:latin typeface="微软雅黑" panose="020B0503020204020204" charset="-122"/>
                <a:ea typeface="微软雅黑" panose="020B0503020204020204" charset="-122"/>
                <a:sym typeface="+mn-ea"/>
              </a:rPr>
              <a:t>国家发改委第41号令宣贯</a:t>
            </a:r>
            <a:endParaRPr sz="2600" b="1">
              <a:solidFill>
                <a:schemeClr val="tx1"/>
              </a:solidFill>
              <a:latin typeface="微软雅黑" panose="020B0503020204020204" charset="-122"/>
              <a:ea typeface="微软雅黑" panose="020B0503020204020204" charset="-122"/>
            </a:endParaRPr>
          </a:p>
        </p:txBody>
      </p:sp>
      <p:sp>
        <p:nvSpPr>
          <p:cNvPr id="5" name="文本框 4"/>
          <p:cNvSpPr txBox="1"/>
          <p:nvPr/>
        </p:nvSpPr>
        <p:spPr>
          <a:xfrm>
            <a:off x="720725" y="1104265"/>
            <a:ext cx="10681335" cy="1873250"/>
          </a:xfrm>
          <a:prstGeom prst="rect">
            <a:avLst/>
          </a:prstGeom>
          <a:solidFill>
            <a:schemeClr val="bg1"/>
          </a:solidFill>
          <a:ln w="15875" cmpd="sng">
            <a:noFill/>
            <a:prstDash val="sysDash"/>
          </a:ln>
        </p:spPr>
        <p:txBody>
          <a:bodyPr wrap="square" rtlCol="0">
            <a:noAutofit/>
          </a:bodyPr>
          <a:p>
            <a:pPr indent="457200" algn="just" fontAlgn="auto">
              <a:lnSpc>
                <a:spcPts val="2420"/>
              </a:lnSpc>
            </a:pPr>
            <a:r>
              <a:rPr lang="en-US" altLang="zh-CN" sz="1600" b="1" dirty="0">
                <a:latin typeface="微软雅黑" panose="020B0503020204020204" charset="-122"/>
                <a:ea typeface="微软雅黑" panose="020B0503020204020204" charset="-122"/>
                <a:sym typeface="+mn-ea"/>
              </a:rPr>
              <a:t>4</a:t>
            </a:r>
            <a:r>
              <a:rPr lang="zh-CN" altLang="en-US" sz="1600" b="1" dirty="0">
                <a:latin typeface="微软雅黑" panose="020B0503020204020204" charset="-122"/>
                <a:ea typeface="微软雅黑" panose="020B0503020204020204" charset="-122"/>
                <a:sym typeface="+mn-ea"/>
              </a:rPr>
              <a:t>月</a:t>
            </a:r>
            <a:r>
              <a:rPr lang="en-US" altLang="zh-CN" sz="1600" b="1" dirty="0">
                <a:latin typeface="微软雅黑" panose="020B0503020204020204" charset="-122"/>
                <a:ea typeface="微软雅黑" panose="020B0503020204020204" charset="-122"/>
                <a:sym typeface="+mn-ea"/>
              </a:rPr>
              <a:t>9</a:t>
            </a:r>
            <a:r>
              <a:rPr lang="zh-CN" altLang="en-US" sz="1600" b="1" dirty="0">
                <a:latin typeface="微软雅黑" panose="020B0503020204020204" charset="-122"/>
                <a:ea typeface="微软雅黑" panose="020B0503020204020204" charset="-122"/>
                <a:sym typeface="+mn-ea"/>
              </a:rPr>
              <a:t>日，</a:t>
            </a:r>
            <a:r>
              <a:rPr lang="zh-CN" altLang="en-US" sz="1600" b="1" dirty="0">
                <a:latin typeface="微软雅黑" panose="020B0503020204020204" charset="-122"/>
                <a:ea typeface="微软雅黑" panose="020B0503020204020204" charset="-122"/>
              </a:rPr>
              <a:t>国家发改委发布</a:t>
            </a:r>
            <a:r>
              <a:rPr lang="en-US" altLang="zh-CN" sz="1600" b="1" dirty="0">
                <a:latin typeface="微软雅黑" panose="020B0503020204020204" charset="-122"/>
                <a:ea typeface="微软雅黑" panose="020B0503020204020204" charset="-122"/>
              </a:rPr>
              <a:t>41</a:t>
            </a:r>
            <a:r>
              <a:rPr lang="zh-CN" altLang="en-US" sz="1600" b="1" dirty="0">
                <a:latin typeface="微软雅黑" panose="020B0503020204020204" charset="-122"/>
                <a:ea typeface="微软雅黑" panose="020B0503020204020204" charset="-122"/>
              </a:rPr>
              <a:t>号令</a:t>
            </a:r>
            <a:r>
              <a:rPr lang="en-US" altLang="zh-CN" sz="1600" dirty="0">
                <a:latin typeface="微软雅黑" panose="020B0503020204020204" charset="-122"/>
                <a:ea typeface="微软雅黑" panose="020B0503020204020204" charset="-122"/>
              </a:rPr>
              <a:t>《</a:t>
            </a:r>
            <a:r>
              <a:rPr lang="zh-CN" altLang="en-US" sz="1600" dirty="0">
                <a:latin typeface="微软雅黑" panose="020B0503020204020204" charset="-122"/>
                <a:ea typeface="微软雅黑" panose="020B0503020204020204" charset="-122"/>
              </a:rPr>
              <a:t>电力重大事故隐患判定标准及治理监督管理规定</a:t>
            </a:r>
            <a:r>
              <a:rPr lang="en-US" altLang="zh-CN" sz="1600" dirty="0">
                <a:latin typeface="微软雅黑" panose="020B0503020204020204" charset="-122"/>
                <a:ea typeface="微软雅黑" panose="020B0503020204020204" charset="-122"/>
              </a:rPr>
              <a:t>》</a:t>
            </a:r>
            <a:r>
              <a:rPr lang="zh-CN" altLang="en-US" sz="1600" dirty="0">
                <a:latin typeface="楷体" panose="02010609060101010101" charset="-122"/>
                <a:ea typeface="楷体" panose="02010609060101010101" charset="-122"/>
                <a:cs typeface="楷体" panose="02010609060101010101" charset="-122"/>
              </a:rPr>
              <a:t>（</a:t>
            </a:r>
            <a:r>
              <a:rPr lang="en-US" altLang="zh-CN" sz="1600" dirty="0">
                <a:latin typeface="楷体" panose="02010609060101010101" charset="-122"/>
                <a:ea typeface="楷体" panose="02010609060101010101" charset="-122"/>
                <a:cs typeface="楷体" panose="02010609060101010101" charset="-122"/>
              </a:rPr>
              <a:t>2026</a:t>
            </a:r>
            <a:r>
              <a:rPr lang="zh-CN" altLang="en-US" sz="1600" dirty="0">
                <a:latin typeface="楷体" panose="02010609060101010101" charset="-122"/>
                <a:ea typeface="楷体" panose="02010609060101010101" charset="-122"/>
                <a:cs typeface="楷体" panose="02010609060101010101" charset="-122"/>
              </a:rPr>
              <a:t>年</a:t>
            </a:r>
            <a:r>
              <a:rPr lang="en-US" altLang="zh-CN" sz="1600" dirty="0">
                <a:latin typeface="楷体" panose="02010609060101010101" charset="-122"/>
                <a:ea typeface="楷体" panose="02010609060101010101" charset="-122"/>
                <a:cs typeface="楷体" panose="02010609060101010101" charset="-122"/>
              </a:rPr>
              <a:t>7</a:t>
            </a:r>
            <a:r>
              <a:rPr lang="zh-CN" altLang="en-US" sz="1600" dirty="0">
                <a:latin typeface="楷体" panose="02010609060101010101" charset="-122"/>
                <a:ea typeface="楷体" panose="02010609060101010101" charset="-122"/>
                <a:cs typeface="楷体" panose="02010609060101010101" charset="-122"/>
              </a:rPr>
              <a:t>月</a:t>
            </a:r>
            <a:r>
              <a:rPr lang="en-US" altLang="zh-CN" sz="1600" dirty="0">
                <a:latin typeface="楷体" panose="02010609060101010101" charset="-122"/>
                <a:ea typeface="楷体" panose="02010609060101010101" charset="-122"/>
                <a:cs typeface="楷体" panose="02010609060101010101" charset="-122"/>
              </a:rPr>
              <a:t>1</a:t>
            </a:r>
            <a:r>
              <a:rPr lang="zh-CN" altLang="en-US" sz="1600" dirty="0">
                <a:latin typeface="楷体" panose="02010609060101010101" charset="-122"/>
                <a:ea typeface="楷体" panose="02010609060101010101" charset="-122"/>
                <a:cs typeface="楷体" panose="02010609060101010101" charset="-122"/>
              </a:rPr>
              <a:t>日施行）</a:t>
            </a:r>
            <a:r>
              <a:rPr lang="zh-CN" altLang="en-US" sz="1600" dirty="0">
                <a:latin typeface="微软雅黑" panose="020B0503020204020204" charset="-122"/>
                <a:ea typeface="微软雅黑" panose="020B0503020204020204" charset="-122"/>
              </a:rPr>
              <a:t>：新规共</a:t>
            </a:r>
            <a:r>
              <a:rPr lang="zh-CN" altLang="en-US" sz="1600" b="1" dirty="0">
                <a:solidFill>
                  <a:srgbClr val="0070C0"/>
                </a:solidFill>
                <a:latin typeface="微软雅黑" panose="020B0503020204020204" charset="-122"/>
                <a:ea typeface="微软雅黑" panose="020B0503020204020204" charset="-122"/>
              </a:rPr>
              <a:t>6章38条</a:t>
            </a:r>
            <a:r>
              <a:rPr lang="zh-CN" altLang="en-US" sz="1600" dirty="0">
                <a:latin typeface="微软雅黑" panose="020B0503020204020204" charset="-122"/>
                <a:ea typeface="微软雅黑" panose="020B0503020204020204" charset="-122"/>
              </a:rPr>
              <a:t>，整合原有</a:t>
            </a:r>
            <a:r>
              <a:rPr lang="zh-CN" altLang="en-US" sz="1600" dirty="0">
                <a:latin typeface="微软雅黑" panose="020B0503020204020204" charset="-122"/>
                <a:ea typeface="微软雅黑" panose="020B0503020204020204" charset="-122"/>
                <a:sym typeface="+mn-ea"/>
              </a:rPr>
              <a:t>隐患判定标准</a:t>
            </a:r>
            <a:r>
              <a:rPr lang="zh-CN" altLang="en-US" sz="1600" dirty="0">
                <a:latin typeface="微软雅黑" panose="020B0503020204020204" charset="-122"/>
                <a:ea typeface="微软雅黑" panose="020B0503020204020204" charset="-122"/>
              </a:rPr>
              <a:t>及</a:t>
            </a:r>
            <a:r>
              <a:rPr lang="zh-CN" altLang="en-US" sz="1600" dirty="0">
                <a:latin typeface="微软雅黑" panose="020B0503020204020204" charset="-122"/>
                <a:ea typeface="微软雅黑" panose="020B0503020204020204" charset="-122"/>
                <a:sym typeface="+mn-ea"/>
              </a:rPr>
              <a:t>管理制度</a:t>
            </a:r>
            <a:endParaRPr lang="zh-CN" altLang="en-US" sz="1600" dirty="0">
              <a:latin typeface="微软雅黑" panose="020B0503020204020204" charset="-122"/>
              <a:ea typeface="微软雅黑" panose="020B0503020204020204" charset="-122"/>
              <a:sym typeface="+mn-ea"/>
            </a:endParaRPr>
          </a:p>
          <a:p>
            <a:pPr marL="356235" indent="-285750" algn="just" fontAlgn="auto">
              <a:lnSpc>
                <a:spcPts val="2420"/>
              </a:lnSpc>
              <a:buFont typeface="Wingdings" panose="05000000000000000000" charset="0"/>
              <a:buChar char="Ø"/>
            </a:pPr>
            <a:r>
              <a:rPr lang="zh-CN" altLang="en-US" sz="1600" b="1" dirty="0">
                <a:latin typeface="微软雅黑" panose="020B0503020204020204" charset="-122"/>
                <a:ea typeface="微软雅黑" panose="020B0503020204020204" charset="-122"/>
              </a:rPr>
              <a:t>法律效力更强，</a:t>
            </a:r>
            <a:r>
              <a:rPr lang="zh-CN" altLang="en-US" sz="1600" b="1" dirty="0">
                <a:solidFill>
                  <a:srgbClr val="0070C0"/>
                </a:solidFill>
                <a:latin typeface="微软雅黑" panose="020B0503020204020204" charset="-122"/>
                <a:ea typeface="微软雅黑" panose="020B0503020204020204" charset="-122"/>
              </a:rPr>
              <a:t>由行业规范升格为国家部门规章</a:t>
            </a:r>
            <a:endParaRPr lang="zh-CN" altLang="en-US" sz="1600" b="1" dirty="0">
              <a:solidFill>
                <a:srgbClr val="0070C0"/>
              </a:solidFill>
              <a:latin typeface="微软雅黑" panose="020B0503020204020204" charset="-122"/>
              <a:ea typeface="微软雅黑" panose="020B0503020204020204" charset="-122"/>
            </a:endParaRPr>
          </a:p>
          <a:p>
            <a:pPr marL="356235" indent="-285750" algn="just" fontAlgn="auto">
              <a:lnSpc>
                <a:spcPts val="2420"/>
              </a:lnSpc>
              <a:buFont typeface="Wingdings" panose="05000000000000000000" charset="0"/>
              <a:buChar char="Ø"/>
            </a:pPr>
            <a:r>
              <a:rPr lang="zh-CN" altLang="en-US" sz="1600" b="1" dirty="0">
                <a:latin typeface="微软雅黑" panose="020B0503020204020204" charset="-122"/>
                <a:ea typeface="微软雅黑" panose="020B0503020204020204" charset="-122"/>
              </a:rPr>
              <a:t>覆盖范围更广，</a:t>
            </a:r>
            <a:r>
              <a:rPr lang="zh-CN" altLang="en-US" sz="1600" dirty="0">
                <a:latin typeface="微软雅黑" panose="020B0503020204020204" charset="-122"/>
                <a:ea typeface="微软雅黑" panose="020B0503020204020204" charset="-122"/>
              </a:rPr>
              <a:t>从发电、电网等</a:t>
            </a:r>
            <a:r>
              <a:rPr lang="en-US" altLang="zh-CN" sz="1600" b="1" dirty="0">
                <a:latin typeface="微软雅黑" panose="020B0503020204020204" charset="-122"/>
                <a:ea typeface="微软雅黑" panose="020B0503020204020204" charset="-122"/>
              </a:rPr>
              <a:t>“</a:t>
            </a:r>
            <a:r>
              <a:rPr lang="zh-CN" altLang="en-US" sz="1600" b="1" dirty="0">
                <a:latin typeface="微软雅黑" panose="020B0503020204020204" charset="-122"/>
                <a:ea typeface="微软雅黑" panose="020B0503020204020204" charset="-122"/>
              </a:rPr>
              <a:t>传统电力</a:t>
            </a:r>
            <a:r>
              <a:rPr lang="en-US" altLang="zh-CN" sz="1600" b="1" dirty="0">
                <a:latin typeface="微软雅黑" panose="020B0503020204020204" charset="-122"/>
                <a:ea typeface="微软雅黑" panose="020B0503020204020204" charset="-122"/>
              </a:rPr>
              <a:t>”</a:t>
            </a:r>
            <a:r>
              <a:rPr lang="zh-CN" altLang="en-US" sz="1600" dirty="0">
                <a:latin typeface="微软雅黑" panose="020B0503020204020204" charset="-122"/>
                <a:ea typeface="微软雅黑" panose="020B0503020204020204" charset="-122"/>
              </a:rPr>
              <a:t>全面扩展至储能、光伏等</a:t>
            </a:r>
            <a:r>
              <a:rPr lang="en-US" altLang="zh-CN" sz="1600" b="1" dirty="0">
                <a:latin typeface="微软雅黑" panose="020B0503020204020204" charset="-122"/>
                <a:ea typeface="微软雅黑" panose="020B0503020204020204" charset="-122"/>
              </a:rPr>
              <a:t>“</a:t>
            </a:r>
            <a:r>
              <a:rPr lang="zh-CN" altLang="en-US" sz="1600" b="1" dirty="0">
                <a:latin typeface="微软雅黑" panose="020B0503020204020204" charset="-122"/>
                <a:ea typeface="微软雅黑" panose="020B0503020204020204" charset="-122"/>
              </a:rPr>
              <a:t>新型电力系统</a:t>
            </a:r>
            <a:r>
              <a:rPr lang="en-US" altLang="zh-CN" sz="1600" b="1" dirty="0">
                <a:latin typeface="微软雅黑" panose="020B0503020204020204" charset="-122"/>
                <a:ea typeface="微软雅黑" panose="020B0503020204020204" charset="-122"/>
              </a:rPr>
              <a:t>”</a:t>
            </a:r>
            <a:r>
              <a:rPr lang="zh-CN" altLang="en-US" sz="1600" dirty="0">
                <a:latin typeface="微软雅黑" panose="020B0503020204020204" charset="-122"/>
                <a:ea typeface="微软雅黑" panose="020B0503020204020204" charset="-122"/>
              </a:rPr>
              <a:t>，实现</a:t>
            </a:r>
            <a:r>
              <a:rPr lang="zh-CN" altLang="en-US" sz="1600" b="1" dirty="0">
                <a:solidFill>
                  <a:srgbClr val="0070C0"/>
                </a:solidFill>
                <a:latin typeface="微软雅黑" panose="020B0503020204020204" charset="-122"/>
                <a:ea typeface="微软雅黑" panose="020B0503020204020204" charset="-122"/>
              </a:rPr>
              <a:t>全产业链覆盖</a:t>
            </a:r>
            <a:endParaRPr lang="zh-CN" altLang="en-US" sz="1600" dirty="0">
              <a:latin typeface="微软雅黑" panose="020B0503020204020204" charset="-122"/>
              <a:ea typeface="微软雅黑" panose="020B0503020204020204" charset="-122"/>
            </a:endParaRPr>
          </a:p>
          <a:p>
            <a:pPr marL="356235" indent="-285750" algn="just" fontAlgn="auto">
              <a:lnSpc>
                <a:spcPts val="2420"/>
              </a:lnSpc>
              <a:buFont typeface="Wingdings" panose="05000000000000000000" charset="0"/>
              <a:buChar char="Ø"/>
            </a:pPr>
            <a:r>
              <a:rPr lang="zh-CN" altLang="en-US" sz="1600" b="1" dirty="0">
                <a:latin typeface="微软雅黑" panose="020B0503020204020204" charset="-122"/>
                <a:ea typeface="微软雅黑" panose="020B0503020204020204" charset="-122"/>
              </a:rPr>
              <a:t>管控要求更严，</a:t>
            </a:r>
            <a:r>
              <a:rPr lang="zh-CN" altLang="en-US" sz="1600" dirty="0">
                <a:latin typeface="微软雅黑" panose="020B0503020204020204" charset="-122"/>
                <a:ea typeface="微软雅黑" panose="020B0503020204020204" charset="-122"/>
                <a:cs typeface="微软雅黑" panose="020B0503020204020204" charset="-122"/>
                <a:sym typeface="+mn-ea"/>
              </a:rPr>
              <a:t>从 </a:t>
            </a:r>
            <a:r>
              <a:rPr lang="zh-CN" altLang="en-US" sz="1600" b="1" dirty="0">
                <a:latin typeface="微软雅黑" panose="020B0503020204020204" charset="-122"/>
                <a:ea typeface="微软雅黑" panose="020B0503020204020204" charset="-122"/>
                <a:cs typeface="微软雅黑" panose="020B0503020204020204" charset="-122"/>
                <a:sym typeface="+mn-ea"/>
              </a:rPr>
              <a:t>“只明确判定标准”</a:t>
            </a:r>
            <a:r>
              <a:rPr lang="zh-CN" altLang="en-US" sz="1600" dirty="0">
                <a:latin typeface="微软雅黑" panose="020B0503020204020204" charset="-122"/>
                <a:ea typeface="微软雅黑" panose="020B0503020204020204" charset="-122"/>
                <a:cs typeface="微软雅黑" panose="020B0503020204020204" charset="-122"/>
                <a:sym typeface="+mn-ea"/>
              </a:rPr>
              <a:t> 提升为 </a:t>
            </a:r>
            <a:r>
              <a:rPr lang="zh-CN" altLang="en-US" sz="1600" b="1" dirty="0">
                <a:latin typeface="微软雅黑" panose="020B0503020204020204" charset="-122"/>
                <a:ea typeface="微软雅黑" panose="020B0503020204020204" charset="-122"/>
                <a:cs typeface="微软雅黑" panose="020B0503020204020204" charset="-122"/>
                <a:sym typeface="+mn-ea"/>
              </a:rPr>
              <a:t>“排查治理、监督管理、追责问责等</a:t>
            </a:r>
            <a:r>
              <a:rPr lang="zh-CN" altLang="en-US" sz="1600" b="1" dirty="0">
                <a:solidFill>
                  <a:srgbClr val="0070C0"/>
                </a:solidFill>
                <a:latin typeface="微软雅黑" panose="020B0503020204020204" charset="-122"/>
                <a:ea typeface="微软雅黑" panose="020B0503020204020204" charset="-122"/>
                <a:cs typeface="微软雅黑" panose="020B0503020204020204" charset="-122"/>
                <a:sym typeface="+mn-ea"/>
              </a:rPr>
              <a:t>全链条管理</a:t>
            </a:r>
            <a:r>
              <a:rPr lang="zh-CN" altLang="en-US" sz="1600" b="1" dirty="0">
                <a:latin typeface="微软雅黑" panose="020B0503020204020204" charset="-122"/>
                <a:ea typeface="微软雅黑" panose="020B0503020204020204" charset="-122"/>
                <a:cs typeface="微软雅黑" panose="020B0503020204020204" charset="-122"/>
                <a:sym typeface="+mn-ea"/>
              </a:rPr>
              <a:t>”</a:t>
            </a:r>
            <a:r>
              <a:rPr lang="zh-CN" altLang="en-US" sz="1600" dirty="0">
                <a:latin typeface="微软雅黑" panose="020B0503020204020204" charset="-122"/>
                <a:ea typeface="微软雅黑" panose="020B0503020204020204" charset="-122"/>
                <a:cs typeface="微软雅黑" panose="020B0503020204020204" charset="-122"/>
                <a:sym typeface="+mn-ea"/>
              </a:rPr>
              <a:t>，提升可落地性</a:t>
            </a:r>
            <a:endParaRPr lang="zh-CN" altLang="en-US" sz="1600" dirty="0">
              <a:latin typeface="微软雅黑" panose="020B0503020204020204" charset="-122"/>
              <a:ea typeface="微软雅黑" panose="020B0503020204020204" charset="-122"/>
              <a:cs typeface="微软雅黑" panose="020B0503020204020204" charset="-122"/>
              <a:sym typeface="+mn-ea"/>
            </a:endParaRPr>
          </a:p>
          <a:p>
            <a:pPr marL="356235" indent="-285750" algn="just" fontAlgn="auto">
              <a:lnSpc>
                <a:spcPts val="2420"/>
              </a:lnSpc>
              <a:buFont typeface="Wingdings" panose="05000000000000000000" charset="0"/>
              <a:buChar char="Ø"/>
            </a:pPr>
            <a:r>
              <a:rPr lang="zh-CN" altLang="en-US" sz="1600" b="1" dirty="0">
                <a:latin typeface="微软雅黑" panose="020B0503020204020204" charset="-122"/>
                <a:ea typeface="微软雅黑" panose="020B0503020204020204" charset="-122"/>
                <a:sym typeface="+mn-ea"/>
              </a:rPr>
              <a:t>治理流程更细，</a:t>
            </a:r>
            <a:r>
              <a:rPr lang="zh-CN" altLang="en-US" sz="1600" dirty="0">
                <a:latin typeface="微软雅黑" panose="020B0503020204020204" charset="-122"/>
                <a:ea typeface="微软雅黑" panose="020B0503020204020204" charset="-122"/>
                <a:sym typeface="+mn-ea"/>
              </a:rPr>
              <a:t>细化</a:t>
            </a:r>
            <a:r>
              <a:rPr lang="zh-CN" altLang="en-US" sz="1600" b="1" dirty="0">
                <a:solidFill>
                  <a:srgbClr val="0070C0"/>
                </a:solidFill>
                <a:latin typeface="微软雅黑" panose="020B0503020204020204" charset="-122"/>
                <a:ea typeface="微软雅黑" panose="020B0503020204020204" charset="-122"/>
                <a:sym typeface="+mn-ea"/>
              </a:rPr>
              <a:t>排查频次、治理时限、上报要求、销号标准</a:t>
            </a:r>
            <a:r>
              <a:rPr lang="zh-CN" altLang="en-US" sz="1600" dirty="0">
                <a:latin typeface="微软雅黑" panose="020B0503020204020204" charset="-122"/>
                <a:ea typeface="微软雅黑" panose="020B0503020204020204" charset="-122"/>
                <a:sym typeface="+mn-ea"/>
              </a:rPr>
              <a:t>，明确责任链条</a:t>
            </a:r>
            <a:endParaRPr lang="zh-CN" altLang="en-US" sz="1600" dirty="0">
              <a:latin typeface="微软雅黑" panose="020B0503020204020204" charset="-122"/>
              <a:ea typeface="微软雅黑" panose="020B0503020204020204" charset="-122"/>
            </a:endParaRPr>
          </a:p>
        </p:txBody>
      </p:sp>
      <p:sp>
        <p:nvSpPr>
          <p:cNvPr id="2" name="半闭框 1"/>
          <p:cNvSpPr/>
          <p:nvPr/>
        </p:nvSpPr>
        <p:spPr>
          <a:xfrm>
            <a:off x="617220" y="1104265"/>
            <a:ext cx="375285" cy="313055"/>
          </a:xfrm>
          <a:prstGeom prst="halfFrame">
            <a:avLst/>
          </a:prstGeom>
          <a:solidFill>
            <a:schemeClr val="accent4">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sp>
        <p:nvSpPr>
          <p:cNvPr id="3" name="半闭框 2"/>
          <p:cNvSpPr/>
          <p:nvPr/>
        </p:nvSpPr>
        <p:spPr>
          <a:xfrm rot="10800000">
            <a:off x="11288395" y="2727960"/>
            <a:ext cx="271780" cy="313055"/>
          </a:xfrm>
          <a:prstGeom prst="halfFrame">
            <a:avLst/>
          </a:prstGeom>
          <a:solidFill>
            <a:schemeClr val="accent4">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graphicFrame>
        <p:nvGraphicFramePr>
          <p:cNvPr id="4" name="表格 3"/>
          <p:cNvGraphicFramePr/>
          <p:nvPr>
            <p:custDataLst>
              <p:tags r:id="rId2"/>
            </p:custDataLst>
          </p:nvPr>
        </p:nvGraphicFramePr>
        <p:xfrm>
          <a:off x="617855" y="3135630"/>
          <a:ext cx="10942320" cy="3424555"/>
        </p:xfrm>
        <a:graphic>
          <a:graphicData uri="http://schemas.openxmlformats.org/drawingml/2006/table">
            <a:tbl>
              <a:tblPr>
                <a:tableStyleId>{22838BEF-8BB2-4498-84A7-C5851F593DF1}</a:tableStyleId>
              </a:tblPr>
              <a:tblGrid>
                <a:gridCol w="873760"/>
                <a:gridCol w="2265045"/>
                <a:gridCol w="2814320"/>
                <a:gridCol w="2790190"/>
                <a:gridCol w="2199005"/>
              </a:tblGrid>
              <a:tr h="425450">
                <a:tc gridSpan="5">
                  <a:txBody>
                    <a:bodyPr/>
                    <a:p>
                      <a:pPr indent="0" algn="ctr" fontAlgn="auto">
                        <a:lnSpc>
                          <a:spcPct val="90000"/>
                        </a:lnSpc>
                        <a:buNone/>
                      </a:pPr>
                      <a:r>
                        <a:rPr lang="en-US" altLang="zh-CN" sz="1800" b="1" dirty="0">
                          <a:solidFill>
                            <a:schemeClr val="bg1"/>
                          </a:solidFill>
                          <a:latin typeface="微软雅黑" panose="020B0503020204020204" charset="-122"/>
                          <a:ea typeface="微软雅黑" panose="020B0503020204020204" charset="-122"/>
                        </a:rPr>
                        <a:t>41</a:t>
                      </a:r>
                      <a:r>
                        <a:rPr lang="zh-CN" altLang="en-US" sz="1800" b="1" dirty="0">
                          <a:solidFill>
                            <a:schemeClr val="bg1"/>
                          </a:solidFill>
                          <a:latin typeface="微软雅黑" panose="020B0503020204020204" charset="-122"/>
                          <a:ea typeface="微软雅黑" panose="020B0503020204020204" charset="-122"/>
                        </a:rPr>
                        <a:t>号令与原有制度标准多维度对比分析</a:t>
                      </a:r>
                      <a:endParaRPr lang="zh-CN" altLang="en-US" sz="1800" b="1" dirty="0">
                        <a:solidFill>
                          <a:schemeClr val="bg1"/>
                        </a:solidFill>
                        <a:latin typeface="微软雅黑" panose="020B0503020204020204" charset="-122"/>
                        <a:ea typeface="微软雅黑" panose="020B0503020204020204" charset="-122"/>
                      </a:endParaRPr>
                    </a:p>
                  </a:txBody>
                  <a:tcPr marL="51117" marR="51117" marT="51117" marB="51117" anchor="ctr">
                    <a:solidFill>
                      <a:schemeClr val="tx2">
                        <a:lumMod val="60000"/>
                        <a:lumOff val="40000"/>
                      </a:schemeClr>
                    </a:solidFill>
                  </a:tcPr>
                </a:tc>
                <a:tc hMerge="1">
                  <a:tcPr marL="51117" marR="51117" marT="51117" marB="51117" anchor="ctr"/>
                </a:tc>
                <a:tc hMerge="1">
                  <a:tcPr marL="51117" marR="51117" marT="51117" marB="51117" anchor="ctr"/>
                </a:tc>
                <a:tc hMerge="1">
                  <a:tcPr marL="51117" marR="51117" marT="51117" marB="51117" anchor="ctr"/>
                </a:tc>
                <a:tc hMerge="1">
                  <a:tcPr marL="51117" marR="51117" marT="51117" marB="51117" anchor="ctr"/>
                </a:tc>
              </a:tr>
              <a:tr h="291465">
                <a:tc>
                  <a:txBody>
                    <a:bodyPr/>
                    <a:p>
                      <a:pPr indent="0" algn="ctr" fontAlgn="auto">
                        <a:lnSpc>
                          <a:spcPct val="90000"/>
                        </a:lnSpc>
                      </a:pPr>
                      <a:r>
                        <a:rPr lang="zh-CN" altLang="en-US" sz="1000" b="1" dirty="0">
                          <a:latin typeface="微软雅黑" panose="020B0503020204020204" charset="-122"/>
                          <a:ea typeface="微软雅黑" panose="020B0503020204020204" charset="-122"/>
                        </a:rPr>
                        <a:t>对比维度</a:t>
                      </a:r>
                      <a:endParaRPr lang="zh-CN" altLang="en-US" sz="1000" b="1" dirty="0">
                        <a:latin typeface="微软雅黑" panose="020B0503020204020204" charset="-122"/>
                        <a:ea typeface="微软雅黑" panose="020B0503020204020204" charset="-122"/>
                      </a:endParaRPr>
                    </a:p>
                  </a:txBody>
                  <a:tcPr marL="51117" marR="51117" marT="36195" marB="36195" anchor="ctr">
                    <a:solidFill>
                      <a:schemeClr val="bg2"/>
                    </a:solidFill>
                  </a:tcPr>
                </a:tc>
                <a:tc>
                  <a:txBody>
                    <a:bodyPr/>
                    <a:p>
                      <a:pPr indent="0" algn="ctr" fontAlgn="auto">
                        <a:lnSpc>
                          <a:spcPct val="90000"/>
                        </a:lnSpc>
                      </a:pPr>
                      <a:r>
                        <a:rPr lang="zh-CN" altLang="en-US" sz="1000" b="1" dirty="0">
                          <a:latin typeface="微软雅黑" panose="020B0503020204020204" charset="-122"/>
                          <a:ea typeface="微软雅黑" panose="020B0503020204020204" charset="-122"/>
                          <a:cs typeface="微软雅黑" panose="020B0503020204020204" charset="-122"/>
                        </a:rPr>
                        <a:t>重大隐患标准</a:t>
                      </a:r>
                      <a:r>
                        <a:rPr lang="en-US" altLang="zh-CN" sz="1000" b="1" dirty="0">
                          <a:latin typeface="微软雅黑" panose="020B0503020204020204" charset="-122"/>
                          <a:ea typeface="微软雅黑" panose="020B0503020204020204" charset="-122"/>
                          <a:cs typeface="微软雅黑" panose="020B0503020204020204" charset="-122"/>
                        </a:rPr>
                        <a:t>2022 </a:t>
                      </a:r>
                      <a:r>
                        <a:rPr lang="zh-CN" altLang="en-US" sz="1000" b="1" dirty="0">
                          <a:latin typeface="微软雅黑" panose="020B0503020204020204" charset="-122"/>
                          <a:ea typeface="微软雅黑" panose="020B0503020204020204" charset="-122"/>
                          <a:cs typeface="微软雅黑" panose="020B0503020204020204" charset="-122"/>
                        </a:rPr>
                        <a:t>版（试行）</a:t>
                      </a:r>
                      <a:endParaRPr lang="zh-CN" altLang="en-US" sz="1000" b="1" dirty="0">
                        <a:latin typeface="微软雅黑" panose="020B0503020204020204" charset="-122"/>
                        <a:ea typeface="微软雅黑" panose="020B0503020204020204" charset="-122"/>
                        <a:cs typeface="微软雅黑" panose="020B0503020204020204" charset="-122"/>
                      </a:endParaRPr>
                    </a:p>
                  </a:txBody>
                  <a:tcPr marL="51117" marR="51117" marT="36195" marB="36195" anchor="ctr">
                    <a:solidFill>
                      <a:schemeClr val="accent4">
                        <a:lumMod val="20000"/>
                        <a:lumOff val="80000"/>
                      </a:schemeClr>
                    </a:solidFill>
                  </a:tcPr>
                </a:tc>
                <a:tc>
                  <a:txBody>
                    <a:bodyPr/>
                    <a:p>
                      <a:pPr marL="0" marR="0" lvl="0" indent="0" algn="ctr" defTabSz="914400" rtl="0" fontAlgn="auto">
                        <a:lnSpc>
                          <a:spcPct val="90000"/>
                        </a:lnSpc>
                        <a:spcBef>
                          <a:spcPts val="0"/>
                        </a:spcBef>
                        <a:spcAft>
                          <a:spcPts val="0"/>
                        </a:spcAft>
                        <a:buClrTx/>
                        <a:buSzTx/>
                        <a:buFontTx/>
                        <a:buNone/>
                        <a:defRPr/>
                      </a:pPr>
                      <a:r>
                        <a:rPr lang="zh-CN" altLang="en-US" sz="1000" b="1" dirty="0">
                          <a:latin typeface="微软雅黑" panose="020B0503020204020204" charset="-122"/>
                          <a:ea typeface="微软雅黑" panose="020B0503020204020204" charset="-122"/>
                          <a:cs typeface="微软雅黑" panose="020B0503020204020204" charset="-122"/>
                        </a:rPr>
                        <a:t>电力隐患治理监督管理规定</a:t>
                      </a:r>
                      <a:r>
                        <a:rPr lang="en-US" altLang="zh-CN" sz="1000" b="1" dirty="0">
                          <a:latin typeface="微软雅黑" panose="020B0503020204020204" charset="-122"/>
                          <a:ea typeface="微软雅黑" panose="020B0503020204020204" charset="-122"/>
                          <a:cs typeface="微软雅黑" panose="020B0503020204020204" charset="-122"/>
                        </a:rPr>
                        <a:t>2022 </a:t>
                      </a:r>
                      <a:r>
                        <a:rPr lang="zh-CN" altLang="en-US" sz="1000" b="1" dirty="0">
                          <a:latin typeface="微软雅黑" panose="020B0503020204020204" charset="-122"/>
                          <a:ea typeface="微软雅黑" panose="020B0503020204020204" charset="-122"/>
                          <a:cs typeface="微软雅黑" panose="020B0503020204020204" charset="-122"/>
                        </a:rPr>
                        <a:t>版</a:t>
                      </a:r>
                      <a:endParaRPr lang="zh-CN" altLang="en-US" sz="1000" b="1" dirty="0">
                        <a:latin typeface="微软雅黑" panose="020B0503020204020204" charset="-122"/>
                        <a:ea typeface="微软雅黑" panose="020B0503020204020204" charset="-122"/>
                        <a:cs typeface="微软雅黑" panose="020B0503020204020204" charset="-122"/>
                      </a:endParaRPr>
                    </a:p>
                  </a:txBody>
                  <a:tcPr marL="51117" marR="51117" marT="36195" marB="36195" anchor="ctr">
                    <a:solidFill>
                      <a:schemeClr val="accent4">
                        <a:lumMod val="20000"/>
                        <a:lumOff val="80000"/>
                      </a:schemeClr>
                    </a:solidFill>
                  </a:tcPr>
                </a:tc>
                <a:tc>
                  <a:txBody>
                    <a:bodyPr/>
                    <a:p>
                      <a:pPr indent="0" algn="ctr" fontAlgn="auto">
                        <a:lnSpc>
                          <a:spcPct val="90000"/>
                        </a:lnSpc>
                      </a:pPr>
                      <a:r>
                        <a:rPr lang="en-US" altLang="zh-CN" sz="1000" b="1" dirty="0">
                          <a:latin typeface="微软雅黑" panose="020B0503020204020204" charset="-122"/>
                          <a:ea typeface="微软雅黑" panose="020B0503020204020204" charset="-122"/>
                          <a:cs typeface="微软雅黑" panose="020B0503020204020204" charset="-122"/>
                        </a:rPr>
                        <a:t>2026 </a:t>
                      </a:r>
                      <a:r>
                        <a:rPr lang="zh-CN" altLang="en-US" sz="1000" b="1" dirty="0">
                          <a:latin typeface="微软雅黑" panose="020B0503020204020204" charset="-122"/>
                          <a:ea typeface="微软雅黑" panose="020B0503020204020204" charset="-122"/>
                          <a:cs typeface="微软雅黑" panose="020B0503020204020204" charset="-122"/>
                        </a:rPr>
                        <a:t>版（第 </a:t>
                      </a:r>
                      <a:r>
                        <a:rPr lang="en-US" altLang="zh-CN" sz="1000" b="1" dirty="0">
                          <a:latin typeface="微软雅黑" panose="020B0503020204020204" charset="-122"/>
                          <a:ea typeface="微软雅黑" panose="020B0503020204020204" charset="-122"/>
                          <a:cs typeface="微软雅黑" panose="020B0503020204020204" charset="-122"/>
                        </a:rPr>
                        <a:t>41 </a:t>
                      </a:r>
                      <a:r>
                        <a:rPr lang="zh-CN" altLang="en-US" sz="1000" b="1" dirty="0">
                          <a:latin typeface="微软雅黑" panose="020B0503020204020204" charset="-122"/>
                          <a:ea typeface="微软雅黑" panose="020B0503020204020204" charset="-122"/>
                          <a:cs typeface="微软雅黑" panose="020B0503020204020204" charset="-122"/>
                        </a:rPr>
                        <a:t>号令）</a:t>
                      </a:r>
                      <a:endParaRPr lang="zh-CN" altLang="en-US" sz="1000" b="1" dirty="0">
                        <a:latin typeface="微软雅黑" panose="020B0503020204020204" charset="-122"/>
                        <a:ea typeface="微软雅黑" panose="020B0503020204020204" charset="-122"/>
                        <a:cs typeface="微软雅黑" panose="020B0503020204020204" charset="-122"/>
                      </a:endParaRPr>
                    </a:p>
                  </a:txBody>
                  <a:tcPr marL="51117" marR="51117" marT="36195" marB="36195" anchor="ctr">
                    <a:solidFill>
                      <a:schemeClr val="accent3">
                        <a:lumMod val="40000"/>
                        <a:lumOff val="60000"/>
                      </a:schemeClr>
                    </a:solidFill>
                  </a:tcPr>
                </a:tc>
                <a:tc>
                  <a:txBody>
                    <a:bodyPr/>
                    <a:p>
                      <a:pPr indent="0" algn="ctr" fontAlgn="auto">
                        <a:lnSpc>
                          <a:spcPct val="90000"/>
                        </a:lnSpc>
                      </a:pPr>
                      <a:r>
                        <a:rPr lang="zh-CN" altLang="en-US" sz="1000" b="1" dirty="0">
                          <a:latin typeface="微软雅黑" panose="020B0503020204020204" charset="-122"/>
                          <a:ea typeface="微软雅黑" panose="020B0503020204020204" charset="-122"/>
                        </a:rPr>
                        <a:t>核心变化</a:t>
                      </a:r>
                      <a:endParaRPr lang="zh-CN" altLang="en-US" sz="1000" b="1" dirty="0">
                        <a:latin typeface="微软雅黑" panose="020B0503020204020204" charset="-122"/>
                        <a:ea typeface="微软雅黑" panose="020B0503020204020204" charset="-122"/>
                      </a:endParaRPr>
                    </a:p>
                  </a:txBody>
                  <a:tcPr marL="51117" marR="51117" marT="36195" marB="36195" anchor="ctr">
                    <a:solidFill>
                      <a:schemeClr val="bg2"/>
                    </a:solidFill>
                  </a:tcPr>
                </a:tc>
              </a:tr>
              <a:tr h="424180">
                <a:tc>
                  <a:txBody>
                    <a:bodyPr/>
                    <a:p>
                      <a:pPr indent="0" algn="ctr" fontAlgn="auto">
                        <a:lnSpc>
                          <a:spcPct val="90000"/>
                        </a:lnSpc>
                      </a:pPr>
                      <a:r>
                        <a:rPr lang="zh-CN" altLang="en-US" sz="1000" b="1" dirty="0">
                          <a:latin typeface="微软雅黑" panose="020B0503020204020204" charset="-122"/>
                          <a:ea typeface="微软雅黑" panose="020B0503020204020204" charset="-122"/>
                        </a:rPr>
                        <a:t>文件性质</a:t>
                      </a:r>
                      <a:endParaRPr lang="zh-CN" altLang="en-US" sz="1000" b="1" dirty="0">
                        <a:latin typeface="微软雅黑" panose="020B0503020204020204" charset="-122"/>
                        <a:ea typeface="微软雅黑" panose="020B0503020204020204" charset="-122"/>
                      </a:endParaRPr>
                    </a:p>
                  </a:txBody>
                  <a:tcPr marL="51117" marR="51117" marT="36195" marB="36195" anchor="ctr">
                    <a:solidFill>
                      <a:schemeClr val="bg2"/>
                    </a:solidFill>
                  </a:tcPr>
                </a:tc>
                <a:tc>
                  <a:txBody>
                    <a:bodyPr/>
                    <a:p>
                      <a:pPr indent="0" algn="ctr" fontAlgn="auto">
                        <a:lnSpc>
                          <a:spcPct val="90000"/>
                        </a:lnSpc>
                      </a:pPr>
                      <a:r>
                        <a:rPr lang="zh-CN" altLang="en-US" sz="1000" dirty="0">
                          <a:latin typeface="微软雅黑" panose="020B0503020204020204" charset="-122"/>
                          <a:ea typeface="微软雅黑" panose="020B0503020204020204" charset="-122"/>
                        </a:rPr>
                        <a:t>国家能源局综合司通知，</a:t>
                      </a:r>
                      <a:r>
                        <a:rPr lang="zh-CN" altLang="en-US" sz="1000" b="1" dirty="0">
                          <a:latin typeface="微软雅黑" panose="020B0503020204020204" charset="-122"/>
                          <a:ea typeface="微软雅黑" panose="020B0503020204020204" charset="-122"/>
                        </a:rPr>
                        <a:t>规范性文件</a:t>
                      </a:r>
                      <a:endParaRPr lang="zh-CN" altLang="en-US" sz="1000" b="1" dirty="0">
                        <a:latin typeface="微软雅黑" panose="020B0503020204020204" charset="-122"/>
                        <a:ea typeface="微软雅黑" panose="020B0503020204020204" charset="-122"/>
                      </a:endParaRPr>
                    </a:p>
                  </a:txBody>
                  <a:tcPr marL="51117" marR="51117" marT="36195" marB="36195" anchor="ctr">
                    <a:solidFill>
                      <a:schemeClr val="bg1"/>
                    </a:solidFill>
                  </a:tcPr>
                </a:tc>
                <a:tc>
                  <a:txBody>
                    <a:bodyPr/>
                    <a:p>
                      <a:pPr marL="0" marR="0" lvl="0" indent="0" algn="ctr" defTabSz="914400" rtl="0" fontAlgn="auto">
                        <a:lnSpc>
                          <a:spcPct val="90000"/>
                        </a:lnSpc>
                        <a:spcBef>
                          <a:spcPts val="0"/>
                        </a:spcBef>
                        <a:spcAft>
                          <a:spcPts val="0"/>
                        </a:spcAft>
                        <a:buClrTx/>
                        <a:buSzTx/>
                        <a:buFontTx/>
                        <a:buNone/>
                        <a:defRPr/>
                      </a:pPr>
                      <a:r>
                        <a:rPr lang="zh-CN" altLang="en-US" sz="1000" dirty="0">
                          <a:latin typeface="微软雅黑" panose="020B0503020204020204" charset="-122"/>
                          <a:ea typeface="微软雅黑" panose="020B0503020204020204" charset="-122"/>
                        </a:rPr>
                        <a:t>国家能源局综合司通知，</a:t>
                      </a:r>
                      <a:r>
                        <a:rPr lang="zh-CN" altLang="en-US" sz="1000" b="1" dirty="0">
                          <a:latin typeface="微软雅黑" panose="020B0503020204020204" charset="-122"/>
                          <a:ea typeface="微软雅黑" panose="020B0503020204020204" charset="-122"/>
                        </a:rPr>
                        <a:t>规范性文件</a:t>
                      </a:r>
                      <a:endParaRPr lang="zh-CN" altLang="en-US" sz="1000" b="1" dirty="0">
                        <a:latin typeface="微软雅黑" panose="020B0503020204020204" charset="-122"/>
                        <a:ea typeface="微软雅黑" panose="020B0503020204020204" charset="-122"/>
                      </a:endParaRPr>
                    </a:p>
                  </a:txBody>
                  <a:tcPr marL="51117" marR="51117" marT="36195" marB="36195" anchor="ctr">
                    <a:solidFill>
                      <a:schemeClr val="bg1"/>
                    </a:solidFill>
                  </a:tcPr>
                </a:tc>
                <a:tc>
                  <a:txBody>
                    <a:bodyPr/>
                    <a:p>
                      <a:pPr indent="0" algn="ctr" fontAlgn="auto">
                        <a:lnSpc>
                          <a:spcPct val="90000"/>
                        </a:lnSpc>
                      </a:pPr>
                      <a:r>
                        <a:rPr lang="zh-CN" altLang="en-US" sz="1000" dirty="0">
                          <a:latin typeface="微软雅黑" panose="020B0503020204020204" charset="-122"/>
                          <a:ea typeface="微软雅黑" panose="020B0503020204020204" charset="-122"/>
                        </a:rPr>
                        <a:t>国家发改委、能源局令，</a:t>
                      </a:r>
                      <a:r>
                        <a:rPr lang="zh-CN" altLang="en-US" sz="1000" b="1" dirty="0">
                          <a:latin typeface="微软雅黑" panose="020B0503020204020204" charset="-122"/>
                          <a:ea typeface="微软雅黑" panose="020B0503020204020204" charset="-122"/>
                        </a:rPr>
                        <a:t>部门规章</a:t>
                      </a:r>
                      <a:endParaRPr lang="zh-CN" altLang="en-US" sz="1000" b="1" dirty="0">
                        <a:latin typeface="微软雅黑" panose="020B0503020204020204" charset="-122"/>
                        <a:ea typeface="微软雅黑" panose="020B0503020204020204" charset="-122"/>
                      </a:endParaRPr>
                    </a:p>
                  </a:txBody>
                  <a:tcPr marL="51117" marR="51117" marT="36195" marB="36195" anchor="ctr">
                    <a:solidFill>
                      <a:schemeClr val="bg1"/>
                    </a:solidFill>
                  </a:tcPr>
                </a:tc>
                <a:tc>
                  <a:txBody>
                    <a:bodyPr/>
                    <a:p>
                      <a:pPr indent="0" algn="ctr" fontAlgn="auto">
                        <a:lnSpc>
                          <a:spcPct val="90000"/>
                        </a:lnSpc>
                      </a:pPr>
                      <a:r>
                        <a:rPr lang="zh-CN" altLang="en-US" sz="1000">
                          <a:latin typeface="微软雅黑" panose="020B0503020204020204" charset="-122"/>
                          <a:ea typeface="微软雅黑" panose="020B0503020204020204" charset="-122"/>
                        </a:rPr>
                        <a:t>法律位阶提升，约束力、执行力显著增强</a:t>
                      </a:r>
                      <a:endParaRPr lang="zh-CN" altLang="en-US" sz="1000">
                        <a:latin typeface="微软雅黑" panose="020B0503020204020204" charset="-122"/>
                        <a:ea typeface="微软雅黑" panose="020B0503020204020204" charset="-122"/>
                      </a:endParaRPr>
                    </a:p>
                  </a:txBody>
                  <a:tcPr marL="51117" marR="51117" marT="36195" marB="36195" anchor="ctr">
                    <a:solidFill>
                      <a:schemeClr val="bg1"/>
                    </a:solidFill>
                  </a:tcPr>
                </a:tc>
              </a:tr>
              <a:tr h="590550">
                <a:tc>
                  <a:txBody>
                    <a:bodyPr/>
                    <a:p>
                      <a:pPr indent="0" algn="ctr" fontAlgn="auto">
                        <a:lnSpc>
                          <a:spcPct val="90000"/>
                        </a:lnSpc>
                      </a:pPr>
                      <a:r>
                        <a:rPr lang="zh-CN" altLang="en-US" sz="1000" b="1" dirty="0">
                          <a:latin typeface="微软雅黑" panose="020B0503020204020204" charset="-122"/>
                          <a:ea typeface="微软雅黑" panose="020B0503020204020204" charset="-122"/>
                        </a:rPr>
                        <a:t>覆盖范围</a:t>
                      </a:r>
                      <a:endParaRPr lang="zh-CN" altLang="en-US" sz="1000" b="1" dirty="0">
                        <a:latin typeface="微软雅黑" panose="020B0503020204020204" charset="-122"/>
                        <a:ea typeface="微软雅黑" panose="020B0503020204020204" charset="-122"/>
                      </a:endParaRPr>
                    </a:p>
                  </a:txBody>
                  <a:tcPr marL="51117" marR="51117" marT="36195" marB="36195" anchor="ctr">
                    <a:solidFill>
                      <a:schemeClr val="bg2"/>
                    </a:solidFill>
                  </a:tcPr>
                </a:tc>
                <a:tc>
                  <a:txBody>
                    <a:bodyPr/>
                    <a:p>
                      <a:pPr indent="0" algn="ctr" fontAlgn="auto">
                        <a:lnSpc>
                          <a:spcPct val="90000"/>
                        </a:lnSpc>
                      </a:pPr>
                      <a:r>
                        <a:rPr lang="en-US" altLang="zh-CN" sz="1000" b="1" dirty="0">
                          <a:latin typeface="微软雅黑" panose="020B0503020204020204" charset="-122"/>
                          <a:ea typeface="微软雅黑" panose="020B0503020204020204" charset="-122"/>
                          <a:cs typeface="微软雅黑" panose="020B0503020204020204" charset="-122"/>
                        </a:rPr>
                        <a:t>7</a:t>
                      </a:r>
                      <a:r>
                        <a:rPr lang="zh-CN" altLang="en-US" sz="1000" b="1" dirty="0">
                          <a:latin typeface="微软雅黑" panose="020B0503020204020204" charset="-122"/>
                          <a:ea typeface="微软雅黑" panose="020B0503020204020204" charset="-122"/>
                          <a:cs typeface="微软雅黑" panose="020B0503020204020204" charset="-122"/>
                        </a:rPr>
                        <a:t>类</a:t>
                      </a:r>
                      <a:r>
                        <a:rPr lang="en-US" sz="1000" b="1" dirty="0">
                          <a:latin typeface="微软雅黑" panose="020B0503020204020204" charset="-122"/>
                          <a:ea typeface="微软雅黑" panose="020B0503020204020204" charset="-122"/>
                          <a:cs typeface="微软雅黑" panose="020B0503020204020204" charset="-122"/>
                        </a:rPr>
                        <a:t>20</a:t>
                      </a:r>
                      <a:r>
                        <a:rPr lang="zh-CN" altLang="en-US" sz="1000" b="1" dirty="0">
                          <a:latin typeface="微软雅黑" panose="020B0503020204020204" charset="-122"/>
                          <a:ea typeface="微软雅黑" panose="020B0503020204020204" charset="-122"/>
                          <a:cs typeface="微软雅黑" panose="020B0503020204020204" charset="-122"/>
                        </a:rPr>
                        <a:t>项</a:t>
                      </a:r>
                      <a:r>
                        <a:rPr lang="zh-CN" altLang="en-US" sz="1000" dirty="0">
                          <a:latin typeface="微软雅黑" panose="020B0503020204020204" charset="-122"/>
                          <a:ea typeface="微软雅黑" panose="020B0503020204020204" charset="-122"/>
                          <a:cs typeface="微软雅黑" panose="020B0503020204020204" charset="-122"/>
                        </a:rPr>
                        <a:t>，聚焦传统发电、电网</a:t>
                      </a:r>
                      <a:endParaRPr lang="zh-CN" altLang="en-US" sz="1000" dirty="0">
                        <a:latin typeface="微软雅黑" panose="020B0503020204020204" charset="-122"/>
                        <a:ea typeface="微软雅黑" panose="020B0503020204020204" charset="-122"/>
                        <a:cs typeface="微软雅黑" panose="020B0503020204020204" charset="-122"/>
                      </a:endParaRPr>
                    </a:p>
                  </a:txBody>
                  <a:tcPr marL="51117" marR="51117" marT="36195" marB="36195" anchor="ctr">
                    <a:solidFill>
                      <a:schemeClr val="bg1"/>
                    </a:solidFill>
                  </a:tcPr>
                </a:tc>
                <a:tc>
                  <a:txBody>
                    <a:bodyPr/>
                    <a:p>
                      <a:pPr indent="0" algn="ctr" fontAlgn="auto">
                        <a:lnSpc>
                          <a:spcPct val="90000"/>
                        </a:lnSpc>
                      </a:pPr>
                      <a:r>
                        <a:rPr lang="zh-CN" altLang="en-US" sz="1000" dirty="0">
                          <a:latin typeface="微软雅黑" panose="020B0503020204020204" charset="-122"/>
                          <a:ea typeface="微软雅黑" panose="020B0503020204020204" charset="-122"/>
                          <a:cs typeface="微软雅黑" panose="020B0503020204020204" charset="-122"/>
                        </a:rPr>
                        <a:t>覆盖全等级隐患</a:t>
                      </a:r>
                      <a:r>
                        <a:rPr lang="zh-CN" altLang="en-US" sz="1000" b="1" dirty="0">
                          <a:latin typeface="微软雅黑" panose="020B0503020204020204" charset="-122"/>
                          <a:ea typeface="微软雅黑" panose="020B0503020204020204" charset="-122"/>
                          <a:cs typeface="微软雅黑" panose="020B0503020204020204" charset="-122"/>
                        </a:rPr>
                        <a:t>（一般、重大）</a:t>
                      </a:r>
                      <a:endParaRPr lang="zh-CN" altLang="en-US" sz="1000" b="1" dirty="0">
                        <a:latin typeface="微软雅黑" panose="020B0503020204020204" charset="-122"/>
                        <a:ea typeface="微软雅黑" panose="020B0503020204020204" charset="-122"/>
                        <a:cs typeface="微软雅黑" panose="020B0503020204020204" charset="-122"/>
                      </a:endParaRPr>
                    </a:p>
                  </a:txBody>
                  <a:tcPr marL="51117" marR="51117" marT="36195" marB="36195" anchor="ctr">
                    <a:solidFill>
                      <a:schemeClr val="bg1"/>
                    </a:solidFill>
                  </a:tcPr>
                </a:tc>
                <a:tc>
                  <a:txBody>
                    <a:bodyPr/>
                    <a:p>
                      <a:pPr indent="0" algn="ctr" fontAlgn="auto">
                        <a:lnSpc>
                          <a:spcPct val="90000"/>
                        </a:lnSpc>
                      </a:pPr>
                      <a:r>
                        <a:rPr lang="en-US" altLang="zh-CN" sz="1000" b="1" dirty="0">
                          <a:latin typeface="微软雅黑" panose="020B0503020204020204" charset="-122"/>
                          <a:ea typeface="微软雅黑" panose="020B0503020204020204" charset="-122"/>
                          <a:cs typeface="微软雅黑" panose="020B0503020204020204" charset="-122"/>
                        </a:rPr>
                        <a:t>10</a:t>
                      </a:r>
                      <a:r>
                        <a:rPr lang="zh-CN" altLang="en-US" sz="1000" b="1" dirty="0">
                          <a:latin typeface="微软雅黑" panose="020B0503020204020204" charset="-122"/>
                          <a:ea typeface="微软雅黑" panose="020B0503020204020204" charset="-122"/>
                          <a:cs typeface="微软雅黑" panose="020B0503020204020204" charset="-122"/>
                        </a:rPr>
                        <a:t>类</a:t>
                      </a:r>
                      <a:r>
                        <a:rPr lang="en-US" altLang="zh-CN" sz="1000" b="1" dirty="0">
                          <a:latin typeface="微软雅黑" panose="020B0503020204020204" charset="-122"/>
                          <a:ea typeface="微软雅黑" panose="020B0503020204020204" charset="-122"/>
                          <a:cs typeface="微软雅黑" panose="020B0503020204020204" charset="-122"/>
                        </a:rPr>
                        <a:t>48</a:t>
                      </a:r>
                      <a:r>
                        <a:rPr lang="zh-CN" altLang="en-US" sz="1000" b="1" dirty="0">
                          <a:latin typeface="微软雅黑" panose="020B0503020204020204" charset="-122"/>
                          <a:ea typeface="微软雅黑" panose="020B0503020204020204" charset="-122"/>
                          <a:cs typeface="微软雅黑" panose="020B0503020204020204" charset="-122"/>
                        </a:rPr>
                        <a:t>项</a:t>
                      </a:r>
                      <a:r>
                        <a:rPr lang="zh-CN" altLang="en-US" sz="1000" dirty="0">
                          <a:latin typeface="微软雅黑" panose="020B0503020204020204" charset="-122"/>
                          <a:ea typeface="微软雅黑" panose="020B0503020204020204" charset="-122"/>
                          <a:cs typeface="微软雅黑" panose="020B0503020204020204" charset="-122"/>
                        </a:rPr>
                        <a:t>，新增储能、分布式光伏、直流控保等，全产业链覆盖。治理监督管理规定</a:t>
                      </a:r>
                      <a:r>
                        <a:rPr lang="zh-CN" altLang="en-US" sz="1000" b="1" dirty="0">
                          <a:latin typeface="微软雅黑" panose="020B0503020204020204" charset="-122"/>
                          <a:ea typeface="微软雅黑" panose="020B0503020204020204" charset="-122"/>
                          <a:cs typeface="微软雅黑" panose="020B0503020204020204" charset="-122"/>
                        </a:rPr>
                        <a:t>聚焦重大隐患</a:t>
                      </a:r>
                      <a:endParaRPr lang="zh-CN" altLang="en-US" sz="1000" b="1" dirty="0">
                        <a:latin typeface="微软雅黑" panose="020B0503020204020204" charset="-122"/>
                        <a:ea typeface="微软雅黑" panose="020B0503020204020204" charset="-122"/>
                        <a:cs typeface="微软雅黑" panose="020B0503020204020204" charset="-122"/>
                      </a:endParaRPr>
                    </a:p>
                  </a:txBody>
                  <a:tcPr marL="51117" marR="51117" marT="36195" marB="36195" anchor="ctr">
                    <a:solidFill>
                      <a:schemeClr val="bg1"/>
                    </a:solidFill>
                  </a:tcPr>
                </a:tc>
                <a:tc>
                  <a:txBody>
                    <a:bodyPr/>
                    <a:p>
                      <a:pPr indent="0" algn="ctr" fontAlgn="auto">
                        <a:lnSpc>
                          <a:spcPct val="90000"/>
                        </a:lnSpc>
                      </a:pPr>
                      <a:r>
                        <a:rPr lang="zh-CN" altLang="en-US" sz="1000">
                          <a:latin typeface="微软雅黑" panose="020B0503020204020204" charset="-122"/>
                          <a:ea typeface="微软雅黑" panose="020B0503020204020204" charset="-122"/>
                          <a:cs typeface="微软雅黑" panose="020B0503020204020204" charset="-122"/>
                        </a:rPr>
                        <a:t>从</a:t>
                      </a:r>
                      <a:r>
                        <a:rPr lang="zh-CN" altLang="en-US" sz="1000" b="1">
                          <a:latin typeface="微软雅黑" panose="020B0503020204020204" charset="-122"/>
                          <a:ea typeface="微软雅黑" panose="020B0503020204020204" charset="-122"/>
                          <a:cs typeface="微软雅黑" panose="020B0503020204020204" charset="-122"/>
                        </a:rPr>
                        <a:t> “传统电力”</a:t>
                      </a:r>
                      <a:r>
                        <a:rPr lang="zh-CN" altLang="en-US" sz="1000">
                          <a:latin typeface="微软雅黑" panose="020B0503020204020204" charset="-122"/>
                          <a:ea typeface="微软雅黑" panose="020B0503020204020204" charset="-122"/>
                          <a:cs typeface="微软雅黑" panose="020B0503020204020204" charset="-122"/>
                        </a:rPr>
                        <a:t> 到 </a:t>
                      </a:r>
                      <a:r>
                        <a:rPr lang="zh-CN" altLang="en-US" sz="1000" b="1">
                          <a:latin typeface="微软雅黑" panose="020B0503020204020204" charset="-122"/>
                          <a:ea typeface="微软雅黑" panose="020B0503020204020204" charset="-122"/>
                          <a:cs typeface="微软雅黑" panose="020B0503020204020204" charset="-122"/>
                        </a:rPr>
                        <a:t>“新型电力系统”</a:t>
                      </a:r>
                      <a:r>
                        <a:rPr lang="zh-CN" altLang="en-US" sz="1000">
                          <a:latin typeface="微软雅黑" panose="020B0503020204020204" charset="-122"/>
                          <a:ea typeface="微软雅黑" panose="020B0503020204020204" charset="-122"/>
                          <a:cs typeface="微软雅黑" panose="020B0503020204020204" charset="-122"/>
                        </a:rPr>
                        <a:t>，无监管盲区</a:t>
                      </a:r>
                      <a:endParaRPr lang="zh-CN" altLang="en-US" sz="1000">
                        <a:latin typeface="微软雅黑" panose="020B0503020204020204" charset="-122"/>
                        <a:ea typeface="微软雅黑" panose="020B0503020204020204" charset="-122"/>
                        <a:cs typeface="微软雅黑" panose="020B0503020204020204" charset="-122"/>
                      </a:endParaRPr>
                    </a:p>
                  </a:txBody>
                  <a:tcPr marL="51117" marR="51117" marT="36195" marB="36195" anchor="ctr">
                    <a:solidFill>
                      <a:schemeClr val="bg1"/>
                    </a:solidFill>
                  </a:tcPr>
                </a:tc>
              </a:tr>
              <a:tr h="422910">
                <a:tc>
                  <a:txBody>
                    <a:bodyPr/>
                    <a:p>
                      <a:pPr indent="0" algn="ctr" fontAlgn="auto">
                        <a:lnSpc>
                          <a:spcPct val="90000"/>
                        </a:lnSpc>
                      </a:pPr>
                      <a:r>
                        <a:rPr lang="zh-CN" altLang="en-US" sz="1000" b="1" dirty="0">
                          <a:latin typeface="微软雅黑" panose="020B0503020204020204" charset="-122"/>
                          <a:ea typeface="微软雅黑" panose="020B0503020204020204" charset="-122"/>
                        </a:rPr>
                        <a:t>内容体系</a:t>
                      </a:r>
                      <a:endParaRPr lang="zh-CN" altLang="en-US" sz="1000" b="1" dirty="0">
                        <a:latin typeface="微软雅黑" panose="020B0503020204020204" charset="-122"/>
                        <a:ea typeface="微软雅黑" panose="020B0503020204020204" charset="-122"/>
                      </a:endParaRPr>
                    </a:p>
                  </a:txBody>
                  <a:tcPr marL="51117" marR="51117" marT="36195" marB="36195" anchor="ctr">
                    <a:solidFill>
                      <a:schemeClr val="bg2"/>
                    </a:solidFill>
                  </a:tcPr>
                </a:tc>
                <a:tc>
                  <a:txBody>
                    <a:bodyPr/>
                    <a:p>
                      <a:pPr indent="0" algn="ctr" fontAlgn="auto">
                        <a:lnSpc>
                          <a:spcPct val="90000"/>
                        </a:lnSpc>
                      </a:pPr>
                      <a:r>
                        <a:rPr lang="zh-CN" altLang="en-US" sz="1000" b="1">
                          <a:latin typeface="微软雅黑" panose="020B0503020204020204" charset="-122"/>
                          <a:ea typeface="微软雅黑" panose="020B0503020204020204" charset="-122"/>
                        </a:rPr>
                        <a:t>仅明确判定标准</a:t>
                      </a:r>
                      <a:r>
                        <a:rPr lang="zh-CN" altLang="en-US" sz="1000">
                          <a:latin typeface="微软雅黑" panose="020B0503020204020204" charset="-122"/>
                          <a:ea typeface="微软雅黑" panose="020B0503020204020204" charset="-122"/>
                        </a:rPr>
                        <a:t>，无治理、监督、追责流程</a:t>
                      </a:r>
                      <a:endParaRPr lang="zh-CN" altLang="en-US" sz="1000">
                        <a:latin typeface="微软雅黑" panose="020B0503020204020204" charset="-122"/>
                        <a:ea typeface="微软雅黑" panose="020B0503020204020204" charset="-122"/>
                      </a:endParaRPr>
                    </a:p>
                  </a:txBody>
                  <a:tcPr marL="51117" marR="51117" marT="36195" marB="36195" anchor="ctr">
                    <a:solidFill>
                      <a:schemeClr val="bg1"/>
                    </a:solidFill>
                  </a:tcPr>
                </a:tc>
                <a:tc>
                  <a:txBody>
                    <a:bodyPr/>
                    <a:p>
                      <a:pPr indent="0" algn="ctr" fontAlgn="auto">
                        <a:lnSpc>
                          <a:spcPct val="90000"/>
                        </a:lnSpc>
                      </a:pPr>
                      <a:r>
                        <a:rPr lang="zh-CN" altLang="en-US" sz="1000" dirty="0">
                          <a:latin typeface="微软雅黑" panose="020B0503020204020204" charset="-122"/>
                          <a:ea typeface="微软雅黑" panose="020B0503020204020204" charset="-122"/>
                        </a:rPr>
                        <a:t>含总则、排查治理、监督管理，无独立追责章节</a:t>
                      </a:r>
                      <a:endParaRPr lang="zh-CN" altLang="en-US" sz="1000" dirty="0">
                        <a:latin typeface="微软雅黑" panose="020B0503020204020204" charset="-122"/>
                        <a:ea typeface="微软雅黑" panose="020B0503020204020204" charset="-122"/>
                      </a:endParaRPr>
                    </a:p>
                  </a:txBody>
                  <a:tcPr marL="51117" marR="51117" marT="36195" marB="36195" anchor="ctr">
                    <a:solidFill>
                      <a:schemeClr val="bg1"/>
                    </a:solidFill>
                  </a:tcPr>
                </a:tc>
                <a:tc>
                  <a:txBody>
                    <a:bodyPr/>
                    <a:p>
                      <a:pPr marL="71755" indent="0" algn="ctr" fontAlgn="auto">
                        <a:lnSpc>
                          <a:spcPct val="90000"/>
                        </a:lnSpc>
                      </a:pPr>
                      <a:r>
                        <a:rPr lang="zh-CN" altLang="en-US" sz="1000" dirty="0">
                          <a:latin typeface="微软雅黑" panose="020B0503020204020204" charset="-122"/>
                          <a:ea typeface="微软雅黑" panose="020B0503020204020204" charset="-122"/>
                        </a:rPr>
                        <a:t>含</a:t>
                      </a:r>
                      <a:r>
                        <a:rPr lang="zh-CN" altLang="en-US" sz="1000" b="1" dirty="0">
                          <a:latin typeface="微软雅黑" panose="020B0503020204020204" charset="-122"/>
                          <a:ea typeface="微软雅黑" panose="020B0503020204020204" charset="-122"/>
                        </a:rPr>
                        <a:t>总则、判定标准、排查治理、监督管理、法律责任</a:t>
                      </a:r>
                      <a:r>
                        <a:rPr lang="zh-CN" altLang="en-US" sz="1000" dirty="0">
                          <a:latin typeface="微软雅黑" panose="020B0503020204020204" charset="-122"/>
                          <a:ea typeface="微软雅黑" panose="020B0503020204020204" charset="-122"/>
                        </a:rPr>
                        <a:t>，全流程闭环</a:t>
                      </a:r>
                      <a:endParaRPr lang="zh-CN" altLang="en-US" sz="1000" dirty="0">
                        <a:latin typeface="微软雅黑" panose="020B0503020204020204" charset="-122"/>
                        <a:ea typeface="微软雅黑" panose="020B0503020204020204" charset="-122"/>
                      </a:endParaRPr>
                    </a:p>
                  </a:txBody>
                  <a:tcPr marL="51117" marR="51117" marT="36195" marB="36195" anchor="ctr">
                    <a:solidFill>
                      <a:schemeClr val="bg1"/>
                    </a:solidFill>
                  </a:tcPr>
                </a:tc>
                <a:tc>
                  <a:txBody>
                    <a:bodyPr/>
                    <a:p>
                      <a:pPr indent="0" algn="ctr" fontAlgn="auto">
                        <a:lnSpc>
                          <a:spcPct val="90000"/>
                        </a:lnSpc>
                      </a:pPr>
                      <a:r>
                        <a:rPr lang="zh-CN" altLang="en-US" sz="1000" dirty="0">
                          <a:latin typeface="微软雅黑" panose="020B0503020204020204" charset="-122"/>
                          <a:ea typeface="微软雅黑" panose="020B0503020204020204" charset="-122"/>
                          <a:cs typeface="微软雅黑" panose="020B0503020204020204" charset="-122"/>
                        </a:rPr>
                        <a:t>从 </a:t>
                      </a:r>
                      <a:r>
                        <a:rPr lang="zh-CN" altLang="en-US" sz="1000" b="1" dirty="0">
                          <a:latin typeface="微软雅黑" panose="020B0503020204020204" charset="-122"/>
                          <a:ea typeface="微软雅黑" panose="020B0503020204020204" charset="-122"/>
                          <a:cs typeface="微软雅黑" panose="020B0503020204020204" charset="-122"/>
                        </a:rPr>
                        <a:t>“只管判定”</a:t>
                      </a:r>
                      <a:r>
                        <a:rPr lang="zh-CN" altLang="en-US" sz="1000" dirty="0">
                          <a:latin typeface="微软雅黑" panose="020B0503020204020204" charset="-122"/>
                          <a:ea typeface="微软雅黑" panose="020B0503020204020204" charset="-122"/>
                          <a:cs typeface="微软雅黑" panose="020B0503020204020204" charset="-122"/>
                        </a:rPr>
                        <a:t> 到 </a:t>
                      </a:r>
                      <a:r>
                        <a:rPr lang="zh-CN" altLang="en-US" sz="1000" b="1" dirty="0">
                          <a:latin typeface="微软雅黑" panose="020B0503020204020204" charset="-122"/>
                          <a:ea typeface="微软雅黑" panose="020B0503020204020204" charset="-122"/>
                          <a:cs typeface="微软雅黑" panose="020B0503020204020204" charset="-122"/>
                        </a:rPr>
                        <a:t>“全链条管理”</a:t>
                      </a:r>
                      <a:r>
                        <a:rPr lang="zh-CN" altLang="en-US" sz="1000" dirty="0">
                          <a:latin typeface="微软雅黑" panose="020B0503020204020204" charset="-122"/>
                          <a:ea typeface="微软雅黑" panose="020B0503020204020204" charset="-122"/>
                          <a:cs typeface="微软雅黑" panose="020B0503020204020204" charset="-122"/>
                        </a:rPr>
                        <a:t>，可落地性强</a:t>
                      </a:r>
                      <a:endParaRPr lang="zh-CN" altLang="en-US" sz="1000" dirty="0">
                        <a:latin typeface="微软雅黑" panose="020B0503020204020204" charset="-122"/>
                        <a:ea typeface="微软雅黑" panose="020B0503020204020204" charset="-122"/>
                        <a:cs typeface="微软雅黑" panose="020B0503020204020204" charset="-122"/>
                      </a:endParaRPr>
                    </a:p>
                  </a:txBody>
                  <a:tcPr marL="51117" marR="51117" marT="36195" marB="36195" anchor="ctr">
                    <a:solidFill>
                      <a:schemeClr val="bg1"/>
                    </a:solidFill>
                  </a:tcPr>
                </a:tc>
              </a:tr>
              <a:tr h="422910">
                <a:tc>
                  <a:txBody>
                    <a:bodyPr/>
                    <a:p>
                      <a:pPr indent="0" algn="ctr" fontAlgn="auto">
                        <a:lnSpc>
                          <a:spcPct val="90000"/>
                        </a:lnSpc>
                      </a:pPr>
                      <a:r>
                        <a:rPr lang="zh-CN" altLang="en-US" sz="1000" b="1" dirty="0">
                          <a:latin typeface="微软雅黑" panose="020B0503020204020204" charset="-122"/>
                          <a:ea typeface="微软雅黑" panose="020B0503020204020204" charset="-122"/>
                        </a:rPr>
                        <a:t>治理流程</a:t>
                      </a:r>
                      <a:endParaRPr lang="zh-CN" altLang="en-US" sz="1000" b="1" dirty="0">
                        <a:latin typeface="微软雅黑" panose="020B0503020204020204" charset="-122"/>
                        <a:ea typeface="微软雅黑" panose="020B0503020204020204" charset="-122"/>
                      </a:endParaRPr>
                    </a:p>
                  </a:txBody>
                  <a:tcPr marL="51117" marR="51117" marT="36195" marB="36195" anchor="ctr">
                    <a:solidFill>
                      <a:schemeClr val="bg2"/>
                    </a:solidFill>
                  </a:tcPr>
                </a:tc>
                <a:tc>
                  <a:txBody>
                    <a:bodyPr/>
                    <a:p>
                      <a:pPr indent="0" algn="ctr" fontAlgn="auto">
                        <a:lnSpc>
                          <a:spcPct val="90000"/>
                        </a:lnSpc>
                      </a:pPr>
                      <a:r>
                        <a:rPr lang="zh-CN" altLang="en-US" sz="1000" b="1">
                          <a:latin typeface="微软雅黑" panose="020B0503020204020204" charset="-122"/>
                          <a:ea typeface="微软雅黑" panose="020B0503020204020204" charset="-122"/>
                        </a:rPr>
                        <a:t>无明确排查、治理、销号、上报</a:t>
                      </a:r>
                      <a:r>
                        <a:rPr lang="zh-CN" altLang="en-US" sz="1000">
                          <a:latin typeface="微软雅黑" panose="020B0503020204020204" charset="-122"/>
                          <a:ea typeface="微软雅黑" panose="020B0503020204020204" charset="-122"/>
                        </a:rPr>
                        <a:t>流程</a:t>
                      </a:r>
                      <a:endParaRPr lang="zh-CN" altLang="en-US" sz="1000">
                        <a:latin typeface="微软雅黑" panose="020B0503020204020204" charset="-122"/>
                        <a:ea typeface="微软雅黑" panose="020B0503020204020204" charset="-122"/>
                      </a:endParaRPr>
                    </a:p>
                  </a:txBody>
                  <a:tcPr marL="51117" marR="51117" marT="36195" marB="36195" anchor="ctr">
                    <a:solidFill>
                      <a:schemeClr val="bg1"/>
                    </a:solidFill>
                  </a:tcPr>
                </a:tc>
                <a:tc>
                  <a:txBody>
                    <a:bodyPr/>
                    <a:p>
                      <a:pPr indent="0" algn="ctr" fontAlgn="auto">
                        <a:lnSpc>
                          <a:spcPct val="90000"/>
                        </a:lnSpc>
                      </a:pPr>
                      <a:r>
                        <a:rPr lang="zh-CN" altLang="en-US" sz="1000" dirty="0">
                          <a:latin typeface="微软雅黑" panose="020B0503020204020204" charset="-122"/>
                          <a:ea typeface="微软雅黑" panose="020B0503020204020204" charset="-122"/>
                        </a:rPr>
                        <a:t>规定更宽松、颗粒度粗</a:t>
                      </a:r>
                      <a:endParaRPr lang="zh-CN" altLang="en-US" sz="1000" dirty="0">
                        <a:latin typeface="微软雅黑" panose="020B0503020204020204" charset="-122"/>
                        <a:ea typeface="微软雅黑" panose="020B0503020204020204" charset="-122"/>
                      </a:endParaRPr>
                    </a:p>
                  </a:txBody>
                  <a:tcPr marL="51117" marR="51117" marT="36195" marB="36195" anchor="ctr">
                    <a:solidFill>
                      <a:schemeClr val="bg1"/>
                    </a:solidFill>
                  </a:tcPr>
                </a:tc>
                <a:tc>
                  <a:txBody>
                    <a:bodyPr/>
                    <a:p>
                      <a:pPr indent="0" algn="ctr" fontAlgn="auto">
                        <a:lnSpc>
                          <a:spcPct val="90000"/>
                        </a:lnSpc>
                      </a:pPr>
                      <a:r>
                        <a:rPr lang="zh-CN" altLang="en-US" sz="1000" dirty="0">
                          <a:latin typeface="微软雅黑" panose="020B0503020204020204" charset="-122"/>
                          <a:ea typeface="微软雅黑" panose="020B0503020204020204" charset="-122"/>
                        </a:rPr>
                        <a:t>细化</a:t>
                      </a:r>
                      <a:r>
                        <a:rPr lang="zh-CN" altLang="en-US" sz="1000" b="1" dirty="0">
                          <a:latin typeface="微软雅黑" panose="020B0503020204020204" charset="-122"/>
                          <a:ea typeface="微软雅黑" panose="020B0503020204020204" charset="-122"/>
                        </a:rPr>
                        <a:t>排查频次、治理时限、上报要求、销号标准</a:t>
                      </a:r>
                      <a:r>
                        <a:rPr lang="zh-CN" altLang="en-US" sz="1000" dirty="0">
                          <a:latin typeface="微软雅黑" panose="020B0503020204020204" charset="-122"/>
                          <a:ea typeface="微软雅黑" panose="020B0503020204020204" charset="-122"/>
                        </a:rPr>
                        <a:t>，明确责任链条</a:t>
                      </a:r>
                      <a:endParaRPr lang="zh-CN" altLang="en-US" sz="1000" dirty="0">
                        <a:latin typeface="微软雅黑" panose="020B0503020204020204" charset="-122"/>
                        <a:ea typeface="微软雅黑" panose="020B0503020204020204" charset="-122"/>
                      </a:endParaRPr>
                    </a:p>
                  </a:txBody>
                  <a:tcPr marL="51117" marR="51117" marT="36195" marB="36195" anchor="ctr">
                    <a:solidFill>
                      <a:schemeClr val="bg1"/>
                    </a:solidFill>
                  </a:tcPr>
                </a:tc>
                <a:tc>
                  <a:txBody>
                    <a:bodyPr/>
                    <a:p>
                      <a:pPr indent="0" algn="ctr" fontAlgn="auto">
                        <a:lnSpc>
                          <a:spcPct val="90000"/>
                        </a:lnSpc>
                      </a:pPr>
                      <a:r>
                        <a:rPr lang="zh-CN" altLang="en-US" sz="1000" dirty="0">
                          <a:latin typeface="微软雅黑" panose="020B0503020204020204" charset="-122"/>
                          <a:ea typeface="微软雅黑" panose="020B0503020204020204" charset="-122"/>
                        </a:rPr>
                        <a:t>流程可操作，责任可追溯，执行有依据</a:t>
                      </a:r>
                      <a:endParaRPr lang="zh-CN" altLang="en-US" sz="1000" dirty="0">
                        <a:latin typeface="微软雅黑" panose="020B0503020204020204" charset="-122"/>
                        <a:ea typeface="微软雅黑" panose="020B0503020204020204" charset="-122"/>
                      </a:endParaRPr>
                    </a:p>
                  </a:txBody>
                  <a:tcPr marL="51117" marR="51117" marT="36195" marB="36195" anchor="ctr">
                    <a:solidFill>
                      <a:schemeClr val="bg1"/>
                    </a:solidFill>
                  </a:tcPr>
                </a:tc>
              </a:tr>
              <a:tr h="424180">
                <a:tc>
                  <a:txBody>
                    <a:bodyPr/>
                    <a:p>
                      <a:pPr indent="0" algn="ctr" fontAlgn="auto">
                        <a:lnSpc>
                          <a:spcPct val="90000"/>
                        </a:lnSpc>
                      </a:pPr>
                      <a:r>
                        <a:rPr lang="zh-CN" altLang="en-US" sz="1000" b="1" dirty="0">
                          <a:latin typeface="微软雅黑" panose="020B0503020204020204" charset="-122"/>
                          <a:ea typeface="微软雅黑" panose="020B0503020204020204" charset="-122"/>
                        </a:rPr>
                        <a:t>责任追究</a:t>
                      </a:r>
                      <a:endParaRPr lang="zh-CN" altLang="en-US" sz="1000" b="1" dirty="0">
                        <a:latin typeface="微软雅黑" panose="020B0503020204020204" charset="-122"/>
                        <a:ea typeface="微软雅黑" panose="020B0503020204020204" charset="-122"/>
                      </a:endParaRPr>
                    </a:p>
                  </a:txBody>
                  <a:tcPr marL="51117" marR="51117" marT="36195" marB="36195" anchor="ctr">
                    <a:solidFill>
                      <a:schemeClr val="bg2"/>
                    </a:solidFill>
                  </a:tcPr>
                </a:tc>
                <a:tc>
                  <a:txBody>
                    <a:bodyPr/>
                    <a:p>
                      <a:pPr indent="0" algn="ctr" fontAlgn="auto">
                        <a:lnSpc>
                          <a:spcPct val="90000"/>
                        </a:lnSpc>
                      </a:pPr>
                      <a:r>
                        <a:rPr lang="zh-CN" altLang="en-US" sz="1000">
                          <a:latin typeface="微软雅黑" panose="020B0503020204020204" charset="-122"/>
                          <a:ea typeface="微软雅黑" panose="020B0503020204020204" charset="-122"/>
                        </a:rPr>
                        <a:t>原则性规定，</a:t>
                      </a:r>
                      <a:r>
                        <a:rPr lang="zh-CN" altLang="en-US" sz="1000" b="1">
                          <a:latin typeface="微软雅黑" panose="020B0503020204020204" charset="-122"/>
                          <a:ea typeface="微软雅黑" panose="020B0503020204020204" charset="-122"/>
                        </a:rPr>
                        <a:t>无具体追责条款</a:t>
                      </a:r>
                      <a:endParaRPr lang="zh-CN" altLang="en-US" sz="1000" b="1">
                        <a:latin typeface="微软雅黑" panose="020B0503020204020204" charset="-122"/>
                        <a:ea typeface="微软雅黑" panose="020B0503020204020204" charset="-122"/>
                      </a:endParaRPr>
                    </a:p>
                  </a:txBody>
                  <a:tcPr marL="51117" marR="51117" marT="36195" marB="36195" anchor="ctr">
                    <a:solidFill>
                      <a:schemeClr val="bg1"/>
                    </a:solidFill>
                  </a:tcPr>
                </a:tc>
                <a:tc>
                  <a:txBody>
                    <a:bodyPr/>
                    <a:p>
                      <a:pPr indent="0" algn="ctr" fontAlgn="auto">
                        <a:lnSpc>
                          <a:spcPct val="90000"/>
                        </a:lnSpc>
                      </a:pPr>
                      <a:r>
                        <a:rPr lang="zh-CN" altLang="en-US" sz="1000" b="1" dirty="0">
                          <a:latin typeface="微软雅黑" panose="020B0503020204020204" charset="-122"/>
                          <a:ea typeface="微软雅黑" panose="020B0503020204020204" charset="-122"/>
                        </a:rPr>
                        <a:t>无独立追责条款</a:t>
                      </a:r>
                      <a:r>
                        <a:rPr lang="zh-CN" altLang="en-US" sz="1000" b="0" dirty="0">
                          <a:latin typeface="微软雅黑" panose="020B0503020204020204" charset="-122"/>
                          <a:ea typeface="微软雅黑" panose="020B0503020204020204" charset="-122"/>
                        </a:rPr>
                        <a:t>，处罚依据需援引</a:t>
                      </a:r>
                      <a:r>
                        <a:rPr lang="en-US" altLang="zh-CN" sz="1000" b="0" dirty="0">
                          <a:latin typeface="微软雅黑" panose="020B0503020204020204" charset="-122"/>
                          <a:ea typeface="微软雅黑" panose="020B0503020204020204" charset="-122"/>
                        </a:rPr>
                        <a:t>《</a:t>
                      </a:r>
                      <a:r>
                        <a:rPr lang="zh-CN" altLang="en-US" sz="1000" b="0" dirty="0">
                          <a:latin typeface="微软雅黑" panose="020B0503020204020204" charset="-122"/>
                          <a:ea typeface="微软雅黑" panose="020B0503020204020204" charset="-122"/>
                        </a:rPr>
                        <a:t>安全生产法</a:t>
                      </a:r>
                      <a:r>
                        <a:rPr lang="en-US" altLang="zh-CN" sz="1000" b="0" dirty="0">
                          <a:latin typeface="微软雅黑" panose="020B0503020204020204" charset="-122"/>
                          <a:ea typeface="微软雅黑" panose="020B0503020204020204" charset="-122"/>
                        </a:rPr>
                        <a:t>》</a:t>
                      </a:r>
                      <a:r>
                        <a:rPr lang="zh-CN" altLang="en-US" sz="1000" b="0" dirty="0">
                          <a:latin typeface="微软雅黑" panose="020B0503020204020204" charset="-122"/>
                          <a:ea typeface="微软雅黑" panose="020B0503020204020204" charset="-122"/>
                        </a:rPr>
                        <a:t>等上位法</a:t>
                      </a:r>
                      <a:endParaRPr lang="zh-CN" altLang="en-US" sz="1000" b="0" dirty="0">
                        <a:latin typeface="微软雅黑" panose="020B0503020204020204" charset="-122"/>
                        <a:ea typeface="微软雅黑" panose="020B0503020204020204" charset="-122"/>
                      </a:endParaRPr>
                    </a:p>
                  </a:txBody>
                  <a:tcPr marL="51117" marR="51117" marT="36195" marB="36195" anchor="ctr">
                    <a:solidFill>
                      <a:schemeClr val="bg1"/>
                    </a:solidFill>
                  </a:tcPr>
                </a:tc>
                <a:tc>
                  <a:txBody>
                    <a:bodyPr/>
                    <a:p>
                      <a:pPr indent="0" algn="ctr" fontAlgn="auto">
                        <a:lnSpc>
                          <a:spcPct val="90000"/>
                        </a:lnSpc>
                      </a:pPr>
                      <a:r>
                        <a:rPr lang="zh-CN" altLang="en-US" sz="1000" dirty="0">
                          <a:latin typeface="微软雅黑" panose="020B0503020204020204" charset="-122"/>
                          <a:ea typeface="微软雅黑" panose="020B0503020204020204" charset="-122"/>
                        </a:rPr>
                        <a:t>细化</a:t>
                      </a:r>
                      <a:r>
                        <a:rPr lang="zh-CN" altLang="en-US" sz="1000" b="1" dirty="0">
                          <a:latin typeface="微软雅黑" panose="020B0503020204020204" charset="-122"/>
                          <a:ea typeface="微软雅黑" panose="020B0503020204020204" charset="-122"/>
                        </a:rPr>
                        <a:t>追责情形与标准，</a:t>
                      </a:r>
                      <a:r>
                        <a:rPr lang="zh-CN" altLang="en-US" sz="1000" b="0" dirty="0">
                          <a:latin typeface="微软雅黑" panose="020B0503020204020204" charset="-122"/>
                          <a:ea typeface="微软雅黑" panose="020B0503020204020204" charset="-122"/>
                        </a:rPr>
                        <a:t>明确具体</a:t>
                      </a:r>
                      <a:r>
                        <a:rPr lang="zh-CN" altLang="en-US" sz="1000" b="1" dirty="0">
                          <a:latin typeface="微软雅黑" panose="020B0503020204020204" charset="-122"/>
                          <a:ea typeface="微软雅黑" panose="020B0503020204020204" charset="-122"/>
                        </a:rPr>
                        <a:t>罚款金额、措施</a:t>
                      </a:r>
                      <a:endParaRPr lang="zh-CN" altLang="en-US" sz="1000" b="1" dirty="0">
                        <a:latin typeface="微软雅黑" panose="020B0503020204020204" charset="-122"/>
                        <a:ea typeface="微软雅黑" panose="020B0503020204020204" charset="-122"/>
                      </a:endParaRPr>
                    </a:p>
                  </a:txBody>
                  <a:tcPr marL="51117" marR="51117" marT="36195" marB="36195" anchor="ctr">
                    <a:solidFill>
                      <a:schemeClr val="bg1"/>
                    </a:solidFill>
                  </a:tcPr>
                </a:tc>
                <a:tc>
                  <a:txBody>
                    <a:bodyPr/>
                    <a:p>
                      <a:pPr indent="0" algn="ctr" fontAlgn="auto">
                        <a:lnSpc>
                          <a:spcPct val="90000"/>
                        </a:lnSpc>
                      </a:pPr>
                      <a:r>
                        <a:rPr lang="zh-CN" altLang="en-US" sz="1000" dirty="0">
                          <a:latin typeface="微软雅黑" panose="020B0503020204020204" charset="-122"/>
                          <a:ea typeface="微软雅黑" panose="020B0503020204020204" charset="-122"/>
                          <a:cs typeface="微软雅黑" panose="020B0503020204020204" charset="-122"/>
                        </a:rPr>
                        <a:t>从 “</a:t>
                      </a:r>
                      <a:r>
                        <a:rPr lang="zh-CN" altLang="en-US" sz="1000" b="1" dirty="0">
                          <a:latin typeface="微软雅黑" panose="020B0503020204020204" charset="-122"/>
                          <a:ea typeface="微软雅黑" panose="020B0503020204020204" charset="-122"/>
                          <a:cs typeface="微软雅黑" panose="020B0503020204020204" charset="-122"/>
                        </a:rPr>
                        <a:t>软约束”</a:t>
                      </a:r>
                      <a:r>
                        <a:rPr lang="zh-CN" altLang="en-US" sz="1000" dirty="0">
                          <a:latin typeface="微软雅黑" panose="020B0503020204020204" charset="-122"/>
                          <a:ea typeface="微软雅黑" panose="020B0503020204020204" charset="-122"/>
                          <a:cs typeface="微软雅黑" panose="020B0503020204020204" charset="-122"/>
                        </a:rPr>
                        <a:t> 到 </a:t>
                      </a:r>
                      <a:r>
                        <a:rPr lang="zh-CN" altLang="en-US" sz="1000" b="1" dirty="0">
                          <a:latin typeface="微软雅黑" panose="020B0503020204020204" charset="-122"/>
                          <a:ea typeface="微软雅黑" panose="020B0503020204020204" charset="-122"/>
                          <a:cs typeface="微软雅黑" panose="020B0503020204020204" charset="-122"/>
                        </a:rPr>
                        <a:t>“硬问责”</a:t>
                      </a:r>
                      <a:r>
                        <a:rPr lang="zh-CN" altLang="en-US" sz="1000" dirty="0">
                          <a:latin typeface="微软雅黑" panose="020B0503020204020204" charset="-122"/>
                          <a:ea typeface="微软雅黑" panose="020B0503020204020204" charset="-122"/>
                          <a:cs typeface="微软雅黑" panose="020B0503020204020204" charset="-122"/>
                        </a:rPr>
                        <a:t>，强化刚性执行</a:t>
                      </a:r>
                      <a:endParaRPr lang="zh-CN" altLang="en-US" sz="1000" dirty="0">
                        <a:latin typeface="微软雅黑" panose="020B0503020204020204" charset="-122"/>
                        <a:ea typeface="微软雅黑" panose="020B0503020204020204" charset="-122"/>
                        <a:cs typeface="微软雅黑" panose="020B0503020204020204" charset="-122"/>
                      </a:endParaRPr>
                    </a:p>
                  </a:txBody>
                  <a:tcPr marL="51117" marR="51117" marT="36195" marB="36195" anchor="ctr">
                    <a:solidFill>
                      <a:schemeClr val="bg1"/>
                    </a:solidFill>
                  </a:tcPr>
                </a:tc>
              </a:tr>
              <a:tr h="422910">
                <a:tc>
                  <a:txBody>
                    <a:bodyPr/>
                    <a:p>
                      <a:pPr indent="0" algn="ctr" fontAlgn="auto">
                        <a:lnSpc>
                          <a:spcPct val="90000"/>
                        </a:lnSpc>
                      </a:pPr>
                      <a:r>
                        <a:rPr lang="zh-CN" altLang="en-US" sz="1000" b="1" dirty="0">
                          <a:latin typeface="微软雅黑" panose="020B0503020204020204" charset="-122"/>
                          <a:ea typeface="微软雅黑" panose="020B0503020204020204" charset="-122"/>
                        </a:rPr>
                        <a:t>技术适配</a:t>
                      </a:r>
                      <a:endParaRPr lang="zh-CN" altLang="en-US" sz="1000" b="1" dirty="0">
                        <a:latin typeface="微软雅黑" panose="020B0503020204020204" charset="-122"/>
                        <a:ea typeface="微软雅黑" panose="020B0503020204020204" charset="-122"/>
                      </a:endParaRPr>
                    </a:p>
                  </a:txBody>
                  <a:tcPr marL="51117" marR="51117" marT="36195" marB="36195" anchor="ctr">
                    <a:solidFill>
                      <a:schemeClr val="bg2"/>
                    </a:solidFill>
                  </a:tcPr>
                </a:tc>
                <a:tc>
                  <a:txBody>
                    <a:bodyPr/>
                    <a:p>
                      <a:pPr indent="0" algn="ctr" fontAlgn="auto">
                        <a:lnSpc>
                          <a:spcPct val="90000"/>
                        </a:lnSpc>
                      </a:pPr>
                      <a:r>
                        <a:rPr lang="zh-CN" altLang="en-US" sz="1000" b="1">
                          <a:latin typeface="微软雅黑" panose="020B0503020204020204" charset="-122"/>
                          <a:ea typeface="微软雅黑" panose="020B0503020204020204" charset="-122"/>
                        </a:rPr>
                        <a:t>未覆盖</a:t>
                      </a:r>
                      <a:r>
                        <a:rPr lang="zh-CN" altLang="en-US" sz="1000">
                          <a:latin typeface="微软雅黑" panose="020B0503020204020204" charset="-122"/>
                          <a:ea typeface="微软雅黑" panose="020B0503020204020204" charset="-122"/>
                        </a:rPr>
                        <a:t>新型电力设备与技术风险</a:t>
                      </a:r>
                      <a:endParaRPr lang="zh-CN" altLang="en-US" sz="1000">
                        <a:latin typeface="微软雅黑" panose="020B0503020204020204" charset="-122"/>
                        <a:ea typeface="微软雅黑" panose="020B0503020204020204" charset="-122"/>
                      </a:endParaRPr>
                    </a:p>
                  </a:txBody>
                  <a:tcPr marL="51117" marR="51117" marT="36195" marB="36195" anchor="ctr">
                    <a:solidFill>
                      <a:schemeClr val="bg1"/>
                    </a:solidFill>
                  </a:tcPr>
                </a:tc>
                <a:tc>
                  <a:txBody>
                    <a:bodyPr/>
                    <a:p>
                      <a:pPr indent="0" algn="ctr" fontAlgn="auto">
                        <a:lnSpc>
                          <a:spcPct val="90000"/>
                        </a:lnSpc>
                      </a:pPr>
                      <a:r>
                        <a:rPr lang="zh-CN" altLang="en-US" sz="1000" dirty="0">
                          <a:latin typeface="微软雅黑" panose="020B0503020204020204" charset="-122"/>
                          <a:ea typeface="微软雅黑" panose="020B0503020204020204" charset="-122"/>
                        </a:rPr>
                        <a:t>适配</a:t>
                      </a:r>
                      <a:r>
                        <a:rPr lang="zh-CN" altLang="en-US" sz="1000" b="1" dirty="0">
                          <a:latin typeface="微软雅黑" panose="020B0503020204020204" charset="-122"/>
                          <a:ea typeface="微软雅黑" panose="020B0503020204020204" charset="-122"/>
                        </a:rPr>
                        <a:t>传统电力系统</a:t>
                      </a:r>
                      <a:r>
                        <a:rPr lang="zh-CN" altLang="en-US" sz="1000" dirty="0">
                          <a:latin typeface="微软雅黑" panose="020B0503020204020204" charset="-122"/>
                          <a:ea typeface="微软雅黑" panose="020B0503020204020204" charset="-122"/>
                        </a:rPr>
                        <a:t>，对新能源、网络安全等新兴领域覆盖不足</a:t>
                      </a:r>
                      <a:endParaRPr lang="zh-CN" altLang="en-US" sz="1000" dirty="0">
                        <a:latin typeface="微软雅黑" panose="020B0503020204020204" charset="-122"/>
                        <a:ea typeface="微软雅黑" panose="020B0503020204020204" charset="-122"/>
                      </a:endParaRPr>
                    </a:p>
                  </a:txBody>
                  <a:tcPr marL="51117" marR="51117" marT="36195" marB="36195" anchor="ctr">
                    <a:solidFill>
                      <a:schemeClr val="bg1"/>
                    </a:solidFill>
                  </a:tcPr>
                </a:tc>
                <a:tc>
                  <a:txBody>
                    <a:bodyPr/>
                    <a:p>
                      <a:pPr indent="0" algn="ctr" fontAlgn="auto">
                        <a:lnSpc>
                          <a:spcPct val="90000"/>
                        </a:lnSpc>
                      </a:pPr>
                      <a:r>
                        <a:rPr lang="zh-CN" altLang="en-US" sz="1000">
                          <a:latin typeface="微软雅黑" panose="020B0503020204020204" charset="-122"/>
                          <a:ea typeface="微软雅黑" panose="020B0503020204020204" charset="-122"/>
                        </a:rPr>
                        <a:t>新增</a:t>
                      </a:r>
                      <a:r>
                        <a:rPr lang="zh-CN" altLang="en-US" sz="1000" b="1">
                          <a:latin typeface="微软雅黑" panose="020B0503020204020204" charset="-122"/>
                          <a:ea typeface="微软雅黑" panose="020B0503020204020204" charset="-122"/>
                        </a:rPr>
                        <a:t>电化学储能、直流控制保护、反送电、智能化设备</a:t>
                      </a:r>
                      <a:r>
                        <a:rPr lang="zh-CN" altLang="en-US" sz="1000">
                          <a:latin typeface="微软雅黑" panose="020B0503020204020204" charset="-122"/>
                          <a:ea typeface="微软雅黑" panose="020B0503020204020204" charset="-122"/>
                        </a:rPr>
                        <a:t>等隐患判定标准</a:t>
                      </a:r>
                      <a:endParaRPr lang="zh-CN" altLang="en-US" sz="1000">
                        <a:latin typeface="微软雅黑" panose="020B0503020204020204" charset="-122"/>
                        <a:ea typeface="微软雅黑" panose="020B0503020204020204" charset="-122"/>
                      </a:endParaRPr>
                    </a:p>
                  </a:txBody>
                  <a:tcPr marL="51117" marR="51117" marT="36195" marB="36195" anchor="ctr">
                    <a:solidFill>
                      <a:schemeClr val="bg1"/>
                    </a:solidFill>
                  </a:tcPr>
                </a:tc>
                <a:tc>
                  <a:txBody>
                    <a:bodyPr/>
                    <a:p>
                      <a:pPr indent="0" algn="ctr" fontAlgn="auto">
                        <a:lnSpc>
                          <a:spcPct val="90000"/>
                        </a:lnSpc>
                      </a:pPr>
                      <a:r>
                        <a:rPr lang="zh-CN" altLang="en-US" sz="1000" dirty="0">
                          <a:latin typeface="微软雅黑" panose="020B0503020204020204" charset="-122"/>
                          <a:ea typeface="微软雅黑" panose="020B0503020204020204" charset="-122"/>
                        </a:rPr>
                        <a:t>适配技术发展，填补新领域监管空白</a:t>
                      </a:r>
                      <a:endParaRPr lang="zh-CN" altLang="en-US" sz="1000" dirty="0">
                        <a:latin typeface="微软雅黑" panose="020B0503020204020204" charset="-122"/>
                        <a:ea typeface="微软雅黑" panose="020B0503020204020204" charset="-122"/>
                      </a:endParaRPr>
                    </a:p>
                  </a:txBody>
                  <a:tcPr marL="51117" marR="51117" marT="36195" marB="36195" anchor="ctr">
                    <a:solidFill>
                      <a:schemeClr val="bg1"/>
                    </a:solidFill>
                  </a:tcPr>
                </a:tc>
              </a:tr>
            </a:tbl>
          </a:graphicData>
        </a:graphic>
      </p:graphicFrame>
      <p:sp>
        <p:nvSpPr>
          <p:cNvPr id="6" name="灯片编号占位符 5"/>
          <p:cNvSpPr>
            <a:spLocks noGrp="1"/>
          </p:cNvSpPr>
          <p:nvPr>
            <p:ph type="sldNum" sz="quarter" idx="4294967295"/>
          </p:nvPr>
        </p:nvSpPr>
        <p:spPr>
          <a:xfrm>
            <a:off x="9997440" y="6499860"/>
            <a:ext cx="2133600" cy="365125"/>
          </a:xfrm>
        </p:spPr>
        <p:txBody>
          <a:bodyPr/>
          <a:p>
            <a:fld id="{A10E9369-8E4E-4DE7-B129-F0280ABC27D7}" type="slidenum">
              <a:rPr lang="zh-CN" altLang="en-US" smtClean="0"/>
            </a:fld>
            <a:endParaRPr lang="zh-CN" altLang="en-US" dirty="0"/>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C:\Users\Administrator\Desktop\B15会议文件封面-11.png"/>
          <p:cNvPicPr>
            <a:picLocks noChangeAspect="1" noChangeArrowheads="1"/>
          </p:cNvPicPr>
          <p:nvPr/>
        </p:nvPicPr>
        <p:blipFill>
          <a:blip r:embed="rId1" cstate="print">
            <a:extLst>
              <a:ext uri="{28A0092B-C50C-407E-A947-70E740481C1C}">
                <a14:useLocalDpi xmlns:a14="http://schemas.microsoft.com/office/drawing/2010/main" val="0"/>
              </a:ext>
            </a:extLst>
          </a:blip>
          <a:srcRect l="2368" r="22060" b="77960"/>
          <a:stretch>
            <a:fillRect/>
          </a:stretch>
        </p:blipFill>
        <p:spPr bwMode="auto">
          <a:xfrm>
            <a:off x="8904312" y="87923"/>
            <a:ext cx="3096344" cy="676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8"/>
          <p:cNvSpPr txBox="1"/>
          <p:nvPr/>
        </p:nvSpPr>
        <p:spPr>
          <a:xfrm>
            <a:off x="168275" y="347345"/>
            <a:ext cx="6793865" cy="491490"/>
          </a:xfrm>
          <a:prstGeom prst="rect">
            <a:avLst/>
          </a:prstGeom>
          <a:noFill/>
        </p:spPr>
        <p:txBody>
          <a:bodyPr wrap="square" rtlCol="0">
            <a:spAutoFit/>
          </a:bodyPr>
          <a:p>
            <a:pPr algn="l">
              <a:buClrTx/>
              <a:buSzTx/>
              <a:buFont typeface="Wingdings" panose="05000000000000000000" charset="0"/>
              <a:buNone/>
            </a:pPr>
            <a:r>
              <a:rPr lang="zh-CN" sz="2600" b="1">
                <a:latin typeface="微软雅黑" panose="020B0503020204020204" charset="-122"/>
                <a:ea typeface="微软雅黑" panose="020B0503020204020204" charset="-122"/>
                <a:sym typeface="+mn-ea"/>
              </a:rPr>
              <a:t>一、</a:t>
            </a:r>
            <a:r>
              <a:rPr lang="zh-CN" sz="2600" b="1">
                <a:latin typeface="微软雅黑" panose="020B0503020204020204" charset="-122"/>
                <a:ea typeface="微软雅黑" panose="020B0503020204020204" charset="-122"/>
                <a:sym typeface="+mn-ea"/>
              </a:rPr>
              <a:t>国家发改委第41号令宣贯</a:t>
            </a:r>
            <a:endParaRPr sz="2600" b="1">
              <a:solidFill>
                <a:schemeClr val="tx1"/>
              </a:solidFill>
              <a:latin typeface="微软雅黑" panose="020B0503020204020204" charset="-122"/>
              <a:ea typeface="微软雅黑" panose="020B0503020204020204" charset="-122"/>
            </a:endParaRPr>
          </a:p>
        </p:txBody>
      </p:sp>
      <p:sp>
        <p:nvSpPr>
          <p:cNvPr id="9" name="矩形 8"/>
          <p:cNvSpPr/>
          <p:nvPr/>
        </p:nvSpPr>
        <p:spPr>
          <a:xfrm>
            <a:off x="386715" y="1026795"/>
            <a:ext cx="6733540" cy="467360"/>
          </a:xfrm>
          <a:prstGeom prst="rect">
            <a:avLst/>
          </a:prstGeom>
          <a:gradFill>
            <a:gsLst>
              <a:gs pos="0">
                <a:schemeClr val="accent1">
                  <a:lumMod val="5000"/>
                  <a:lumOff val="95000"/>
                </a:schemeClr>
              </a:gs>
              <a:gs pos="40000">
                <a:schemeClr val="accent1">
                  <a:lumMod val="59000"/>
                  <a:lumOff val="41000"/>
                </a:schemeClr>
              </a:gs>
              <a:gs pos="72000">
                <a:schemeClr val="accent1">
                  <a:lumMod val="45000"/>
                  <a:lumOff val="55000"/>
                </a:schemeClr>
              </a:gs>
              <a:gs pos="100000">
                <a:schemeClr val="accent1">
                  <a:lumMod val="30000"/>
                  <a:lumOff val="70000"/>
                </a:schemeClr>
              </a:gs>
            </a:gsLst>
            <a:lin ang="108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indent="457200" algn="l" fontAlgn="auto"/>
            <a:r>
              <a:rPr lang="zh-CN" altLang="en-US" b="1">
                <a:solidFill>
                  <a:schemeClr val="tx1"/>
                </a:solidFill>
                <a:latin typeface="微软雅黑" panose="020B0503020204020204" charset="-122"/>
                <a:ea typeface="微软雅黑" panose="020B0503020204020204" charset="-122"/>
              </a:rPr>
              <a:t>第一章</a:t>
            </a:r>
            <a:r>
              <a:rPr lang="en-US" altLang="zh-CN" b="1">
                <a:solidFill>
                  <a:schemeClr val="tx1"/>
                </a:solidFill>
                <a:latin typeface="微软雅黑" panose="020B0503020204020204" charset="-122"/>
                <a:ea typeface="微软雅黑" panose="020B0503020204020204" charset="-122"/>
              </a:rPr>
              <a:t>  </a:t>
            </a:r>
            <a:r>
              <a:rPr lang="zh-CN" altLang="en-US" b="1">
                <a:solidFill>
                  <a:schemeClr val="tx1"/>
                </a:solidFill>
                <a:latin typeface="微软雅黑" panose="020B0503020204020204" charset="-122"/>
                <a:ea typeface="微软雅黑" panose="020B0503020204020204" charset="-122"/>
              </a:rPr>
              <a:t>总则</a:t>
            </a:r>
            <a:endParaRPr lang="zh-CN" altLang="en-US" b="1">
              <a:solidFill>
                <a:schemeClr val="tx1"/>
              </a:solidFill>
              <a:latin typeface="微软雅黑" panose="020B0503020204020204" charset="-122"/>
              <a:ea typeface="微软雅黑" panose="020B0503020204020204" charset="-122"/>
            </a:endParaRPr>
          </a:p>
        </p:txBody>
      </p:sp>
      <p:grpSp>
        <p:nvGrpSpPr>
          <p:cNvPr id="11" name="组合 10"/>
          <p:cNvGrpSpPr/>
          <p:nvPr/>
        </p:nvGrpSpPr>
        <p:grpSpPr>
          <a:xfrm>
            <a:off x="386715" y="1839595"/>
            <a:ext cx="11306175" cy="4264660"/>
            <a:chOff x="1243675" y="2175765"/>
            <a:chExt cx="8175137" cy="2208776"/>
          </a:xfrm>
        </p:grpSpPr>
        <p:sp>
          <p:nvSpPr>
            <p:cNvPr id="13" name="矩形: 圆顶角 77"/>
            <p:cNvSpPr/>
            <p:nvPr/>
          </p:nvSpPr>
          <p:spPr>
            <a:xfrm>
              <a:off x="1243675" y="2175765"/>
              <a:ext cx="8175137" cy="1931528"/>
            </a:xfrm>
            <a:prstGeom prst="round2SameRect">
              <a:avLst>
                <a:gd name="adj1" fmla="val 6255"/>
                <a:gd name="adj2" fmla="val 0"/>
              </a:avLst>
            </a:prstGeom>
            <a:gradFill flip="none" rotWithShape="1">
              <a:gsLst>
                <a:gs pos="0">
                  <a:schemeClr val="bg1"/>
                </a:gs>
                <a:gs pos="100000">
                  <a:schemeClr val="bg1">
                    <a:alpha val="0"/>
                  </a:schemeClr>
                </a:gs>
              </a:gsLst>
              <a:lin ang="5400000" scaled="1"/>
              <a:tileRect/>
            </a:gradFill>
            <a:ln>
              <a:noFill/>
            </a:ln>
            <a:effectLst>
              <a:outerShdw blurRad="101600" dist="38100" dir="16200000" rotWithShape="0">
                <a:schemeClr val="accent1">
                  <a:lumMod val="5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14" name="文本框 13"/>
            <p:cNvSpPr txBox="1"/>
            <p:nvPr/>
          </p:nvSpPr>
          <p:spPr>
            <a:xfrm>
              <a:off x="1483810" y="2204807"/>
              <a:ext cx="7418460" cy="226600"/>
            </a:xfrm>
            <a:prstGeom prst="rect">
              <a:avLst/>
            </a:prstGeom>
            <a:noFill/>
            <a:effectLst/>
          </p:spPr>
          <p:txBody>
            <a:bodyPr vert="horz" wrap="square" lIns="91440" tIns="45720" rIns="91440" bIns="45720" rtlCol="0">
              <a:spAutoFit/>
            </a:bodyPr>
            <a:lstStyle>
              <a:defPPr>
                <a:defRPr lang="zh-CN"/>
              </a:defPPr>
              <a:lvl1pPr defTabSz="878205">
                <a:defRPr sz="2000" kern="100">
                  <a:gradFill flip="none" rotWithShape="1">
                    <a:gsLst>
                      <a:gs pos="0">
                        <a:srgbClr val="3465DD"/>
                      </a:gs>
                      <a:gs pos="100000">
                        <a:srgbClr val="0D35AD"/>
                      </a:gs>
                    </a:gsLst>
                    <a:lin ang="0" scaled="1"/>
                    <a:tileRect/>
                  </a:gradFill>
                  <a:effectLst>
                    <a:outerShdw blurRad="50800" dist="38100" dir="5400000" algn="t" rotWithShape="0">
                      <a:srgbClr val="0D35AD">
                        <a:alpha val="17000"/>
                      </a:srgbClr>
                    </a:outerShdw>
                  </a:effectLst>
                  <a:latin typeface="+mj-ea"/>
                  <a:ea typeface="+mj-ea"/>
                </a:defRPr>
              </a:lvl1pPr>
            </a:lstStyle>
            <a:p>
              <a:pPr marL="0" lvl="1" indent="385445" algn="l" fontAlgn="auto">
                <a:lnSpc>
                  <a:spcPts val="2700"/>
                </a:lnSpc>
                <a:buClrTx/>
                <a:buSzTx/>
                <a:buFontTx/>
              </a:pPr>
              <a:r>
                <a:rPr lang="zh-CN" altLang="en-US" sz="1600" b="1">
                  <a:solidFill>
                    <a:srgbClr val="2C5BD3"/>
                  </a:solidFill>
                  <a:latin typeface="微软雅黑" panose="020B0503020204020204" charset="-122"/>
                  <a:ea typeface="微软雅黑" panose="020B0503020204020204" charset="-122"/>
                  <a:sym typeface="宋体" panose="02010600030101010101" pitchFamily="2" charset="-122"/>
                </a:rPr>
                <a:t>第一章为总则，共</a:t>
              </a:r>
              <a:r>
                <a:rPr lang="zh-CN" altLang="en-US" sz="1600" b="1" i="1" u="sng">
                  <a:solidFill>
                    <a:srgbClr val="2C5BD3"/>
                  </a:solidFill>
                  <a:latin typeface="微软雅黑" panose="020B0503020204020204" charset="-122"/>
                  <a:ea typeface="微软雅黑" panose="020B0503020204020204" charset="-122"/>
                  <a:sym typeface="宋体" panose="02010600030101010101" pitchFamily="2" charset="-122"/>
                </a:rPr>
                <a:t>4条</a:t>
              </a:r>
              <a:r>
                <a:rPr lang="zh-CN" altLang="en-US" sz="1600" b="1">
                  <a:solidFill>
                    <a:srgbClr val="2C5BD3"/>
                  </a:solidFill>
                  <a:latin typeface="微软雅黑" panose="020B0503020204020204" charset="-122"/>
                  <a:ea typeface="微软雅黑" panose="020B0503020204020204" charset="-122"/>
                  <a:sym typeface="宋体" panose="02010600030101010101" pitchFamily="2" charset="-122"/>
                </a:rPr>
                <a:t>，</a:t>
              </a:r>
              <a:r>
                <a:rPr lang="zh-CN" altLang="en-US" sz="1600" b="1">
                  <a:solidFill>
                    <a:srgbClr val="2C5BD3"/>
                  </a:solidFill>
                  <a:latin typeface="微软雅黑" panose="020B0503020204020204" charset="-122"/>
                  <a:ea typeface="微软雅黑" panose="020B0503020204020204" charset="-122"/>
                  <a:sym typeface="+mn-ea"/>
                </a:rPr>
                <a:t>主要介绍了规定编制的目的、依据及各方职责</a:t>
              </a:r>
              <a:endParaRPr lang="zh-CN" altLang="en-US" sz="1600" b="1">
                <a:solidFill>
                  <a:srgbClr val="2C5BD3"/>
                </a:solidFill>
                <a:latin typeface="微软雅黑" panose="020B0503020204020204" charset="-122"/>
                <a:ea typeface="微软雅黑" panose="020B0503020204020204" charset="-122"/>
                <a:sym typeface="+mn-ea"/>
              </a:endParaRPr>
            </a:p>
          </p:txBody>
        </p:sp>
        <p:sp>
          <p:nvSpPr>
            <p:cNvPr id="15" name="文本框 14"/>
            <p:cNvSpPr txBox="1"/>
            <p:nvPr/>
          </p:nvSpPr>
          <p:spPr>
            <a:xfrm>
              <a:off x="1457179" y="2488532"/>
              <a:ext cx="7929033" cy="1896009"/>
            </a:xfrm>
            <a:prstGeom prst="rect">
              <a:avLst/>
            </a:prstGeom>
            <a:noFill/>
            <a:effectLst/>
          </p:spPr>
          <p:txBody>
            <a:bodyPr vert="horz" wrap="square" lIns="91440" tIns="45720" rIns="91440" bIns="45720" rtlCol="0" anchor="ctr" anchorCtr="0">
              <a:noAutofit/>
            </a:bodyPr>
            <a:lstStyle/>
            <a:p>
              <a:pPr marL="285750" indent="-285750" algn="just" fontAlgn="auto">
                <a:lnSpc>
                  <a:spcPts val="2700"/>
                </a:lnSpc>
                <a:spcAft>
                  <a:spcPts val="600"/>
                </a:spcAft>
                <a:buFont typeface="Wingdings" panose="05000000000000000000" charset="0"/>
                <a:buChar char="Ø"/>
              </a:pPr>
              <a:r>
                <a:rPr lang="zh-CN" altLang="en-US" sz="1600" b="1">
                  <a:solidFill>
                    <a:srgbClr val="0070C0"/>
                  </a:solidFill>
                  <a:latin typeface="微软雅黑" panose="020B0503020204020204" charset="-122"/>
                  <a:ea typeface="微软雅黑" panose="020B0503020204020204" charset="-122"/>
                  <a:sym typeface="+mn-ea"/>
                </a:rPr>
                <a:t>第一条</a:t>
              </a:r>
              <a:r>
                <a:rPr lang="zh-CN" altLang="en-US" sz="1600">
                  <a:solidFill>
                    <a:srgbClr val="0070C0"/>
                  </a:solidFill>
                  <a:latin typeface="微软雅黑" panose="020B0503020204020204" charset="-122"/>
                  <a:ea typeface="微软雅黑" panose="020B0503020204020204" charset="-122"/>
                  <a:sym typeface="+mn-ea"/>
                </a:rPr>
                <a:t> </a:t>
              </a:r>
              <a:r>
                <a:rPr lang="zh-CN" altLang="en-US" sz="1600">
                  <a:latin typeface="微软雅黑" panose="020B0503020204020204" charset="-122"/>
                  <a:ea typeface="微软雅黑" panose="020B0503020204020204" charset="-122"/>
                  <a:sym typeface="+mn-ea"/>
                </a:rPr>
                <a:t>为加强电力重大事故隐患</a:t>
              </a:r>
              <a:r>
                <a:rPr lang="zh-CN" altLang="en-US" sz="1600">
                  <a:latin typeface="楷体" panose="02010609060101010101" charset="-122"/>
                  <a:ea typeface="楷体" panose="02010609060101010101" charset="-122"/>
                  <a:sym typeface="+mn-ea"/>
                </a:rPr>
                <a:t>（以下简称重大隐患）</a:t>
              </a:r>
              <a:r>
                <a:rPr lang="zh-CN" altLang="en-US" sz="1600">
                  <a:latin typeface="微软雅黑" panose="020B0503020204020204" charset="-122"/>
                  <a:ea typeface="微软雅黑" panose="020B0503020204020204" charset="-122"/>
                  <a:sym typeface="+mn-ea"/>
                </a:rPr>
                <a:t>判定及排查治理工作，有效防范遏制电力事故</a:t>
              </a:r>
              <a:r>
                <a:rPr lang="zh-CN" altLang="en-US" sz="1600">
                  <a:solidFill>
                    <a:schemeClr val="tx1"/>
                  </a:solidFill>
                  <a:latin typeface="微软雅黑" panose="020B0503020204020204" charset="-122"/>
                  <a:ea typeface="微软雅黑" panose="020B0503020204020204" charset="-122"/>
                  <a:sym typeface="+mn-ea"/>
                </a:rPr>
                <a:t>，</a:t>
              </a:r>
              <a:r>
                <a:rPr lang="zh-CN" altLang="en-US" sz="1600" b="1">
                  <a:solidFill>
                    <a:schemeClr val="tx1"/>
                  </a:solidFill>
                  <a:latin typeface="微软雅黑" panose="020B0503020204020204" charset="-122"/>
                  <a:ea typeface="微软雅黑" panose="020B0503020204020204" charset="-122"/>
                  <a:sym typeface="+mn-ea"/>
                </a:rPr>
                <a:t>根据《中华人民共和国安全生产法》《电力监管条例》</a:t>
              </a:r>
              <a:r>
                <a:rPr lang="zh-CN" altLang="en-US" sz="1600">
                  <a:latin typeface="微软雅黑" panose="020B0503020204020204" charset="-122"/>
                  <a:ea typeface="微软雅黑" panose="020B0503020204020204" charset="-122"/>
                  <a:sym typeface="+mn-ea"/>
                </a:rPr>
                <a:t>以及有关法律法规规定，制定本规定。</a:t>
              </a:r>
              <a:endParaRPr lang="zh-CN" altLang="en-US" sz="1600">
                <a:latin typeface="微软雅黑" panose="020B0503020204020204" charset="-122"/>
                <a:ea typeface="微软雅黑" panose="020B0503020204020204" charset="-122"/>
                <a:sym typeface="+mn-ea"/>
              </a:endParaRPr>
            </a:p>
            <a:p>
              <a:pPr marL="285750" indent="-285750" algn="just" fontAlgn="auto">
                <a:lnSpc>
                  <a:spcPts val="2700"/>
                </a:lnSpc>
                <a:spcAft>
                  <a:spcPts val="600"/>
                </a:spcAft>
                <a:buFont typeface="Wingdings" panose="05000000000000000000" charset="0"/>
                <a:buChar char="Ø"/>
              </a:pPr>
              <a:r>
                <a:rPr lang="zh-CN" altLang="en-US" sz="1600" b="1">
                  <a:solidFill>
                    <a:srgbClr val="0070C0"/>
                  </a:solidFill>
                  <a:latin typeface="微软雅黑" panose="020B0503020204020204" charset="-122"/>
                  <a:ea typeface="微软雅黑" panose="020B0503020204020204" charset="-122"/>
                  <a:sym typeface="+mn-ea"/>
                </a:rPr>
                <a:t>第二条</a:t>
              </a:r>
              <a:r>
                <a:rPr lang="zh-CN" altLang="en-US" sz="1600">
                  <a:latin typeface="微软雅黑" panose="020B0503020204020204" charset="-122"/>
                  <a:ea typeface="微软雅黑" panose="020B0503020204020204" charset="-122"/>
                  <a:sym typeface="+mn-ea"/>
                </a:rPr>
                <a:t> 本规定所称</a:t>
              </a:r>
              <a:r>
                <a:rPr lang="zh-CN" altLang="en-US" sz="1600" b="1">
                  <a:solidFill>
                    <a:schemeClr val="tx1"/>
                  </a:solidFill>
                  <a:latin typeface="微软雅黑" panose="020B0503020204020204" charset="-122"/>
                  <a:ea typeface="微软雅黑" panose="020B0503020204020204" charset="-122"/>
                  <a:sym typeface="+mn-ea"/>
                </a:rPr>
                <a:t>重大隐患</a:t>
              </a:r>
              <a:r>
                <a:rPr lang="zh-CN" altLang="en-US" sz="1600">
                  <a:latin typeface="微软雅黑" panose="020B0503020204020204" charset="-122"/>
                  <a:ea typeface="微软雅黑" panose="020B0503020204020204" charset="-122"/>
                  <a:sym typeface="+mn-ea"/>
                </a:rPr>
                <a:t>是指电力企业</a:t>
              </a:r>
              <a:r>
                <a:rPr lang="zh-CN" altLang="en-US" sz="1600" b="1">
                  <a:latin typeface="微软雅黑" panose="020B0503020204020204" charset="-122"/>
                  <a:ea typeface="微软雅黑" panose="020B0503020204020204" charset="-122"/>
                  <a:sym typeface="+mn-ea"/>
                </a:rPr>
                <a:t>因安全风险管控措施缺失、失效或者弱化，可能造成大面积停电、重大人员伤亡、重大经济损失</a:t>
              </a:r>
              <a:r>
                <a:rPr lang="zh-CN" altLang="en-US" sz="1600">
                  <a:latin typeface="微软雅黑" panose="020B0503020204020204" charset="-122"/>
                  <a:ea typeface="微软雅黑" panose="020B0503020204020204" charset="-122"/>
                  <a:sym typeface="+mn-ea"/>
                </a:rPr>
                <a:t>等严重后果的</a:t>
              </a:r>
              <a:r>
                <a:rPr lang="zh-CN" altLang="en-US" sz="1600" b="1">
                  <a:latin typeface="微软雅黑" panose="020B0503020204020204" charset="-122"/>
                  <a:ea typeface="微软雅黑" panose="020B0503020204020204" charset="-122"/>
                  <a:sym typeface="+mn-ea"/>
                </a:rPr>
                <a:t>人的不安全行为、物的不安全状态、作业场所或者作业环境的其他不安全因素和安全管理上的缺陷。</a:t>
              </a:r>
              <a:endParaRPr lang="zh-CN" altLang="en-US" sz="1600" b="1">
                <a:latin typeface="微软雅黑" panose="020B0503020204020204" charset="-122"/>
                <a:ea typeface="微软雅黑" panose="020B0503020204020204" charset="-122"/>
                <a:sym typeface="+mn-ea"/>
              </a:endParaRPr>
            </a:p>
            <a:p>
              <a:pPr marL="285750" indent="-285750" algn="just" fontAlgn="auto">
                <a:lnSpc>
                  <a:spcPts val="2700"/>
                </a:lnSpc>
                <a:spcAft>
                  <a:spcPts val="600"/>
                </a:spcAft>
                <a:buFont typeface="Wingdings" panose="05000000000000000000" charset="0"/>
                <a:buChar char="Ø"/>
              </a:pPr>
              <a:r>
                <a:rPr lang="zh-CN" altLang="en-US" sz="1600" b="1">
                  <a:solidFill>
                    <a:srgbClr val="0070C0"/>
                  </a:solidFill>
                  <a:latin typeface="微软雅黑" panose="020B0503020204020204" charset="-122"/>
                  <a:ea typeface="微软雅黑" panose="020B0503020204020204" charset="-122"/>
                  <a:sym typeface="+mn-ea"/>
                </a:rPr>
                <a:t>第三条</a:t>
              </a:r>
              <a:r>
                <a:rPr lang="zh-CN" altLang="en-US" sz="1600">
                  <a:latin typeface="微软雅黑" panose="020B0503020204020204" charset="-122"/>
                  <a:ea typeface="微软雅黑" panose="020B0503020204020204" charset="-122"/>
                  <a:sym typeface="+mn-ea"/>
                </a:rPr>
                <a:t> 本规定</a:t>
              </a:r>
              <a:r>
                <a:rPr lang="zh-CN" altLang="en-US" sz="1600" b="1">
                  <a:latin typeface="微软雅黑" panose="020B0503020204020204" charset="-122"/>
                  <a:ea typeface="微软雅黑" panose="020B0503020204020204" charset="-122"/>
                  <a:sym typeface="+mn-ea"/>
                </a:rPr>
                <a:t>适用于电力领域重大隐患的判定、排查治理及监督管理</a:t>
              </a:r>
              <a:r>
                <a:rPr lang="zh-CN" altLang="en-US" sz="1600">
                  <a:latin typeface="微软雅黑" panose="020B0503020204020204" charset="-122"/>
                  <a:ea typeface="微软雅黑" panose="020B0503020204020204" charset="-122"/>
                  <a:sym typeface="+mn-ea"/>
                </a:rPr>
                <a:t>。危险化学品、消防（火灾）、特种设备等有关行业领域对重大事故隐患判定标准另有规定的，适用其规定。</a:t>
              </a:r>
              <a:endParaRPr lang="zh-CN" altLang="en-US" sz="1600">
                <a:latin typeface="微软雅黑" panose="020B0503020204020204" charset="-122"/>
                <a:ea typeface="微软雅黑" panose="020B0503020204020204" charset="-122"/>
                <a:sym typeface="+mn-ea"/>
              </a:endParaRPr>
            </a:p>
            <a:p>
              <a:pPr marL="285750" indent="-285750" algn="just" fontAlgn="auto">
                <a:lnSpc>
                  <a:spcPts val="2700"/>
                </a:lnSpc>
                <a:spcAft>
                  <a:spcPts val="600"/>
                </a:spcAft>
                <a:buFont typeface="Wingdings" panose="05000000000000000000" charset="0"/>
                <a:buChar char="Ø"/>
              </a:pPr>
              <a:r>
                <a:rPr lang="zh-CN" altLang="en-US" sz="1600" b="1">
                  <a:solidFill>
                    <a:srgbClr val="0070C0"/>
                  </a:solidFill>
                  <a:latin typeface="微软雅黑" panose="020B0503020204020204" charset="-122"/>
                  <a:ea typeface="微软雅黑" panose="020B0503020204020204" charset="-122"/>
                  <a:sym typeface="+mn-ea"/>
                </a:rPr>
                <a:t>第四条</a:t>
              </a:r>
              <a:r>
                <a:rPr lang="zh-CN" altLang="en-US" sz="1600">
                  <a:latin typeface="微软雅黑" panose="020B0503020204020204" charset="-122"/>
                  <a:ea typeface="微软雅黑" panose="020B0503020204020204" charset="-122"/>
                  <a:sym typeface="+mn-ea"/>
                </a:rPr>
                <a:t> 电力企业</a:t>
              </a:r>
              <a:r>
                <a:rPr lang="zh-CN" altLang="en-US" sz="1600" b="1">
                  <a:latin typeface="微软雅黑" panose="020B0503020204020204" charset="-122"/>
                  <a:ea typeface="微软雅黑" panose="020B0503020204020204" charset="-122"/>
                  <a:sym typeface="+mn-ea"/>
                </a:rPr>
                <a:t>承担重大隐患排查治理主体责任</a:t>
              </a:r>
              <a:r>
                <a:rPr lang="zh-CN" altLang="en-US" sz="1600">
                  <a:latin typeface="微软雅黑" panose="020B0503020204020204" charset="-122"/>
                  <a:ea typeface="微软雅黑" panose="020B0503020204020204" charset="-122"/>
                  <a:sym typeface="+mn-ea"/>
                </a:rPr>
                <a:t>，按照本规定</a:t>
              </a:r>
              <a:r>
                <a:rPr lang="zh-CN" altLang="en-US" sz="1600" b="1">
                  <a:latin typeface="微软雅黑" panose="020B0503020204020204" charset="-122"/>
                  <a:ea typeface="微软雅黑" panose="020B0503020204020204" charset="-122"/>
                  <a:sym typeface="+mn-ea"/>
                </a:rPr>
                <a:t>开展重大隐患排查治理工作</a:t>
              </a:r>
              <a:r>
                <a:rPr lang="zh-CN" altLang="en-US" sz="1600">
                  <a:latin typeface="微软雅黑" panose="020B0503020204020204" charset="-122"/>
                  <a:ea typeface="微软雅黑" panose="020B0503020204020204" charset="-122"/>
                  <a:sym typeface="+mn-ea"/>
                </a:rPr>
                <a:t>。国家能源局及其派出机构、地方电力管理部门负重大隐患治理监督管理责任，按照本规定对电力企业重大隐患排查治理工作开展监督管理。</a:t>
              </a:r>
              <a:endParaRPr lang="zh-CN" sz="1600">
                <a:latin typeface="微软雅黑" panose="020B0503020204020204" charset="-122"/>
                <a:ea typeface="微软雅黑" panose="020B0503020204020204" charset="-122"/>
                <a:sym typeface="+mn-ea"/>
              </a:endParaRPr>
            </a:p>
          </p:txBody>
        </p:sp>
        <p:cxnSp>
          <p:nvCxnSpPr>
            <p:cNvPr id="16" name="直接连接符 15"/>
            <p:cNvCxnSpPr/>
            <p:nvPr/>
          </p:nvCxnSpPr>
          <p:spPr>
            <a:xfrm>
              <a:off x="1562100" y="2459818"/>
              <a:ext cx="7409180"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6" name="灯片编号占位符 5"/>
          <p:cNvSpPr>
            <a:spLocks noGrp="1"/>
          </p:cNvSpPr>
          <p:nvPr>
            <p:ph type="sldNum" sz="quarter" idx="4294967295"/>
          </p:nvPr>
        </p:nvSpPr>
        <p:spPr>
          <a:xfrm>
            <a:off x="9997440" y="6499860"/>
            <a:ext cx="2133600" cy="365125"/>
          </a:xfrm>
        </p:spPr>
        <p:txBody>
          <a:bodyPr/>
          <a:lstStyle/>
          <a:p>
            <a:fld id="{A10E9369-8E4E-4DE7-B129-F0280ABC27D7}" type="slidenum">
              <a:rPr lang="zh-CN" altLang="en-US" smtClean="0"/>
            </a:fld>
            <a:endParaRPr lang="zh-CN" altLang="en-US" dirty="0"/>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C:\Users\Administrator\Desktop\B15会议文件封面-11.png"/>
          <p:cNvPicPr>
            <a:picLocks noChangeAspect="1" noChangeArrowheads="1"/>
          </p:cNvPicPr>
          <p:nvPr/>
        </p:nvPicPr>
        <p:blipFill>
          <a:blip r:embed="rId1" cstate="print">
            <a:extLst>
              <a:ext uri="{28A0092B-C50C-407E-A947-70E740481C1C}">
                <a14:useLocalDpi xmlns:a14="http://schemas.microsoft.com/office/drawing/2010/main" val="0"/>
              </a:ext>
            </a:extLst>
          </a:blip>
          <a:srcRect l="2368" r="22060" b="77960"/>
          <a:stretch>
            <a:fillRect/>
          </a:stretch>
        </p:blipFill>
        <p:spPr bwMode="auto">
          <a:xfrm>
            <a:off x="8904312" y="87923"/>
            <a:ext cx="3096344" cy="676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8"/>
          <p:cNvSpPr txBox="1"/>
          <p:nvPr/>
        </p:nvSpPr>
        <p:spPr>
          <a:xfrm>
            <a:off x="168275" y="347345"/>
            <a:ext cx="6793865" cy="491490"/>
          </a:xfrm>
          <a:prstGeom prst="rect">
            <a:avLst/>
          </a:prstGeom>
          <a:noFill/>
        </p:spPr>
        <p:txBody>
          <a:bodyPr wrap="square" rtlCol="0">
            <a:spAutoFit/>
          </a:bodyPr>
          <a:p>
            <a:pPr algn="l">
              <a:buClrTx/>
              <a:buSzTx/>
              <a:buFont typeface="Wingdings" panose="05000000000000000000" charset="0"/>
              <a:buNone/>
            </a:pPr>
            <a:r>
              <a:rPr lang="zh-CN" sz="2600" b="1">
                <a:latin typeface="微软雅黑" panose="020B0503020204020204" charset="-122"/>
                <a:ea typeface="微软雅黑" panose="020B0503020204020204" charset="-122"/>
                <a:sym typeface="+mn-ea"/>
              </a:rPr>
              <a:t>一、</a:t>
            </a:r>
            <a:r>
              <a:rPr lang="zh-CN" sz="2600" b="1">
                <a:latin typeface="微软雅黑" panose="020B0503020204020204" charset="-122"/>
                <a:ea typeface="微软雅黑" panose="020B0503020204020204" charset="-122"/>
                <a:sym typeface="+mn-ea"/>
              </a:rPr>
              <a:t>国家发改委第41号令宣贯</a:t>
            </a:r>
            <a:endParaRPr sz="2600" b="1">
              <a:solidFill>
                <a:schemeClr val="tx1"/>
              </a:solidFill>
              <a:latin typeface="微软雅黑" panose="020B0503020204020204" charset="-122"/>
              <a:ea typeface="微软雅黑" panose="020B0503020204020204" charset="-122"/>
            </a:endParaRPr>
          </a:p>
        </p:txBody>
      </p:sp>
      <p:sp>
        <p:nvSpPr>
          <p:cNvPr id="9" name="矩形 8"/>
          <p:cNvSpPr/>
          <p:nvPr/>
        </p:nvSpPr>
        <p:spPr>
          <a:xfrm>
            <a:off x="481330" y="1032510"/>
            <a:ext cx="6733540" cy="467360"/>
          </a:xfrm>
          <a:prstGeom prst="rect">
            <a:avLst/>
          </a:prstGeom>
          <a:gradFill>
            <a:gsLst>
              <a:gs pos="0">
                <a:schemeClr val="accent1">
                  <a:lumMod val="5000"/>
                  <a:lumOff val="95000"/>
                </a:schemeClr>
              </a:gs>
              <a:gs pos="40000">
                <a:schemeClr val="accent1">
                  <a:lumMod val="59000"/>
                  <a:lumOff val="41000"/>
                </a:schemeClr>
              </a:gs>
              <a:gs pos="72000">
                <a:schemeClr val="accent1">
                  <a:lumMod val="45000"/>
                  <a:lumOff val="55000"/>
                </a:schemeClr>
              </a:gs>
              <a:gs pos="100000">
                <a:schemeClr val="accent1">
                  <a:lumMod val="30000"/>
                  <a:lumOff val="70000"/>
                </a:schemeClr>
              </a:gs>
            </a:gsLst>
            <a:lin ang="108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indent="457200" algn="l" fontAlgn="auto"/>
            <a:r>
              <a:rPr lang="zh-CN" altLang="en-US" b="1">
                <a:solidFill>
                  <a:schemeClr val="tx1"/>
                </a:solidFill>
                <a:latin typeface="微软雅黑" panose="020B0503020204020204" charset="-122"/>
                <a:ea typeface="微软雅黑" panose="020B0503020204020204" charset="-122"/>
              </a:rPr>
              <a:t>第二章</a:t>
            </a:r>
            <a:r>
              <a:rPr lang="en-US" altLang="zh-CN" b="1">
                <a:solidFill>
                  <a:schemeClr val="tx1"/>
                </a:solidFill>
                <a:latin typeface="微软雅黑" panose="020B0503020204020204" charset="-122"/>
                <a:ea typeface="微软雅黑" panose="020B0503020204020204" charset="-122"/>
              </a:rPr>
              <a:t>  </a:t>
            </a:r>
            <a:r>
              <a:rPr lang="zh-CN" altLang="en-US" b="1">
                <a:solidFill>
                  <a:schemeClr val="tx1"/>
                </a:solidFill>
                <a:latin typeface="微软雅黑" panose="020B0503020204020204" charset="-122"/>
                <a:ea typeface="微软雅黑" panose="020B0503020204020204" charset="-122"/>
              </a:rPr>
              <a:t>重大隐患判定标准（</a:t>
            </a:r>
            <a:r>
              <a:rPr lang="en-US" altLang="zh-CN" b="1">
                <a:solidFill>
                  <a:schemeClr val="tx1"/>
                </a:solidFill>
                <a:latin typeface="微软雅黑" panose="020B0503020204020204" charset="-122"/>
                <a:ea typeface="微软雅黑" panose="020B0503020204020204" charset="-122"/>
              </a:rPr>
              <a:t>1/4</a:t>
            </a:r>
            <a:r>
              <a:rPr lang="zh-CN" altLang="en-US" b="1">
                <a:solidFill>
                  <a:schemeClr val="tx1"/>
                </a:solidFill>
                <a:latin typeface="微软雅黑" panose="020B0503020204020204" charset="-122"/>
                <a:ea typeface="微软雅黑" panose="020B0503020204020204" charset="-122"/>
              </a:rPr>
              <a:t>）</a:t>
            </a:r>
            <a:r>
              <a:rPr lang="en-US" altLang="zh-CN" b="1">
                <a:solidFill>
                  <a:schemeClr val="tx1"/>
                </a:solidFill>
                <a:latin typeface="微软雅黑" panose="020B0503020204020204" charset="-122"/>
                <a:ea typeface="微软雅黑" panose="020B0503020204020204" charset="-122"/>
              </a:rPr>
              <a:t>——</a:t>
            </a:r>
            <a:r>
              <a:rPr lang="zh-CN" altLang="en-US" b="1">
                <a:solidFill>
                  <a:schemeClr val="tx1"/>
                </a:solidFill>
                <a:latin typeface="微软雅黑" panose="020B0503020204020204" charset="-122"/>
                <a:ea typeface="微软雅黑" panose="020B0503020204020204" charset="-122"/>
              </a:rPr>
              <a:t>总体</a:t>
            </a:r>
            <a:r>
              <a:rPr lang="zh-CN" altLang="en-US" b="1">
                <a:solidFill>
                  <a:schemeClr val="tx1"/>
                </a:solidFill>
                <a:latin typeface="微软雅黑" panose="020B0503020204020204" charset="-122"/>
                <a:ea typeface="微软雅黑" panose="020B0503020204020204" charset="-122"/>
              </a:rPr>
              <a:t>概况</a:t>
            </a:r>
            <a:endParaRPr lang="zh-CN" altLang="en-US" b="1">
              <a:solidFill>
                <a:schemeClr val="tx1"/>
              </a:solidFill>
              <a:latin typeface="微软雅黑" panose="020B0503020204020204" charset="-122"/>
              <a:ea typeface="微软雅黑" panose="020B0503020204020204" charset="-122"/>
            </a:endParaRPr>
          </a:p>
        </p:txBody>
      </p:sp>
      <p:grpSp>
        <p:nvGrpSpPr>
          <p:cNvPr id="11" name="组合 10"/>
          <p:cNvGrpSpPr/>
          <p:nvPr/>
        </p:nvGrpSpPr>
        <p:grpSpPr>
          <a:xfrm>
            <a:off x="339725" y="1593850"/>
            <a:ext cx="11306175" cy="3729355"/>
            <a:chOff x="1243675" y="2175765"/>
            <a:chExt cx="8175137" cy="1931528"/>
          </a:xfrm>
        </p:grpSpPr>
        <p:sp>
          <p:nvSpPr>
            <p:cNvPr id="13" name="矩形: 圆顶角 77"/>
            <p:cNvSpPr/>
            <p:nvPr/>
          </p:nvSpPr>
          <p:spPr>
            <a:xfrm>
              <a:off x="1243675" y="2175765"/>
              <a:ext cx="8175137" cy="1931528"/>
            </a:xfrm>
            <a:prstGeom prst="round2SameRect">
              <a:avLst>
                <a:gd name="adj1" fmla="val 6255"/>
                <a:gd name="adj2" fmla="val 0"/>
              </a:avLst>
            </a:prstGeom>
            <a:gradFill flip="none" rotWithShape="1">
              <a:gsLst>
                <a:gs pos="0">
                  <a:schemeClr val="bg1"/>
                </a:gs>
                <a:gs pos="100000">
                  <a:schemeClr val="bg1">
                    <a:alpha val="0"/>
                  </a:schemeClr>
                </a:gs>
              </a:gsLst>
              <a:lin ang="5400000" scaled="1"/>
              <a:tileRect/>
            </a:gradFill>
            <a:ln>
              <a:noFill/>
            </a:ln>
            <a:effectLst>
              <a:outerShdw blurRad="101600" dist="38100" dir="16200000" rotWithShape="0">
                <a:schemeClr val="accent1">
                  <a:lumMod val="5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14" name="文本框 13"/>
            <p:cNvSpPr txBox="1"/>
            <p:nvPr/>
          </p:nvSpPr>
          <p:spPr>
            <a:xfrm>
              <a:off x="1483810" y="2204707"/>
              <a:ext cx="7566306" cy="368349"/>
            </a:xfrm>
            <a:prstGeom prst="rect">
              <a:avLst/>
            </a:prstGeom>
            <a:noFill/>
            <a:effectLst/>
          </p:spPr>
          <p:txBody>
            <a:bodyPr vert="horz" wrap="square" lIns="91440" tIns="45720" rIns="91440" bIns="45720" rtlCol="0">
              <a:noAutofit/>
            </a:bodyPr>
            <a:lstStyle>
              <a:defPPr>
                <a:defRPr lang="zh-CN"/>
              </a:defPPr>
              <a:lvl1pPr defTabSz="878205">
                <a:defRPr sz="2000" kern="100">
                  <a:gradFill flip="none" rotWithShape="1">
                    <a:gsLst>
                      <a:gs pos="0">
                        <a:srgbClr val="3465DD"/>
                      </a:gs>
                      <a:gs pos="100000">
                        <a:srgbClr val="0D35AD"/>
                      </a:gs>
                    </a:gsLst>
                    <a:lin ang="0" scaled="1"/>
                    <a:tileRect/>
                  </a:gradFill>
                  <a:effectLst>
                    <a:outerShdw blurRad="50800" dist="38100" dir="5400000" algn="t" rotWithShape="0">
                      <a:srgbClr val="0D35AD">
                        <a:alpha val="17000"/>
                      </a:srgbClr>
                    </a:outerShdw>
                  </a:effectLst>
                  <a:latin typeface="+mj-ea"/>
                  <a:ea typeface="+mj-ea"/>
                </a:defRPr>
              </a:lvl1pPr>
            </a:lstStyle>
            <a:p>
              <a:pPr marL="0" lvl="1" indent="385445" algn="l" fontAlgn="auto">
                <a:lnSpc>
                  <a:spcPts val="2700"/>
                </a:lnSpc>
                <a:buClrTx/>
                <a:buSzTx/>
                <a:buFontTx/>
              </a:pPr>
              <a:r>
                <a:rPr lang="zh-CN" altLang="en-US" b="1">
                  <a:solidFill>
                    <a:srgbClr val="2C5BD3"/>
                  </a:solidFill>
                  <a:latin typeface="微软雅黑" panose="020B0503020204020204" charset="-122"/>
                  <a:ea typeface="微软雅黑" panose="020B0503020204020204" charset="-122"/>
                  <a:sym typeface="宋体" panose="02010600030101010101" pitchFamily="2" charset="-122"/>
                </a:rPr>
                <a:t>第二章为重大隐患判定标准，共</a:t>
              </a:r>
              <a:r>
                <a:rPr lang="zh-CN" altLang="en-US" b="1" i="1" u="sng">
                  <a:solidFill>
                    <a:srgbClr val="2C5BD3"/>
                  </a:solidFill>
                  <a:latin typeface="微软雅黑" panose="020B0503020204020204" charset="-122"/>
                  <a:ea typeface="微软雅黑" panose="020B0503020204020204" charset="-122"/>
                  <a:sym typeface="宋体" panose="02010600030101010101" pitchFamily="2" charset="-122"/>
                </a:rPr>
                <a:t>10</a:t>
              </a:r>
              <a:r>
                <a:rPr lang="zh-CN" altLang="en-US" b="1" i="1" u="sng">
                  <a:solidFill>
                    <a:srgbClr val="2C5BD3"/>
                  </a:solidFill>
                  <a:latin typeface="微软雅黑" panose="020B0503020204020204" charset="-122"/>
                  <a:ea typeface="微软雅黑" panose="020B0503020204020204" charset="-122"/>
                  <a:sym typeface="+mn-ea"/>
                </a:rPr>
                <a:t>条</a:t>
              </a:r>
              <a:r>
                <a:rPr lang="zh-CN" altLang="en-US" kern="100" noProof="0" dirty="0">
                  <a:ln>
                    <a:noFill/>
                  </a:ln>
                  <a:solidFill>
                    <a:prstClr val="black"/>
                  </a:solidFill>
                  <a:effectLst/>
                  <a:uLnTx/>
                  <a:uFillTx/>
                  <a:latin typeface="楷体" panose="02010609060101010101" charset="-122"/>
                  <a:ea typeface="楷体" panose="02010609060101010101" charset="-122"/>
                  <a:cs typeface="微软雅黑" panose="020B0503020204020204" charset="-122"/>
                  <a:sym typeface="+mn-ea"/>
                </a:rPr>
                <a:t>（第五条至第十四条）</a:t>
              </a:r>
              <a:r>
                <a:rPr lang="zh-CN" altLang="en-US" b="1">
                  <a:solidFill>
                    <a:srgbClr val="2C5BD3"/>
                  </a:solidFill>
                  <a:latin typeface="微软雅黑" panose="020B0503020204020204" charset="-122"/>
                  <a:ea typeface="微软雅黑" panose="020B0503020204020204" charset="-122"/>
                  <a:sym typeface="+mn-ea"/>
                </a:rPr>
                <a:t>， 由2022年试行标准的7类20项重大隐患情形</a:t>
              </a:r>
              <a:r>
                <a:rPr lang="zh-CN" altLang="en-US" b="1">
                  <a:solidFill>
                    <a:srgbClr val="002060"/>
                  </a:solidFill>
                  <a:latin typeface="微软雅黑" panose="020B0503020204020204" charset="-122"/>
                  <a:ea typeface="微软雅黑" panose="020B0503020204020204" charset="-122"/>
                  <a:sym typeface="+mn-ea"/>
                </a:rPr>
                <a:t>增至</a:t>
              </a:r>
              <a:r>
                <a:rPr lang="zh-CN" altLang="en-US" b="1" u="sng">
                  <a:solidFill>
                    <a:srgbClr val="002060"/>
                  </a:solidFill>
                  <a:latin typeface="微软雅黑" panose="020B0503020204020204" charset="-122"/>
                  <a:ea typeface="微软雅黑" panose="020B0503020204020204" charset="-122"/>
                  <a:sym typeface="+mn-ea"/>
                </a:rPr>
                <a:t>10类48项</a:t>
              </a:r>
              <a:r>
                <a:rPr lang="zh-CN" altLang="en-US" b="1">
                  <a:solidFill>
                    <a:srgbClr val="2C5BD3"/>
                  </a:solidFill>
                  <a:latin typeface="微软雅黑" panose="020B0503020204020204" charset="-122"/>
                  <a:ea typeface="微软雅黑" panose="020B0503020204020204" charset="-122"/>
                  <a:sym typeface="+mn-ea"/>
                </a:rPr>
                <a:t>重大隐患情形</a:t>
              </a:r>
              <a:endParaRPr lang="zh-CN" altLang="en-US" b="1">
                <a:solidFill>
                  <a:srgbClr val="2C5BD3"/>
                </a:solidFill>
                <a:latin typeface="微软雅黑" panose="020B0503020204020204" charset="-122"/>
                <a:ea typeface="微软雅黑" panose="020B0503020204020204" charset="-122"/>
                <a:sym typeface="+mn-ea"/>
              </a:endParaRPr>
            </a:p>
          </p:txBody>
        </p:sp>
        <p:sp>
          <p:nvSpPr>
            <p:cNvPr id="15" name="文本框 14"/>
            <p:cNvSpPr txBox="1"/>
            <p:nvPr/>
          </p:nvSpPr>
          <p:spPr>
            <a:xfrm>
              <a:off x="1457179" y="3226216"/>
              <a:ext cx="7929033" cy="878446"/>
            </a:xfrm>
            <a:prstGeom prst="rect">
              <a:avLst/>
            </a:prstGeom>
            <a:noFill/>
            <a:effectLst/>
          </p:spPr>
          <p:txBody>
            <a:bodyPr vert="horz" wrap="square" lIns="91440" tIns="45720" rIns="91440" bIns="45720" rtlCol="0">
              <a:noAutofit/>
            </a:bodyPr>
            <a:lstStyle/>
            <a:p>
              <a:pPr marL="285750" indent="-285750" algn="just" fontAlgn="auto">
                <a:lnSpc>
                  <a:spcPts val="2500"/>
                </a:lnSpc>
                <a:spcAft>
                  <a:spcPts val="300"/>
                </a:spcAft>
                <a:buFont typeface="Wingdings" panose="05000000000000000000" charset="0"/>
                <a:buChar char="Ø"/>
              </a:pPr>
              <a:endParaRPr lang="zh-CN" sz="1600">
                <a:latin typeface="微软雅黑" panose="020B0503020204020204" charset="-122"/>
                <a:ea typeface="微软雅黑" panose="020B0503020204020204" charset="-122"/>
                <a:sym typeface="+mn-ea"/>
              </a:endParaRPr>
            </a:p>
          </p:txBody>
        </p:sp>
        <p:cxnSp>
          <p:nvCxnSpPr>
            <p:cNvPr id="16" name="直接连接符 15"/>
            <p:cNvCxnSpPr/>
            <p:nvPr/>
          </p:nvCxnSpPr>
          <p:spPr>
            <a:xfrm>
              <a:off x="1562100" y="2617678"/>
              <a:ext cx="7409180"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4" name="文本框 3"/>
          <p:cNvSpPr txBox="1"/>
          <p:nvPr/>
        </p:nvSpPr>
        <p:spPr>
          <a:xfrm>
            <a:off x="635000" y="2461259"/>
            <a:ext cx="10965814" cy="3120391"/>
          </a:xfrm>
          <a:prstGeom prst="rect">
            <a:avLst/>
          </a:prstGeom>
          <a:noFill/>
          <a:effectLst/>
        </p:spPr>
        <p:txBody>
          <a:bodyPr vert="horz" wrap="square" lIns="91440" tIns="45720" rIns="91440" bIns="45720" rtlCol="0">
            <a:noAutofit/>
          </a:bodyPr>
          <a:lstStyle/>
          <a:p>
            <a:pPr marL="285750" marR="0" lvl="0" indent="-285750" algn="just" defTabSz="914400" rtl="0" fontAlgn="auto">
              <a:lnSpc>
                <a:spcPts val="2120"/>
              </a:lnSpc>
              <a:spcBef>
                <a:spcPts val="0"/>
              </a:spcBef>
              <a:spcAft>
                <a:spcPts val="0"/>
              </a:spcAft>
              <a:buClrTx/>
              <a:buSzTx/>
              <a:buFont typeface="Wingdings" panose="05000000000000000000" charset="0"/>
              <a:buChar char="Ø"/>
            </a:pPr>
            <a:r>
              <a:rPr lang="zh-CN" altLang="en-US" sz="1600" kern="10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ea"/>
              </a:rPr>
              <a:t>系统界定了</a:t>
            </a:r>
            <a:r>
              <a:rPr lang="zh-CN" altLang="en-US" sz="1600" b="1" kern="10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ea"/>
              </a:rPr>
              <a:t>电力行业九大领域</a:t>
            </a:r>
            <a:r>
              <a:rPr lang="zh-CN" altLang="en-US" sz="1600" kern="10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ea"/>
              </a:rPr>
              <a:t>的重大事故隐患，明确</a:t>
            </a:r>
            <a:r>
              <a:rPr lang="zh-CN" altLang="en-US" sz="1600" b="1" kern="10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ea"/>
              </a:rPr>
              <a:t>任一情形即判定为重大隐患</a:t>
            </a:r>
            <a:r>
              <a:rPr lang="zh-CN" altLang="en-US" sz="1600" kern="10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ea"/>
              </a:rPr>
              <a:t>，并设置</a:t>
            </a:r>
            <a:r>
              <a:rPr lang="zh-CN" altLang="en-US" sz="1600" b="1" kern="10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ea"/>
              </a:rPr>
              <a:t>兜底条款以覆盖特殊</a:t>
            </a:r>
            <a:r>
              <a:rPr lang="zh-CN" altLang="en-US" sz="1600" kern="10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ea"/>
              </a:rPr>
              <a:t>情况，为电力企业与监管机构提供</a:t>
            </a:r>
            <a:r>
              <a:rPr lang="zh-CN" altLang="en-US" sz="1600" b="1" kern="10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ea"/>
              </a:rPr>
              <a:t>可量化、可操作</a:t>
            </a:r>
            <a:r>
              <a:rPr lang="zh-CN" altLang="en-US" sz="1600" kern="10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ea"/>
              </a:rPr>
              <a:t>的重大隐患判定依据，覆盖电力生产全链条关键环节，旨在精准识别可能</a:t>
            </a:r>
            <a:r>
              <a:rPr lang="zh-CN" altLang="en-US" sz="1600" b="1" kern="10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ea"/>
              </a:rPr>
              <a:t>导致大面积停电、重大人员伤亡、重大经济损失的事故隐患</a:t>
            </a:r>
            <a:r>
              <a:rPr lang="zh-CN" altLang="en-US" sz="1600" kern="10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ea"/>
              </a:rPr>
              <a:t>。</a:t>
            </a:r>
            <a:endParaRPr lang="zh-CN" altLang="en-US" sz="1600" kern="10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58" name="任意多边形: 形状 36"/>
          <p:cNvSpPr/>
          <p:nvPr>
            <p:custDataLst>
              <p:tags r:id="rId2"/>
            </p:custDataLst>
          </p:nvPr>
        </p:nvSpPr>
        <p:spPr>
          <a:xfrm>
            <a:off x="8354111" y="3403403"/>
            <a:ext cx="282999" cy="146774"/>
          </a:xfrm>
          <a:custGeom>
            <a:avLst/>
            <a:gdLst>
              <a:gd name="connsiteX0" fmla="*/ 205979 w 411958"/>
              <a:gd name="connsiteY0" fmla="*/ 0 h 346834"/>
              <a:gd name="connsiteX1" fmla="*/ 411958 w 411958"/>
              <a:gd name="connsiteY1" fmla="*/ 296466 h 346834"/>
              <a:gd name="connsiteX2" fmla="*/ 408430 w 411958"/>
              <a:gd name="connsiteY2" fmla="*/ 346834 h 346834"/>
              <a:gd name="connsiteX3" fmla="*/ 3528 w 411958"/>
              <a:gd name="connsiteY3" fmla="*/ 346834 h 346834"/>
              <a:gd name="connsiteX4" fmla="*/ 0 w 411958"/>
              <a:gd name="connsiteY4" fmla="*/ 296466 h 346834"/>
              <a:gd name="connsiteX5" fmla="*/ 205979 w 411958"/>
              <a:gd name="connsiteY5" fmla="*/ 0 h 346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1958" h="346834">
                <a:moveTo>
                  <a:pt x="205979" y="0"/>
                </a:moveTo>
                <a:cubicBezTo>
                  <a:pt x="319738" y="0"/>
                  <a:pt x="411958" y="132732"/>
                  <a:pt x="411958" y="296466"/>
                </a:cubicBezTo>
                <a:lnTo>
                  <a:pt x="408430" y="346834"/>
                </a:lnTo>
                <a:lnTo>
                  <a:pt x="3528" y="346834"/>
                </a:lnTo>
                <a:lnTo>
                  <a:pt x="0" y="296466"/>
                </a:lnTo>
                <a:cubicBezTo>
                  <a:pt x="0" y="132732"/>
                  <a:pt x="92220" y="0"/>
                  <a:pt x="205979" y="0"/>
                </a:cubicBezTo>
                <a:close/>
              </a:path>
            </a:pathLst>
          </a:custGeom>
          <a:solidFill>
            <a:schemeClr val="accent1"/>
          </a:solidFill>
          <a:ln>
            <a:noFill/>
          </a:ln>
          <a:effectLst>
            <a:outerShdw blurRad="50800" dist="63500" dir="8100000" algn="tr" rotWithShape="0">
              <a:schemeClr val="accent1">
                <a:lumMod val="75000"/>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lnSpc>
                <a:spcPct val="120000"/>
              </a:lnSpc>
            </a:pPr>
            <a:endParaRPr lang="zh-CN" altLang="en-US">
              <a:solidFill>
                <a:schemeClr val="lt1"/>
              </a:solidFill>
              <a:latin typeface="Comic Sans MS" panose="030F0702030302020204" charset="0"/>
              <a:cs typeface="Comic Sans MS" panose="030F0702030302020204" charset="0"/>
            </a:endParaRPr>
          </a:p>
        </p:txBody>
      </p:sp>
      <p:cxnSp>
        <p:nvCxnSpPr>
          <p:cNvPr id="59" name="直接连接符 58"/>
          <p:cNvCxnSpPr/>
          <p:nvPr>
            <p:custDataLst>
              <p:tags r:id="rId3"/>
            </p:custDataLst>
          </p:nvPr>
        </p:nvCxnSpPr>
        <p:spPr>
          <a:xfrm>
            <a:off x="928363" y="3542043"/>
            <a:ext cx="10380345" cy="16412"/>
          </a:xfrm>
          <a:prstGeom prst="line">
            <a:avLst/>
          </a:prstGeom>
          <a:ln w="6350">
            <a:solidFill>
              <a:schemeClr val="tx2">
                <a:lumMod val="50000"/>
                <a:lumOff val="50000"/>
                <a:alpha val="20000"/>
              </a:schemeClr>
            </a:solidFill>
          </a:ln>
        </p:spPr>
        <p:style>
          <a:lnRef idx="2">
            <a:schemeClr val="accent1"/>
          </a:lnRef>
          <a:fillRef idx="0">
            <a:srgbClr val="FFFFFF"/>
          </a:fillRef>
          <a:effectRef idx="0">
            <a:srgbClr val="FFFFFF"/>
          </a:effectRef>
          <a:fontRef idx="minor">
            <a:schemeClr val="tx1"/>
          </a:fontRef>
        </p:style>
      </p:cxnSp>
      <p:sp>
        <p:nvSpPr>
          <p:cNvPr id="60" name="矩形 59"/>
          <p:cNvSpPr/>
          <p:nvPr>
            <p:custDataLst>
              <p:tags r:id="rId4"/>
            </p:custDataLst>
          </p:nvPr>
        </p:nvSpPr>
        <p:spPr>
          <a:xfrm>
            <a:off x="168335" y="4463780"/>
            <a:ext cx="1268730" cy="774413"/>
          </a:xfrm>
          <a:prstGeom prst="rect">
            <a:avLst/>
          </a:prstGeom>
          <a:noFill/>
        </p:spPr>
        <p:txBody>
          <a:bodyPr wrap="square" lIns="0" tIns="0" rIns="0" bIns="0" rtlCol="0" anchor="t" anchorCtr="0">
            <a:noAutofit/>
          </a:bodyPr>
          <a:lstStyle/>
          <a:p>
            <a:pPr marL="171450" indent="-171450" algn="l" fontAlgn="auto">
              <a:lnSpc>
                <a:spcPct val="120000"/>
              </a:lnSpc>
              <a:spcBef>
                <a:spcPct val="0"/>
              </a:spcBef>
              <a:spcAft>
                <a:spcPct val="0"/>
              </a:spcAft>
              <a:buFont typeface="Wingdings" panose="05000000000000000000" charset="0"/>
              <a:buChar char="Ø"/>
            </a:pPr>
            <a:r>
              <a:rPr lang="zh-CN" altLang="en-US" sz="1000" b="1" kern="0" dirty="0">
                <a:ln>
                  <a:noFill/>
                  <a:prstDash val="sysDot"/>
                </a:ln>
                <a:solidFill>
                  <a:schemeClr val="tx1">
                    <a:lumMod val="85000"/>
                    <a:lumOff val="15000"/>
                  </a:schemeClr>
                </a:solidFill>
                <a:latin typeface="微软雅黑" panose="020B0503020204020204" charset="-122"/>
                <a:ea typeface="微软雅黑" panose="020B0503020204020204" charset="-122"/>
                <a:cs typeface="+mn-ea"/>
                <a:sym typeface="+mn-ea"/>
              </a:rPr>
              <a:t>安稳系统</a:t>
            </a:r>
            <a:r>
              <a:rPr lang="en-US" altLang="zh-CN" sz="1000" b="1" kern="0" dirty="0">
                <a:ln>
                  <a:noFill/>
                  <a:prstDash val="sysDot"/>
                </a:ln>
                <a:solidFill>
                  <a:schemeClr val="tx1">
                    <a:lumMod val="85000"/>
                    <a:lumOff val="15000"/>
                  </a:schemeClr>
                </a:solidFill>
                <a:latin typeface="微软雅黑" panose="020B0503020204020204" charset="-122"/>
                <a:ea typeface="微软雅黑" panose="020B0503020204020204" charset="-122"/>
                <a:cs typeface="+mn-ea"/>
                <a:sym typeface="+mn-ea"/>
              </a:rPr>
              <a:t>/</a:t>
            </a:r>
            <a:r>
              <a:rPr lang="zh-CN" altLang="en-US" sz="1000" b="1" kern="0" dirty="0">
                <a:ln>
                  <a:noFill/>
                  <a:prstDash val="sysDot"/>
                </a:ln>
                <a:solidFill>
                  <a:schemeClr val="tx1">
                    <a:lumMod val="85000"/>
                    <a:lumOff val="15000"/>
                  </a:schemeClr>
                </a:solidFill>
                <a:latin typeface="微软雅黑" panose="020B0503020204020204" charset="-122"/>
                <a:ea typeface="微软雅黑" panose="020B0503020204020204" charset="-122"/>
                <a:cs typeface="+mn-ea"/>
                <a:sym typeface="+mn-ea"/>
              </a:rPr>
              <a:t>直流控保与调度不一致</a:t>
            </a:r>
            <a:endParaRPr lang="zh-CN" altLang="en-US" sz="1000" b="1" kern="0" dirty="0">
              <a:ln>
                <a:noFill/>
                <a:prstDash val="sysDot"/>
              </a:ln>
              <a:solidFill>
                <a:schemeClr val="tx1">
                  <a:lumMod val="85000"/>
                  <a:lumOff val="15000"/>
                </a:schemeClr>
              </a:solidFill>
              <a:latin typeface="微软雅黑" panose="020B0503020204020204" charset="-122"/>
              <a:ea typeface="微软雅黑" panose="020B0503020204020204" charset="-122"/>
              <a:cs typeface="+mn-ea"/>
              <a:sym typeface="+mn-ea"/>
            </a:endParaRPr>
          </a:p>
          <a:p>
            <a:pPr marL="171450" indent="-171450" algn="l" fontAlgn="auto">
              <a:lnSpc>
                <a:spcPct val="120000"/>
              </a:lnSpc>
              <a:spcBef>
                <a:spcPct val="0"/>
              </a:spcBef>
              <a:spcAft>
                <a:spcPct val="0"/>
              </a:spcAft>
              <a:buFont typeface="Wingdings" panose="05000000000000000000" charset="0"/>
              <a:buChar char="Ø"/>
            </a:pPr>
            <a:r>
              <a:rPr lang="zh-CN" altLang="en-US" sz="1000" b="1" kern="0" dirty="0">
                <a:ln>
                  <a:noFill/>
                  <a:prstDash val="sysDot"/>
                </a:ln>
                <a:solidFill>
                  <a:schemeClr val="tx1">
                    <a:lumMod val="85000"/>
                    <a:lumOff val="15000"/>
                  </a:schemeClr>
                </a:solidFill>
                <a:latin typeface="微软雅黑" panose="020B0503020204020204" charset="-122"/>
                <a:ea typeface="微软雅黑" panose="020B0503020204020204" charset="-122"/>
                <a:cs typeface="+mn-ea"/>
                <a:sym typeface="+mn-ea"/>
              </a:rPr>
              <a:t>控保未双重化；涉网保护冗余不足</a:t>
            </a:r>
            <a:endParaRPr lang="zh-CN" altLang="en-US" sz="1000" b="1" kern="0" dirty="0">
              <a:ln>
                <a:noFill/>
                <a:prstDash val="sysDot"/>
              </a:ln>
              <a:solidFill>
                <a:schemeClr val="tx1">
                  <a:lumMod val="85000"/>
                  <a:lumOff val="15000"/>
                </a:schemeClr>
              </a:solidFill>
              <a:latin typeface="微软雅黑" panose="020B0503020204020204" charset="-122"/>
              <a:ea typeface="微软雅黑" panose="020B0503020204020204" charset="-122"/>
              <a:cs typeface="+mn-ea"/>
              <a:sym typeface="+mn-ea"/>
            </a:endParaRPr>
          </a:p>
          <a:p>
            <a:pPr marL="171450" indent="-171450" algn="l" fontAlgn="auto">
              <a:lnSpc>
                <a:spcPct val="120000"/>
              </a:lnSpc>
              <a:spcBef>
                <a:spcPct val="0"/>
              </a:spcBef>
              <a:spcAft>
                <a:spcPct val="0"/>
              </a:spcAft>
              <a:buFont typeface="Wingdings" panose="05000000000000000000" charset="0"/>
              <a:buChar char="Ø"/>
            </a:pPr>
            <a:r>
              <a:rPr lang="zh-CN" altLang="en-US" sz="1000" b="1" kern="0" dirty="0">
                <a:ln>
                  <a:noFill/>
                  <a:prstDash val="sysDot"/>
                </a:ln>
                <a:solidFill>
                  <a:schemeClr val="tx1">
                    <a:lumMod val="85000"/>
                    <a:lumOff val="15000"/>
                  </a:schemeClr>
                </a:solidFill>
                <a:latin typeface="微软雅黑" panose="020B0503020204020204" charset="-122"/>
                <a:ea typeface="微软雅黑" panose="020B0503020204020204" charset="-122"/>
                <a:cs typeface="+mn-ea"/>
                <a:sym typeface="+mn-ea"/>
              </a:rPr>
              <a:t>特高压、超高压线路杆塔倾斜度超限</a:t>
            </a:r>
            <a:endParaRPr lang="zh-CN" altLang="en-US" sz="1000" b="1" kern="0" dirty="0">
              <a:ln>
                <a:noFill/>
                <a:prstDash val="sysDot"/>
              </a:ln>
              <a:solidFill>
                <a:schemeClr val="tx1">
                  <a:lumMod val="85000"/>
                  <a:lumOff val="15000"/>
                </a:schemeClr>
              </a:solidFill>
              <a:latin typeface="微软雅黑" panose="020B0503020204020204" charset="-122"/>
              <a:ea typeface="微软雅黑" panose="020B0503020204020204" charset="-122"/>
              <a:cs typeface="+mn-ea"/>
              <a:sym typeface="+mn-ea"/>
            </a:endParaRPr>
          </a:p>
          <a:p>
            <a:pPr marL="171450" indent="-171450" algn="l" fontAlgn="auto">
              <a:lnSpc>
                <a:spcPct val="120000"/>
              </a:lnSpc>
              <a:spcBef>
                <a:spcPct val="0"/>
              </a:spcBef>
              <a:spcAft>
                <a:spcPct val="0"/>
              </a:spcAft>
              <a:buFont typeface="Wingdings" panose="05000000000000000000" charset="0"/>
              <a:buChar char="Ø"/>
            </a:pPr>
            <a:r>
              <a:rPr lang="zh-CN" altLang="en-US" sz="1000" b="1" kern="0" dirty="0">
                <a:ln>
                  <a:noFill/>
                  <a:prstDash val="sysDot"/>
                </a:ln>
                <a:solidFill>
                  <a:schemeClr val="tx1">
                    <a:lumMod val="85000"/>
                    <a:lumOff val="15000"/>
                  </a:schemeClr>
                </a:solidFill>
                <a:latin typeface="微软雅黑" panose="020B0503020204020204" charset="-122"/>
                <a:ea typeface="微软雅黑" panose="020B0503020204020204" charset="-122"/>
                <a:cs typeface="+mn-ea"/>
                <a:sym typeface="+mn-ea"/>
              </a:rPr>
              <a:t>输电通道内山火风险、施工外破风险</a:t>
            </a:r>
            <a:endParaRPr lang="zh-CN" altLang="en-US" sz="1000" b="1" kern="0" dirty="0">
              <a:ln>
                <a:noFill/>
                <a:prstDash val="sysDot"/>
              </a:ln>
              <a:solidFill>
                <a:schemeClr val="tx1">
                  <a:lumMod val="85000"/>
                  <a:lumOff val="15000"/>
                </a:schemeClr>
              </a:solidFill>
              <a:latin typeface="微软雅黑" panose="020B0503020204020204" charset="-122"/>
              <a:ea typeface="微软雅黑" panose="020B0503020204020204" charset="-122"/>
              <a:cs typeface="+mn-ea"/>
              <a:sym typeface="+mn-ea"/>
            </a:endParaRPr>
          </a:p>
        </p:txBody>
      </p:sp>
      <p:sp>
        <p:nvSpPr>
          <p:cNvPr id="61" name="矩形 60"/>
          <p:cNvSpPr/>
          <p:nvPr>
            <p:custDataLst>
              <p:tags r:id="rId5"/>
            </p:custDataLst>
          </p:nvPr>
        </p:nvSpPr>
        <p:spPr>
          <a:xfrm>
            <a:off x="168335" y="4200614"/>
            <a:ext cx="1210555" cy="270793"/>
          </a:xfrm>
          <a:prstGeom prst="rect">
            <a:avLst/>
          </a:prstGeom>
          <a:noFill/>
        </p:spPr>
        <p:txBody>
          <a:bodyPr wrap="square" lIns="0" tIns="0" rIns="0" bIns="0" rtlCol="0" anchor="b">
            <a:noAutofit/>
          </a:bodyPr>
          <a:lstStyle/>
          <a:p>
            <a:pPr algn="ctr" fontAlgn="auto">
              <a:lnSpc>
                <a:spcPct val="120000"/>
              </a:lnSpc>
              <a:spcBef>
                <a:spcPct val="0"/>
              </a:spcBef>
              <a:spcAft>
                <a:spcPct val="0"/>
              </a:spcAft>
            </a:pPr>
            <a:r>
              <a:rPr lang="zh-CN" altLang="en-US" sz="1200" b="1" dirty="0">
                <a:solidFill>
                  <a:schemeClr val="accent1"/>
                </a:solidFill>
                <a:latin typeface="微软雅黑" panose="020B0503020204020204" charset="-122"/>
                <a:ea typeface="微软雅黑" panose="020B0503020204020204" charset="-122"/>
                <a:cs typeface="+mn-ea"/>
              </a:rPr>
              <a:t>电网或电力设备设施</a:t>
            </a:r>
            <a:endParaRPr lang="zh-CN" altLang="en-US" sz="1200" b="1" dirty="0">
              <a:solidFill>
                <a:schemeClr val="accent1"/>
              </a:solidFill>
              <a:latin typeface="微软雅黑" panose="020B0503020204020204" charset="-122"/>
              <a:ea typeface="微软雅黑" panose="020B0503020204020204" charset="-122"/>
              <a:cs typeface="+mn-ea"/>
            </a:endParaRPr>
          </a:p>
        </p:txBody>
      </p:sp>
      <p:sp>
        <p:nvSpPr>
          <p:cNvPr id="62" name="任意多边形: 形状 36"/>
          <p:cNvSpPr/>
          <p:nvPr>
            <p:custDataLst>
              <p:tags r:id="rId6"/>
            </p:custDataLst>
          </p:nvPr>
        </p:nvSpPr>
        <p:spPr>
          <a:xfrm>
            <a:off x="248786" y="3391571"/>
            <a:ext cx="282999" cy="146774"/>
          </a:xfrm>
          <a:custGeom>
            <a:avLst/>
            <a:gdLst>
              <a:gd name="connsiteX0" fmla="*/ 205979 w 411958"/>
              <a:gd name="connsiteY0" fmla="*/ 0 h 346834"/>
              <a:gd name="connsiteX1" fmla="*/ 411958 w 411958"/>
              <a:gd name="connsiteY1" fmla="*/ 296466 h 346834"/>
              <a:gd name="connsiteX2" fmla="*/ 408430 w 411958"/>
              <a:gd name="connsiteY2" fmla="*/ 346834 h 346834"/>
              <a:gd name="connsiteX3" fmla="*/ 3528 w 411958"/>
              <a:gd name="connsiteY3" fmla="*/ 346834 h 346834"/>
              <a:gd name="connsiteX4" fmla="*/ 0 w 411958"/>
              <a:gd name="connsiteY4" fmla="*/ 296466 h 346834"/>
              <a:gd name="connsiteX5" fmla="*/ 205979 w 411958"/>
              <a:gd name="connsiteY5" fmla="*/ 0 h 346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1958" h="346834">
                <a:moveTo>
                  <a:pt x="205979" y="0"/>
                </a:moveTo>
                <a:cubicBezTo>
                  <a:pt x="319738" y="0"/>
                  <a:pt x="411958" y="132732"/>
                  <a:pt x="411958" y="296466"/>
                </a:cubicBezTo>
                <a:lnTo>
                  <a:pt x="408430" y="346834"/>
                </a:lnTo>
                <a:lnTo>
                  <a:pt x="3528" y="346834"/>
                </a:lnTo>
                <a:lnTo>
                  <a:pt x="0" y="296466"/>
                </a:lnTo>
                <a:cubicBezTo>
                  <a:pt x="0" y="132732"/>
                  <a:pt x="92220" y="0"/>
                  <a:pt x="205979" y="0"/>
                </a:cubicBezTo>
                <a:close/>
              </a:path>
            </a:pathLst>
          </a:custGeom>
          <a:solidFill>
            <a:schemeClr val="accent1"/>
          </a:solidFill>
          <a:ln>
            <a:noFill/>
          </a:ln>
          <a:effectLst>
            <a:outerShdw blurRad="50800" dist="63500" dir="8100000" algn="tr" rotWithShape="0">
              <a:schemeClr val="accent1">
                <a:lumMod val="75000"/>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lnSpc>
                <a:spcPct val="120000"/>
              </a:lnSpc>
            </a:pPr>
            <a:endParaRPr lang="zh-CN" altLang="en-US">
              <a:solidFill>
                <a:schemeClr val="lt1"/>
              </a:solidFill>
              <a:latin typeface="Comic Sans MS" panose="030F0702030302020204" charset="0"/>
              <a:cs typeface="Comic Sans MS" panose="030F0702030302020204" charset="0"/>
            </a:endParaRPr>
          </a:p>
        </p:txBody>
      </p:sp>
      <p:sp>
        <p:nvSpPr>
          <p:cNvPr id="63" name="任意多边形: 形状 38"/>
          <p:cNvSpPr/>
          <p:nvPr>
            <p:custDataLst>
              <p:tags r:id="rId7"/>
            </p:custDataLst>
          </p:nvPr>
        </p:nvSpPr>
        <p:spPr>
          <a:xfrm>
            <a:off x="381294" y="3391287"/>
            <a:ext cx="903894" cy="709410"/>
          </a:xfrm>
          <a:custGeom>
            <a:avLst/>
            <a:gdLst>
              <a:gd name="connsiteX0" fmla="*/ 38 w 4644"/>
              <a:gd name="connsiteY0" fmla="*/ 0 h 6065"/>
              <a:gd name="connsiteX1" fmla="*/ 736 w 4644"/>
              <a:gd name="connsiteY1" fmla="*/ 0 h 6065"/>
              <a:gd name="connsiteX2" fmla="*/ 2985 w 4644"/>
              <a:gd name="connsiteY2" fmla="*/ 0 h 6065"/>
              <a:gd name="connsiteX3" fmla="*/ 2996 w 4644"/>
              <a:gd name="connsiteY3" fmla="*/ 0 h 6065"/>
              <a:gd name="connsiteX4" fmla="*/ 3001 w 4644"/>
              <a:gd name="connsiteY4" fmla="*/ 0 h 6065"/>
              <a:gd name="connsiteX5" fmla="*/ 3001 w 4644"/>
              <a:gd name="connsiteY5" fmla="*/ 0 h 6065"/>
              <a:gd name="connsiteX6" fmla="*/ 3208 w 4644"/>
              <a:gd name="connsiteY6" fmla="*/ 21 h 6065"/>
              <a:gd name="connsiteX7" fmla="*/ 4048 w 4644"/>
              <a:gd name="connsiteY7" fmla="*/ 1052 h 6065"/>
              <a:gd name="connsiteX8" fmla="*/ 4002 w 4644"/>
              <a:gd name="connsiteY8" fmla="*/ 1348 h 6065"/>
              <a:gd name="connsiteX9" fmla="*/ 4002 w 4644"/>
              <a:gd name="connsiteY9" fmla="*/ 1348 h 6065"/>
              <a:gd name="connsiteX10" fmla="*/ 4048 w 4644"/>
              <a:gd name="connsiteY10" fmla="*/ 1052 h 6065"/>
              <a:gd name="connsiteX11" fmla="*/ 4048 w 4644"/>
              <a:gd name="connsiteY11" fmla="*/ 1446 h 6065"/>
              <a:gd name="connsiteX12" fmla="*/ 4050 w 4644"/>
              <a:gd name="connsiteY12" fmla="*/ 1451 h 6065"/>
              <a:gd name="connsiteX13" fmla="*/ 4050 w 4644"/>
              <a:gd name="connsiteY13" fmla="*/ 3364 h 6065"/>
              <a:gd name="connsiteX14" fmla="*/ 4187 w 4644"/>
              <a:gd name="connsiteY14" fmla="*/ 3501 h 6065"/>
              <a:gd name="connsiteX15" fmla="*/ 4508 w 4644"/>
              <a:gd name="connsiteY15" fmla="*/ 3501 h 6065"/>
              <a:gd name="connsiteX16" fmla="*/ 4634 w 4644"/>
              <a:gd name="connsiteY16" fmla="*/ 3583 h 6065"/>
              <a:gd name="connsiteX17" fmla="*/ 4609 w 4644"/>
              <a:gd name="connsiteY17" fmla="*/ 3732 h 6065"/>
              <a:gd name="connsiteX18" fmla="*/ 2499 w 4644"/>
              <a:gd name="connsiteY18" fmla="*/ 6022 h 6065"/>
              <a:gd name="connsiteX19" fmla="*/ 2396 w 4644"/>
              <a:gd name="connsiteY19" fmla="*/ 6065 h 6065"/>
              <a:gd name="connsiteX20" fmla="*/ 2294 w 4644"/>
              <a:gd name="connsiteY20" fmla="*/ 6022 h 6065"/>
              <a:gd name="connsiteX21" fmla="*/ 184 w 4644"/>
              <a:gd name="connsiteY21" fmla="*/ 3732 h 6065"/>
              <a:gd name="connsiteX22" fmla="*/ 159 w 4644"/>
              <a:gd name="connsiteY22" fmla="*/ 3583 h 6065"/>
              <a:gd name="connsiteX23" fmla="*/ 284 w 4644"/>
              <a:gd name="connsiteY23" fmla="*/ 3501 h 6065"/>
              <a:gd name="connsiteX24" fmla="*/ 606 w 4644"/>
              <a:gd name="connsiteY24" fmla="*/ 3501 h 6065"/>
              <a:gd name="connsiteX25" fmla="*/ 743 w 4644"/>
              <a:gd name="connsiteY25" fmla="*/ 3364 h 6065"/>
              <a:gd name="connsiteX26" fmla="*/ 732 w 4644"/>
              <a:gd name="connsiteY26" fmla="*/ 1264 h 6065"/>
              <a:gd name="connsiteX27" fmla="*/ 38 w 4644"/>
              <a:gd name="connsiteY27" fmla="*/ 0 h 6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644" h="6065">
                <a:moveTo>
                  <a:pt x="38" y="0"/>
                </a:moveTo>
                <a:cubicBezTo>
                  <a:pt x="-167" y="-1"/>
                  <a:pt x="503" y="0"/>
                  <a:pt x="736" y="0"/>
                </a:cubicBezTo>
                <a:lnTo>
                  <a:pt x="2985" y="0"/>
                </a:lnTo>
                <a:lnTo>
                  <a:pt x="2996" y="0"/>
                </a:lnTo>
                <a:lnTo>
                  <a:pt x="3001" y="0"/>
                </a:lnTo>
                <a:lnTo>
                  <a:pt x="3001" y="0"/>
                </a:lnTo>
                <a:lnTo>
                  <a:pt x="3208" y="21"/>
                </a:lnTo>
                <a:cubicBezTo>
                  <a:pt x="3687" y="119"/>
                  <a:pt x="4048" y="543"/>
                  <a:pt x="4048" y="1052"/>
                </a:cubicBezTo>
                <a:lnTo>
                  <a:pt x="4002" y="1348"/>
                </a:lnTo>
                <a:lnTo>
                  <a:pt x="4002" y="1348"/>
                </a:lnTo>
                <a:lnTo>
                  <a:pt x="4048" y="1052"/>
                </a:lnTo>
                <a:lnTo>
                  <a:pt x="4048" y="1446"/>
                </a:lnTo>
                <a:lnTo>
                  <a:pt x="4050" y="1451"/>
                </a:lnTo>
                <a:cubicBezTo>
                  <a:pt x="4050" y="1531"/>
                  <a:pt x="4050" y="3285"/>
                  <a:pt x="4050" y="3364"/>
                </a:cubicBezTo>
                <a:cubicBezTo>
                  <a:pt x="4050" y="3446"/>
                  <a:pt x="4107" y="3501"/>
                  <a:pt x="4187" y="3501"/>
                </a:cubicBezTo>
                <a:lnTo>
                  <a:pt x="4508" y="3501"/>
                </a:lnTo>
                <a:cubicBezTo>
                  <a:pt x="4559" y="3501"/>
                  <a:pt x="4613" y="3538"/>
                  <a:pt x="4634" y="3583"/>
                </a:cubicBezTo>
                <a:cubicBezTo>
                  <a:pt x="4654" y="3631"/>
                  <a:pt x="4643" y="3695"/>
                  <a:pt x="4609" y="3732"/>
                </a:cubicBezTo>
                <a:lnTo>
                  <a:pt x="2499" y="6022"/>
                </a:lnTo>
                <a:cubicBezTo>
                  <a:pt x="2472" y="6049"/>
                  <a:pt x="2435" y="6065"/>
                  <a:pt x="2396" y="6065"/>
                </a:cubicBezTo>
                <a:cubicBezTo>
                  <a:pt x="2358" y="6065"/>
                  <a:pt x="2321" y="6049"/>
                  <a:pt x="2294" y="6022"/>
                </a:cubicBezTo>
                <a:lnTo>
                  <a:pt x="184" y="3732"/>
                </a:lnTo>
                <a:cubicBezTo>
                  <a:pt x="150" y="3695"/>
                  <a:pt x="138" y="3631"/>
                  <a:pt x="159" y="3583"/>
                </a:cubicBezTo>
                <a:cubicBezTo>
                  <a:pt x="179" y="3538"/>
                  <a:pt x="234" y="3501"/>
                  <a:pt x="284" y="3501"/>
                </a:cubicBezTo>
                <a:lnTo>
                  <a:pt x="606" y="3501"/>
                </a:lnTo>
                <a:cubicBezTo>
                  <a:pt x="686" y="3501"/>
                  <a:pt x="743" y="3446"/>
                  <a:pt x="743" y="3364"/>
                </a:cubicBezTo>
                <a:cubicBezTo>
                  <a:pt x="748" y="3272"/>
                  <a:pt x="738" y="2373"/>
                  <a:pt x="732" y="1264"/>
                </a:cubicBezTo>
                <a:cubicBezTo>
                  <a:pt x="726" y="155"/>
                  <a:pt x="243" y="1"/>
                  <a:pt x="38" y="0"/>
                </a:cubicBezTo>
                <a:close/>
              </a:path>
            </a:pathLst>
          </a:custGeom>
          <a:gradFill flip="none" rotWithShape="1">
            <a:gsLst>
              <a:gs pos="0">
                <a:schemeClr val="accent1">
                  <a:lumMod val="40000"/>
                  <a:lumOff val="60000"/>
                  <a:alpha val="100000"/>
                </a:schemeClr>
              </a:gs>
              <a:gs pos="90000">
                <a:schemeClr val="accent1">
                  <a:alpha val="100000"/>
                </a:schemeClr>
              </a:gs>
            </a:gsLst>
            <a:lin ang="8100000" scaled="0"/>
            <a:tileRect/>
          </a:gradFill>
          <a:ln>
            <a:noFill/>
          </a:ln>
          <a:effectLst>
            <a:outerShdw blurRad="50800" dist="63500" dir="8100000" algn="tr" rotWithShape="0">
              <a:schemeClr val="accent1">
                <a:lumMod val="7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179705" tIns="71755" rIns="107950" bIns="288290" numCol="1" spcCol="0" rtlCol="0" fromWordArt="0" anchor="ctr" anchorCtr="0" forceAA="0" compatLnSpc="1">
            <a:normAutofit fontScale="8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fontAlgn="auto">
              <a:lnSpc>
                <a:spcPct val="120000"/>
              </a:lnSpc>
              <a:spcBef>
                <a:spcPct val="0"/>
              </a:spcBef>
              <a:spcAft>
                <a:spcPct val="0"/>
              </a:spcAft>
              <a:buClrTx/>
              <a:buSzTx/>
              <a:buFontTx/>
            </a:pPr>
            <a:r>
              <a:rPr lang="en-US" altLang="zh-CN" sz="2400" b="1" dirty="0">
                <a:solidFill>
                  <a:srgbClr val="FFFFFF"/>
                </a:solidFill>
                <a:latin typeface="Comic Sans MS" panose="030F0702030302020204" charset="0"/>
                <a:cs typeface="Comic Sans MS" panose="030F0702030302020204" charset="0"/>
                <a:sym typeface="+mn-ea"/>
              </a:rPr>
              <a:t>01</a:t>
            </a:r>
            <a:endParaRPr lang="en-US" altLang="zh-CN" sz="2400" b="1" dirty="0">
              <a:solidFill>
                <a:srgbClr val="FFFFFF"/>
              </a:solidFill>
              <a:latin typeface="Comic Sans MS" panose="030F0702030302020204" charset="0"/>
              <a:cs typeface="Comic Sans MS" panose="030F0702030302020204" charset="0"/>
              <a:sym typeface="+mn-ea"/>
            </a:endParaRPr>
          </a:p>
        </p:txBody>
      </p:sp>
      <p:sp>
        <p:nvSpPr>
          <p:cNvPr id="64" name="矩形 63"/>
          <p:cNvSpPr/>
          <p:nvPr>
            <p:custDataLst>
              <p:tags r:id="rId8"/>
            </p:custDataLst>
          </p:nvPr>
        </p:nvSpPr>
        <p:spPr>
          <a:xfrm>
            <a:off x="1535060" y="4463948"/>
            <a:ext cx="1210555" cy="774264"/>
          </a:xfrm>
          <a:prstGeom prst="rect">
            <a:avLst/>
          </a:prstGeom>
          <a:noFill/>
        </p:spPr>
        <p:txBody>
          <a:bodyPr wrap="square" lIns="0" tIns="0" rIns="0" bIns="0" rtlCol="0" anchor="t" anchorCtr="0">
            <a:noAutofit/>
          </a:bodyPr>
          <a:lstStyle/>
          <a:p>
            <a:pPr marL="171450" indent="-171450" algn="l" fontAlgn="auto">
              <a:lnSpc>
                <a:spcPct val="120000"/>
              </a:lnSpc>
              <a:buClrTx/>
              <a:buSzTx/>
              <a:buFont typeface="Wingdings" panose="05000000000000000000" charset="0"/>
              <a:buChar char="Ø"/>
            </a:pPr>
            <a:r>
              <a:rPr lang="zh-CN" altLang="en-US" sz="1000" b="1" kern="0" dirty="0">
                <a:ln>
                  <a:noFill/>
                  <a:prstDash val="sysDot"/>
                </a:ln>
                <a:solidFill>
                  <a:schemeClr val="tx1">
                    <a:lumMod val="85000"/>
                    <a:lumOff val="15000"/>
                  </a:schemeClr>
                </a:solidFill>
                <a:latin typeface="微软雅黑" panose="020B0503020204020204" charset="-122"/>
                <a:ea typeface="微软雅黑" panose="020B0503020204020204" charset="-122"/>
                <a:cs typeface="+mn-ea"/>
                <a:sym typeface="+mn-ea"/>
              </a:rPr>
              <a:t>防超速飞车，禁带压堵漏</a:t>
            </a:r>
            <a:endParaRPr lang="zh-CN" altLang="en-US" sz="1000" b="1" kern="0" dirty="0">
              <a:ln>
                <a:noFill/>
                <a:prstDash val="sysDot"/>
              </a:ln>
              <a:solidFill>
                <a:schemeClr val="tx1">
                  <a:lumMod val="85000"/>
                  <a:lumOff val="15000"/>
                </a:schemeClr>
              </a:solidFill>
              <a:latin typeface="微软雅黑" panose="020B0503020204020204" charset="-122"/>
              <a:ea typeface="微软雅黑" panose="020B0503020204020204" charset="-122"/>
              <a:cs typeface="+mn-ea"/>
              <a:sym typeface="+mn-ea"/>
            </a:endParaRPr>
          </a:p>
          <a:p>
            <a:pPr marL="171450" indent="-171450" algn="l" fontAlgn="auto">
              <a:lnSpc>
                <a:spcPct val="120000"/>
              </a:lnSpc>
              <a:buClrTx/>
              <a:buSzTx/>
              <a:buFont typeface="Wingdings" panose="05000000000000000000" charset="0"/>
              <a:buChar char="Ø"/>
            </a:pPr>
            <a:r>
              <a:rPr lang="zh-CN" altLang="en-US" sz="1000" b="1" kern="0" dirty="0">
                <a:ln>
                  <a:noFill/>
                  <a:prstDash val="sysDot"/>
                </a:ln>
                <a:solidFill>
                  <a:schemeClr val="tx1">
                    <a:lumMod val="85000"/>
                    <a:lumOff val="15000"/>
                  </a:schemeClr>
                </a:solidFill>
                <a:latin typeface="微软雅黑" panose="020B0503020204020204" charset="-122"/>
                <a:ea typeface="微软雅黑" panose="020B0503020204020204" charset="-122"/>
                <a:cs typeface="+mn-ea"/>
                <a:sym typeface="+mn-ea"/>
              </a:rPr>
              <a:t>主、调节汽阀严密性不合格，未按规定执行超速保护试验</a:t>
            </a:r>
            <a:endParaRPr lang="zh-CN" altLang="en-US" sz="1000" b="1" kern="0" dirty="0">
              <a:ln>
                <a:noFill/>
                <a:prstDash val="sysDot"/>
              </a:ln>
              <a:solidFill>
                <a:schemeClr val="tx1">
                  <a:lumMod val="85000"/>
                  <a:lumOff val="15000"/>
                </a:schemeClr>
              </a:solidFill>
              <a:latin typeface="微软雅黑" panose="020B0503020204020204" charset="-122"/>
              <a:ea typeface="微软雅黑" panose="020B0503020204020204" charset="-122"/>
              <a:cs typeface="+mn-ea"/>
              <a:sym typeface="+mn-ea"/>
            </a:endParaRPr>
          </a:p>
          <a:p>
            <a:pPr marL="171450" indent="-171450" algn="l" fontAlgn="auto">
              <a:lnSpc>
                <a:spcPct val="120000"/>
              </a:lnSpc>
              <a:buClrTx/>
              <a:buSzTx/>
              <a:buFont typeface="Wingdings" panose="05000000000000000000" charset="0"/>
              <a:buChar char="Ø"/>
            </a:pPr>
            <a:r>
              <a:rPr lang="zh-CN" altLang="en-US" sz="1000" b="1" kern="0" dirty="0">
                <a:ln>
                  <a:noFill/>
                  <a:prstDash val="sysDot"/>
                </a:ln>
                <a:solidFill>
                  <a:schemeClr val="tx1">
                    <a:lumMod val="85000"/>
                    <a:lumOff val="15000"/>
                  </a:schemeClr>
                </a:solidFill>
                <a:latin typeface="微软雅黑" panose="020B0503020204020204" charset="-122"/>
                <a:ea typeface="微软雅黑" panose="020B0503020204020204" charset="-122"/>
                <a:cs typeface="+mn-ea"/>
                <a:sym typeface="+mn-ea"/>
              </a:rPr>
              <a:t>轴系支撑和旋转部件金属材质不合格</a:t>
            </a:r>
            <a:endParaRPr lang="zh-CN" altLang="en-US" sz="1000" b="1" kern="0" dirty="0">
              <a:ln>
                <a:noFill/>
                <a:prstDash val="sysDot"/>
              </a:ln>
              <a:solidFill>
                <a:schemeClr val="tx1">
                  <a:lumMod val="85000"/>
                  <a:lumOff val="15000"/>
                </a:schemeClr>
              </a:solidFill>
              <a:latin typeface="微软雅黑" panose="020B0503020204020204" charset="-122"/>
              <a:ea typeface="微软雅黑" panose="020B0503020204020204" charset="-122"/>
              <a:cs typeface="+mn-ea"/>
              <a:sym typeface="+mn-ea"/>
            </a:endParaRPr>
          </a:p>
          <a:p>
            <a:pPr indent="0" algn="l" fontAlgn="auto">
              <a:lnSpc>
                <a:spcPct val="130000"/>
              </a:lnSpc>
              <a:buClrTx/>
              <a:buSzTx/>
              <a:buFont typeface="Wingdings" panose="05000000000000000000" charset="0"/>
              <a:buNone/>
            </a:pPr>
            <a:endParaRPr lang="zh-CN" altLang="en-US" sz="1000" b="1" kern="0" dirty="0">
              <a:ln>
                <a:noFill/>
                <a:prstDash val="sysDot"/>
              </a:ln>
              <a:solidFill>
                <a:schemeClr val="tx1">
                  <a:lumMod val="85000"/>
                  <a:lumOff val="15000"/>
                </a:schemeClr>
              </a:solidFill>
              <a:latin typeface="微软雅黑" panose="020B0503020204020204" charset="-122"/>
              <a:ea typeface="微软雅黑" panose="020B0503020204020204" charset="-122"/>
              <a:cs typeface="+mn-ea"/>
              <a:sym typeface="+mn-ea"/>
            </a:endParaRPr>
          </a:p>
        </p:txBody>
      </p:sp>
      <p:sp>
        <p:nvSpPr>
          <p:cNvPr id="65" name="任意多边形: 形状 36"/>
          <p:cNvSpPr/>
          <p:nvPr>
            <p:custDataLst>
              <p:tags r:id="rId9"/>
            </p:custDataLst>
          </p:nvPr>
        </p:nvSpPr>
        <p:spPr>
          <a:xfrm>
            <a:off x="1615511" y="3391571"/>
            <a:ext cx="282999" cy="146774"/>
          </a:xfrm>
          <a:custGeom>
            <a:avLst/>
            <a:gdLst>
              <a:gd name="connsiteX0" fmla="*/ 205979 w 411958"/>
              <a:gd name="connsiteY0" fmla="*/ 0 h 346834"/>
              <a:gd name="connsiteX1" fmla="*/ 411958 w 411958"/>
              <a:gd name="connsiteY1" fmla="*/ 296466 h 346834"/>
              <a:gd name="connsiteX2" fmla="*/ 408430 w 411958"/>
              <a:gd name="connsiteY2" fmla="*/ 346834 h 346834"/>
              <a:gd name="connsiteX3" fmla="*/ 3528 w 411958"/>
              <a:gd name="connsiteY3" fmla="*/ 346834 h 346834"/>
              <a:gd name="connsiteX4" fmla="*/ 0 w 411958"/>
              <a:gd name="connsiteY4" fmla="*/ 296466 h 346834"/>
              <a:gd name="connsiteX5" fmla="*/ 205979 w 411958"/>
              <a:gd name="connsiteY5" fmla="*/ 0 h 346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1958" h="346834">
                <a:moveTo>
                  <a:pt x="205979" y="0"/>
                </a:moveTo>
                <a:cubicBezTo>
                  <a:pt x="319738" y="0"/>
                  <a:pt x="411958" y="132732"/>
                  <a:pt x="411958" y="296466"/>
                </a:cubicBezTo>
                <a:lnTo>
                  <a:pt x="408430" y="346834"/>
                </a:lnTo>
                <a:lnTo>
                  <a:pt x="3528" y="346834"/>
                </a:lnTo>
                <a:lnTo>
                  <a:pt x="0" y="296466"/>
                </a:lnTo>
                <a:cubicBezTo>
                  <a:pt x="0" y="132732"/>
                  <a:pt x="92220" y="0"/>
                  <a:pt x="205979" y="0"/>
                </a:cubicBezTo>
                <a:close/>
              </a:path>
            </a:pathLst>
          </a:custGeom>
          <a:solidFill>
            <a:schemeClr val="accent2"/>
          </a:solidFill>
          <a:ln>
            <a:noFill/>
          </a:ln>
          <a:effectLst>
            <a:outerShdw blurRad="50800" dist="63500" dir="8100000" algn="tr" rotWithShape="0">
              <a:schemeClr val="accent2">
                <a:lumMod val="75000"/>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lnSpc>
                <a:spcPct val="120000"/>
              </a:lnSpc>
            </a:pPr>
            <a:endParaRPr lang="zh-CN" altLang="en-US">
              <a:solidFill>
                <a:schemeClr val="lt1"/>
              </a:solidFill>
              <a:latin typeface="Comic Sans MS" panose="030F0702030302020204" charset="0"/>
              <a:cs typeface="Comic Sans MS" panose="030F0702030302020204" charset="0"/>
            </a:endParaRPr>
          </a:p>
        </p:txBody>
      </p:sp>
      <p:sp>
        <p:nvSpPr>
          <p:cNvPr id="66" name="任意多边形: 形状 38"/>
          <p:cNvSpPr/>
          <p:nvPr>
            <p:custDataLst>
              <p:tags r:id="rId10"/>
            </p:custDataLst>
          </p:nvPr>
        </p:nvSpPr>
        <p:spPr>
          <a:xfrm>
            <a:off x="1748019" y="3391287"/>
            <a:ext cx="903894" cy="709410"/>
          </a:xfrm>
          <a:custGeom>
            <a:avLst/>
            <a:gdLst>
              <a:gd name="connsiteX0" fmla="*/ 38 w 4644"/>
              <a:gd name="connsiteY0" fmla="*/ 0 h 6065"/>
              <a:gd name="connsiteX1" fmla="*/ 736 w 4644"/>
              <a:gd name="connsiteY1" fmla="*/ 0 h 6065"/>
              <a:gd name="connsiteX2" fmla="*/ 2985 w 4644"/>
              <a:gd name="connsiteY2" fmla="*/ 0 h 6065"/>
              <a:gd name="connsiteX3" fmla="*/ 2996 w 4644"/>
              <a:gd name="connsiteY3" fmla="*/ 0 h 6065"/>
              <a:gd name="connsiteX4" fmla="*/ 3001 w 4644"/>
              <a:gd name="connsiteY4" fmla="*/ 0 h 6065"/>
              <a:gd name="connsiteX5" fmla="*/ 3001 w 4644"/>
              <a:gd name="connsiteY5" fmla="*/ 0 h 6065"/>
              <a:gd name="connsiteX6" fmla="*/ 3208 w 4644"/>
              <a:gd name="connsiteY6" fmla="*/ 21 h 6065"/>
              <a:gd name="connsiteX7" fmla="*/ 4048 w 4644"/>
              <a:gd name="connsiteY7" fmla="*/ 1052 h 6065"/>
              <a:gd name="connsiteX8" fmla="*/ 4002 w 4644"/>
              <a:gd name="connsiteY8" fmla="*/ 1348 h 6065"/>
              <a:gd name="connsiteX9" fmla="*/ 4002 w 4644"/>
              <a:gd name="connsiteY9" fmla="*/ 1348 h 6065"/>
              <a:gd name="connsiteX10" fmla="*/ 4048 w 4644"/>
              <a:gd name="connsiteY10" fmla="*/ 1052 h 6065"/>
              <a:gd name="connsiteX11" fmla="*/ 4048 w 4644"/>
              <a:gd name="connsiteY11" fmla="*/ 1446 h 6065"/>
              <a:gd name="connsiteX12" fmla="*/ 4050 w 4644"/>
              <a:gd name="connsiteY12" fmla="*/ 1451 h 6065"/>
              <a:gd name="connsiteX13" fmla="*/ 4050 w 4644"/>
              <a:gd name="connsiteY13" fmla="*/ 3364 h 6065"/>
              <a:gd name="connsiteX14" fmla="*/ 4187 w 4644"/>
              <a:gd name="connsiteY14" fmla="*/ 3501 h 6065"/>
              <a:gd name="connsiteX15" fmla="*/ 4508 w 4644"/>
              <a:gd name="connsiteY15" fmla="*/ 3501 h 6065"/>
              <a:gd name="connsiteX16" fmla="*/ 4634 w 4644"/>
              <a:gd name="connsiteY16" fmla="*/ 3583 h 6065"/>
              <a:gd name="connsiteX17" fmla="*/ 4609 w 4644"/>
              <a:gd name="connsiteY17" fmla="*/ 3732 h 6065"/>
              <a:gd name="connsiteX18" fmla="*/ 2499 w 4644"/>
              <a:gd name="connsiteY18" fmla="*/ 6022 h 6065"/>
              <a:gd name="connsiteX19" fmla="*/ 2396 w 4644"/>
              <a:gd name="connsiteY19" fmla="*/ 6065 h 6065"/>
              <a:gd name="connsiteX20" fmla="*/ 2294 w 4644"/>
              <a:gd name="connsiteY20" fmla="*/ 6022 h 6065"/>
              <a:gd name="connsiteX21" fmla="*/ 184 w 4644"/>
              <a:gd name="connsiteY21" fmla="*/ 3732 h 6065"/>
              <a:gd name="connsiteX22" fmla="*/ 159 w 4644"/>
              <a:gd name="connsiteY22" fmla="*/ 3583 h 6065"/>
              <a:gd name="connsiteX23" fmla="*/ 284 w 4644"/>
              <a:gd name="connsiteY23" fmla="*/ 3501 h 6065"/>
              <a:gd name="connsiteX24" fmla="*/ 606 w 4644"/>
              <a:gd name="connsiteY24" fmla="*/ 3501 h 6065"/>
              <a:gd name="connsiteX25" fmla="*/ 743 w 4644"/>
              <a:gd name="connsiteY25" fmla="*/ 3364 h 6065"/>
              <a:gd name="connsiteX26" fmla="*/ 732 w 4644"/>
              <a:gd name="connsiteY26" fmla="*/ 1264 h 6065"/>
              <a:gd name="connsiteX27" fmla="*/ 38 w 4644"/>
              <a:gd name="connsiteY27" fmla="*/ 0 h 6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644" h="6065">
                <a:moveTo>
                  <a:pt x="38" y="0"/>
                </a:moveTo>
                <a:cubicBezTo>
                  <a:pt x="-167" y="-1"/>
                  <a:pt x="503" y="0"/>
                  <a:pt x="736" y="0"/>
                </a:cubicBezTo>
                <a:lnTo>
                  <a:pt x="2985" y="0"/>
                </a:lnTo>
                <a:lnTo>
                  <a:pt x="2996" y="0"/>
                </a:lnTo>
                <a:lnTo>
                  <a:pt x="3001" y="0"/>
                </a:lnTo>
                <a:lnTo>
                  <a:pt x="3001" y="0"/>
                </a:lnTo>
                <a:lnTo>
                  <a:pt x="3208" y="21"/>
                </a:lnTo>
                <a:cubicBezTo>
                  <a:pt x="3687" y="119"/>
                  <a:pt x="4048" y="543"/>
                  <a:pt x="4048" y="1052"/>
                </a:cubicBezTo>
                <a:lnTo>
                  <a:pt x="4002" y="1348"/>
                </a:lnTo>
                <a:lnTo>
                  <a:pt x="4002" y="1348"/>
                </a:lnTo>
                <a:lnTo>
                  <a:pt x="4048" y="1052"/>
                </a:lnTo>
                <a:lnTo>
                  <a:pt x="4048" y="1446"/>
                </a:lnTo>
                <a:lnTo>
                  <a:pt x="4050" y="1451"/>
                </a:lnTo>
                <a:cubicBezTo>
                  <a:pt x="4050" y="1531"/>
                  <a:pt x="4050" y="3285"/>
                  <a:pt x="4050" y="3364"/>
                </a:cubicBezTo>
                <a:cubicBezTo>
                  <a:pt x="4050" y="3446"/>
                  <a:pt x="4107" y="3501"/>
                  <a:pt x="4187" y="3501"/>
                </a:cubicBezTo>
                <a:lnTo>
                  <a:pt x="4508" y="3501"/>
                </a:lnTo>
                <a:cubicBezTo>
                  <a:pt x="4559" y="3501"/>
                  <a:pt x="4613" y="3538"/>
                  <a:pt x="4634" y="3583"/>
                </a:cubicBezTo>
                <a:cubicBezTo>
                  <a:pt x="4654" y="3631"/>
                  <a:pt x="4643" y="3695"/>
                  <a:pt x="4609" y="3732"/>
                </a:cubicBezTo>
                <a:lnTo>
                  <a:pt x="2499" y="6022"/>
                </a:lnTo>
                <a:cubicBezTo>
                  <a:pt x="2472" y="6049"/>
                  <a:pt x="2435" y="6065"/>
                  <a:pt x="2396" y="6065"/>
                </a:cubicBezTo>
                <a:cubicBezTo>
                  <a:pt x="2358" y="6065"/>
                  <a:pt x="2321" y="6049"/>
                  <a:pt x="2294" y="6022"/>
                </a:cubicBezTo>
                <a:lnTo>
                  <a:pt x="184" y="3732"/>
                </a:lnTo>
                <a:cubicBezTo>
                  <a:pt x="150" y="3695"/>
                  <a:pt x="138" y="3631"/>
                  <a:pt x="159" y="3583"/>
                </a:cubicBezTo>
                <a:cubicBezTo>
                  <a:pt x="179" y="3538"/>
                  <a:pt x="234" y="3501"/>
                  <a:pt x="284" y="3501"/>
                </a:cubicBezTo>
                <a:lnTo>
                  <a:pt x="606" y="3501"/>
                </a:lnTo>
                <a:cubicBezTo>
                  <a:pt x="686" y="3501"/>
                  <a:pt x="743" y="3446"/>
                  <a:pt x="743" y="3364"/>
                </a:cubicBezTo>
                <a:cubicBezTo>
                  <a:pt x="748" y="3272"/>
                  <a:pt x="738" y="2373"/>
                  <a:pt x="732" y="1264"/>
                </a:cubicBezTo>
                <a:cubicBezTo>
                  <a:pt x="726" y="155"/>
                  <a:pt x="243" y="1"/>
                  <a:pt x="38" y="0"/>
                </a:cubicBezTo>
                <a:close/>
              </a:path>
            </a:pathLst>
          </a:custGeom>
          <a:gradFill flip="none" rotWithShape="1">
            <a:gsLst>
              <a:gs pos="0">
                <a:schemeClr val="accent2">
                  <a:lumMod val="40000"/>
                  <a:lumOff val="60000"/>
                  <a:alpha val="100000"/>
                </a:schemeClr>
              </a:gs>
              <a:gs pos="90000">
                <a:schemeClr val="accent2">
                  <a:alpha val="100000"/>
                </a:schemeClr>
              </a:gs>
            </a:gsLst>
            <a:lin ang="8100000" scaled="0"/>
            <a:tileRect/>
          </a:gradFill>
          <a:ln>
            <a:noFill/>
          </a:ln>
          <a:effectLst>
            <a:outerShdw blurRad="50800" dist="63500" dir="8100000" algn="tr" rotWithShape="0">
              <a:schemeClr val="accent2">
                <a:lumMod val="7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179705" tIns="71755" rIns="107950" bIns="288290" numCol="1" spcCol="0" rtlCol="0" fromWordArt="0" anchor="ctr" anchorCtr="0" forceAA="0" compatLnSpc="1">
            <a:normAutofit fontScale="8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fontAlgn="auto">
              <a:lnSpc>
                <a:spcPct val="120000"/>
              </a:lnSpc>
              <a:spcBef>
                <a:spcPct val="0"/>
              </a:spcBef>
              <a:spcAft>
                <a:spcPct val="0"/>
              </a:spcAft>
              <a:buClrTx/>
              <a:buSzTx/>
              <a:buFontTx/>
            </a:pPr>
            <a:r>
              <a:rPr lang="en-US" altLang="zh-CN" sz="2400" b="1">
                <a:solidFill>
                  <a:srgbClr val="FFFFFF"/>
                </a:solidFill>
                <a:latin typeface="Comic Sans MS" panose="030F0702030302020204" charset="0"/>
                <a:cs typeface="Comic Sans MS" panose="030F0702030302020204" charset="0"/>
                <a:sym typeface="+mn-ea"/>
              </a:rPr>
              <a:t>02</a:t>
            </a:r>
            <a:endParaRPr lang="en-US" altLang="zh-CN" sz="2400" b="1">
              <a:solidFill>
                <a:srgbClr val="FFFFFF"/>
              </a:solidFill>
              <a:latin typeface="Comic Sans MS" panose="030F0702030302020204" charset="0"/>
              <a:cs typeface="Comic Sans MS" panose="030F0702030302020204" charset="0"/>
              <a:sym typeface="+mn-ea"/>
            </a:endParaRPr>
          </a:p>
        </p:txBody>
      </p:sp>
      <p:sp>
        <p:nvSpPr>
          <p:cNvPr id="67" name="矩形 66"/>
          <p:cNvSpPr/>
          <p:nvPr>
            <p:custDataLst>
              <p:tags r:id="rId11"/>
            </p:custDataLst>
          </p:nvPr>
        </p:nvSpPr>
        <p:spPr>
          <a:xfrm>
            <a:off x="1606610" y="4200734"/>
            <a:ext cx="1210310" cy="187019"/>
          </a:xfrm>
          <a:prstGeom prst="rect">
            <a:avLst/>
          </a:prstGeom>
          <a:noFill/>
        </p:spPr>
        <p:txBody>
          <a:bodyPr wrap="square" lIns="0" tIns="0" rIns="0" bIns="0" rtlCol="0" anchor="b">
            <a:noAutofit/>
          </a:bodyPr>
          <a:lstStyle/>
          <a:p>
            <a:pPr algn="ctr" fontAlgn="auto">
              <a:lnSpc>
                <a:spcPct val="120000"/>
              </a:lnSpc>
              <a:spcBef>
                <a:spcPct val="0"/>
              </a:spcBef>
              <a:spcAft>
                <a:spcPct val="0"/>
              </a:spcAft>
            </a:pPr>
            <a:r>
              <a:rPr lang="zh-CN" altLang="en-US" sz="1200" b="1">
                <a:solidFill>
                  <a:schemeClr val="accent2"/>
                </a:solidFill>
                <a:latin typeface="Comic Sans MS" panose="030F0702030302020204" charset="0"/>
                <a:ea typeface="微软雅黑" panose="020B0503020204020204" charset="-122"/>
                <a:cs typeface="+mn-ea"/>
              </a:rPr>
              <a:t>特定发电设施</a:t>
            </a:r>
            <a:endParaRPr lang="zh-CN" altLang="en-US" sz="1200" b="1">
              <a:solidFill>
                <a:schemeClr val="accent2"/>
              </a:solidFill>
              <a:latin typeface="Comic Sans MS" panose="030F0702030302020204" charset="0"/>
              <a:ea typeface="微软雅黑" panose="020B0503020204020204" charset="-122"/>
              <a:cs typeface="+mn-ea"/>
            </a:endParaRPr>
          </a:p>
        </p:txBody>
      </p:sp>
      <p:sp>
        <p:nvSpPr>
          <p:cNvPr id="68" name="矩形 67"/>
          <p:cNvSpPr/>
          <p:nvPr>
            <p:custDataLst>
              <p:tags r:id="rId12"/>
            </p:custDataLst>
          </p:nvPr>
        </p:nvSpPr>
        <p:spPr>
          <a:xfrm>
            <a:off x="2870895" y="4463780"/>
            <a:ext cx="1259205" cy="774413"/>
          </a:xfrm>
          <a:prstGeom prst="rect">
            <a:avLst/>
          </a:prstGeom>
          <a:noFill/>
        </p:spPr>
        <p:txBody>
          <a:bodyPr wrap="square" lIns="0" tIns="0" rIns="0" bIns="0" rtlCol="0" anchor="t" anchorCtr="0">
            <a:noAutofit/>
          </a:bodyPr>
          <a:lstStyle/>
          <a:p>
            <a:pPr marL="171450" indent="-171450" algn="l" fontAlgn="auto">
              <a:lnSpc>
                <a:spcPct val="120000"/>
              </a:lnSpc>
              <a:buClrTx/>
              <a:buSzTx/>
              <a:buFont typeface="Wingdings" panose="05000000000000000000" charset="0"/>
              <a:buChar char="Ø"/>
            </a:pPr>
            <a:r>
              <a:rPr lang="zh-CN" altLang="en-US" sz="1000" b="1" kern="0" dirty="0">
                <a:ln>
                  <a:noFill/>
                  <a:prstDash val="sysDot"/>
                </a:ln>
                <a:solidFill>
                  <a:schemeClr val="tx1">
                    <a:lumMod val="85000"/>
                    <a:lumOff val="15000"/>
                  </a:schemeClr>
                </a:solidFill>
                <a:latin typeface="微软雅黑" panose="020B0503020204020204" charset="-122"/>
                <a:ea typeface="微软雅黑" panose="020B0503020204020204" charset="-122"/>
                <a:cs typeface="+mn-ea"/>
                <a:sym typeface="+mn-ea"/>
              </a:rPr>
              <a:t>防洪设计不满足要求</a:t>
            </a:r>
            <a:endParaRPr lang="zh-CN" altLang="en-US" sz="1000" b="1" kern="0" dirty="0">
              <a:ln>
                <a:noFill/>
                <a:prstDash val="sysDot"/>
              </a:ln>
              <a:solidFill>
                <a:schemeClr val="tx1">
                  <a:lumMod val="85000"/>
                  <a:lumOff val="15000"/>
                </a:schemeClr>
              </a:solidFill>
              <a:latin typeface="微软雅黑" panose="020B0503020204020204" charset="-122"/>
              <a:ea typeface="微软雅黑" panose="020B0503020204020204" charset="-122"/>
              <a:cs typeface="+mn-ea"/>
              <a:sym typeface="+mn-ea"/>
            </a:endParaRPr>
          </a:p>
          <a:p>
            <a:pPr marL="171450" indent="-171450" algn="l" fontAlgn="auto">
              <a:lnSpc>
                <a:spcPct val="120000"/>
              </a:lnSpc>
              <a:buClrTx/>
              <a:buSzTx/>
              <a:buFont typeface="Wingdings" panose="05000000000000000000" charset="0"/>
              <a:buChar char="Ø"/>
            </a:pPr>
            <a:r>
              <a:rPr lang="zh-CN" altLang="en-US" sz="1000" b="1" kern="0" dirty="0">
                <a:ln>
                  <a:noFill/>
                  <a:prstDash val="sysDot"/>
                </a:ln>
                <a:solidFill>
                  <a:schemeClr val="tx1">
                    <a:lumMod val="85000"/>
                    <a:lumOff val="15000"/>
                  </a:schemeClr>
                </a:solidFill>
                <a:latin typeface="微软雅黑" panose="020B0503020204020204" charset="-122"/>
                <a:ea typeface="微软雅黑" panose="020B0503020204020204" charset="-122"/>
                <a:cs typeface="+mn-ea"/>
                <a:sym typeface="+mn-ea"/>
              </a:rPr>
              <a:t>渗漏、检修排水系统无法正常工作</a:t>
            </a:r>
            <a:endParaRPr lang="zh-CN" altLang="en-US" sz="1000" b="1" kern="0" dirty="0">
              <a:ln>
                <a:noFill/>
                <a:prstDash val="sysDot"/>
              </a:ln>
              <a:solidFill>
                <a:schemeClr val="tx1">
                  <a:lumMod val="85000"/>
                  <a:lumOff val="15000"/>
                </a:schemeClr>
              </a:solidFill>
              <a:latin typeface="微软雅黑" panose="020B0503020204020204" charset="-122"/>
              <a:ea typeface="微软雅黑" panose="020B0503020204020204" charset="-122"/>
              <a:cs typeface="+mn-ea"/>
              <a:sym typeface="+mn-ea"/>
            </a:endParaRPr>
          </a:p>
          <a:p>
            <a:pPr marL="171450" indent="-171450" algn="l" fontAlgn="auto">
              <a:lnSpc>
                <a:spcPct val="120000"/>
              </a:lnSpc>
              <a:buClrTx/>
              <a:buSzTx/>
              <a:buFont typeface="Wingdings" panose="05000000000000000000" charset="0"/>
              <a:buChar char="Ø"/>
            </a:pPr>
            <a:r>
              <a:rPr lang="zh-CN" altLang="en-US" sz="1000" b="1" kern="0" dirty="0">
                <a:ln>
                  <a:noFill/>
                  <a:prstDash val="sysDot"/>
                </a:ln>
                <a:solidFill>
                  <a:schemeClr val="tx1">
                    <a:lumMod val="85000"/>
                    <a:lumOff val="15000"/>
                  </a:schemeClr>
                </a:solidFill>
                <a:latin typeface="微软雅黑" panose="020B0503020204020204" charset="-122"/>
                <a:ea typeface="微软雅黑" panose="020B0503020204020204" charset="-122"/>
                <a:cs typeface="+mn-ea"/>
                <a:sym typeface="+mn-ea"/>
              </a:rPr>
              <a:t>工程边坡失稳，工程结构存在严重缺陷。</a:t>
            </a:r>
            <a:endParaRPr lang="zh-CN" altLang="en-US" sz="1000" b="1" kern="0" dirty="0">
              <a:ln>
                <a:noFill/>
                <a:prstDash val="sysDot"/>
              </a:ln>
              <a:solidFill>
                <a:schemeClr val="tx1">
                  <a:lumMod val="85000"/>
                  <a:lumOff val="15000"/>
                </a:schemeClr>
              </a:solidFill>
              <a:latin typeface="微软雅黑" panose="020B0503020204020204" charset="-122"/>
              <a:ea typeface="微软雅黑" panose="020B0503020204020204" charset="-122"/>
              <a:cs typeface="+mn-ea"/>
              <a:sym typeface="+mn-ea"/>
            </a:endParaRPr>
          </a:p>
        </p:txBody>
      </p:sp>
      <p:sp>
        <p:nvSpPr>
          <p:cNvPr id="69" name="任意多边形: 形状 36"/>
          <p:cNvSpPr/>
          <p:nvPr>
            <p:custDataLst>
              <p:tags r:id="rId13"/>
            </p:custDataLst>
          </p:nvPr>
        </p:nvSpPr>
        <p:spPr>
          <a:xfrm>
            <a:off x="2982236" y="3391571"/>
            <a:ext cx="282999" cy="146774"/>
          </a:xfrm>
          <a:custGeom>
            <a:avLst/>
            <a:gdLst>
              <a:gd name="connsiteX0" fmla="*/ 205979 w 411958"/>
              <a:gd name="connsiteY0" fmla="*/ 0 h 346834"/>
              <a:gd name="connsiteX1" fmla="*/ 411958 w 411958"/>
              <a:gd name="connsiteY1" fmla="*/ 296466 h 346834"/>
              <a:gd name="connsiteX2" fmla="*/ 408430 w 411958"/>
              <a:gd name="connsiteY2" fmla="*/ 346834 h 346834"/>
              <a:gd name="connsiteX3" fmla="*/ 3528 w 411958"/>
              <a:gd name="connsiteY3" fmla="*/ 346834 h 346834"/>
              <a:gd name="connsiteX4" fmla="*/ 0 w 411958"/>
              <a:gd name="connsiteY4" fmla="*/ 296466 h 346834"/>
              <a:gd name="connsiteX5" fmla="*/ 205979 w 411958"/>
              <a:gd name="connsiteY5" fmla="*/ 0 h 346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1958" h="346834">
                <a:moveTo>
                  <a:pt x="205979" y="0"/>
                </a:moveTo>
                <a:cubicBezTo>
                  <a:pt x="319738" y="0"/>
                  <a:pt x="411958" y="132732"/>
                  <a:pt x="411958" y="296466"/>
                </a:cubicBezTo>
                <a:lnTo>
                  <a:pt x="408430" y="346834"/>
                </a:lnTo>
                <a:lnTo>
                  <a:pt x="3528" y="346834"/>
                </a:lnTo>
                <a:lnTo>
                  <a:pt x="0" y="296466"/>
                </a:lnTo>
                <a:cubicBezTo>
                  <a:pt x="0" y="132732"/>
                  <a:pt x="92220" y="0"/>
                  <a:pt x="205979" y="0"/>
                </a:cubicBezTo>
                <a:close/>
              </a:path>
            </a:pathLst>
          </a:custGeom>
          <a:solidFill>
            <a:schemeClr val="accent1"/>
          </a:solidFill>
          <a:ln>
            <a:noFill/>
          </a:ln>
          <a:effectLst>
            <a:outerShdw blurRad="50800" dist="63500" dir="8100000" algn="tr" rotWithShape="0">
              <a:schemeClr val="accent1">
                <a:lumMod val="50000"/>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lnSpc>
                <a:spcPct val="120000"/>
              </a:lnSpc>
            </a:pPr>
            <a:endParaRPr lang="zh-CN" altLang="en-US">
              <a:solidFill>
                <a:schemeClr val="lt1"/>
              </a:solidFill>
              <a:latin typeface="Comic Sans MS" panose="030F0702030302020204" charset="0"/>
              <a:cs typeface="Comic Sans MS" panose="030F0702030302020204" charset="0"/>
            </a:endParaRPr>
          </a:p>
        </p:txBody>
      </p:sp>
      <p:sp>
        <p:nvSpPr>
          <p:cNvPr id="70" name="任意多边形: 形状 38"/>
          <p:cNvSpPr/>
          <p:nvPr>
            <p:custDataLst>
              <p:tags r:id="rId14"/>
            </p:custDataLst>
          </p:nvPr>
        </p:nvSpPr>
        <p:spPr>
          <a:xfrm>
            <a:off x="3114744" y="3391287"/>
            <a:ext cx="903894" cy="709410"/>
          </a:xfrm>
          <a:custGeom>
            <a:avLst/>
            <a:gdLst>
              <a:gd name="connsiteX0" fmla="*/ 38 w 4644"/>
              <a:gd name="connsiteY0" fmla="*/ 0 h 6065"/>
              <a:gd name="connsiteX1" fmla="*/ 736 w 4644"/>
              <a:gd name="connsiteY1" fmla="*/ 0 h 6065"/>
              <a:gd name="connsiteX2" fmla="*/ 2985 w 4644"/>
              <a:gd name="connsiteY2" fmla="*/ 0 h 6065"/>
              <a:gd name="connsiteX3" fmla="*/ 2996 w 4644"/>
              <a:gd name="connsiteY3" fmla="*/ 0 h 6065"/>
              <a:gd name="connsiteX4" fmla="*/ 3001 w 4644"/>
              <a:gd name="connsiteY4" fmla="*/ 0 h 6065"/>
              <a:gd name="connsiteX5" fmla="*/ 3001 w 4644"/>
              <a:gd name="connsiteY5" fmla="*/ 0 h 6065"/>
              <a:gd name="connsiteX6" fmla="*/ 3208 w 4644"/>
              <a:gd name="connsiteY6" fmla="*/ 21 h 6065"/>
              <a:gd name="connsiteX7" fmla="*/ 4048 w 4644"/>
              <a:gd name="connsiteY7" fmla="*/ 1052 h 6065"/>
              <a:gd name="connsiteX8" fmla="*/ 4002 w 4644"/>
              <a:gd name="connsiteY8" fmla="*/ 1348 h 6065"/>
              <a:gd name="connsiteX9" fmla="*/ 4002 w 4644"/>
              <a:gd name="connsiteY9" fmla="*/ 1348 h 6065"/>
              <a:gd name="connsiteX10" fmla="*/ 4048 w 4644"/>
              <a:gd name="connsiteY10" fmla="*/ 1052 h 6065"/>
              <a:gd name="connsiteX11" fmla="*/ 4048 w 4644"/>
              <a:gd name="connsiteY11" fmla="*/ 1446 h 6065"/>
              <a:gd name="connsiteX12" fmla="*/ 4050 w 4644"/>
              <a:gd name="connsiteY12" fmla="*/ 1451 h 6065"/>
              <a:gd name="connsiteX13" fmla="*/ 4050 w 4644"/>
              <a:gd name="connsiteY13" fmla="*/ 3364 h 6065"/>
              <a:gd name="connsiteX14" fmla="*/ 4187 w 4644"/>
              <a:gd name="connsiteY14" fmla="*/ 3501 h 6065"/>
              <a:gd name="connsiteX15" fmla="*/ 4508 w 4644"/>
              <a:gd name="connsiteY15" fmla="*/ 3501 h 6065"/>
              <a:gd name="connsiteX16" fmla="*/ 4634 w 4644"/>
              <a:gd name="connsiteY16" fmla="*/ 3583 h 6065"/>
              <a:gd name="connsiteX17" fmla="*/ 4609 w 4644"/>
              <a:gd name="connsiteY17" fmla="*/ 3732 h 6065"/>
              <a:gd name="connsiteX18" fmla="*/ 2499 w 4644"/>
              <a:gd name="connsiteY18" fmla="*/ 6022 h 6065"/>
              <a:gd name="connsiteX19" fmla="*/ 2396 w 4644"/>
              <a:gd name="connsiteY19" fmla="*/ 6065 h 6065"/>
              <a:gd name="connsiteX20" fmla="*/ 2294 w 4644"/>
              <a:gd name="connsiteY20" fmla="*/ 6022 h 6065"/>
              <a:gd name="connsiteX21" fmla="*/ 184 w 4644"/>
              <a:gd name="connsiteY21" fmla="*/ 3732 h 6065"/>
              <a:gd name="connsiteX22" fmla="*/ 159 w 4644"/>
              <a:gd name="connsiteY22" fmla="*/ 3583 h 6065"/>
              <a:gd name="connsiteX23" fmla="*/ 284 w 4644"/>
              <a:gd name="connsiteY23" fmla="*/ 3501 h 6065"/>
              <a:gd name="connsiteX24" fmla="*/ 606 w 4644"/>
              <a:gd name="connsiteY24" fmla="*/ 3501 h 6065"/>
              <a:gd name="connsiteX25" fmla="*/ 743 w 4644"/>
              <a:gd name="connsiteY25" fmla="*/ 3364 h 6065"/>
              <a:gd name="connsiteX26" fmla="*/ 732 w 4644"/>
              <a:gd name="connsiteY26" fmla="*/ 1264 h 6065"/>
              <a:gd name="connsiteX27" fmla="*/ 38 w 4644"/>
              <a:gd name="connsiteY27" fmla="*/ 0 h 6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644" h="6065">
                <a:moveTo>
                  <a:pt x="38" y="0"/>
                </a:moveTo>
                <a:cubicBezTo>
                  <a:pt x="-167" y="-1"/>
                  <a:pt x="503" y="0"/>
                  <a:pt x="736" y="0"/>
                </a:cubicBezTo>
                <a:lnTo>
                  <a:pt x="2985" y="0"/>
                </a:lnTo>
                <a:lnTo>
                  <a:pt x="2996" y="0"/>
                </a:lnTo>
                <a:lnTo>
                  <a:pt x="3001" y="0"/>
                </a:lnTo>
                <a:lnTo>
                  <a:pt x="3001" y="0"/>
                </a:lnTo>
                <a:lnTo>
                  <a:pt x="3208" y="21"/>
                </a:lnTo>
                <a:cubicBezTo>
                  <a:pt x="3687" y="119"/>
                  <a:pt x="4048" y="543"/>
                  <a:pt x="4048" y="1052"/>
                </a:cubicBezTo>
                <a:lnTo>
                  <a:pt x="4002" y="1348"/>
                </a:lnTo>
                <a:lnTo>
                  <a:pt x="4002" y="1348"/>
                </a:lnTo>
                <a:lnTo>
                  <a:pt x="4048" y="1052"/>
                </a:lnTo>
                <a:lnTo>
                  <a:pt x="4048" y="1446"/>
                </a:lnTo>
                <a:lnTo>
                  <a:pt x="4050" y="1451"/>
                </a:lnTo>
                <a:cubicBezTo>
                  <a:pt x="4050" y="1531"/>
                  <a:pt x="4050" y="3285"/>
                  <a:pt x="4050" y="3364"/>
                </a:cubicBezTo>
                <a:cubicBezTo>
                  <a:pt x="4050" y="3446"/>
                  <a:pt x="4107" y="3501"/>
                  <a:pt x="4187" y="3501"/>
                </a:cubicBezTo>
                <a:lnTo>
                  <a:pt x="4508" y="3501"/>
                </a:lnTo>
                <a:cubicBezTo>
                  <a:pt x="4559" y="3501"/>
                  <a:pt x="4613" y="3538"/>
                  <a:pt x="4634" y="3583"/>
                </a:cubicBezTo>
                <a:cubicBezTo>
                  <a:pt x="4654" y="3631"/>
                  <a:pt x="4643" y="3695"/>
                  <a:pt x="4609" y="3732"/>
                </a:cubicBezTo>
                <a:lnTo>
                  <a:pt x="2499" y="6022"/>
                </a:lnTo>
                <a:cubicBezTo>
                  <a:pt x="2472" y="6049"/>
                  <a:pt x="2435" y="6065"/>
                  <a:pt x="2396" y="6065"/>
                </a:cubicBezTo>
                <a:cubicBezTo>
                  <a:pt x="2358" y="6065"/>
                  <a:pt x="2321" y="6049"/>
                  <a:pt x="2294" y="6022"/>
                </a:cubicBezTo>
                <a:lnTo>
                  <a:pt x="184" y="3732"/>
                </a:lnTo>
                <a:cubicBezTo>
                  <a:pt x="150" y="3695"/>
                  <a:pt x="138" y="3631"/>
                  <a:pt x="159" y="3583"/>
                </a:cubicBezTo>
                <a:cubicBezTo>
                  <a:pt x="179" y="3538"/>
                  <a:pt x="234" y="3501"/>
                  <a:pt x="284" y="3501"/>
                </a:cubicBezTo>
                <a:lnTo>
                  <a:pt x="606" y="3501"/>
                </a:lnTo>
                <a:cubicBezTo>
                  <a:pt x="686" y="3501"/>
                  <a:pt x="743" y="3446"/>
                  <a:pt x="743" y="3364"/>
                </a:cubicBezTo>
                <a:cubicBezTo>
                  <a:pt x="748" y="3272"/>
                  <a:pt x="738" y="2373"/>
                  <a:pt x="732" y="1264"/>
                </a:cubicBezTo>
                <a:cubicBezTo>
                  <a:pt x="726" y="155"/>
                  <a:pt x="243" y="1"/>
                  <a:pt x="38" y="0"/>
                </a:cubicBezTo>
                <a:close/>
              </a:path>
            </a:pathLst>
          </a:custGeom>
          <a:gradFill flip="none" rotWithShape="1">
            <a:gsLst>
              <a:gs pos="0">
                <a:schemeClr val="accent1">
                  <a:lumMod val="40000"/>
                  <a:lumOff val="60000"/>
                  <a:alpha val="100000"/>
                </a:schemeClr>
              </a:gs>
              <a:gs pos="80000">
                <a:schemeClr val="accent1">
                  <a:alpha val="100000"/>
                </a:schemeClr>
              </a:gs>
            </a:gsLst>
            <a:lin ang="8100000" scaled="0"/>
            <a:tileRect/>
          </a:gradFill>
          <a:ln>
            <a:noFill/>
          </a:ln>
          <a:effectLst>
            <a:outerShdw blurRad="50800" dist="63500" dir="8100000" algn="tr" rotWithShape="0">
              <a:schemeClr val="accent1">
                <a:lumMod val="7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179705" tIns="71755" rIns="107950" bIns="288290" numCol="1" spcCol="0" rtlCol="0" fromWordArt="0" anchor="ctr" anchorCtr="0" forceAA="0" compatLnSpc="1">
            <a:normAutofit fontScale="8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fontAlgn="auto">
              <a:lnSpc>
                <a:spcPct val="120000"/>
              </a:lnSpc>
              <a:spcBef>
                <a:spcPct val="0"/>
              </a:spcBef>
              <a:spcAft>
                <a:spcPct val="0"/>
              </a:spcAft>
              <a:buClrTx/>
              <a:buSzTx/>
              <a:buFontTx/>
            </a:pPr>
            <a:r>
              <a:rPr lang="en-US" altLang="zh-CN" sz="2400" b="1">
                <a:solidFill>
                  <a:srgbClr val="FFFFFF"/>
                </a:solidFill>
                <a:latin typeface="Comic Sans MS" panose="030F0702030302020204" charset="0"/>
                <a:cs typeface="Comic Sans MS" panose="030F0702030302020204" charset="0"/>
                <a:sym typeface="+mn-ea"/>
              </a:rPr>
              <a:t>03</a:t>
            </a:r>
            <a:endParaRPr lang="en-US" altLang="zh-CN" sz="2400" b="1">
              <a:solidFill>
                <a:srgbClr val="FFFFFF"/>
              </a:solidFill>
              <a:latin typeface="Comic Sans MS" panose="030F0702030302020204" charset="0"/>
              <a:cs typeface="Comic Sans MS" panose="030F0702030302020204" charset="0"/>
              <a:sym typeface="+mn-ea"/>
            </a:endParaRPr>
          </a:p>
        </p:txBody>
      </p:sp>
      <p:sp>
        <p:nvSpPr>
          <p:cNvPr id="71" name="矩形 70"/>
          <p:cNvSpPr/>
          <p:nvPr>
            <p:custDataLst>
              <p:tags r:id="rId15"/>
            </p:custDataLst>
          </p:nvPr>
        </p:nvSpPr>
        <p:spPr>
          <a:xfrm>
            <a:off x="2902010" y="4200734"/>
            <a:ext cx="1210310" cy="187019"/>
          </a:xfrm>
          <a:prstGeom prst="rect">
            <a:avLst/>
          </a:prstGeom>
          <a:noFill/>
        </p:spPr>
        <p:txBody>
          <a:bodyPr wrap="square" lIns="0" tIns="0" rIns="0" bIns="0" rtlCol="0" anchor="b">
            <a:noAutofit/>
          </a:bodyPr>
          <a:lstStyle/>
          <a:p>
            <a:pPr algn="ctr" fontAlgn="auto">
              <a:lnSpc>
                <a:spcPct val="120000"/>
              </a:lnSpc>
              <a:spcBef>
                <a:spcPct val="0"/>
              </a:spcBef>
              <a:spcAft>
                <a:spcPct val="0"/>
              </a:spcAft>
            </a:pPr>
            <a:r>
              <a:rPr lang="zh-CN" altLang="en-US" sz="1200" b="1">
                <a:solidFill>
                  <a:schemeClr val="accent1"/>
                </a:solidFill>
                <a:latin typeface="Comic Sans MS" panose="030F0702030302020204" charset="0"/>
                <a:ea typeface="微软雅黑" panose="020B0503020204020204" charset="-122"/>
                <a:cs typeface="+mn-ea"/>
              </a:rPr>
              <a:t>水电站</a:t>
            </a:r>
            <a:endParaRPr lang="zh-CN" altLang="en-US" sz="1200" b="1">
              <a:solidFill>
                <a:schemeClr val="accent1"/>
              </a:solidFill>
              <a:latin typeface="Comic Sans MS" panose="030F0702030302020204" charset="0"/>
              <a:ea typeface="微软雅黑" panose="020B0503020204020204" charset="-122"/>
              <a:cs typeface="+mn-ea"/>
            </a:endParaRPr>
          </a:p>
        </p:txBody>
      </p:sp>
      <p:sp>
        <p:nvSpPr>
          <p:cNvPr id="94" name="矩形 93"/>
          <p:cNvSpPr/>
          <p:nvPr>
            <p:custDataLst>
              <p:tags r:id="rId16"/>
            </p:custDataLst>
          </p:nvPr>
        </p:nvSpPr>
        <p:spPr>
          <a:xfrm>
            <a:off x="4268510" y="4463948"/>
            <a:ext cx="1210555" cy="774264"/>
          </a:xfrm>
          <a:prstGeom prst="rect">
            <a:avLst/>
          </a:prstGeom>
          <a:noFill/>
        </p:spPr>
        <p:txBody>
          <a:bodyPr wrap="square" lIns="0" tIns="0" rIns="0" bIns="0" rtlCol="0" anchor="t" anchorCtr="0">
            <a:noAutofit/>
          </a:bodyPr>
          <a:lstStyle/>
          <a:p>
            <a:pPr marL="171450" indent="-171450" algn="l" fontAlgn="auto">
              <a:lnSpc>
                <a:spcPct val="120000"/>
              </a:lnSpc>
              <a:buClrTx/>
              <a:buSzTx/>
              <a:buFont typeface="Wingdings" panose="05000000000000000000" charset="0"/>
              <a:buChar char="Ø"/>
            </a:pPr>
            <a:r>
              <a:rPr lang="zh-CN" altLang="en-US" sz="1000" b="1" kern="0" dirty="0">
                <a:ln>
                  <a:noFill/>
                  <a:prstDash val="sysDot"/>
                </a:ln>
                <a:solidFill>
                  <a:schemeClr val="tx1">
                    <a:lumMod val="85000"/>
                    <a:lumOff val="15000"/>
                  </a:schemeClr>
                </a:solidFill>
                <a:latin typeface="微软雅黑" panose="020B0503020204020204" charset="-122"/>
                <a:ea typeface="微软雅黑" panose="020B0503020204020204" charset="-122"/>
                <a:cs typeface="+mn-ea"/>
                <a:sym typeface="+mn-ea"/>
              </a:rPr>
              <a:t>未办理安全登记</a:t>
            </a:r>
            <a:endParaRPr lang="zh-CN" altLang="en-US" sz="1000" b="1" kern="0" dirty="0">
              <a:ln>
                <a:noFill/>
                <a:prstDash val="sysDot"/>
              </a:ln>
              <a:solidFill>
                <a:schemeClr val="tx1">
                  <a:lumMod val="85000"/>
                  <a:lumOff val="15000"/>
                </a:schemeClr>
              </a:solidFill>
              <a:latin typeface="微软雅黑" panose="020B0503020204020204" charset="-122"/>
              <a:ea typeface="微软雅黑" panose="020B0503020204020204" charset="-122"/>
              <a:cs typeface="+mn-ea"/>
              <a:sym typeface="+mn-ea"/>
            </a:endParaRPr>
          </a:p>
          <a:p>
            <a:pPr marL="171450" indent="-171450" algn="l" fontAlgn="auto">
              <a:lnSpc>
                <a:spcPct val="120000"/>
              </a:lnSpc>
              <a:buClrTx/>
              <a:buSzTx/>
              <a:buFont typeface="Wingdings" panose="05000000000000000000" charset="0"/>
              <a:buChar char="Ø"/>
            </a:pPr>
            <a:r>
              <a:rPr lang="zh-CN" altLang="en-US" sz="1000" b="1" kern="0" dirty="0">
                <a:ln>
                  <a:noFill/>
                  <a:prstDash val="sysDot"/>
                </a:ln>
                <a:solidFill>
                  <a:schemeClr val="tx1">
                    <a:lumMod val="85000"/>
                    <a:lumOff val="15000"/>
                  </a:schemeClr>
                </a:solidFill>
                <a:latin typeface="微软雅黑" panose="020B0503020204020204" charset="-122"/>
                <a:ea typeface="微软雅黑" panose="020B0503020204020204" charset="-122"/>
                <a:cs typeface="+mn-ea"/>
                <a:sym typeface="+mn-ea"/>
              </a:rPr>
              <a:t>未开展蓄水验收，擅自抬升蓄水位</a:t>
            </a:r>
            <a:endParaRPr lang="zh-CN" altLang="en-US" sz="1000" b="1" kern="0" dirty="0">
              <a:ln>
                <a:noFill/>
                <a:prstDash val="sysDot"/>
              </a:ln>
              <a:solidFill>
                <a:schemeClr val="tx1">
                  <a:lumMod val="85000"/>
                  <a:lumOff val="15000"/>
                </a:schemeClr>
              </a:solidFill>
              <a:latin typeface="微软雅黑" panose="020B0503020204020204" charset="-122"/>
              <a:ea typeface="微软雅黑" panose="020B0503020204020204" charset="-122"/>
              <a:cs typeface="+mn-ea"/>
              <a:sym typeface="+mn-ea"/>
            </a:endParaRPr>
          </a:p>
          <a:p>
            <a:pPr marL="171450" indent="-171450" algn="l" fontAlgn="auto">
              <a:lnSpc>
                <a:spcPct val="120000"/>
              </a:lnSpc>
              <a:buClrTx/>
              <a:buSzTx/>
              <a:buFont typeface="Wingdings" panose="05000000000000000000" charset="0"/>
              <a:buChar char="Ø"/>
            </a:pPr>
            <a:r>
              <a:rPr lang="zh-CN" altLang="en-US" sz="1000" b="1" kern="0" dirty="0">
                <a:ln>
                  <a:noFill/>
                  <a:prstDash val="sysDot"/>
                </a:ln>
                <a:solidFill>
                  <a:schemeClr val="tx1">
                    <a:lumMod val="85000"/>
                    <a:lumOff val="15000"/>
                  </a:schemeClr>
                </a:solidFill>
                <a:latin typeface="微软雅黑" panose="020B0503020204020204" charset="-122"/>
                <a:ea typeface="微软雅黑" panose="020B0503020204020204" charset="-122"/>
                <a:cs typeface="+mn-ea"/>
                <a:sym typeface="+mn-ea"/>
              </a:rPr>
              <a:t>防洪能力不足，坝体稳定性不满足设计标准</a:t>
            </a:r>
            <a:endParaRPr lang="zh-CN" altLang="en-US" sz="1000" b="1" kern="0" dirty="0">
              <a:ln>
                <a:noFill/>
                <a:prstDash val="sysDot"/>
              </a:ln>
              <a:solidFill>
                <a:schemeClr val="tx1">
                  <a:lumMod val="85000"/>
                  <a:lumOff val="15000"/>
                </a:schemeClr>
              </a:solidFill>
              <a:latin typeface="微软雅黑" panose="020B0503020204020204" charset="-122"/>
              <a:ea typeface="微软雅黑" panose="020B0503020204020204" charset="-122"/>
              <a:cs typeface="+mn-ea"/>
              <a:sym typeface="+mn-ea"/>
            </a:endParaRPr>
          </a:p>
          <a:p>
            <a:pPr marL="171450" indent="-171450" algn="l" fontAlgn="auto">
              <a:lnSpc>
                <a:spcPct val="120000"/>
              </a:lnSpc>
              <a:buClrTx/>
              <a:buSzTx/>
              <a:buFont typeface="Wingdings" panose="05000000000000000000" charset="0"/>
              <a:buChar char="Ø"/>
            </a:pPr>
            <a:r>
              <a:rPr lang="zh-CN" altLang="en-US" sz="1000" b="1" kern="0" dirty="0">
                <a:ln>
                  <a:noFill/>
                  <a:prstDash val="sysDot"/>
                </a:ln>
                <a:solidFill>
                  <a:schemeClr val="tx1">
                    <a:lumMod val="85000"/>
                    <a:lumOff val="15000"/>
                  </a:schemeClr>
                </a:solidFill>
                <a:latin typeface="微软雅黑" panose="020B0503020204020204" charset="-122"/>
                <a:ea typeface="微软雅黑" panose="020B0503020204020204" charset="-122"/>
                <a:cs typeface="+mn-ea"/>
                <a:sym typeface="+mn-ea"/>
              </a:rPr>
              <a:t>泄洪功能无法正常运行</a:t>
            </a:r>
            <a:endParaRPr lang="zh-CN" altLang="en-US" sz="1000" b="1" kern="0" dirty="0">
              <a:ln>
                <a:noFill/>
                <a:prstDash val="sysDot"/>
              </a:ln>
              <a:solidFill>
                <a:schemeClr val="tx1">
                  <a:lumMod val="85000"/>
                  <a:lumOff val="15000"/>
                </a:schemeClr>
              </a:solidFill>
              <a:latin typeface="微软雅黑" panose="020B0503020204020204" charset="-122"/>
              <a:ea typeface="微软雅黑" panose="020B0503020204020204" charset="-122"/>
              <a:cs typeface="+mn-ea"/>
              <a:sym typeface="+mn-ea"/>
            </a:endParaRPr>
          </a:p>
          <a:p>
            <a:pPr marL="171450" indent="-171450" algn="l">
              <a:lnSpc>
                <a:spcPct val="100000"/>
              </a:lnSpc>
              <a:buClrTx/>
              <a:buSzTx/>
              <a:buFont typeface="Wingdings" panose="05000000000000000000" charset="0"/>
              <a:buChar char="Ø"/>
            </a:pPr>
            <a:endParaRPr lang="zh-CN" altLang="en-US" sz="1000" b="1" kern="0" dirty="0">
              <a:ln>
                <a:noFill/>
                <a:prstDash val="sysDot"/>
              </a:ln>
              <a:solidFill>
                <a:schemeClr val="tx1">
                  <a:lumMod val="85000"/>
                  <a:lumOff val="15000"/>
                </a:schemeClr>
              </a:solidFill>
              <a:latin typeface="微软雅黑" panose="020B0503020204020204" charset="-122"/>
              <a:ea typeface="微软雅黑" panose="020B0503020204020204" charset="-122"/>
              <a:cs typeface="+mn-ea"/>
              <a:sym typeface="+mn-ea"/>
            </a:endParaRPr>
          </a:p>
        </p:txBody>
      </p:sp>
      <p:sp>
        <p:nvSpPr>
          <p:cNvPr id="95" name="矩形 94"/>
          <p:cNvSpPr/>
          <p:nvPr>
            <p:custDataLst>
              <p:tags r:id="rId17"/>
            </p:custDataLst>
          </p:nvPr>
        </p:nvSpPr>
        <p:spPr>
          <a:xfrm>
            <a:off x="4268530" y="4200734"/>
            <a:ext cx="1210310" cy="187401"/>
          </a:xfrm>
          <a:prstGeom prst="rect">
            <a:avLst/>
          </a:prstGeom>
          <a:noFill/>
        </p:spPr>
        <p:txBody>
          <a:bodyPr wrap="square" lIns="0" tIns="0" rIns="0" bIns="0" rtlCol="0" anchor="b">
            <a:noAutofit/>
          </a:bodyPr>
          <a:lstStyle/>
          <a:p>
            <a:pPr algn="ctr" fontAlgn="auto">
              <a:lnSpc>
                <a:spcPct val="120000"/>
              </a:lnSpc>
              <a:spcBef>
                <a:spcPct val="0"/>
              </a:spcBef>
              <a:spcAft>
                <a:spcPct val="0"/>
              </a:spcAft>
            </a:pPr>
            <a:r>
              <a:rPr lang="zh-CN" altLang="en-US" sz="1200" b="1">
                <a:solidFill>
                  <a:schemeClr val="accent2"/>
                </a:solidFill>
                <a:latin typeface="Comic Sans MS" panose="030F0702030302020204" charset="0"/>
                <a:ea typeface="微软雅黑" panose="020B0503020204020204" charset="-122"/>
                <a:cs typeface="+mn-ea"/>
              </a:rPr>
              <a:t>水电站大坝</a:t>
            </a:r>
            <a:endParaRPr lang="zh-CN" altLang="en-US" sz="1200" b="1">
              <a:solidFill>
                <a:schemeClr val="accent2"/>
              </a:solidFill>
              <a:latin typeface="Comic Sans MS" panose="030F0702030302020204" charset="0"/>
              <a:ea typeface="微软雅黑" panose="020B0503020204020204" charset="-122"/>
              <a:cs typeface="+mn-ea"/>
            </a:endParaRPr>
          </a:p>
        </p:txBody>
      </p:sp>
      <p:sp>
        <p:nvSpPr>
          <p:cNvPr id="96" name="任意多边形: 形状 36"/>
          <p:cNvSpPr/>
          <p:nvPr>
            <p:custDataLst>
              <p:tags r:id="rId18"/>
            </p:custDataLst>
          </p:nvPr>
        </p:nvSpPr>
        <p:spPr>
          <a:xfrm>
            <a:off x="4348961" y="3391571"/>
            <a:ext cx="282999" cy="146774"/>
          </a:xfrm>
          <a:custGeom>
            <a:avLst/>
            <a:gdLst>
              <a:gd name="connsiteX0" fmla="*/ 205979 w 411958"/>
              <a:gd name="connsiteY0" fmla="*/ 0 h 346834"/>
              <a:gd name="connsiteX1" fmla="*/ 411958 w 411958"/>
              <a:gd name="connsiteY1" fmla="*/ 296466 h 346834"/>
              <a:gd name="connsiteX2" fmla="*/ 408430 w 411958"/>
              <a:gd name="connsiteY2" fmla="*/ 346834 h 346834"/>
              <a:gd name="connsiteX3" fmla="*/ 3528 w 411958"/>
              <a:gd name="connsiteY3" fmla="*/ 346834 h 346834"/>
              <a:gd name="connsiteX4" fmla="*/ 0 w 411958"/>
              <a:gd name="connsiteY4" fmla="*/ 296466 h 346834"/>
              <a:gd name="connsiteX5" fmla="*/ 205979 w 411958"/>
              <a:gd name="connsiteY5" fmla="*/ 0 h 346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1958" h="346834">
                <a:moveTo>
                  <a:pt x="205979" y="0"/>
                </a:moveTo>
                <a:cubicBezTo>
                  <a:pt x="319738" y="0"/>
                  <a:pt x="411958" y="132732"/>
                  <a:pt x="411958" y="296466"/>
                </a:cubicBezTo>
                <a:lnTo>
                  <a:pt x="408430" y="346834"/>
                </a:lnTo>
                <a:lnTo>
                  <a:pt x="3528" y="346834"/>
                </a:lnTo>
                <a:lnTo>
                  <a:pt x="0" y="296466"/>
                </a:lnTo>
                <a:cubicBezTo>
                  <a:pt x="0" y="132732"/>
                  <a:pt x="92220" y="0"/>
                  <a:pt x="205979" y="0"/>
                </a:cubicBezTo>
                <a:close/>
              </a:path>
            </a:pathLst>
          </a:custGeom>
          <a:solidFill>
            <a:schemeClr val="accent2"/>
          </a:solidFill>
          <a:ln>
            <a:noFill/>
          </a:ln>
          <a:effectLst>
            <a:outerShdw blurRad="50800" dist="63500" dir="8100000" algn="tr" rotWithShape="0">
              <a:schemeClr val="accent2">
                <a:lumMod val="75000"/>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lnSpc>
                <a:spcPct val="120000"/>
              </a:lnSpc>
            </a:pPr>
            <a:endParaRPr lang="zh-CN" altLang="en-US">
              <a:solidFill>
                <a:schemeClr val="lt1"/>
              </a:solidFill>
              <a:latin typeface="Comic Sans MS" panose="030F0702030302020204" charset="0"/>
              <a:cs typeface="Comic Sans MS" panose="030F0702030302020204" charset="0"/>
            </a:endParaRPr>
          </a:p>
        </p:txBody>
      </p:sp>
      <p:sp>
        <p:nvSpPr>
          <p:cNvPr id="97" name="任意多边形: 形状 38"/>
          <p:cNvSpPr/>
          <p:nvPr>
            <p:custDataLst>
              <p:tags r:id="rId19"/>
            </p:custDataLst>
          </p:nvPr>
        </p:nvSpPr>
        <p:spPr>
          <a:xfrm>
            <a:off x="4481469" y="3391287"/>
            <a:ext cx="903894" cy="709410"/>
          </a:xfrm>
          <a:custGeom>
            <a:avLst/>
            <a:gdLst>
              <a:gd name="connsiteX0" fmla="*/ 38 w 4644"/>
              <a:gd name="connsiteY0" fmla="*/ 0 h 6065"/>
              <a:gd name="connsiteX1" fmla="*/ 736 w 4644"/>
              <a:gd name="connsiteY1" fmla="*/ 0 h 6065"/>
              <a:gd name="connsiteX2" fmla="*/ 2985 w 4644"/>
              <a:gd name="connsiteY2" fmla="*/ 0 h 6065"/>
              <a:gd name="connsiteX3" fmla="*/ 2996 w 4644"/>
              <a:gd name="connsiteY3" fmla="*/ 0 h 6065"/>
              <a:gd name="connsiteX4" fmla="*/ 3001 w 4644"/>
              <a:gd name="connsiteY4" fmla="*/ 0 h 6065"/>
              <a:gd name="connsiteX5" fmla="*/ 3001 w 4644"/>
              <a:gd name="connsiteY5" fmla="*/ 0 h 6065"/>
              <a:gd name="connsiteX6" fmla="*/ 3208 w 4644"/>
              <a:gd name="connsiteY6" fmla="*/ 21 h 6065"/>
              <a:gd name="connsiteX7" fmla="*/ 4048 w 4644"/>
              <a:gd name="connsiteY7" fmla="*/ 1052 h 6065"/>
              <a:gd name="connsiteX8" fmla="*/ 4002 w 4644"/>
              <a:gd name="connsiteY8" fmla="*/ 1348 h 6065"/>
              <a:gd name="connsiteX9" fmla="*/ 4002 w 4644"/>
              <a:gd name="connsiteY9" fmla="*/ 1348 h 6065"/>
              <a:gd name="connsiteX10" fmla="*/ 4048 w 4644"/>
              <a:gd name="connsiteY10" fmla="*/ 1052 h 6065"/>
              <a:gd name="connsiteX11" fmla="*/ 4048 w 4644"/>
              <a:gd name="connsiteY11" fmla="*/ 1446 h 6065"/>
              <a:gd name="connsiteX12" fmla="*/ 4050 w 4644"/>
              <a:gd name="connsiteY12" fmla="*/ 1451 h 6065"/>
              <a:gd name="connsiteX13" fmla="*/ 4050 w 4644"/>
              <a:gd name="connsiteY13" fmla="*/ 3364 h 6065"/>
              <a:gd name="connsiteX14" fmla="*/ 4187 w 4644"/>
              <a:gd name="connsiteY14" fmla="*/ 3501 h 6065"/>
              <a:gd name="connsiteX15" fmla="*/ 4508 w 4644"/>
              <a:gd name="connsiteY15" fmla="*/ 3501 h 6065"/>
              <a:gd name="connsiteX16" fmla="*/ 4634 w 4644"/>
              <a:gd name="connsiteY16" fmla="*/ 3583 h 6065"/>
              <a:gd name="connsiteX17" fmla="*/ 4609 w 4644"/>
              <a:gd name="connsiteY17" fmla="*/ 3732 h 6065"/>
              <a:gd name="connsiteX18" fmla="*/ 2499 w 4644"/>
              <a:gd name="connsiteY18" fmla="*/ 6022 h 6065"/>
              <a:gd name="connsiteX19" fmla="*/ 2396 w 4644"/>
              <a:gd name="connsiteY19" fmla="*/ 6065 h 6065"/>
              <a:gd name="connsiteX20" fmla="*/ 2294 w 4644"/>
              <a:gd name="connsiteY20" fmla="*/ 6022 h 6065"/>
              <a:gd name="connsiteX21" fmla="*/ 184 w 4644"/>
              <a:gd name="connsiteY21" fmla="*/ 3732 h 6065"/>
              <a:gd name="connsiteX22" fmla="*/ 159 w 4644"/>
              <a:gd name="connsiteY22" fmla="*/ 3583 h 6065"/>
              <a:gd name="connsiteX23" fmla="*/ 284 w 4644"/>
              <a:gd name="connsiteY23" fmla="*/ 3501 h 6065"/>
              <a:gd name="connsiteX24" fmla="*/ 606 w 4644"/>
              <a:gd name="connsiteY24" fmla="*/ 3501 h 6065"/>
              <a:gd name="connsiteX25" fmla="*/ 743 w 4644"/>
              <a:gd name="connsiteY25" fmla="*/ 3364 h 6065"/>
              <a:gd name="connsiteX26" fmla="*/ 732 w 4644"/>
              <a:gd name="connsiteY26" fmla="*/ 1264 h 6065"/>
              <a:gd name="connsiteX27" fmla="*/ 38 w 4644"/>
              <a:gd name="connsiteY27" fmla="*/ 0 h 6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644" h="6065">
                <a:moveTo>
                  <a:pt x="38" y="0"/>
                </a:moveTo>
                <a:cubicBezTo>
                  <a:pt x="-167" y="-1"/>
                  <a:pt x="503" y="0"/>
                  <a:pt x="736" y="0"/>
                </a:cubicBezTo>
                <a:lnTo>
                  <a:pt x="2985" y="0"/>
                </a:lnTo>
                <a:lnTo>
                  <a:pt x="2996" y="0"/>
                </a:lnTo>
                <a:lnTo>
                  <a:pt x="3001" y="0"/>
                </a:lnTo>
                <a:lnTo>
                  <a:pt x="3001" y="0"/>
                </a:lnTo>
                <a:lnTo>
                  <a:pt x="3208" y="21"/>
                </a:lnTo>
                <a:cubicBezTo>
                  <a:pt x="3687" y="119"/>
                  <a:pt x="4048" y="543"/>
                  <a:pt x="4048" y="1052"/>
                </a:cubicBezTo>
                <a:lnTo>
                  <a:pt x="4002" y="1348"/>
                </a:lnTo>
                <a:lnTo>
                  <a:pt x="4002" y="1348"/>
                </a:lnTo>
                <a:lnTo>
                  <a:pt x="4048" y="1052"/>
                </a:lnTo>
                <a:lnTo>
                  <a:pt x="4048" y="1446"/>
                </a:lnTo>
                <a:lnTo>
                  <a:pt x="4050" y="1451"/>
                </a:lnTo>
                <a:cubicBezTo>
                  <a:pt x="4050" y="1531"/>
                  <a:pt x="4050" y="3285"/>
                  <a:pt x="4050" y="3364"/>
                </a:cubicBezTo>
                <a:cubicBezTo>
                  <a:pt x="4050" y="3446"/>
                  <a:pt x="4107" y="3501"/>
                  <a:pt x="4187" y="3501"/>
                </a:cubicBezTo>
                <a:lnTo>
                  <a:pt x="4508" y="3501"/>
                </a:lnTo>
                <a:cubicBezTo>
                  <a:pt x="4559" y="3501"/>
                  <a:pt x="4613" y="3538"/>
                  <a:pt x="4634" y="3583"/>
                </a:cubicBezTo>
                <a:cubicBezTo>
                  <a:pt x="4654" y="3631"/>
                  <a:pt x="4643" y="3695"/>
                  <a:pt x="4609" y="3732"/>
                </a:cubicBezTo>
                <a:lnTo>
                  <a:pt x="2499" y="6022"/>
                </a:lnTo>
                <a:cubicBezTo>
                  <a:pt x="2472" y="6049"/>
                  <a:pt x="2435" y="6065"/>
                  <a:pt x="2396" y="6065"/>
                </a:cubicBezTo>
                <a:cubicBezTo>
                  <a:pt x="2358" y="6065"/>
                  <a:pt x="2321" y="6049"/>
                  <a:pt x="2294" y="6022"/>
                </a:cubicBezTo>
                <a:lnTo>
                  <a:pt x="184" y="3732"/>
                </a:lnTo>
                <a:cubicBezTo>
                  <a:pt x="150" y="3695"/>
                  <a:pt x="138" y="3631"/>
                  <a:pt x="159" y="3583"/>
                </a:cubicBezTo>
                <a:cubicBezTo>
                  <a:pt x="179" y="3538"/>
                  <a:pt x="234" y="3501"/>
                  <a:pt x="284" y="3501"/>
                </a:cubicBezTo>
                <a:lnTo>
                  <a:pt x="606" y="3501"/>
                </a:lnTo>
                <a:cubicBezTo>
                  <a:pt x="686" y="3501"/>
                  <a:pt x="743" y="3446"/>
                  <a:pt x="743" y="3364"/>
                </a:cubicBezTo>
                <a:cubicBezTo>
                  <a:pt x="748" y="3272"/>
                  <a:pt x="738" y="2373"/>
                  <a:pt x="732" y="1264"/>
                </a:cubicBezTo>
                <a:cubicBezTo>
                  <a:pt x="726" y="155"/>
                  <a:pt x="243" y="1"/>
                  <a:pt x="38" y="0"/>
                </a:cubicBezTo>
                <a:close/>
              </a:path>
            </a:pathLst>
          </a:custGeom>
          <a:gradFill flip="none" rotWithShape="1">
            <a:gsLst>
              <a:gs pos="0">
                <a:schemeClr val="accent2">
                  <a:lumMod val="40000"/>
                  <a:lumOff val="60000"/>
                  <a:alpha val="100000"/>
                </a:schemeClr>
              </a:gs>
              <a:gs pos="90000">
                <a:schemeClr val="accent2">
                  <a:alpha val="100000"/>
                </a:schemeClr>
              </a:gs>
            </a:gsLst>
            <a:lin ang="8100000" scaled="0"/>
            <a:tileRect/>
          </a:gradFill>
          <a:ln>
            <a:noFill/>
          </a:ln>
          <a:effectLst>
            <a:outerShdw blurRad="50800" dist="63500" dir="8100000" algn="tr" rotWithShape="0">
              <a:schemeClr val="accent2">
                <a:lumMod val="7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179705" tIns="71755" rIns="107950" bIns="288290" numCol="1" spcCol="0" rtlCol="0" fromWordArt="0" anchor="ctr" anchorCtr="0" forceAA="0" compatLnSpc="1">
            <a:normAutofit fontScale="8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fontAlgn="auto">
              <a:lnSpc>
                <a:spcPct val="120000"/>
              </a:lnSpc>
              <a:spcBef>
                <a:spcPct val="0"/>
              </a:spcBef>
              <a:spcAft>
                <a:spcPct val="0"/>
              </a:spcAft>
              <a:buClrTx/>
              <a:buSzTx/>
              <a:buFontTx/>
            </a:pPr>
            <a:r>
              <a:rPr lang="en-US" altLang="zh-CN" sz="2400" b="1" dirty="0">
                <a:solidFill>
                  <a:srgbClr val="FFFFFF"/>
                </a:solidFill>
                <a:latin typeface="Comic Sans MS" panose="030F0702030302020204" charset="0"/>
                <a:cs typeface="Comic Sans MS" panose="030F0702030302020204" charset="0"/>
                <a:sym typeface="+mn-ea"/>
              </a:rPr>
              <a:t>04</a:t>
            </a:r>
            <a:endParaRPr lang="en-US" altLang="zh-CN" sz="2400" b="1" dirty="0">
              <a:solidFill>
                <a:srgbClr val="FFFFFF"/>
              </a:solidFill>
              <a:latin typeface="Comic Sans MS" panose="030F0702030302020204" charset="0"/>
              <a:cs typeface="Comic Sans MS" panose="030F0702030302020204" charset="0"/>
              <a:sym typeface="+mn-ea"/>
            </a:endParaRPr>
          </a:p>
        </p:txBody>
      </p:sp>
      <p:sp>
        <p:nvSpPr>
          <p:cNvPr id="108" name="矩形 107"/>
          <p:cNvSpPr/>
          <p:nvPr>
            <p:custDataLst>
              <p:tags r:id="rId20"/>
            </p:custDataLst>
          </p:nvPr>
        </p:nvSpPr>
        <p:spPr>
          <a:xfrm>
            <a:off x="5635235" y="4463948"/>
            <a:ext cx="1210555" cy="774264"/>
          </a:xfrm>
          <a:prstGeom prst="rect">
            <a:avLst/>
          </a:prstGeom>
          <a:noFill/>
        </p:spPr>
        <p:txBody>
          <a:bodyPr wrap="square" lIns="0" tIns="0" rIns="0" bIns="0" rtlCol="0" anchor="t" anchorCtr="0">
            <a:noAutofit/>
          </a:bodyPr>
          <a:lstStyle/>
          <a:p>
            <a:pPr marL="171450" indent="-171450" algn="l" fontAlgn="auto">
              <a:lnSpc>
                <a:spcPct val="120000"/>
              </a:lnSpc>
              <a:buClrTx/>
              <a:buSzTx/>
              <a:buFont typeface="Wingdings" panose="05000000000000000000" charset="0"/>
              <a:buChar char="Ø"/>
            </a:pPr>
            <a:r>
              <a:rPr lang="zh-CN" altLang="en-US" sz="1000" b="1" kern="0" dirty="0">
                <a:ln>
                  <a:noFill/>
                  <a:prstDash val="sysDot"/>
                </a:ln>
                <a:solidFill>
                  <a:schemeClr val="tx1">
                    <a:lumMod val="85000"/>
                    <a:lumOff val="15000"/>
                  </a:schemeClr>
                </a:solidFill>
                <a:latin typeface="微软雅黑" panose="020B0503020204020204" charset="-122"/>
                <a:ea typeface="微软雅黑" panose="020B0503020204020204" charset="-122"/>
                <a:cs typeface="+mn-ea"/>
                <a:sym typeface="+mn-ea"/>
              </a:rPr>
              <a:t>未开展安全评估</a:t>
            </a:r>
            <a:endParaRPr lang="zh-CN" altLang="en-US" sz="1000" b="1" kern="0" dirty="0">
              <a:ln>
                <a:noFill/>
                <a:prstDash val="sysDot"/>
              </a:ln>
              <a:solidFill>
                <a:schemeClr val="tx1">
                  <a:lumMod val="85000"/>
                  <a:lumOff val="15000"/>
                </a:schemeClr>
              </a:solidFill>
              <a:latin typeface="微软雅黑" panose="020B0503020204020204" charset="-122"/>
              <a:ea typeface="微软雅黑" panose="020B0503020204020204" charset="-122"/>
              <a:cs typeface="+mn-ea"/>
              <a:sym typeface="+mn-ea"/>
            </a:endParaRPr>
          </a:p>
          <a:p>
            <a:pPr marL="171450" indent="-171450" algn="l" fontAlgn="auto">
              <a:lnSpc>
                <a:spcPct val="120000"/>
              </a:lnSpc>
              <a:buClrTx/>
              <a:buSzTx/>
              <a:buFont typeface="Wingdings" panose="05000000000000000000" charset="0"/>
              <a:buChar char="Ø"/>
            </a:pPr>
            <a:r>
              <a:rPr lang="zh-CN" altLang="en-US" sz="1000" b="1" kern="0" dirty="0">
                <a:ln>
                  <a:noFill/>
                  <a:prstDash val="sysDot"/>
                </a:ln>
                <a:solidFill>
                  <a:schemeClr val="tx1">
                    <a:lumMod val="85000"/>
                    <a:lumOff val="15000"/>
                  </a:schemeClr>
                </a:solidFill>
                <a:latin typeface="微软雅黑" panose="020B0503020204020204" charset="-122"/>
                <a:ea typeface="微软雅黑" panose="020B0503020204020204" charset="-122"/>
                <a:cs typeface="+mn-ea"/>
                <a:sym typeface="+mn-ea"/>
              </a:rPr>
              <a:t>安全等级为险情</a:t>
            </a:r>
            <a:endParaRPr lang="zh-CN" altLang="en-US" sz="1000" b="1" kern="0" dirty="0">
              <a:ln>
                <a:noFill/>
                <a:prstDash val="sysDot"/>
              </a:ln>
              <a:solidFill>
                <a:schemeClr val="tx1">
                  <a:lumMod val="85000"/>
                  <a:lumOff val="15000"/>
                </a:schemeClr>
              </a:solidFill>
              <a:latin typeface="微软雅黑" panose="020B0503020204020204" charset="-122"/>
              <a:ea typeface="微软雅黑" panose="020B0503020204020204" charset="-122"/>
              <a:cs typeface="+mn-ea"/>
              <a:sym typeface="+mn-ea"/>
            </a:endParaRPr>
          </a:p>
          <a:p>
            <a:pPr marL="171450" indent="-171450" algn="l" fontAlgn="auto">
              <a:lnSpc>
                <a:spcPct val="120000"/>
              </a:lnSpc>
              <a:buClrTx/>
              <a:buSzTx/>
              <a:buFont typeface="Wingdings" panose="05000000000000000000" charset="0"/>
              <a:buChar char="Ø"/>
            </a:pPr>
            <a:r>
              <a:rPr lang="zh-CN" altLang="en-US" sz="1000" b="1" kern="0" dirty="0">
                <a:ln>
                  <a:noFill/>
                  <a:prstDash val="sysDot"/>
                </a:ln>
                <a:solidFill>
                  <a:schemeClr val="tx1">
                    <a:lumMod val="85000"/>
                    <a:lumOff val="15000"/>
                  </a:schemeClr>
                </a:solidFill>
                <a:latin typeface="微软雅黑" panose="020B0503020204020204" charset="-122"/>
                <a:ea typeface="微软雅黑" panose="020B0503020204020204" charset="-122"/>
                <a:cs typeface="+mn-ea"/>
                <a:sym typeface="+mn-ea"/>
              </a:rPr>
              <a:t>坝体裂缝滑坡征兆</a:t>
            </a:r>
            <a:endParaRPr lang="zh-CN" altLang="en-US" sz="1000" b="1" kern="0" dirty="0">
              <a:ln>
                <a:noFill/>
                <a:prstDash val="sysDot"/>
              </a:ln>
              <a:solidFill>
                <a:schemeClr val="tx1">
                  <a:lumMod val="85000"/>
                  <a:lumOff val="15000"/>
                </a:schemeClr>
              </a:solidFill>
              <a:latin typeface="微软雅黑" panose="020B0503020204020204" charset="-122"/>
              <a:ea typeface="微软雅黑" panose="020B0503020204020204" charset="-122"/>
              <a:cs typeface="+mn-ea"/>
              <a:sym typeface="+mn-ea"/>
            </a:endParaRPr>
          </a:p>
          <a:p>
            <a:pPr marL="171450" indent="-171450" algn="l" fontAlgn="auto">
              <a:lnSpc>
                <a:spcPct val="120000"/>
              </a:lnSpc>
              <a:buClrTx/>
              <a:buSzTx/>
              <a:buFont typeface="Wingdings" panose="05000000000000000000" charset="0"/>
              <a:buChar char="Ø"/>
            </a:pPr>
            <a:r>
              <a:rPr lang="zh-CN" altLang="en-US" sz="1000" b="1" kern="0" dirty="0">
                <a:ln>
                  <a:noFill/>
                  <a:prstDash val="sysDot"/>
                </a:ln>
                <a:solidFill>
                  <a:schemeClr val="tx1">
                    <a:lumMod val="85000"/>
                    <a:lumOff val="15000"/>
                  </a:schemeClr>
                </a:solidFill>
                <a:latin typeface="微软雅黑" panose="020B0503020204020204" charset="-122"/>
                <a:ea typeface="微软雅黑" panose="020B0503020204020204" charset="-122"/>
                <a:cs typeface="+mn-ea"/>
                <a:sym typeface="+mn-ea"/>
              </a:rPr>
              <a:t>管理范围内开展爆破、打井、采石、采矿、取土作业</a:t>
            </a:r>
            <a:endParaRPr lang="zh-CN" altLang="en-US" sz="1000" b="1" kern="0" dirty="0">
              <a:ln>
                <a:noFill/>
                <a:prstDash val="sysDot"/>
              </a:ln>
              <a:solidFill>
                <a:schemeClr val="tx1">
                  <a:lumMod val="85000"/>
                  <a:lumOff val="15000"/>
                </a:schemeClr>
              </a:solidFill>
              <a:latin typeface="微软雅黑" panose="020B0503020204020204" charset="-122"/>
              <a:ea typeface="微软雅黑" panose="020B0503020204020204" charset="-122"/>
              <a:cs typeface="+mn-ea"/>
              <a:sym typeface="+mn-ea"/>
            </a:endParaRPr>
          </a:p>
        </p:txBody>
      </p:sp>
      <p:sp>
        <p:nvSpPr>
          <p:cNvPr id="109" name="矩形 108"/>
          <p:cNvSpPr/>
          <p:nvPr>
            <p:custDataLst>
              <p:tags r:id="rId21"/>
            </p:custDataLst>
          </p:nvPr>
        </p:nvSpPr>
        <p:spPr>
          <a:xfrm>
            <a:off x="5638860" y="4200734"/>
            <a:ext cx="1210310" cy="187401"/>
          </a:xfrm>
          <a:prstGeom prst="rect">
            <a:avLst/>
          </a:prstGeom>
          <a:noFill/>
        </p:spPr>
        <p:txBody>
          <a:bodyPr wrap="square" lIns="0" tIns="0" rIns="0" bIns="0" rtlCol="0" anchor="b">
            <a:noAutofit/>
          </a:bodyPr>
          <a:lstStyle/>
          <a:p>
            <a:pPr algn="ctr" fontAlgn="auto">
              <a:lnSpc>
                <a:spcPct val="120000"/>
              </a:lnSpc>
              <a:spcBef>
                <a:spcPct val="0"/>
              </a:spcBef>
              <a:spcAft>
                <a:spcPct val="0"/>
              </a:spcAft>
            </a:pPr>
            <a:r>
              <a:rPr lang="zh-CN" altLang="en-US" sz="1200" b="1">
                <a:solidFill>
                  <a:schemeClr val="accent1"/>
                </a:solidFill>
                <a:latin typeface="Comic Sans MS" panose="030F0702030302020204" charset="0"/>
                <a:ea typeface="微软雅黑" panose="020B0503020204020204" charset="-122"/>
                <a:cs typeface="+mn-ea"/>
              </a:rPr>
              <a:t>贮灰场大坝</a:t>
            </a:r>
            <a:endParaRPr lang="zh-CN" altLang="en-US" sz="1200" b="1">
              <a:solidFill>
                <a:schemeClr val="accent1"/>
              </a:solidFill>
              <a:latin typeface="Comic Sans MS" panose="030F0702030302020204" charset="0"/>
              <a:ea typeface="微软雅黑" panose="020B0503020204020204" charset="-122"/>
              <a:cs typeface="+mn-ea"/>
            </a:endParaRPr>
          </a:p>
        </p:txBody>
      </p:sp>
      <p:sp>
        <p:nvSpPr>
          <p:cNvPr id="110" name="任意多边形: 形状 36"/>
          <p:cNvSpPr/>
          <p:nvPr>
            <p:custDataLst>
              <p:tags r:id="rId22"/>
            </p:custDataLst>
          </p:nvPr>
        </p:nvSpPr>
        <p:spPr>
          <a:xfrm>
            <a:off x="5715686" y="3391571"/>
            <a:ext cx="282999" cy="146774"/>
          </a:xfrm>
          <a:custGeom>
            <a:avLst/>
            <a:gdLst>
              <a:gd name="connsiteX0" fmla="*/ 205979 w 411958"/>
              <a:gd name="connsiteY0" fmla="*/ 0 h 346834"/>
              <a:gd name="connsiteX1" fmla="*/ 411958 w 411958"/>
              <a:gd name="connsiteY1" fmla="*/ 296466 h 346834"/>
              <a:gd name="connsiteX2" fmla="*/ 408430 w 411958"/>
              <a:gd name="connsiteY2" fmla="*/ 346834 h 346834"/>
              <a:gd name="connsiteX3" fmla="*/ 3528 w 411958"/>
              <a:gd name="connsiteY3" fmla="*/ 346834 h 346834"/>
              <a:gd name="connsiteX4" fmla="*/ 0 w 411958"/>
              <a:gd name="connsiteY4" fmla="*/ 296466 h 346834"/>
              <a:gd name="connsiteX5" fmla="*/ 205979 w 411958"/>
              <a:gd name="connsiteY5" fmla="*/ 0 h 346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1958" h="346834">
                <a:moveTo>
                  <a:pt x="205979" y="0"/>
                </a:moveTo>
                <a:cubicBezTo>
                  <a:pt x="319738" y="0"/>
                  <a:pt x="411958" y="132732"/>
                  <a:pt x="411958" y="296466"/>
                </a:cubicBezTo>
                <a:lnTo>
                  <a:pt x="408430" y="346834"/>
                </a:lnTo>
                <a:lnTo>
                  <a:pt x="3528" y="346834"/>
                </a:lnTo>
                <a:lnTo>
                  <a:pt x="0" y="296466"/>
                </a:lnTo>
                <a:cubicBezTo>
                  <a:pt x="0" y="132732"/>
                  <a:pt x="92220" y="0"/>
                  <a:pt x="205979" y="0"/>
                </a:cubicBezTo>
                <a:close/>
              </a:path>
            </a:pathLst>
          </a:custGeom>
          <a:solidFill>
            <a:schemeClr val="accent1"/>
          </a:solidFill>
          <a:ln>
            <a:noFill/>
          </a:ln>
          <a:effectLst>
            <a:outerShdw blurRad="50800" dist="63500" dir="8100000" algn="tr" rotWithShape="0">
              <a:schemeClr val="accent1">
                <a:lumMod val="75000"/>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lnSpc>
                <a:spcPct val="120000"/>
              </a:lnSpc>
            </a:pPr>
            <a:endParaRPr lang="zh-CN" altLang="en-US">
              <a:solidFill>
                <a:schemeClr val="lt1"/>
              </a:solidFill>
              <a:latin typeface="Comic Sans MS" panose="030F0702030302020204" charset="0"/>
              <a:cs typeface="Comic Sans MS" panose="030F0702030302020204" charset="0"/>
            </a:endParaRPr>
          </a:p>
        </p:txBody>
      </p:sp>
      <p:sp>
        <p:nvSpPr>
          <p:cNvPr id="111" name="任意多边形: 形状 38"/>
          <p:cNvSpPr/>
          <p:nvPr>
            <p:custDataLst>
              <p:tags r:id="rId23"/>
            </p:custDataLst>
          </p:nvPr>
        </p:nvSpPr>
        <p:spPr>
          <a:xfrm>
            <a:off x="5848194" y="3391287"/>
            <a:ext cx="903894" cy="709410"/>
          </a:xfrm>
          <a:custGeom>
            <a:avLst/>
            <a:gdLst>
              <a:gd name="connsiteX0" fmla="*/ 38 w 4644"/>
              <a:gd name="connsiteY0" fmla="*/ 0 h 6065"/>
              <a:gd name="connsiteX1" fmla="*/ 736 w 4644"/>
              <a:gd name="connsiteY1" fmla="*/ 0 h 6065"/>
              <a:gd name="connsiteX2" fmla="*/ 2985 w 4644"/>
              <a:gd name="connsiteY2" fmla="*/ 0 h 6065"/>
              <a:gd name="connsiteX3" fmla="*/ 2996 w 4644"/>
              <a:gd name="connsiteY3" fmla="*/ 0 h 6065"/>
              <a:gd name="connsiteX4" fmla="*/ 3001 w 4644"/>
              <a:gd name="connsiteY4" fmla="*/ 0 h 6065"/>
              <a:gd name="connsiteX5" fmla="*/ 3001 w 4644"/>
              <a:gd name="connsiteY5" fmla="*/ 0 h 6065"/>
              <a:gd name="connsiteX6" fmla="*/ 3208 w 4644"/>
              <a:gd name="connsiteY6" fmla="*/ 21 h 6065"/>
              <a:gd name="connsiteX7" fmla="*/ 4048 w 4644"/>
              <a:gd name="connsiteY7" fmla="*/ 1052 h 6065"/>
              <a:gd name="connsiteX8" fmla="*/ 4002 w 4644"/>
              <a:gd name="connsiteY8" fmla="*/ 1348 h 6065"/>
              <a:gd name="connsiteX9" fmla="*/ 4002 w 4644"/>
              <a:gd name="connsiteY9" fmla="*/ 1348 h 6065"/>
              <a:gd name="connsiteX10" fmla="*/ 4048 w 4644"/>
              <a:gd name="connsiteY10" fmla="*/ 1052 h 6065"/>
              <a:gd name="connsiteX11" fmla="*/ 4048 w 4644"/>
              <a:gd name="connsiteY11" fmla="*/ 1446 h 6065"/>
              <a:gd name="connsiteX12" fmla="*/ 4050 w 4644"/>
              <a:gd name="connsiteY12" fmla="*/ 1451 h 6065"/>
              <a:gd name="connsiteX13" fmla="*/ 4050 w 4644"/>
              <a:gd name="connsiteY13" fmla="*/ 3364 h 6065"/>
              <a:gd name="connsiteX14" fmla="*/ 4187 w 4644"/>
              <a:gd name="connsiteY14" fmla="*/ 3501 h 6065"/>
              <a:gd name="connsiteX15" fmla="*/ 4508 w 4644"/>
              <a:gd name="connsiteY15" fmla="*/ 3501 h 6065"/>
              <a:gd name="connsiteX16" fmla="*/ 4634 w 4644"/>
              <a:gd name="connsiteY16" fmla="*/ 3583 h 6065"/>
              <a:gd name="connsiteX17" fmla="*/ 4609 w 4644"/>
              <a:gd name="connsiteY17" fmla="*/ 3732 h 6065"/>
              <a:gd name="connsiteX18" fmla="*/ 2499 w 4644"/>
              <a:gd name="connsiteY18" fmla="*/ 6022 h 6065"/>
              <a:gd name="connsiteX19" fmla="*/ 2396 w 4644"/>
              <a:gd name="connsiteY19" fmla="*/ 6065 h 6065"/>
              <a:gd name="connsiteX20" fmla="*/ 2294 w 4644"/>
              <a:gd name="connsiteY20" fmla="*/ 6022 h 6065"/>
              <a:gd name="connsiteX21" fmla="*/ 184 w 4644"/>
              <a:gd name="connsiteY21" fmla="*/ 3732 h 6065"/>
              <a:gd name="connsiteX22" fmla="*/ 159 w 4644"/>
              <a:gd name="connsiteY22" fmla="*/ 3583 h 6065"/>
              <a:gd name="connsiteX23" fmla="*/ 284 w 4644"/>
              <a:gd name="connsiteY23" fmla="*/ 3501 h 6065"/>
              <a:gd name="connsiteX24" fmla="*/ 606 w 4644"/>
              <a:gd name="connsiteY24" fmla="*/ 3501 h 6065"/>
              <a:gd name="connsiteX25" fmla="*/ 743 w 4644"/>
              <a:gd name="connsiteY25" fmla="*/ 3364 h 6065"/>
              <a:gd name="connsiteX26" fmla="*/ 732 w 4644"/>
              <a:gd name="connsiteY26" fmla="*/ 1264 h 6065"/>
              <a:gd name="connsiteX27" fmla="*/ 38 w 4644"/>
              <a:gd name="connsiteY27" fmla="*/ 0 h 6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644" h="6065">
                <a:moveTo>
                  <a:pt x="38" y="0"/>
                </a:moveTo>
                <a:cubicBezTo>
                  <a:pt x="-167" y="-1"/>
                  <a:pt x="503" y="0"/>
                  <a:pt x="736" y="0"/>
                </a:cubicBezTo>
                <a:lnTo>
                  <a:pt x="2985" y="0"/>
                </a:lnTo>
                <a:lnTo>
                  <a:pt x="2996" y="0"/>
                </a:lnTo>
                <a:lnTo>
                  <a:pt x="3001" y="0"/>
                </a:lnTo>
                <a:lnTo>
                  <a:pt x="3001" y="0"/>
                </a:lnTo>
                <a:lnTo>
                  <a:pt x="3208" y="21"/>
                </a:lnTo>
                <a:cubicBezTo>
                  <a:pt x="3687" y="119"/>
                  <a:pt x="4048" y="543"/>
                  <a:pt x="4048" y="1052"/>
                </a:cubicBezTo>
                <a:lnTo>
                  <a:pt x="4002" y="1348"/>
                </a:lnTo>
                <a:lnTo>
                  <a:pt x="4002" y="1348"/>
                </a:lnTo>
                <a:lnTo>
                  <a:pt x="4048" y="1052"/>
                </a:lnTo>
                <a:lnTo>
                  <a:pt x="4048" y="1446"/>
                </a:lnTo>
                <a:lnTo>
                  <a:pt x="4050" y="1451"/>
                </a:lnTo>
                <a:cubicBezTo>
                  <a:pt x="4050" y="1531"/>
                  <a:pt x="4050" y="3285"/>
                  <a:pt x="4050" y="3364"/>
                </a:cubicBezTo>
                <a:cubicBezTo>
                  <a:pt x="4050" y="3446"/>
                  <a:pt x="4107" y="3501"/>
                  <a:pt x="4187" y="3501"/>
                </a:cubicBezTo>
                <a:lnTo>
                  <a:pt x="4508" y="3501"/>
                </a:lnTo>
                <a:cubicBezTo>
                  <a:pt x="4559" y="3501"/>
                  <a:pt x="4613" y="3538"/>
                  <a:pt x="4634" y="3583"/>
                </a:cubicBezTo>
                <a:cubicBezTo>
                  <a:pt x="4654" y="3631"/>
                  <a:pt x="4643" y="3695"/>
                  <a:pt x="4609" y="3732"/>
                </a:cubicBezTo>
                <a:lnTo>
                  <a:pt x="2499" y="6022"/>
                </a:lnTo>
                <a:cubicBezTo>
                  <a:pt x="2472" y="6049"/>
                  <a:pt x="2435" y="6065"/>
                  <a:pt x="2396" y="6065"/>
                </a:cubicBezTo>
                <a:cubicBezTo>
                  <a:pt x="2358" y="6065"/>
                  <a:pt x="2321" y="6049"/>
                  <a:pt x="2294" y="6022"/>
                </a:cubicBezTo>
                <a:lnTo>
                  <a:pt x="184" y="3732"/>
                </a:lnTo>
                <a:cubicBezTo>
                  <a:pt x="150" y="3695"/>
                  <a:pt x="138" y="3631"/>
                  <a:pt x="159" y="3583"/>
                </a:cubicBezTo>
                <a:cubicBezTo>
                  <a:pt x="179" y="3538"/>
                  <a:pt x="234" y="3501"/>
                  <a:pt x="284" y="3501"/>
                </a:cubicBezTo>
                <a:lnTo>
                  <a:pt x="606" y="3501"/>
                </a:lnTo>
                <a:cubicBezTo>
                  <a:pt x="686" y="3501"/>
                  <a:pt x="743" y="3446"/>
                  <a:pt x="743" y="3364"/>
                </a:cubicBezTo>
                <a:cubicBezTo>
                  <a:pt x="748" y="3272"/>
                  <a:pt x="738" y="2373"/>
                  <a:pt x="732" y="1264"/>
                </a:cubicBezTo>
                <a:cubicBezTo>
                  <a:pt x="726" y="155"/>
                  <a:pt x="243" y="1"/>
                  <a:pt x="38" y="0"/>
                </a:cubicBezTo>
                <a:close/>
              </a:path>
            </a:pathLst>
          </a:custGeom>
          <a:gradFill flip="none" rotWithShape="1">
            <a:gsLst>
              <a:gs pos="0">
                <a:schemeClr val="accent1">
                  <a:lumMod val="40000"/>
                  <a:lumOff val="60000"/>
                  <a:alpha val="100000"/>
                </a:schemeClr>
              </a:gs>
              <a:gs pos="90000">
                <a:schemeClr val="accent1">
                  <a:alpha val="100000"/>
                </a:schemeClr>
              </a:gs>
            </a:gsLst>
            <a:lin ang="8100000" scaled="0"/>
            <a:tileRect/>
          </a:gradFill>
          <a:ln>
            <a:noFill/>
          </a:ln>
          <a:effectLst>
            <a:outerShdw blurRad="50800" dist="63500" dir="8100000" algn="tr" rotWithShape="0">
              <a:schemeClr val="accent1">
                <a:lumMod val="7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179705" tIns="71755" rIns="107950" bIns="288290" numCol="1" spcCol="0" rtlCol="0" fromWordArt="0" anchor="ctr" anchorCtr="0" forceAA="0" compatLnSpc="1">
            <a:normAutofit fontScale="8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fontAlgn="auto">
              <a:lnSpc>
                <a:spcPct val="120000"/>
              </a:lnSpc>
              <a:spcBef>
                <a:spcPct val="0"/>
              </a:spcBef>
              <a:spcAft>
                <a:spcPct val="0"/>
              </a:spcAft>
              <a:buClrTx/>
              <a:buSzTx/>
              <a:buFontTx/>
            </a:pPr>
            <a:r>
              <a:rPr lang="en-US" altLang="zh-CN" sz="2400" b="1">
                <a:solidFill>
                  <a:srgbClr val="FFFFFF"/>
                </a:solidFill>
                <a:latin typeface="Comic Sans MS" panose="030F0702030302020204" charset="0"/>
                <a:cs typeface="Comic Sans MS" panose="030F0702030302020204" charset="0"/>
                <a:sym typeface="+mn-ea"/>
              </a:rPr>
              <a:t>05</a:t>
            </a:r>
            <a:endParaRPr lang="en-US" altLang="zh-CN" sz="2400" b="1">
              <a:solidFill>
                <a:srgbClr val="FFFFFF"/>
              </a:solidFill>
              <a:latin typeface="Comic Sans MS" panose="030F0702030302020204" charset="0"/>
              <a:cs typeface="Comic Sans MS" panose="030F0702030302020204" charset="0"/>
              <a:sym typeface="+mn-ea"/>
            </a:endParaRPr>
          </a:p>
        </p:txBody>
      </p:sp>
      <p:sp>
        <p:nvSpPr>
          <p:cNvPr id="112" name="矩形 111"/>
          <p:cNvSpPr/>
          <p:nvPr>
            <p:custDataLst>
              <p:tags r:id="rId24"/>
            </p:custDataLst>
          </p:nvPr>
        </p:nvSpPr>
        <p:spPr>
          <a:xfrm>
            <a:off x="7001960" y="4463948"/>
            <a:ext cx="1210555" cy="774264"/>
          </a:xfrm>
          <a:prstGeom prst="rect">
            <a:avLst/>
          </a:prstGeom>
          <a:noFill/>
        </p:spPr>
        <p:txBody>
          <a:bodyPr wrap="square" lIns="0" tIns="0" rIns="0" bIns="0" rtlCol="0" anchor="t" anchorCtr="0">
            <a:noAutofit/>
          </a:bodyPr>
          <a:lstStyle/>
          <a:p>
            <a:pPr marL="171450" indent="-171450" algn="l" fontAlgn="auto">
              <a:lnSpc>
                <a:spcPct val="120000"/>
              </a:lnSpc>
              <a:buClrTx/>
              <a:buSzTx/>
              <a:buFont typeface="Wingdings" panose="05000000000000000000" charset="0"/>
              <a:buChar char="Ø"/>
            </a:pPr>
            <a:r>
              <a:rPr lang="zh-CN" altLang="en-US" sz="1000" b="1" kern="0" dirty="0">
                <a:ln>
                  <a:noFill/>
                  <a:prstDash val="sysDot"/>
                </a:ln>
                <a:solidFill>
                  <a:schemeClr val="tx1"/>
                </a:solidFill>
                <a:latin typeface="微软雅黑" panose="020B0503020204020204" charset="-122"/>
                <a:ea typeface="微软雅黑" panose="020B0503020204020204" charset="-122"/>
                <a:cs typeface="+mn-ea"/>
                <a:sym typeface="+mn-ea"/>
              </a:rPr>
              <a:t>违规压缩工期，</a:t>
            </a:r>
            <a:r>
              <a:rPr lang="zh-CN" altLang="en-US" sz="1000" b="1" kern="0" dirty="0">
                <a:ln>
                  <a:noFill/>
                  <a:prstDash val="sysDot"/>
                </a:ln>
                <a:solidFill>
                  <a:srgbClr val="FF0000"/>
                </a:solidFill>
                <a:latin typeface="微软雅黑" panose="020B0503020204020204" charset="-122"/>
                <a:ea typeface="微软雅黑" panose="020B0503020204020204" charset="-122"/>
                <a:cs typeface="+mn-ea"/>
                <a:sym typeface="+mn-ea"/>
              </a:rPr>
              <a:t>转包或违法分包</a:t>
            </a:r>
            <a:endParaRPr lang="zh-CN" altLang="en-US" sz="1000" b="1" kern="0" dirty="0">
              <a:ln>
                <a:noFill/>
                <a:prstDash val="sysDot"/>
              </a:ln>
              <a:solidFill>
                <a:schemeClr val="tx1">
                  <a:lumMod val="85000"/>
                  <a:lumOff val="15000"/>
                </a:schemeClr>
              </a:solidFill>
              <a:latin typeface="微软雅黑" panose="020B0503020204020204" charset="-122"/>
              <a:ea typeface="微软雅黑" panose="020B0503020204020204" charset="-122"/>
              <a:cs typeface="+mn-ea"/>
              <a:sym typeface="+mn-ea"/>
            </a:endParaRPr>
          </a:p>
          <a:p>
            <a:pPr marL="171450" indent="-171450" algn="l" fontAlgn="auto">
              <a:lnSpc>
                <a:spcPct val="120000"/>
              </a:lnSpc>
              <a:buClrTx/>
              <a:buSzTx/>
              <a:buFont typeface="Wingdings" panose="05000000000000000000" charset="0"/>
              <a:buChar char="Ø"/>
            </a:pPr>
            <a:r>
              <a:rPr lang="zh-CN" altLang="en-US" sz="1000" b="1" kern="0" dirty="0">
                <a:ln>
                  <a:noFill/>
                  <a:prstDash val="sysDot"/>
                </a:ln>
                <a:solidFill>
                  <a:srgbClr val="FF0000"/>
                </a:solidFill>
                <a:latin typeface="微软雅黑" panose="020B0503020204020204" charset="-122"/>
                <a:ea typeface="微软雅黑" panose="020B0503020204020204" charset="-122"/>
                <a:cs typeface="+mn-ea"/>
                <a:sym typeface="+mn-ea"/>
              </a:rPr>
              <a:t>超危大工程施工方案未按规定编审批</a:t>
            </a:r>
            <a:endParaRPr lang="zh-CN" altLang="en-US" sz="1000" b="1" kern="0" dirty="0">
              <a:ln>
                <a:noFill/>
                <a:prstDash val="sysDot"/>
              </a:ln>
              <a:solidFill>
                <a:srgbClr val="FF0000"/>
              </a:solidFill>
              <a:latin typeface="微软雅黑" panose="020B0503020204020204" charset="-122"/>
              <a:ea typeface="微软雅黑" panose="020B0503020204020204" charset="-122"/>
              <a:cs typeface="+mn-ea"/>
              <a:sym typeface="+mn-ea"/>
            </a:endParaRPr>
          </a:p>
          <a:p>
            <a:pPr marL="171450" indent="-171450" algn="l" fontAlgn="auto">
              <a:lnSpc>
                <a:spcPct val="120000"/>
              </a:lnSpc>
              <a:buClrTx/>
              <a:buSzTx/>
              <a:buFont typeface="Wingdings" panose="05000000000000000000" charset="0"/>
              <a:buChar char="Ø"/>
            </a:pPr>
            <a:r>
              <a:rPr lang="zh-CN" altLang="en-US" sz="1000" b="1" kern="0" dirty="0">
                <a:ln>
                  <a:noFill/>
                  <a:prstDash val="sysDot"/>
                </a:ln>
                <a:solidFill>
                  <a:srgbClr val="FF0000"/>
                </a:solidFill>
                <a:latin typeface="微软雅黑" panose="020B0503020204020204" charset="-122"/>
                <a:ea typeface="微软雅黑" panose="020B0503020204020204" charset="-122"/>
                <a:cs typeface="+mn-ea"/>
                <a:sym typeface="+mn-ea"/>
              </a:rPr>
              <a:t>危险作业未审批或现场无专人管理</a:t>
            </a:r>
            <a:endParaRPr lang="zh-CN" altLang="en-US" sz="1000" b="1" kern="0" dirty="0">
              <a:ln>
                <a:noFill/>
                <a:prstDash val="sysDot"/>
              </a:ln>
              <a:solidFill>
                <a:srgbClr val="FF0000"/>
              </a:solidFill>
              <a:latin typeface="微软雅黑" panose="020B0503020204020204" charset="-122"/>
              <a:ea typeface="微软雅黑" panose="020B0503020204020204" charset="-122"/>
              <a:cs typeface="+mn-ea"/>
              <a:sym typeface="+mn-ea"/>
            </a:endParaRPr>
          </a:p>
          <a:p>
            <a:pPr marL="171450" indent="-171450" algn="l" fontAlgn="auto">
              <a:lnSpc>
                <a:spcPct val="120000"/>
              </a:lnSpc>
              <a:buClrTx/>
              <a:buSzTx/>
              <a:buFont typeface="Wingdings" panose="05000000000000000000" charset="0"/>
              <a:buChar char="Ø"/>
            </a:pPr>
            <a:r>
              <a:rPr lang="zh-CN" altLang="en-US" sz="1000" b="1" kern="0" dirty="0">
                <a:ln>
                  <a:noFill/>
                  <a:prstDash val="sysDot"/>
                </a:ln>
                <a:solidFill>
                  <a:srgbClr val="FF0000"/>
                </a:solidFill>
                <a:latin typeface="微软雅黑" panose="020B0503020204020204" charset="-122"/>
                <a:ea typeface="微软雅黑" panose="020B0503020204020204" charset="-122"/>
                <a:cs typeface="+mn-ea"/>
                <a:sym typeface="+mn-ea"/>
              </a:rPr>
              <a:t>特种作业人员无资质</a:t>
            </a:r>
            <a:endParaRPr lang="zh-CN" altLang="en-US" sz="1000" b="1" kern="0" dirty="0">
              <a:ln>
                <a:noFill/>
                <a:prstDash val="sysDot"/>
              </a:ln>
              <a:solidFill>
                <a:schemeClr val="tx1">
                  <a:lumMod val="85000"/>
                  <a:lumOff val="15000"/>
                </a:schemeClr>
              </a:solidFill>
              <a:latin typeface="微软雅黑" panose="020B0503020204020204" charset="-122"/>
              <a:ea typeface="微软雅黑" panose="020B0503020204020204" charset="-122"/>
              <a:cs typeface="+mn-ea"/>
              <a:sym typeface="+mn-ea"/>
            </a:endParaRPr>
          </a:p>
        </p:txBody>
      </p:sp>
      <p:sp>
        <p:nvSpPr>
          <p:cNvPr id="113" name="矩形 112"/>
          <p:cNvSpPr/>
          <p:nvPr>
            <p:custDataLst>
              <p:tags r:id="rId25"/>
            </p:custDataLst>
          </p:nvPr>
        </p:nvSpPr>
        <p:spPr>
          <a:xfrm>
            <a:off x="7001960" y="4200614"/>
            <a:ext cx="1210555" cy="270793"/>
          </a:xfrm>
          <a:prstGeom prst="rect">
            <a:avLst/>
          </a:prstGeom>
          <a:noFill/>
        </p:spPr>
        <p:txBody>
          <a:bodyPr wrap="square" lIns="0" tIns="0" rIns="0" bIns="0" rtlCol="0" anchor="b">
            <a:noAutofit/>
          </a:bodyPr>
          <a:lstStyle/>
          <a:p>
            <a:pPr algn="ctr" fontAlgn="auto">
              <a:lnSpc>
                <a:spcPct val="120000"/>
              </a:lnSpc>
              <a:spcBef>
                <a:spcPct val="0"/>
              </a:spcBef>
              <a:spcAft>
                <a:spcPct val="0"/>
              </a:spcAft>
            </a:pPr>
            <a:r>
              <a:rPr lang="zh-CN" altLang="en-US" sz="1200" b="1" dirty="0">
                <a:solidFill>
                  <a:schemeClr val="accent2"/>
                </a:solidFill>
                <a:latin typeface="微软雅黑" panose="020B0503020204020204" charset="-122"/>
                <a:ea typeface="微软雅黑" panose="020B0503020204020204" charset="-122"/>
                <a:cs typeface="+mn-ea"/>
              </a:rPr>
              <a:t>电力建设与检修项目</a:t>
            </a:r>
            <a:endParaRPr lang="zh-CN" altLang="en-US" sz="1200" b="1" dirty="0">
              <a:solidFill>
                <a:schemeClr val="accent2"/>
              </a:solidFill>
              <a:latin typeface="微软雅黑" panose="020B0503020204020204" charset="-122"/>
              <a:ea typeface="微软雅黑" panose="020B0503020204020204" charset="-122"/>
              <a:cs typeface="+mn-ea"/>
            </a:endParaRPr>
          </a:p>
        </p:txBody>
      </p:sp>
      <p:sp>
        <p:nvSpPr>
          <p:cNvPr id="114" name="任意多边形: 形状 36"/>
          <p:cNvSpPr/>
          <p:nvPr>
            <p:custDataLst>
              <p:tags r:id="rId26"/>
            </p:custDataLst>
          </p:nvPr>
        </p:nvSpPr>
        <p:spPr>
          <a:xfrm>
            <a:off x="7082411" y="3391571"/>
            <a:ext cx="282999" cy="146774"/>
          </a:xfrm>
          <a:custGeom>
            <a:avLst/>
            <a:gdLst>
              <a:gd name="connsiteX0" fmla="*/ 205979 w 411958"/>
              <a:gd name="connsiteY0" fmla="*/ 0 h 346834"/>
              <a:gd name="connsiteX1" fmla="*/ 411958 w 411958"/>
              <a:gd name="connsiteY1" fmla="*/ 296466 h 346834"/>
              <a:gd name="connsiteX2" fmla="*/ 408430 w 411958"/>
              <a:gd name="connsiteY2" fmla="*/ 346834 h 346834"/>
              <a:gd name="connsiteX3" fmla="*/ 3528 w 411958"/>
              <a:gd name="connsiteY3" fmla="*/ 346834 h 346834"/>
              <a:gd name="connsiteX4" fmla="*/ 0 w 411958"/>
              <a:gd name="connsiteY4" fmla="*/ 296466 h 346834"/>
              <a:gd name="connsiteX5" fmla="*/ 205979 w 411958"/>
              <a:gd name="connsiteY5" fmla="*/ 0 h 346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1958" h="346834">
                <a:moveTo>
                  <a:pt x="205979" y="0"/>
                </a:moveTo>
                <a:cubicBezTo>
                  <a:pt x="319738" y="0"/>
                  <a:pt x="411958" y="132732"/>
                  <a:pt x="411958" y="296466"/>
                </a:cubicBezTo>
                <a:lnTo>
                  <a:pt x="408430" y="346834"/>
                </a:lnTo>
                <a:lnTo>
                  <a:pt x="3528" y="346834"/>
                </a:lnTo>
                <a:lnTo>
                  <a:pt x="0" y="296466"/>
                </a:lnTo>
                <a:cubicBezTo>
                  <a:pt x="0" y="132732"/>
                  <a:pt x="92220" y="0"/>
                  <a:pt x="205979" y="0"/>
                </a:cubicBezTo>
                <a:close/>
              </a:path>
            </a:pathLst>
          </a:custGeom>
          <a:solidFill>
            <a:schemeClr val="accent2"/>
          </a:solidFill>
          <a:ln>
            <a:noFill/>
          </a:ln>
          <a:effectLst>
            <a:outerShdw blurRad="50800" dist="63500" dir="8100000" algn="tr" rotWithShape="0">
              <a:schemeClr val="accent2">
                <a:lumMod val="75000"/>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lnSpc>
                <a:spcPct val="120000"/>
              </a:lnSpc>
            </a:pPr>
            <a:endParaRPr lang="zh-CN" altLang="en-US">
              <a:solidFill>
                <a:schemeClr val="lt1"/>
              </a:solidFill>
              <a:latin typeface="Comic Sans MS" panose="030F0702030302020204" charset="0"/>
              <a:cs typeface="Comic Sans MS" panose="030F0702030302020204" charset="0"/>
            </a:endParaRPr>
          </a:p>
        </p:txBody>
      </p:sp>
      <p:sp>
        <p:nvSpPr>
          <p:cNvPr id="115" name="任意多边形: 形状 38"/>
          <p:cNvSpPr/>
          <p:nvPr>
            <p:custDataLst>
              <p:tags r:id="rId27"/>
            </p:custDataLst>
          </p:nvPr>
        </p:nvSpPr>
        <p:spPr>
          <a:xfrm>
            <a:off x="7214919" y="3391287"/>
            <a:ext cx="903894" cy="709410"/>
          </a:xfrm>
          <a:custGeom>
            <a:avLst/>
            <a:gdLst>
              <a:gd name="connsiteX0" fmla="*/ 38 w 4644"/>
              <a:gd name="connsiteY0" fmla="*/ 0 h 6065"/>
              <a:gd name="connsiteX1" fmla="*/ 736 w 4644"/>
              <a:gd name="connsiteY1" fmla="*/ 0 h 6065"/>
              <a:gd name="connsiteX2" fmla="*/ 2985 w 4644"/>
              <a:gd name="connsiteY2" fmla="*/ 0 h 6065"/>
              <a:gd name="connsiteX3" fmla="*/ 2996 w 4644"/>
              <a:gd name="connsiteY3" fmla="*/ 0 h 6065"/>
              <a:gd name="connsiteX4" fmla="*/ 3001 w 4644"/>
              <a:gd name="connsiteY4" fmla="*/ 0 h 6065"/>
              <a:gd name="connsiteX5" fmla="*/ 3001 w 4644"/>
              <a:gd name="connsiteY5" fmla="*/ 0 h 6065"/>
              <a:gd name="connsiteX6" fmla="*/ 3208 w 4644"/>
              <a:gd name="connsiteY6" fmla="*/ 21 h 6065"/>
              <a:gd name="connsiteX7" fmla="*/ 4048 w 4644"/>
              <a:gd name="connsiteY7" fmla="*/ 1052 h 6065"/>
              <a:gd name="connsiteX8" fmla="*/ 4002 w 4644"/>
              <a:gd name="connsiteY8" fmla="*/ 1348 h 6065"/>
              <a:gd name="connsiteX9" fmla="*/ 4002 w 4644"/>
              <a:gd name="connsiteY9" fmla="*/ 1348 h 6065"/>
              <a:gd name="connsiteX10" fmla="*/ 4048 w 4644"/>
              <a:gd name="connsiteY10" fmla="*/ 1052 h 6065"/>
              <a:gd name="connsiteX11" fmla="*/ 4048 w 4644"/>
              <a:gd name="connsiteY11" fmla="*/ 1446 h 6065"/>
              <a:gd name="connsiteX12" fmla="*/ 4050 w 4644"/>
              <a:gd name="connsiteY12" fmla="*/ 1451 h 6065"/>
              <a:gd name="connsiteX13" fmla="*/ 4050 w 4644"/>
              <a:gd name="connsiteY13" fmla="*/ 3364 h 6065"/>
              <a:gd name="connsiteX14" fmla="*/ 4187 w 4644"/>
              <a:gd name="connsiteY14" fmla="*/ 3501 h 6065"/>
              <a:gd name="connsiteX15" fmla="*/ 4508 w 4644"/>
              <a:gd name="connsiteY15" fmla="*/ 3501 h 6065"/>
              <a:gd name="connsiteX16" fmla="*/ 4634 w 4644"/>
              <a:gd name="connsiteY16" fmla="*/ 3583 h 6065"/>
              <a:gd name="connsiteX17" fmla="*/ 4609 w 4644"/>
              <a:gd name="connsiteY17" fmla="*/ 3732 h 6065"/>
              <a:gd name="connsiteX18" fmla="*/ 2499 w 4644"/>
              <a:gd name="connsiteY18" fmla="*/ 6022 h 6065"/>
              <a:gd name="connsiteX19" fmla="*/ 2396 w 4644"/>
              <a:gd name="connsiteY19" fmla="*/ 6065 h 6065"/>
              <a:gd name="connsiteX20" fmla="*/ 2294 w 4644"/>
              <a:gd name="connsiteY20" fmla="*/ 6022 h 6065"/>
              <a:gd name="connsiteX21" fmla="*/ 184 w 4644"/>
              <a:gd name="connsiteY21" fmla="*/ 3732 h 6065"/>
              <a:gd name="connsiteX22" fmla="*/ 159 w 4644"/>
              <a:gd name="connsiteY22" fmla="*/ 3583 h 6065"/>
              <a:gd name="connsiteX23" fmla="*/ 284 w 4644"/>
              <a:gd name="connsiteY23" fmla="*/ 3501 h 6065"/>
              <a:gd name="connsiteX24" fmla="*/ 606 w 4644"/>
              <a:gd name="connsiteY24" fmla="*/ 3501 h 6065"/>
              <a:gd name="connsiteX25" fmla="*/ 743 w 4644"/>
              <a:gd name="connsiteY25" fmla="*/ 3364 h 6065"/>
              <a:gd name="connsiteX26" fmla="*/ 732 w 4644"/>
              <a:gd name="connsiteY26" fmla="*/ 1264 h 6065"/>
              <a:gd name="connsiteX27" fmla="*/ 38 w 4644"/>
              <a:gd name="connsiteY27" fmla="*/ 0 h 6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644" h="6065">
                <a:moveTo>
                  <a:pt x="38" y="0"/>
                </a:moveTo>
                <a:cubicBezTo>
                  <a:pt x="-167" y="-1"/>
                  <a:pt x="503" y="0"/>
                  <a:pt x="736" y="0"/>
                </a:cubicBezTo>
                <a:lnTo>
                  <a:pt x="2985" y="0"/>
                </a:lnTo>
                <a:lnTo>
                  <a:pt x="2996" y="0"/>
                </a:lnTo>
                <a:lnTo>
                  <a:pt x="3001" y="0"/>
                </a:lnTo>
                <a:lnTo>
                  <a:pt x="3001" y="0"/>
                </a:lnTo>
                <a:lnTo>
                  <a:pt x="3208" y="21"/>
                </a:lnTo>
                <a:cubicBezTo>
                  <a:pt x="3687" y="119"/>
                  <a:pt x="4048" y="543"/>
                  <a:pt x="4048" y="1052"/>
                </a:cubicBezTo>
                <a:lnTo>
                  <a:pt x="4002" y="1348"/>
                </a:lnTo>
                <a:lnTo>
                  <a:pt x="4002" y="1348"/>
                </a:lnTo>
                <a:lnTo>
                  <a:pt x="4048" y="1052"/>
                </a:lnTo>
                <a:lnTo>
                  <a:pt x="4048" y="1446"/>
                </a:lnTo>
                <a:lnTo>
                  <a:pt x="4050" y="1451"/>
                </a:lnTo>
                <a:cubicBezTo>
                  <a:pt x="4050" y="1531"/>
                  <a:pt x="4050" y="3285"/>
                  <a:pt x="4050" y="3364"/>
                </a:cubicBezTo>
                <a:cubicBezTo>
                  <a:pt x="4050" y="3446"/>
                  <a:pt x="4107" y="3501"/>
                  <a:pt x="4187" y="3501"/>
                </a:cubicBezTo>
                <a:lnTo>
                  <a:pt x="4508" y="3501"/>
                </a:lnTo>
                <a:cubicBezTo>
                  <a:pt x="4559" y="3501"/>
                  <a:pt x="4613" y="3538"/>
                  <a:pt x="4634" y="3583"/>
                </a:cubicBezTo>
                <a:cubicBezTo>
                  <a:pt x="4654" y="3631"/>
                  <a:pt x="4643" y="3695"/>
                  <a:pt x="4609" y="3732"/>
                </a:cubicBezTo>
                <a:lnTo>
                  <a:pt x="2499" y="6022"/>
                </a:lnTo>
                <a:cubicBezTo>
                  <a:pt x="2472" y="6049"/>
                  <a:pt x="2435" y="6065"/>
                  <a:pt x="2396" y="6065"/>
                </a:cubicBezTo>
                <a:cubicBezTo>
                  <a:pt x="2358" y="6065"/>
                  <a:pt x="2321" y="6049"/>
                  <a:pt x="2294" y="6022"/>
                </a:cubicBezTo>
                <a:lnTo>
                  <a:pt x="184" y="3732"/>
                </a:lnTo>
                <a:cubicBezTo>
                  <a:pt x="150" y="3695"/>
                  <a:pt x="138" y="3631"/>
                  <a:pt x="159" y="3583"/>
                </a:cubicBezTo>
                <a:cubicBezTo>
                  <a:pt x="179" y="3538"/>
                  <a:pt x="234" y="3501"/>
                  <a:pt x="284" y="3501"/>
                </a:cubicBezTo>
                <a:lnTo>
                  <a:pt x="606" y="3501"/>
                </a:lnTo>
                <a:cubicBezTo>
                  <a:pt x="686" y="3501"/>
                  <a:pt x="743" y="3446"/>
                  <a:pt x="743" y="3364"/>
                </a:cubicBezTo>
                <a:cubicBezTo>
                  <a:pt x="748" y="3272"/>
                  <a:pt x="738" y="2373"/>
                  <a:pt x="732" y="1264"/>
                </a:cubicBezTo>
                <a:cubicBezTo>
                  <a:pt x="726" y="155"/>
                  <a:pt x="243" y="1"/>
                  <a:pt x="38" y="0"/>
                </a:cubicBezTo>
                <a:close/>
              </a:path>
            </a:pathLst>
          </a:custGeom>
          <a:gradFill flip="none" rotWithShape="1">
            <a:gsLst>
              <a:gs pos="0">
                <a:schemeClr val="accent2">
                  <a:lumMod val="40000"/>
                  <a:lumOff val="60000"/>
                  <a:alpha val="100000"/>
                </a:schemeClr>
              </a:gs>
              <a:gs pos="90000">
                <a:schemeClr val="accent2">
                  <a:alpha val="100000"/>
                </a:schemeClr>
              </a:gs>
            </a:gsLst>
            <a:lin ang="8100000" scaled="0"/>
            <a:tileRect/>
          </a:gradFill>
          <a:ln>
            <a:noFill/>
          </a:ln>
          <a:effectLst>
            <a:outerShdw blurRad="50800" dist="63500" dir="8100000" algn="tr" rotWithShape="0">
              <a:schemeClr val="accent2">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179705" tIns="71755" rIns="107950" bIns="288290" numCol="1" spcCol="0" rtlCol="0" fromWordArt="0" anchor="ctr" anchorCtr="0" forceAA="0" compatLnSpc="1">
            <a:normAutofit fontScale="8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fontAlgn="auto">
              <a:lnSpc>
                <a:spcPct val="120000"/>
              </a:lnSpc>
              <a:spcBef>
                <a:spcPct val="0"/>
              </a:spcBef>
              <a:spcAft>
                <a:spcPct val="0"/>
              </a:spcAft>
              <a:buClrTx/>
              <a:buSzTx/>
              <a:buFontTx/>
            </a:pPr>
            <a:r>
              <a:rPr lang="en-US" altLang="zh-CN" sz="2400" b="1">
                <a:solidFill>
                  <a:srgbClr val="FFFFFF"/>
                </a:solidFill>
                <a:latin typeface="Comic Sans MS" panose="030F0702030302020204" charset="0"/>
                <a:cs typeface="Comic Sans MS" panose="030F0702030302020204" charset="0"/>
                <a:sym typeface="+mn-ea"/>
              </a:rPr>
              <a:t>06</a:t>
            </a:r>
            <a:endParaRPr lang="en-US" altLang="zh-CN" sz="2400" b="1">
              <a:solidFill>
                <a:srgbClr val="FFFFFF"/>
              </a:solidFill>
              <a:latin typeface="Comic Sans MS" panose="030F0702030302020204" charset="0"/>
              <a:cs typeface="Comic Sans MS" panose="030F0702030302020204" charset="0"/>
              <a:sym typeface="+mn-ea"/>
            </a:endParaRPr>
          </a:p>
        </p:txBody>
      </p:sp>
      <p:sp>
        <p:nvSpPr>
          <p:cNvPr id="116" name="任意多边形: 形状 38"/>
          <p:cNvSpPr/>
          <p:nvPr>
            <p:custDataLst>
              <p:tags r:id="rId28"/>
            </p:custDataLst>
          </p:nvPr>
        </p:nvSpPr>
        <p:spPr>
          <a:xfrm>
            <a:off x="8447249" y="3403501"/>
            <a:ext cx="903894" cy="709410"/>
          </a:xfrm>
          <a:custGeom>
            <a:avLst/>
            <a:gdLst>
              <a:gd name="connsiteX0" fmla="*/ 38 w 4644"/>
              <a:gd name="connsiteY0" fmla="*/ 0 h 6065"/>
              <a:gd name="connsiteX1" fmla="*/ 736 w 4644"/>
              <a:gd name="connsiteY1" fmla="*/ 0 h 6065"/>
              <a:gd name="connsiteX2" fmla="*/ 2985 w 4644"/>
              <a:gd name="connsiteY2" fmla="*/ 0 h 6065"/>
              <a:gd name="connsiteX3" fmla="*/ 2996 w 4644"/>
              <a:gd name="connsiteY3" fmla="*/ 0 h 6065"/>
              <a:gd name="connsiteX4" fmla="*/ 3001 w 4644"/>
              <a:gd name="connsiteY4" fmla="*/ 0 h 6065"/>
              <a:gd name="connsiteX5" fmla="*/ 3001 w 4644"/>
              <a:gd name="connsiteY5" fmla="*/ 0 h 6065"/>
              <a:gd name="connsiteX6" fmla="*/ 3208 w 4644"/>
              <a:gd name="connsiteY6" fmla="*/ 21 h 6065"/>
              <a:gd name="connsiteX7" fmla="*/ 4048 w 4644"/>
              <a:gd name="connsiteY7" fmla="*/ 1052 h 6065"/>
              <a:gd name="connsiteX8" fmla="*/ 4002 w 4644"/>
              <a:gd name="connsiteY8" fmla="*/ 1348 h 6065"/>
              <a:gd name="connsiteX9" fmla="*/ 4002 w 4644"/>
              <a:gd name="connsiteY9" fmla="*/ 1348 h 6065"/>
              <a:gd name="connsiteX10" fmla="*/ 4048 w 4644"/>
              <a:gd name="connsiteY10" fmla="*/ 1052 h 6065"/>
              <a:gd name="connsiteX11" fmla="*/ 4048 w 4644"/>
              <a:gd name="connsiteY11" fmla="*/ 1446 h 6065"/>
              <a:gd name="connsiteX12" fmla="*/ 4050 w 4644"/>
              <a:gd name="connsiteY12" fmla="*/ 1451 h 6065"/>
              <a:gd name="connsiteX13" fmla="*/ 4050 w 4644"/>
              <a:gd name="connsiteY13" fmla="*/ 3364 h 6065"/>
              <a:gd name="connsiteX14" fmla="*/ 4187 w 4644"/>
              <a:gd name="connsiteY14" fmla="*/ 3501 h 6065"/>
              <a:gd name="connsiteX15" fmla="*/ 4508 w 4644"/>
              <a:gd name="connsiteY15" fmla="*/ 3501 h 6065"/>
              <a:gd name="connsiteX16" fmla="*/ 4634 w 4644"/>
              <a:gd name="connsiteY16" fmla="*/ 3583 h 6065"/>
              <a:gd name="connsiteX17" fmla="*/ 4609 w 4644"/>
              <a:gd name="connsiteY17" fmla="*/ 3732 h 6065"/>
              <a:gd name="connsiteX18" fmla="*/ 2499 w 4644"/>
              <a:gd name="connsiteY18" fmla="*/ 6022 h 6065"/>
              <a:gd name="connsiteX19" fmla="*/ 2396 w 4644"/>
              <a:gd name="connsiteY19" fmla="*/ 6065 h 6065"/>
              <a:gd name="connsiteX20" fmla="*/ 2294 w 4644"/>
              <a:gd name="connsiteY20" fmla="*/ 6022 h 6065"/>
              <a:gd name="connsiteX21" fmla="*/ 184 w 4644"/>
              <a:gd name="connsiteY21" fmla="*/ 3732 h 6065"/>
              <a:gd name="connsiteX22" fmla="*/ 159 w 4644"/>
              <a:gd name="connsiteY22" fmla="*/ 3583 h 6065"/>
              <a:gd name="connsiteX23" fmla="*/ 284 w 4644"/>
              <a:gd name="connsiteY23" fmla="*/ 3501 h 6065"/>
              <a:gd name="connsiteX24" fmla="*/ 606 w 4644"/>
              <a:gd name="connsiteY24" fmla="*/ 3501 h 6065"/>
              <a:gd name="connsiteX25" fmla="*/ 743 w 4644"/>
              <a:gd name="connsiteY25" fmla="*/ 3364 h 6065"/>
              <a:gd name="connsiteX26" fmla="*/ 732 w 4644"/>
              <a:gd name="connsiteY26" fmla="*/ 1264 h 6065"/>
              <a:gd name="connsiteX27" fmla="*/ 38 w 4644"/>
              <a:gd name="connsiteY27" fmla="*/ 0 h 6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644" h="6065">
                <a:moveTo>
                  <a:pt x="38" y="0"/>
                </a:moveTo>
                <a:cubicBezTo>
                  <a:pt x="-167" y="-1"/>
                  <a:pt x="503" y="0"/>
                  <a:pt x="736" y="0"/>
                </a:cubicBezTo>
                <a:lnTo>
                  <a:pt x="2985" y="0"/>
                </a:lnTo>
                <a:lnTo>
                  <a:pt x="2996" y="0"/>
                </a:lnTo>
                <a:lnTo>
                  <a:pt x="3001" y="0"/>
                </a:lnTo>
                <a:lnTo>
                  <a:pt x="3001" y="0"/>
                </a:lnTo>
                <a:lnTo>
                  <a:pt x="3208" y="21"/>
                </a:lnTo>
                <a:cubicBezTo>
                  <a:pt x="3687" y="119"/>
                  <a:pt x="4048" y="543"/>
                  <a:pt x="4048" y="1052"/>
                </a:cubicBezTo>
                <a:lnTo>
                  <a:pt x="4002" y="1348"/>
                </a:lnTo>
                <a:lnTo>
                  <a:pt x="4002" y="1348"/>
                </a:lnTo>
                <a:lnTo>
                  <a:pt x="4048" y="1052"/>
                </a:lnTo>
                <a:lnTo>
                  <a:pt x="4048" y="1446"/>
                </a:lnTo>
                <a:lnTo>
                  <a:pt x="4050" y="1451"/>
                </a:lnTo>
                <a:cubicBezTo>
                  <a:pt x="4050" y="1531"/>
                  <a:pt x="4050" y="3285"/>
                  <a:pt x="4050" y="3364"/>
                </a:cubicBezTo>
                <a:cubicBezTo>
                  <a:pt x="4050" y="3446"/>
                  <a:pt x="4107" y="3501"/>
                  <a:pt x="4187" y="3501"/>
                </a:cubicBezTo>
                <a:lnTo>
                  <a:pt x="4508" y="3501"/>
                </a:lnTo>
                <a:cubicBezTo>
                  <a:pt x="4559" y="3501"/>
                  <a:pt x="4613" y="3538"/>
                  <a:pt x="4634" y="3583"/>
                </a:cubicBezTo>
                <a:cubicBezTo>
                  <a:pt x="4654" y="3631"/>
                  <a:pt x="4643" y="3695"/>
                  <a:pt x="4609" y="3732"/>
                </a:cubicBezTo>
                <a:lnTo>
                  <a:pt x="2499" y="6022"/>
                </a:lnTo>
                <a:cubicBezTo>
                  <a:pt x="2472" y="6049"/>
                  <a:pt x="2435" y="6065"/>
                  <a:pt x="2396" y="6065"/>
                </a:cubicBezTo>
                <a:cubicBezTo>
                  <a:pt x="2358" y="6065"/>
                  <a:pt x="2321" y="6049"/>
                  <a:pt x="2294" y="6022"/>
                </a:cubicBezTo>
                <a:lnTo>
                  <a:pt x="184" y="3732"/>
                </a:lnTo>
                <a:cubicBezTo>
                  <a:pt x="150" y="3695"/>
                  <a:pt x="138" y="3631"/>
                  <a:pt x="159" y="3583"/>
                </a:cubicBezTo>
                <a:cubicBezTo>
                  <a:pt x="179" y="3538"/>
                  <a:pt x="234" y="3501"/>
                  <a:pt x="284" y="3501"/>
                </a:cubicBezTo>
                <a:lnTo>
                  <a:pt x="606" y="3501"/>
                </a:lnTo>
                <a:cubicBezTo>
                  <a:pt x="686" y="3501"/>
                  <a:pt x="743" y="3446"/>
                  <a:pt x="743" y="3364"/>
                </a:cubicBezTo>
                <a:cubicBezTo>
                  <a:pt x="748" y="3272"/>
                  <a:pt x="738" y="2373"/>
                  <a:pt x="732" y="1264"/>
                </a:cubicBezTo>
                <a:cubicBezTo>
                  <a:pt x="726" y="155"/>
                  <a:pt x="243" y="1"/>
                  <a:pt x="38" y="0"/>
                </a:cubicBezTo>
                <a:close/>
              </a:path>
            </a:pathLst>
          </a:custGeom>
          <a:gradFill flip="none" rotWithShape="1">
            <a:gsLst>
              <a:gs pos="0">
                <a:schemeClr val="accent1">
                  <a:lumMod val="40000"/>
                  <a:lumOff val="60000"/>
                  <a:alpha val="100000"/>
                </a:schemeClr>
              </a:gs>
              <a:gs pos="90000">
                <a:schemeClr val="accent1">
                  <a:alpha val="100000"/>
                </a:schemeClr>
              </a:gs>
            </a:gsLst>
            <a:lin ang="8100000" scaled="0"/>
            <a:tileRect/>
          </a:gradFill>
          <a:ln>
            <a:noFill/>
          </a:ln>
          <a:effectLst>
            <a:outerShdw blurRad="50800" dist="63500" dir="8100000" algn="tr" rotWithShape="0">
              <a:schemeClr val="accent1">
                <a:lumMod val="7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179705" tIns="71755" rIns="107950" bIns="288290" numCol="1" spcCol="0" rtlCol="0" fromWordArt="0" anchor="ctr" anchorCtr="0" forceAA="0" compatLnSpc="1">
            <a:normAutofit fontScale="8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fontAlgn="auto">
              <a:lnSpc>
                <a:spcPct val="120000"/>
              </a:lnSpc>
              <a:spcBef>
                <a:spcPct val="0"/>
              </a:spcBef>
              <a:spcAft>
                <a:spcPct val="0"/>
              </a:spcAft>
              <a:buClrTx/>
              <a:buSzTx/>
              <a:buFontTx/>
            </a:pPr>
            <a:r>
              <a:rPr lang="en-US" altLang="zh-CN" sz="2400" b="1">
                <a:solidFill>
                  <a:srgbClr val="FFFFFF"/>
                </a:solidFill>
                <a:latin typeface="Comic Sans MS" panose="030F0702030302020204" charset="0"/>
                <a:cs typeface="Comic Sans MS" panose="030F0702030302020204" charset="0"/>
                <a:sym typeface="+mn-ea"/>
              </a:rPr>
              <a:t>07</a:t>
            </a:r>
            <a:endParaRPr lang="en-US" altLang="zh-CN" sz="2400" b="1">
              <a:solidFill>
                <a:srgbClr val="FFFFFF"/>
              </a:solidFill>
              <a:latin typeface="Comic Sans MS" panose="030F0702030302020204" charset="0"/>
              <a:cs typeface="Comic Sans MS" panose="030F0702030302020204" charset="0"/>
              <a:sym typeface="+mn-ea"/>
            </a:endParaRPr>
          </a:p>
        </p:txBody>
      </p:sp>
      <p:sp>
        <p:nvSpPr>
          <p:cNvPr id="117" name="矩形 116"/>
          <p:cNvSpPr/>
          <p:nvPr>
            <p:custDataLst>
              <p:tags r:id="rId29"/>
            </p:custDataLst>
          </p:nvPr>
        </p:nvSpPr>
        <p:spPr>
          <a:xfrm>
            <a:off x="8354305" y="4200614"/>
            <a:ext cx="1210555" cy="270793"/>
          </a:xfrm>
          <a:prstGeom prst="rect">
            <a:avLst/>
          </a:prstGeom>
          <a:noFill/>
        </p:spPr>
        <p:txBody>
          <a:bodyPr wrap="square" lIns="0" tIns="0" rIns="0" bIns="0" rtlCol="0" anchor="b">
            <a:noAutofit/>
          </a:bodyPr>
          <a:lstStyle/>
          <a:p>
            <a:pPr algn="ctr" fontAlgn="auto">
              <a:lnSpc>
                <a:spcPct val="120000"/>
              </a:lnSpc>
              <a:spcBef>
                <a:spcPct val="0"/>
              </a:spcBef>
              <a:spcAft>
                <a:spcPct val="0"/>
              </a:spcAft>
            </a:pPr>
            <a:r>
              <a:rPr lang="zh-CN" altLang="en-US" sz="1200" b="1">
                <a:solidFill>
                  <a:schemeClr val="accent1"/>
                </a:solidFill>
                <a:latin typeface="微软雅黑" panose="020B0503020204020204" charset="-122"/>
                <a:ea typeface="微软雅黑" panose="020B0503020204020204" charset="-122"/>
                <a:cs typeface="+mn-ea"/>
              </a:rPr>
              <a:t>电力建设工程质量管理</a:t>
            </a:r>
            <a:endParaRPr lang="zh-CN" altLang="en-US" sz="1200" b="1">
              <a:solidFill>
                <a:schemeClr val="accent1"/>
              </a:solidFill>
              <a:latin typeface="微软雅黑" panose="020B0503020204020204" charset="-122"/>
              <a:ea typeface="微软雅黑" panose="020B0503020204020204" charset="-122"/>
              <a:cs typeface="+mn-ea"/>
            </a:endParaRPr>
          </a:p>
        </p:txBody>
      </p:sp>
      <p:sp>
        <p:nvSpPr>
          <p:cNvPr id="118" name="矩形 117"/>
          <p:cNvSpPr/>
          <p:nvPr>
            <p:custDataLst>
              <p:tags r:id="rId30"/>
            </p:custDataLst>
          </p:nvPr>
        </p:nvSpPr>
        <p:spPr>
          <a:xfrm>
            <a:off x="8351130" y="4467765"/>
            <a:ext cx="1210555" cy="774264"/>
          </a:xfrm>
          <a:prstGeom prst="rect">
            <a:avLst/>
          </a:prstGeom>
          <a:noFill/>
        </p:spPr>
        <p:txBody>
          <a:bodyPr wrap="square" lIns="0" tIns="0" rIns="0" bIns="0" rtlCol="0" anchor="t" anchorCtr="0">
            <a:noAutofit/>
          </a:bodyPr>
          <a:lstStyle/>
          <a:p>
            <a:pPr marL="171450" indent="-171450" algn="l" fontAlgn="auto">
              <a:lnSpc>
                <a:spcPct val="120000"/>
              </a:lnSpc>
              <a:buClrTx/>
              <a:buSzTx/>
              <a:buFont typeface="Wingdings" panose="05000000000000000000" charset="0"/>
              <a:buChar char="Ø"/>
            </a:pPr>
            <a:r>
              <a:rPr lang="zh-CN" altLang="en-US" sz="1000" b="1" kern="0" dirty="0">
                <a:ln>
                  <a:noFill/>
                  <a:prstDash val="sysDot"/>
                </a:ln>
                <a:solidFill>
                  <a:schemeClr val="tx1">
                    <a:lumMod val="85000"/>
                    <a:lumOff val="15000"/>
                  </a:schemeClr>
                </a:solidFill>
                <a:latin typeface="微软雅黑" panose="020B0503020204020204" charset="-122"/>
                <a:ea typeface="微软雅黑" panose="020B0503020204020204" charset="-122"/>
                <a:cs typeface="+mn-ea"/>
                <a:sym typeface="+mn-ea"/>
              </a:rPr>
              <a:t>未开展质量监督</a:t>
            </a:r>
            <a:endParaRPr lang="zh-CN" altLang="en-US" sz="1000" b="1" kern="0" dirty="0">
              <a:ln>
                <a:noFill/>
                <a:prstDash val="sysDot"/>
              </a:ln>
              <a:solidFill>
                <a:schemeClr val="tx1">
                  <a:lumMod val="85000"/>
                  <a:lumOff val="15000"/>
                </a:schemeClr>
              </a:solidFill>
              <a:latin typeface="微软雅黑" panose="020B0503020204020204" charset="-122"/>
              <a:ea typeface="微软雅黑" panose="020B0503020204020204" charset="-122"/>
              <a:cs typeface="+mn-ea"/>
              <a:sym typeface="+mn-ea"/>
            </a:endParaRPr>
          </a:p>
          <a:p>
            <a:pPr marL="171450" indent="-171450" algn="l" fontAlgn="auto">
              <a:lnSpc>
                <a:spcPct val="120000"/>
              </a:lnSpc>
              <a:buClrTx/>
              <a:buSzTx/>
              <a:buFont typeface="Wingdings" panose="05000000000000000000" charset="0"/>
              <a:buChar char="Ø"/>
            </a:pPr>
            <a:r>
              <a:rPr lang="zh-CN" altLang="en-US" sz="1000" b="1" kern="0" dirty="0">
                <a:ln>
                  <a:noFill/>
                  <a:prstDash val="sysDot"/>
                </a:ln>
                <a:solidFill>
                  <a:schemeClr val="tx1">
                    <a:lumMod val="85000"/>
                    <a:lumOff val="15000"/>
                  </a:schemeClr>
                </a:solidFill>
                <a:latin typeface="微软雅黑" panose="020B0503020204020204" charset="-122"/>
                <a:ea typeface="微软雅黑" panose="020B0503020204020204" charset="-122"/>
                <a:cs typeface="+mn-ea"/>
                <a:sym typeface="+mn-ea"/>
              </a:rPr>
              <a:t>竣工验收不合格投入使用</a:t>
            </a:r>
            <a:endParaRPr lang="zh-CN" altLang="en-US" sz="1000" b="1" kern="0" dirty="0">
              <a:ln>
                <a:noFill/>
                <a:prstDash val="sysDot"/>
              </a:ln>
              <a:solidFill>
                <a:schemeClr val="tx1">
                  <a:lumMod val="85000"/>
                  <a:lumOff val="15000"/>
                </a:schemeClr>
              </a:solidFill>
              <a:latin typeface="微软雅黑" panose="020B0503020204020204" charset="-122"/>
              <a:ea typeface="微软雅黑" panose="020B0503020204020204" charset="-122"/>
              <a:cs typeface="+mn-ea"/>
              <a:sym typeface="+mn-ea"/>
            </a:endParaRPr>
          </a:p>
          <a:p>
            <a:pPr marL="171450" indent="-171450" algn="l" fontAlgn="auto">
              <a:lnSpc>
                <a:spcPct val="120000"/>
              </a:lnSpc>
              <a:buClrTx/>
              <a:buSzTx/>
              <a:buFont typeface="Wingdings" panose="05000000000000000000" charset="0"/>
              <a:buChar char="Ø"/>
            </a:pPr>
            <a:r>
              <a:rPr lang="zh-CN" altLang="en-US" sz="1000" b="1" kern="0" dirty="0">
                <a:ln>
                  <a:noFill/>
                  <a:prstDash val="sysDot"/>
                </a:ln>
                <a:solidFill>
                  <a:srgbClr val="FF0000"/>
                </a:solidFill>
                <a:latin typeface="微软雅黑" panose="020B0503020204020204" charset="-122"/>
                <a:ea typeface="微软雅黑" panose="020B0503020204020204" charset="-122"/>
                <a:cs typeface="+mn-ea"/>
                <a:sym typeface="+mn-ea"/>
              </a:rPr>
              <a:t>勘察、设计审批变更不严</a:t>
            </a:r>
            <a:endParaRPr lang="zh-CN" altLang="en-US" sz="1000" b="1" kern="0" dirty="0">
              <a:ln>
                <a:noFill/>
                <a:prstDash val="sysDot"/>
              </a:ln>
              <a:solidFill>
                <a:srgbClr val="FF0000"/>
              </a:solidFill>
              <a:latin typeface="微软雅黑" panose="020B0503020204020204" charset="-122"/>
              <a:ea typeface="微软雅黑" panose="020B0503020204020204" charset="-122"/>
              <a:cs typeface="+mn-ea"/>
              <a:sym typeface="+mn-ea"/>
            </a:endParaRPr>
          </a:p>
          <a:p>
            <a:pPr marL="171450" indent="-171450" algn="l" fontAlgn="auto">
              <a:lnSpc>
                <a:spcPct val="120000"/>
              </a:lnSpc>
              <a:buClrTx/>
              <a:buSzTx/>
              <a:buFont typeface="Wingdings" panose="05000000000000000000" charset="0"/>
              <a:buChar char="Ø"/>
            </a:pPr>
            <a:r>
              <a:rPr lang="zh-CN" altLang="en-US" sz="1000" b="1" kern="0" dirty="0">
                <a:ln>
                  <a:noFill/>
                  <a:prstDash val="sysDot"/>
                </a:ln>
                <a:solidFill>
                  <a:srgbClr val="FF0000"/>
                </a:solidFill>
                <a:latin typeface="微软雅黑" panose="020B0503020204020204" charset="-122"/>
                <a:ea typeface="微软雅黑" panose="020B0503020204020204" charset="-122"/>
                <a:cs typeface="+mn-ea"/>
                <a:sym typeface="+mn-ea"/>
              </a:rPr>
              <a:t>工程建设偷工减料，不按图纸施工</a:t>
            </a:r>
            <a:endParaRPr lang="zh-CN" altLang="en-US" sz="1000" b="1" kern="0" dirty="0">
              <a:ln>
                <a:noFill/>
                <a:prstDash val="sysDot"/>
              </a:ln>
              <a:solidFill>
                <a:srgbClr val="FF0000"/>
              </a:solidFill>
              <a:latin typeface="微软雅黑" panose="020B0503020204020204" charset="-122"/>
              <a:ea typeface="微软雅黑" panose="020B0503020204020204" charset="-122"/>
              <a:cs typeface="+mn-ea"/>
              <a:sym typeface="+mn-ea"/>
            </a:endParaRPr>
          </a:p>
          <a:p>
            <a:pPr marL="171450" indent="-171450" algn="l" fontAlgn="auto">
              <a:lnSpc>
                <a:spcPct val="120000"/>
              </a:lnSpc>
              <a:buClrTx/>
              <a:buSzTx/>
              <a:buFont typeface="Wingdings" panose="05000000000000000000" charset="0"/>
              <a:buChar char="Ø"/>
            </a:pPr>
            <a:r>
              <a:rPr lang="zh-CN" altLang="en-US" sz="1000" b="1" kern="0" dirty="0">
                <a:ln>
                  <a:noFill/>
                  <a:prstDash val="sysDot"/>
                </a:ln>
                <a:solidFill>
                  <a:schemeClr val="tx1">
                    <a:lumMod val="85000"/>
                    <a:lumOff val="15000"/>
                  </a:schemeClr>
                </a:solidFill>
                <a:latin typeface="微软雅黑" panose="020B0503020204020204" charset="-122"/>
                <a:ea typeface="微软雅黑" panose="020B0503020204020204" charset="-122"/>
                <a:cs typeface="+mn-ea"/>
                <a:sym typeface="+mn-ea"/>
              </a:rPr>
              <a:t>工程建设弄虚作假</a:t>
            </a:r>
            <a:endParaRPr lang="zh-CN" altLang="en-US" sz="1000" b="1" kern="0" dirty="0">
              <a:ln>
                <a:noFill/>
                <a:prstDash val="sysDot"/>
              </a:ln>
              <a:solidFill>
                <a:schemeClr val="tx1">
                  <a:lumMod val="85000"/>
                  <a:lumOff val="15000"/>
                </a:schemeClr>
              </a:solidFill>
              <a:latin typeface="微软雅黑" panose="020B0503020204020204" charset="-122"/>
              <a:ea typeface="微软雅黑" panose="020B0503020204020204" charset="-122"/>
              <a:cs typeface="+mn-ea"/>
              <a:sym typeface="+mn-ea"/>
            </a:endParaRPr>
          </a:p>
        </p:txBody>
      </p:sp>
      <p:sp>
        <p:nvSpPr>
          <p:cNvPr id="119" name="任意多边形: 形状 36"/>
          <p:cNvSpPr/>
          <p:nvPr>
            <p:custDataLst>
              <p:tags r:id="rId31"/>
            </p:custDataLst>
          </p:nvPr>
        </p:nvSpPr>
        <p:spPr>
          <a:xfrm>
            <a:off x="10853471" y="3403403"/>
            <a:ext cx="282999" cy="146774"/>
          </a:xfrm>
          <a:custGeom>
            <a:avLst/>
            <a:gdLst>
              <a:gd name="connsiteX0" fmla="*/ 205979 w 411958"/>
              <a:gd name="connsiteY0" fmla="*/ 0 h 346834"/>
              <a:gd name="connsiteX1" fmla="*/ 411958 w 411958"/>
              <a:gd name="connsiteY1" fmla="*/ 296466 h 346834"/>
              <a:gd name="connsiteX2" fmla="*/ 408430 w 411958"/>
              <a:gd name="connsiteY2" fmla="*/ 346834 h 346834"/>
              <a:gd name="connsiteX3" fmla="*/ 3528 w 411958"/>
              <a:gd name="connsiteY3" fmla="*/ 346834 h 346834"/>
              <a:gd name="connsiteX4" fmla="*/ 0 w 411958"/>
              <a:gd name="connsiteY4" fmla="*/ 296466 h 346834"/>
              <a:gd name="connsiteX5" fmla="*/ 205979 w 411958"/>
              <a:gd name="connsiteY5" fmla="*/ 0 h 346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1958" h="346834">
                <a:moveTo>
                  <a:pt x="205979" y="0"/>
                </a:moveTo>
                <a:cubicBezTo>
                  <a:pt x="319738" y="0"/>
                  <a:pt x="411958" y="132732"/>
                  <a:pt x="411958" y="296466"/>
                </a:cubicBezTo>
                <a:lnTo>
                  <a:pt x="408430" y="346834"/>
                </a:lnTo>
                <a:lnTo>
                  <a:pt x="3528" y="346834"/>
                </a:lnTo>
                <a:lnTo>
                  <a:pt x="0" y="296466"/>
                </a:lnTo>
                <a:cubicBezTo>
                  <a:pt x="0" y="132732"/>
                  <a:pt x="92220" y="0"/>
                  <a:pt x="205979" y="0"/>
                </a:cubicBezTo>
                <a:close/>
              </a:path>
            </a:pathLst>
          </a:custGeom>
          <a:solidFill>
            <a:schemeClr val="accent1"/>
          </a:solidFill>
          <a:ln>
            <a:noFill/>
          </a:ln>
          <a:effectLst>
            <a:outerShdw blurRad="50800" dist="63500" dir="8100000" algn="tr" rotWithShape="0">
              <a:schemeClr val="accent1">
                <a:lumMod val="75000"/>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lnSpc>
                <a:spcPct val="120000"/>
              </a:lnSpc>
            </a:pPr>
            <a:endParaRPr lang="zh-CN" altLang="en-US">
              <a:solidFill>
                <a:schemeClr val="lt1"/>
              </a:solidFill>
              <a:latin typeface="Comic Sans MS" panose="030F0702030302020204" charset="0"/>
              <a:cs typeface="Comic Sans MS" panose="030F0702030302020204" charset="0"/>
            </a:endParaRPr>
          </a:p>
        </p:txBody>
      </p:sp>
      <p:sp>
        <p:nvSpPr>
          <p:cNvPr id="120" name="任意多边形: 形状 38"/>
          <p:cNvSpPr/>
          <p:nvPr>
            <p:custDataLst>
              <p:tags r:id="rId32"/>
            </p:custDataLst>
          </p:nvPr>
        </p:nvSpPr>
        <p:spPr>
          <a:xfrm>
            <a:off x="10946609" y="3403501"/>
            <a:ext cx="903894" cy="709410"/>
          </a:xfrm>
          <a:custGeom>
            <a:avLst/>
            <a:gdLst>
              <a:gd name="connsiteX0" fmla="*/ 38 w 4644"/>
              <a:gd name="connsiteY0" fmla="*/ 0 h 6065"/>
              <a:gd name="connsiteX1" fmla="*/ 736 w 4644"/>
              <a:gd name="connsiteY1" fmla="*/ 0 h 6065"/>
              <a:gd name="connsiteX2" fmla="*/ 2985 w 4644"/>
              <a:gd name="connsiteY2" fmla="*/ 0 h 6065"/>
              <a:gd name="connsiteX3" fmla="*/ 2996 w 4644"/>
              <a:gd name="connsiteY3" fmla="*/ 0 h 6065"/>
              <a:gd name="connsiteX4" fmla="*/ 3001 w 4644"/>
              <a:gd name="connsiteY4" fmla="*/ 0 h 6065"/>
              <a:gd name="connsiteX5" fmla="*/ 3001 w 4644"/>
              <a:gd name="connsiteY5" fmla="*/ 0 h 6065"/>
              <a:gd name="connsiteX6" fmla="*/ 3208 w 4644"/>
              <a:gd name="connsiteY6" fmla="*/ 21 h 6065"/>
              <a:gd name="connsiteX7" fmla="*/ 4048 w 4644"/>
              <a:gd name="connsiteY7" fmla="*/ 1052 h 6065"/>
              <a:gd name="connsiteX8" fmla="*/ 4002 w 4644"/>
              <a:gd name="connsiteY8" fmla="*/ 1348 h 6065"/>
              <a:gd name="connsiteX9" fmla="*/ 4002 w 4644"/>
              <a:gd name="connsiteY9" fmla="*/ 1348 h 6065"/>
              <a:gd name="connsiteX10" fmla="*/ 4048 w 4644"/>
              <a:gd name="connsiteY10" fmla="*/ 1052 h 6065"/>
              <a:gd name="connsiteX11" fmla="*/ 4048 w 4644"/>
              <a:gd name="connsiteY11" fmla="*/ 1446 h 6065"/>
              <a:gd name="connsiteX12" fmla="*/ 4050 w 4644"/>
              <a:gd name="connsiteY12" fmla="*/ 1451 h 6065"/>
              <a:gd name="connsiteX13" fmla="*/ 4050 w 4644"/>
              <a:gd name="connsiteY13" fmla="*/ 3364 h 6065"/>
              <a:gd name="connsiteX14" fmla="*/ 4187 w 4644"/>
              <a:gd name="connsiteY14" fmla="*/ 3501 h 6065"/>
              <a:gd name="connsiteX15" fmla="*/ 4508 w 4644"/>
              <a:gd name="connsiteY15" fmla="*/ 3501 h 6065"/>
              <a:gd name="connsiteX16" fmla="*/ 4634 w 4644"/>
              <a:gd name="connsiteY16" fmla="*/ 3583 h 6065"/>
              <a:gd name="connsiteX17" fmla="*/ 4609 w 4644"/>
              <a:gd name="connsiteY17" fmla="*/ 3732 h 6065"/>
              <a:gd name="connsiteX18" fmla="*/ 2499 w 4644"/>
              <a:gd name="connsiteY18" fmla="*/ 6022 h 6065"/>
              <a:gd name="connsiteX19" fmla="*/ 2396 w 4644"/>
              <a:gd name="connsiteY19" fmla="*/ 6065 h 6065"/>
              <a:gd name="connsiteX20" fmla="*/ 2294 w 4644"/>
              <a:gd name="connsiteY20" fmla="*/ 6022 h 6065"/>
              <a:gd name="connsiteX21" fmla="*/ 184 w 4644"/>
              <a:gd name="connsiteY21" fmla="*/ 3732 h 6065"/>
              <a:gd name="connsiteX22" fmla="*/ 159 w 4644"/>
              <a:gd name="connsiteY22" fmla="*/ 3583 h 6065"/>
              <a:gd name="connsiteX23" fmla="*/ 284 w 4644"/>
              <a:gd name="connsiteY23" fmla="*/ 3501 h 6065"/>
              <a:gd name="connsiteX24" fmla="*/ 606 w 4644"/>
              <a:gd name="connsiteY24" fmla="*/ 3501 h 6065"/>
              <a:gd name="connsiteX25" fmla="*/ 743 w 4644"/>
              <a:gd name="connsiteY25" fmla="*/ 3364 h 6065"/>
              <a:gd name="connsiteX26" fmla="*/ 732 w 4644"/>
              <a:gd name="connsiteY26" fmla="*/ 1264 h 6065"/>
              <a:gd name="connsiteX27" fmla="*/ 38 w 4644"/>
              <a:gd name="connsiteY27" fmla="*/ 0 h 6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644" h="6065">
                <a:moveTo>
                  <a:pt x="38" y="0"/>
                </a:moveTo>
                <a:cubicBezTo>
                  <a:pt x="-167" y="-1"/>
                  <a:pt x="503" y="0"/>
                  <a:pt x="736" y="0"/>
                </a:cubicBezTo>
                <a:lnTo>
                  <a:pt x="2985" y="0"/>
                </a:lnTo>
                <a:lnTo>
                  <a:pt x="2996" y="0"/>
                </a:lnTo>
                <a:lnTo>
                  <a:pt x="3001" y="0"/>
                </a:lnTo>
                <a:lnTo>
                  <a:pt x="3001" y="0"/>
                </a:lnTo>
                <a:lnTo>
                  <a:pt x="3208" y="21"/>
                </a:lnTo>
                <a:cubicBezTo>
                  <a:pt x="3687" y="119"/>
                  <a:pt x="4048" y="543"/>
                  <a:pt x="4048" y="1052"/>
                </a:cubicBezTo>
                <a:lnTo>
                  <a:pt x="4002" y="1348"/>
                </a:lnTo>
                <a:lnTo>
                  <a:pt x="4002" y="1348"/>
                </a:lnTo>
                <a:lnTo>
                  <a:pt x="4048" y="1052"/>
                </a:lnTo>
                <a:lnTo>
                  <a:pt x="4048" y="1446"/>
                </a:lnTo>
                <a:lnTo>
                  <a:pt x="4050" y="1451"/>
                </a:lnTo>
                <a:cubicBezTo>
                  <a:pt x="4050" y="1531"/>
                  <a:pt x="4050" y="3285"/>
                  <a:pt x="4050" y="3364"/>
                </a:cubicBezTo>
                <a:cubicBezTo>
                  <a:pt x="4050" y="3446"/>
                  <a:pt x="4107" y="3501"/>
                  <a:pt x="4187" y="3501"/>
                </a:cubicBezTo>
                <a:lnTo>
                  <a:pt x="4508" y="3501"/>
                </a:lnTo>
                <a:cubicBezTo>
                  <a:pt x="4559" y="3501"/>
                  <a:pt x="4613" y="3538"/>
                  <a:pt x="4634" y="3583"/>
                </a:cubicBezTo>
                <a:cubicBezTo>
                  <a:pt x="4654" y="3631"/>
                  <a:pt x="4643" y="3695"/>
                  <a:pt x="4609" y="3732"/>
                </a:cubicBezTo>
                <a:lnTo>
                  <a:pt x="2499" y="6022"/>
                </a:lnTo>
                <a:cubicBezTo>
                  <a:pt x="2472" y="6049"/>
                  <a:pt x="2435" y="6065"/>
                  <a:pt x="2396" y="6065"/>
                </a:cubicBezTo>
                <a:cubicBezTo>
                  <a:pt x="2358" y="6065"/>
                  <a:pt x="2321" y="6049"/>
                  <a:pt x="2294" y="6022"/>
                </a:cubicBezTo>
                <a:lnTo>
                  <a:pt x="184" y="3732"/>
                </a:lnTo>
                <a:cubicBezTo>
                  <a:pt x="150" y="3695"/>
                  <a:pt x="138" y="3631"/>
                  <a:pt x="159" y="3583"/>
                </a:cubicBezTo>
                <a:cubicBezTo>
                  <a:pt x="179" y="3538"/>
                  <a:pt x="234" y="3501"/>
                  <a:pt x="284" y="3501"/>
                </a:cubicBezTo>
                <a:lnTo>
                  <a:pt x="606" y="3501"/>
                </a:lnTo>
                <a:cubicBezTo>
                  <a:pt x="686" y="3501"/>
                  <a:pt x="743" y="3446"/>
                  <a:pt x="743" y="3364"/>
                </a:cubicBezTo>
                <a:cubicBezTo>
                  <a:pt x="748" y="3272"/>
                  <a:pt x="738" y="2373"/>
                  <a:pt x="732" y="1264"/>
                </a:cubicBezTo>
                <a:cubicBezTo>
                  <a:pt x="726" y="155"/>
                  <a:pt x="243" y="1"/>
                  <a:pt x="38" y="0"/>
                </a:cubicBezTo>
                <a:close/>
              </a:path>
            </a:pathLst>
          </a:custGeom>
          <a:gradFill flip="none" rotWithShape="1">
            <a:gsLst>
              <a:gs pos="0">
                <a:schemeClr val="accent1">
                  <a:lumMod val="40000"/>
                  <a:lumOff val="60000"/>
                  <a:alpha val="100000"/>
                </a:schemeClr>
              </a:gs>
              <a:gs pos="90000">
                <a:schemeClr val="accent1">
                  <a:alpha val="100000"/>
                </a:schemeClr>
              </a:gs>
            </a:gsLst>
            <a:lin ang="8100000" scaled="0"/>
            <a:tileRect/>
          </a:gradFill>
          <a:ln>
            <a:noFill/>
          </a:ln>
          <a:effectLst>
            <a:outerShdw blurRad="50800" dist="63500" dir="8100000" algn="tr" rotWithShape="0">
              <a:schemeClr val="accent1">
                <a:lumMod val="7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179705" tIns="71755" rIns="107950" bIns="288290" numCol="1" spcCol="0" rtlCol="0" fromWordArt="0" anchor="ctr" anchorCtr="0" forceAA="0" compatLnSpc="1">
            <a:normAutofit fontScale="8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fontAlgn="auto">
              <a:lnSpc>
                <a:spcPct val="120000"/>
              </a:lnSpc>
              <a:spcBef>
                <a:spcPct val="0"/>
              </a:spcBef>
              <a:spcAft>
                <a:spcPct val="0"/>
              </a:spcAft>
              <a:buClrTx/>
              <a:buSzTx/>
              <a:buFontTx/>
            </a:pPr>
            <a:r>
              <a:rPr lang="en-US" altLang="zh-CN" sz="2400" b="1">
                <a:solidFill>
                  <a:srgbClr val="FFFFFF"/>
                </a:solidFill>
                <a:latin typeface="Comic Sans MS" panose="030F0702030302020204" charset="0"/>
                <a:cs typeface="Comic Sans MS" panose="030F0702030302020204" charset="0"/>
                <a:sym typeface="+mn-ea"/>
              </a:rPr>
              <a:t>09</a:t>
            </a:r>
            <a:endParaRPr lang="en-US" altLang="zh-CN" sz="2400" b="1">
              <a:solidFill>
                <a:srgbClr val="FFFFFF"/>
              </a:solidFill>
              <a:latin typeface="Comic Sans MS" panose="030F0702030302020204" charset="0"/>
              <a:cs typeface="Comic Sans MS" panose="030F0702030302020204" charset="0"/>
              <a:sym typeface="+mn-ea"/>
            </a:endParaRPr>
          </a:p>
        </p:txBody>
      </p:sp>
      <p:sp>
        <p:nvSpPr>
          <p:cNvPr id="121" name="矩形 120"/>
          <p:cNvSpPr/>
          <p:nvPr>
            <p:custDataLst>
              <p:tags r:id="rId33"/>
            </p:custDataLst>
          </p:nvPr>
        </p:nvSpPr>
        <p:spPr>
          <a:xfrm>
            <a:off x="10871260" y="4200734"/>
            <a:ext cx="1210310" cy="187019"/>
          </a:xfrm>
          <a:prstGeom prst="rect">
            <a:avLst/>
          </a:prstGeom>
          <a:noFill/>
        </p:spPr>
        <p:txBody>
          <a:bodyPr wrap="square" lIns="0" tIns="0" rIns="0" bIns="0" rtlCol="0" anchor="b">
            <a:noAutofit/>
          </a:bodyPr>
          <a:lstStyle/>
          <a:p>
            <a:pPr algn="ctr" fontAlgn="auto">
              <a:lnSpc>
                <a:spcPct val="120000"/>
              </a:lnSpc>
              <a:spcBef>
                <a:spcPct val="0"/>
              </a:spcBef>
              <a:spcAft>
                <a:spcPct val="0"/>
              </a:spcAft>
            </a:pPr>
            <a:r>
              <a:rPr lang="zh-CN" altLang="en-US" sz="1200" b="1">
                <a:solidFill>
                  <a:schemeClr val="accent1"/>
                </a:solidFill>
                <a:latin typeface="Comic Sans MS" panose="030F0702030302020204" charset="0"/>
                <a:ea typeface="微软雅黑" panose="020B0503020204020204" charset="-122"/>
                <a:cs typeface="+mn-ea"/>
              </a:rPr>
              <a:t>企业安全管理</a:t>
            </a:r>
            <a:endParaRPr lang="zh-CN" altLang="en-US" sz="1200" b="1">
              <a:solidFill>
                <a:schemeClr val="accent1"/>
              </a:solidFill>
              <a:latin typeface="Comic Sans MS" panose="030F0702030302020204" charset="0"/>
              <a:ea typeface="微软雅黑" panose="020B0503020204020204" charset="-122"/>
              <a:cs typeface="+mn-ea"/>
            </a:endParaRPr>
          </a:p>
        </p:txBody>
      </p:sp>
      <p:sp>
        <p:nvSpPr>
          <p:cNvPr id="122" name="矩形 121"/>
          <p:cNvSpPr/>
          <p:nvPr>
            <p:custDataLst>
              <p:tags r:id="rId34"/>
            </p:custDataLst>
          </p:nvPr>
        </p:nvSpPr>
        <p:spPr>
          <a:xfrm>
            <a:off x="10958830" y="4479925"/>
            <a:ext cx="1122680" cy="1187450"/>
          </a:xfrm>
          <a:prstGeom prst="rect">
            <a:avLst/>
          </a:prstGeom>
          <a:noFill/>
        </p:spPr>
        <p:txBody>
          <a:bodyPr wrap="square" lIns="0" tIns="0" rIns="0" bIns="0" rtlCol="0" anchor="t" anchorCtr="0">
            <a:noAutofit/>
          </a:bodyPr>
          <a:lstStyle/>
          <a:p>
            <a:pPr marL="171450" indent="-171450" algn="l" fontAlgn="auto">
              <a:lnSpc>
                <a:spcPct val="120000"/>
              </a:lnSpc>
              <a:buClrTx/>
              <a:buSzTx/>
              <a:buFont typeface="Wingdings" panose="05000000000000000000" charset="0"/>
              <a:buChar char="Ø"/>
            </a:pPr>
            <a:r>
              <a:rPr lang="zh-CN" altLang="en-US" sz="1000" b="1" kern="0" dirty="0">
                <a:ln>
                  <a:noFill/>
                  <a:prstDash val="sysDot"/>
                </a:ln>
                <a:solidFill>
                  <a:srgbClr val="FF0000"/>
                </a:solidFill>
                <a:latin typeface="微软雅黑" panose="020B0503020204020204" charset="-122"/>
                <a:ea typeface="微软雅黑" panose="020B0503020204020204" charset="-122"/>
                <a:cs typeface="+mn-ea"/>
                <a:sym typeface="+mn-ea"/>
              </a:rPr>
              <a:t>特种作业人员未持证上岗</a:t>
            </a:r>
            <a:endParaRPr lang="zh-CN" altLang="en-US" sz="1000" b="1" kern="0" dirty="0">
              <a:ln>
                <a:noFill/>
                <a:prstDash val="sysDot"/>
              </a:ln>
              <a:solidFill>
                <a:schemeClr val="tx1">
                  <a:lumMod val="85000"/>
                  <a:lumOff val="15000"/>
                </a:schemeClr>
              </a:solidFill>
              <a:latin typeface="微软雅黑" panose="020B0503020204020204" charset="-122"/>
              <a:ea typeface="微软雅黑" panose="020B0503020204020204" charset="-122"/>
              <a:cs typeface="+mn-ea"/>
              <a:sym typeface="+mn-ea"/>
            </a:endParaRPr>
          </a:p>
          <a:p>
            <a:pPr marL="171450" indent="-171450" algn="l" fontAlgn="auto">
              <a:lnSpc>
                <a:spcPct val="120000"/>
              </a:lnSpc>
              <a:buClrTx/>
              <a:buSzTx/>
              <a:buFont typeface="Wingdings" panose="05000000000000000000" charset="0"/>
              <a:buChar char="Ø"/>
            </a:pPr>
            <a:r>
              <a:rPr lang="zh-CN" altLang="en-US" sz="1000" b="1" kern="0" dirty="0">
                <a:ln>
                  <a:noFill/>
                  <a:prstDash val="sysDot"/>
                </a:ln>
                <a:solidFill>
                  <a:srgbClr val="FF0000"/>
                </a:solidFill>
                <a:latin typeface="微软雅黑" panose="020B0503020204020204" charset="-122"/>
                <a:ea typeface="微软雅黑" panose="020B0503020204020204" charset="-122"/>
                <a:cs typeface="+mn-ea"/>
                <a:sym typeface="+mn-ea"/>
              </a:rPr>
              <a:t>安全设施未与主体工程“三同时”</a:t>
            </a:r>
            <a:endParaRPr lang="zh-CN" altLang="en-US" sz="1000" b="1" kern="0" dirty="0">
              <a:ln>
                <a:noFill/>
                <a:prstDash val="sysDot"/>
              </a:ln>
              <a:solidFill>
                <a:srgbClr val="FF0000"/>
              </a:solidFill>
              <a:latin typeface="微软雅黑" panose="020B0503020204020204" charset="-122"/>
              <a:ea typeface="微软雅黑" panose="020B0503020204020204" charset="-122"/>
              <a:cs typeface="+mn-ea"/>
              <a:sym typeface="+mn-ea"/>
            </a:endParaRPr>
          </a:p>
          <a:p>
            <a:pPr marL="171450" indent="-171450" algn="l" fontAlgn="auto">
              <a:lnSpc>
                <a:spcPct val="120000"/>
              </a:lnSpc>
              <a:buClrTx/>
              <a:buSzTx/>
              <a:buFont typeface="Wingdings" panose="05000000000000000000" charset="0"/>
              <a:buChar char="Ø"/>
            </a:pPr>
            <a:r>
              <a:rPr lang="zh-CN" altLang="en-US" sz="1000" b="1" kern="0" dirty="0">
                <a:ln>
                  <a:noFill/>
                  <a:prstDash val="sysDot"/>
                </a:ln>
                <a:solidFill>
                  <a:schemeClr val="tx1"/>
                </a:solidFill>
                <a:latin typeface="微软雅黑" panose="020B0503020204020204" charset="-122"/>
                <a:ea typeface="微软雅黑" panose="020B0503020204020204" charset="-122"/>
                <a:cs typeface="+mn-ea"/>
                <a:sym typeface="+mn-ea"/>
              </a:rPr>
              <a:t>生产安全事故</a:t>
            </a:r>
            <a:r>
              <a:rPr lang="zh-CN" altLang="en-US" sz="1000" b="1" kern="0" dirty="0">
                <a:ln>
                  <a:noFill/>
                  <a:prstDash val="sysDot"/>
                </a:ln>
                <a:solidFill>
                  <a:srgbClr val="FF0000"/>
                </a:solidFill>
                <a:latin typeface="微软雅黑" panose="020B0503020204020204" charset="-122"/>
                <a:ea typeface="微软雅黑" panose="020B0503020204020204" charset="-122"/>
                <a:cs typeface="+mn-ea"/>
                <a:sym typeface="+mn-ea"/>
              </a:rPr>
              <a:t>应急预案未制定或并定期演练</a:t>
            </a:r>
            <a:endParaRPr lang="zh-CN" altLang="en-US" sz="1000" b="1" kern="0" dirty="0">
              <a:ln>
                <a:noFill/>
                <a:prstDash val="sysDot"/>
              </a:ln>
              <a:solidFill>
                <a:srgbClr val="FF0000"/>
              </a:solidFill>
              <a:latin typeface="微软雅黑" panose="020B0503020204020204" charset="-122"/>
              <a:ea typeface="微软雅黑" panose="020B0503020204020204" charset="-122"/>
              <a:cs typeface="+mn-ea"/>
              <a:sym typeface="+mn-ea"/>
            </a:endParaRPr>
          </a:p>
        </p:txBody>
      </p:sp>
      <p:sp>
        <p:nvSpPr>
          <p:cNvPr id="123" name="矩形 122"/>
          <p:cNvSpPr/>
          <p:nvPr>
            <p:custDataLst>
              <p:tags r:id="rId35"/>
            </p:custDataLst>
          </p:nvPr>
        </p:nvSpPr>
        <p:spPr>
          <a:xfrm>
            <a:off x="9669840" y="4461871"/>
            <a:ext cx="1122045" cy="774413"/>
          </a:xfrm>
          <a:prstGeom prst="rect">
            <a:avLst/>
          </a:prstGeom>
          <a:noFill/>
        </p:spPr>
        <p:txBody>
          <a:bodyPr wrap="square" lIns="0" tIns="0" rIns="0" bIns="0" rtlCol="0" anchor="t" anchorCtr="0">
            <a:noAutofit/>
          </a:bodyPr>
          <a:lstStyle/>
          <a:p>
            <a:pPr marL="171450" indent="-171450" algn="l" fontAlgn="auto">
              <a:lnSpc>
                <a:spcPct val="120000"/>
              </a:lnSpc>
              <a:buClrTx/>
              <a:buSzTx/>
              <a:buFont typeface="Wingdings" panose="05000000000000000000" charset="0"/>
              <a:buChar char="Ø"/>
            </a:pPr>
            <a:r>
              <a:rPr lang="zh-CN" altLang="en-US" sz="1000" b="1" kern="0" dirty="0">
                <a:ln>
                  <a:noFill/>
                  <a:prstDash val="sysDot"/>
                </a:ln>
                <a:solidFill>
                  <a:schemeClr val="tx1">
                    <a:lumMod val="85000"/>
                    <a:lumOff val="15000"/>
                  </a:schemeClr>
                </a:solidFill>
                <a:latin typeface="微软雅黑" panose="020B0503020204020204" charset="-122"/>
                <a:ea typeface="微软雅黑" panose="020B0503020204020204" charset="-122"/>
                <a:cs typeface="+mn-ea"/>
                <a:sym typeface="+mn-ea"/>
              </a:rPr>
              <a:t>生产控制区与外网物理隔离</a:t>
            </a:r>
            <a:endParaRPr lang="zh-CN" altLang="en-US" sz="1000" b="1" kern="0" dirty="0">
              <a:ln>
                <a:noFill/>
                <a:prstDash val="sysDot"/>
              </a:ln>
              <a:solidFill>
                <a:schemeClr val="tx1">
                  <a:lumMod val="85000"/>
                  <a:lumOff val="15000"/>
                </a:schemeClr>
              </a:solidFill>
              <a:latin typeface="微软雅黑" panose="020B0503020204020204" charset="-122"/>
              <a:ea typeface="微软雅黑" panose="020B0503020204020204" charset="-122"/>
              <a:cs typeface="+mn-ea"/>
              <a:sym typeface="+mn-ea"/>
            </a:endParaRPr>
          </a:p>
          <a:p>
            <a:pPr marL="171450" indent="-171450" algn="l" fontAlgn="auto">
              <a:lnSpc>
                <a:spcPct val="120000"/>
              </a:lnSpc>
              <a:buClrTx/>
              <a:buSzTx/>
              <a:buFont typeface="Wingdings" panose="05000000000000000000" charset="0"/>
              <a:buChar char="Ø"/>
            </a:pPr>
            <a:r>
              <a:rPr lang="zh-CN" altLang="en-US" sz="1000" b="1" kern="0" dirty="0">
                <a:ln>
                  <a:noFill/>
                  <a:prstDash val="sysDot"/>
                </a:ln>
                <a:solidFill>
                  <a:schemeClr val="tx1">
                    <a:lumMod val="85000"/>
                    <a:lumOff val="15000"/>
                  </a:schemeClr>
                </a:solidFill>
                <a:latin typeface="微软雅黑" panose="020B0503020204020204" charset="-122"/>
                <a:ea typeface="微软雅黑" panose="020B0503020204020204" charset="-122"/>
                <a:cs typeface="+mn-ea"/>
                <a:sym typeface="+mn-ea"/>
              </a:rPr>
              <a:t>广域网通信加密认证</a:t>
            </a:r>
            <a:endParaRPr lang="zh-CN" altLang="en-US" sz="1000" b="1" kern="0" dirty="0">
              <a:ln>
                <a:noFill/>
                <a:prstDash val="sysDot"/>
              </a:ln>
              <a:solidFill>
                <a:schemeClr val="tx1">
                  <a:lumMod val="85000"/>
                  <a:lumOff val="15000"/>
                </a:schemeClr>
              </a:solidFill>
              <a:latin typeface="微软雅黑" panose="020B0503020204020204" charset="-122"/>
              <a:ea typeface="微软雅黑" panose="020B0503020204020204" charset="-122"/>
              <a:cs typeface="+mn-ea"/>
              <a:sym typeface="+mn-ea"/>
            </a:endParaRPr>
          </a:p>
          <a:p>
            <a:pPr marL="171450" indent="-171450" algn="l" fontAlgn="auto">
              <a:lnSpc>
                <a:spcPct val="120000"/>
              </a:lnSpc>
              <a:buClrTx/>
              <a:buSzTx/>
              <a:buFont typeface="Wingdings" panose="05000000000000000000" charset="0"/>
              <a:buChar char="Ø"/>
            </a:pPr>
            <a:r>
              <a:rPr lang="zh-CN" altLang="en-US" sz="1000" b="1" kern="0" dirty="0">
                <a:ln>
                  <a:noFill/>
                  <a:prstDash val="sysDot"/>
                </a:ln>
                <a:solidFill>
                  <a:schemeClr val="tx1">
                    <a:lumMod val="85000"/>
                    <a:lumOff val="15000"/>
                  </a:schemeClr>
                </a:solidFill>
                <a:latin typeface="微软雅黑" panose="020B0503020204020204" charset="-122"/>
                <a:ea typeface="微软雅黑" panose="020B0503020204020204" charset="-122"/>
                <a:cs typeface="+mn-ea"/>
                <a:sym typeface="+mn-ea"/>
              </a:rPr>
              <a:t>核心控制系统禁止直连外网</a:t>
            </a:r>
            <a:endParaRPr lang="zh-CN" altLang="en-US" sz="1000" b="1" kern="0" dirty="0">
              <a:ln>
                <a:noFill/>
                <a:prstDash val="sysDot"/>
              </a:ln>
              <a:solidFill>
                <a:schemeClr val="tx1">
                  <a:lumMod val="85000"/>
                  <a:lumOff val="15000"/>
                </a:schemeClr>
              </a:solidFill>
              <a:latin typeface="微软雅黑" panose="020B0503020204020204" charset="-122"/>
              <a:ea typeface="微软雅黑" panose="020B0503020204020204" charset="-122"/>
              <a:cs typeface="+mn-ea"/>
              <a:sym typeface="+mn-ea"/>
            </a:endParaRPr>
          </a:p>
        </p:txBody>
      </p:sp>
      <p:sp>
        <p:nvSpPr>
          <p:cNvPr id="124" name="矩形 123"/>
          <p:cNvSpPr/>
          <p:nvPr>
            <p:custDataLst>
              <p:tags r:id="rId36"/>
            </p:custDataLst>
          </p:nvPr>
        </p:nvSpPr>
        <p:spPr>
          <a:xfrm>
            <a:off x="9581575" y="4191192"/>
            <a:ext cx="1210310" cy="196180"/>
          </a:xfrm>
          <a:prstGeom prst="rect">
            <a:avLst/>
          </a:prstGeom>
          <a:noFill/>
        </p:spPr>
        <p:txBody>
          <a:bodyPr wrap="square" lIns="0" tIns="0" rIns="0" bIns="0" rtlCol="0" anchor="b">
            <a:noAutofit/>
          </a:bodyPr>
          <a:lstStyle/>
          <a:p>
            <a:pPr algn="ctr" fontAlgn="auto">
              <a:lnSpc>
                <a:spcPct val="120000"/>
              </a:lnSpc>
              <a:spcBef>
                <a:spcPct val="0"/>
              </a:spcBef>
              <a:spcAft>
                <a:spcPct val="0"/>
              </a:spcAft>
            </a:pPr>
            <a:r>
              <a:rPr lang="zh-CN" altLang="en-US" sz="1200" b="1">
                <a:solidFill>
                  <a:schemeClr val="accent2"/>
                </a:solidFill>
                <a:latin typeface="Comic Sans MS" panose="030F0702030302020204" charset="0"/>
                <a:ea typeface="微软雅黑" panose="020B0503020204020204" charset="-122"/>
                <a:cs typeface="+mn-ea"/>
              </a:rPr>
              <a:t>电力监控系统</a:t>
            </a:r>
            <a:endParaRPr lang="zh-CN" altLang="en-US" sz="1200" b="1">
              <a:solidFill>
                <a:schemeClr val="accent2"/>
              </a:solidFill>
              <a:latin typeface="Comic Sans MS" panose="030F0702030302020204" charset="0"/>
              <a:ea typeface="微软雅黑" panose="020B0503020204020204" charset="-122"/>
              <a:cs typeface="+mn-ea"/>
            </a:endParaRPr>
          </a:p>
        </p:txBody>
      </p:sp>
      <p:sp>
        <p:nvSpPr>
          <p:cNvPr id="125" name="任意多边形: 形状 36"/>
          <p:cNvSpPr/>
          <p:nvPr>
            <p:custDataLst>
              <p:tags r:id="rId37"/>
            </p:custDataLst>
          </p:nvPr>
        </p:nvSpPr>
        <p:spPr>
          <a:xfrm>
            <a:off x="9661781" y="3403785"/>
            <a:ext cx="282999" cy="146774"/>
          </a:xfrm>
          <a:custGeom>
            <a:avLst/>
            <a:gdLst>
              <a:gd name="connsiteX0" fmla="*/ 205979 w 411958"/>
              <a:gd name="connsiteY0" fmla="*/ 0 h 346834"/>
              <a:gd name="connsiteX1" fmla="*/ 411958 w 411958"/>
              <a:gd name="connsiteY1" fmla="*/ 296466 h 346834"/>
              <a:gd name="connsiteX2" fmla="*/ 408430 w 411958"/>
              <a:gd name="connsiteY2" fmla="*/ 346834 h 346834"/>
              <a:gd name="connsiteX3" fmla="*/ 3528 w 411958"/>
              <a:gd name="connsiteY3" fmla="*/ 346834 h 346834"/>
              <a:gd name="connsiteX4" fmla="*/ 0 w 411958"/>
              <a:gd name="connsiteY4" fmla="*/ 296466 h 346834"/>
              <a:gd name="connsiteX5" fmla="*/ 205979 w 411958"/>
              <a:gd name="connsiteY5" fmla="*/ 0 h 346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1958" h="346834">
                <a:moveTo>
                  <a:pt x="205979" y="0"/>
                </a:moveTo>
                <a:cubicBezTo>
                  <a:pt x="319738" y="0"/>
                  <a:pt x="411958" y="132732"/>
                  <a:pt x="411958" y="296466"/>
                </a:cubicBezTo>
                <a:lnTo>
                  <a:pt x="408430" y="346834"/>
                </a:lnTo>
                <a:lnTo>
                  <a:pt x="3528" y="346834"/>
                </a:lnTo>
                <a:lnTo>
                  <a:pt x="0" y="296466"/>
                </a:lnTo>
                <a:cubicBezTo>
                  <a:pt x="0" y="132732"/>
                  <a:pt x="92220" y="0"/>
                  <a:pt x="205979" y="0"/>
                </a:cubicBezTo>
                <a:close/>
              </a:path>
            </a:pathLst>
          </a:custGeom>
          <a:solidFill>
            <a:schemeClr val="accent2"/>
          </a:solidFill>
          <a:ln>
            <a:noFill/>
          </a:ln>
          <a:effectLst>
            <a:outerShdw blurRad="50800" dist="63500" dir="8100000" algn="tr" rotWithShape="0">
              <a:schemeClr val="accent2">
                <a:lumMod val="75000"/>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lnSpc>
                <a:spcPct val="120000"/>
              </a:lnSpc>
            </a:pPr>
            <a:endParaRPr lang="zh-CN" altLang="en-US">
              <a:solidFill>
                <a:schemeClr val="lt1"/>
              </a:solidFill>
              <a:latin typeface="Comic Sans MS" panose="030F0702030302020204" charset="0"/>
              <a:cs typeface="Comic Sans MS" panose="030F0702030302020204" charset="0"/>
            </a:endParaRPr>
          </a:p>
        </p:txBody>
      </p:sp>
      <p:sp>
        <p:nvSpPr>
          <p:cNvPr id="126" name="任意多边形: 形状 38"/>
          <p:cNvSpPr/>
          <p:nvPr>
            <p:custDataLst>
              <p:tags r:id="rId38"/>
            </p:custDataLst>
          </p:nvPr>
        </p:nvSpPr>
        <p:spPr>
          <a:xfrm>
            <a:off x="9794289" y="3403501"/>
            <a:ext cx="903894" cy="709410"/>
          </a:xfrm>
          <a:custGeom>
            <a:avLst/>
            <a:gdLst>
              <a:gd name="connsiteX0" fmla="*/ 38 w 4644"/>
              <a:gd name="connsiteY0" fmla="*/ 0 h 6065"/>
              <a:gd name="connsiteX1" fmla="*/ 736 w 4644"/>
              <a:gd name="connsiteY1" fmla="*/ 0 h 6065"/>
              <a:gd name="connsiteX2" fmla="*/ 2985 w 4644"/>
              <a:gd name="connsiteY2" fmla="*/ 0 h 6065"/>
              <a:gd name="connsiteX3" fmla="*/ 2996 w 4644"/>
              <a:gd name="connsiteY3" fmla="*/ 0 h 6065"/>
              <a:gd name="connsiteX4" fmla="*/ 3001 w 4644"/>
              <a:gd name="connsiteY4" fmla="*/ 0 h 6065"/>
              <a:gd name="connsiteX5" fmla="*/ 3001 w 4644"/>
              <a:gd name="connsiteY5" fmla="*/ 0 h 6065"/>
              <a:gd name="connsiteX6" fmla="*/ 3208 w 4644"/>
              <a:gd name="connsiteY6" fmla="*/ 21 h 6065"/>
              <a:gd name="connsiteX7" fmla="*/ 4048 w 4644"/>
              <a:gd name="connsiteY7" fmla="*/ 1052 h 6065"/>
              <a:gd name="connsiteX8" fmla="*/ 4002 w 4644"/>
              <a:gd name="connsiteY8" fmla="*/ 1348 h 6065"/>
              <a:gd name="connsiteX9" fmla="*/ 4002 w 4644"/>
              <a:gd name="connsiteY9" fmla="*/ 1348 h 6065"/>
              <a:gd name="connsiteX10" fmla="*/ 4048 w 4644"/>
              <a:gd name="connsiteY10" fmla="*/ 1052 h 6065"/>
              <a:gd name="connsiteX11" fmla="*/ 4048 w 4644"/>
              <a:gd name="connsiteY11" fmla="*/ 1446 h 6065"/>
              <a:gd name="connsiteX12" fmla="*/ 4050 w 4644"/>
              <a:gd name="connsiteY12" fmla="*/ 1451 h 6065"/>
              <a:gd name="connsiteX13" fmla="*/ 4050 w 4644"/>
              <a:gd name="connsiteY13" fmla="*/ 3364 h 6065"/>
              <a:gd name="connsiteX14" fmla="*/ 4187 w 4644"/>
              <a:gd name="connsiteY14" fmla="*/ 3501 h 6065"/>
              <a:gd name="connsiteX15" fmla="*/ 4508 w 4644"/>
              <a:gd name="connsiteY15" fmla="*/ 3501 h 6065"/>
              <a:gd name="connsiteX16" fmla="*/ 4634 w 4644"/>
              <a:gd name="connsiteY16" fmla="*/ 3583 h 6065"/>
              <a:gd name="connsiteX17" fmla="*/ 4609 w 4644"/>
              <a:gd name="connsiteY17" fmla="*/ 3732 h 6065"/>
              <a:gd name="connsiteX18" fmla="*/ 2499 w 4644"/>
              <a:gd name="connsiteY18" fmla="*/ 6022 h 6065"/>
              <a:gd name="connsiteX19" fmla="*/ 2396 w 4644"/>
              <a:gd name="connsiteY19" fmla="*/ 6065 h 6065"/>
              <a:gd name="connsiteX20" fmla="*/ 2294 w 4644"/>
              <a:gd name="connsiteY20" fmla="*/ 6022 h 6065"/>
              <a:gd name="connsiteX21" fmla="*/ 184 w 4644"/>
              <a:gd name="connsiteY21" fmla="*/ 3732 h 6065"/>
              <a:gd name="connsiteX22" fmla="*/ 159 w 4644"/>
              <a:gd name="connsiteY22" fmla="*/ 3583 h 6065"/>
              <a:gd name="connsiteX23" fmla="*/ 284 w 4644"/>
              <a:gd name="connsiteY23" fmla="*/ 3501 h 6065"/>
              <a:gd name="connsiteX24" fmla="*/ 606 w 4644"/>
              <a:gd name="connsiteY24" fmla="*/ 3501 h 6065"/>
              <a:gd name="connsiteX25" fmla="*/ 743 w 4644"/>
              <a:gd name="connsiteY25" fmla="*/ 3364 h 6065"/>
              <a:gd name="connsiteX26" fmla="*/ 732 w 4644"/>
              <a:gd name="connsiteY26" fmla="*/ 1264 h 6065"/>
              <a:gd name="connsiteX27" fmla="*/ 38 w 4644"/>
              <a:gd name="connsiteY27" fmla="*/ 0 h 6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644" h="6065">
                <a:moveTo>
                  <a:pt x="38" y="0"/>
                </a:moveTo>
                <a:cubicBezTo>
                  <a:pt x="-167" y="-1"/>
                  <a:pt x="503" y="0"/>
                  <a:pt x="736" y="0"/>
                </a:cubicBezTo>
                <a:lnTo>
                  <a:pt x="2985" y="0"/>
                </a:lnTo>
                <a:lnTo>
                  <a:pt x="2996" y="0"/>
                </a:lnTo>
                <a:lnTo>
                  <a:pt x="3001" y="0"/>
                </a:lnTo>
                <a:lnTo>
                  <a:pt x="3001" y="0"/>
                </a:lnTo>
                <a:lnTo>
                  <a:pt x="3208" y="21"/>
                </a:lnTo>
                <a:cubicBezTo>
                  <a:pt x="3687" y="119"/>
                  <a:pt x="4048" y="543"/>
                  <a:pt x="4048" y="1052"/>
                </a:cubicBezTo>
                <a:lnTo>
                  <a:pt x="4002" y="1348"/>
                </a:lnTo>
                <a:lnTo>
                  <a:pt x="4002" y="1348"/>
                </a:lnTo>
                <a:lnTo>
                  <a:pt x="4048" y="1052"/>
                </a:lnTo>
                <a:lnTo>
                  <a:pt x="4048" y="1446"/>
                </a:lnTo>
                <a:lnTo>
                  <a:pt x="4050" y="1451"/>
                </a:lnTo>
                <a:cubicBezTo>
                  <a:pt x="4050" y="1531"/>
                  <a:pt x="4050" y="3285"/>
                  <a:pt x="4050" y="3364"/>
                </a:cubicBezTo>
                <a:cubicBezTo>
                  <a:pt x="4050" y="3446"/>
                  <a:pt x="4107" y="3501"/>
                  <a:pt x="4187" y="3501"/>
                </a:cubicBezTo>
                <a:lnTo>
                  <a:pt x="4508" y="3501"/>
                </a:lnTo>
                <a:cubicBezTo>
                  <a:pt x="4559" y="3501"/>
                  <a:pt x="4613" y="3538"/>
                  <a:pt x="4634" y="3583"/>
                </a:cubicBezTo>
                <a:cubicBezTo>
                  <a:pt x="4654" y="3631"/>
                  <a:pt x="4643" y="3695"/>
                  <a:pt x="4609" y="3732"/>
                </a:cubicBezTo>
                <a:lnTo>
                  <a:pt x="2499" y="6022"/>
                </a:lnTo>
                <a:cubicBezTo>
                  <a:pt x="2472" y="6049"/>
                  <a:pt x="2435" y="6065"/>
                  <a:pt x="2396" y="6065"/>
                </a:cubicBezTo>
                <a:cubicBezTo>
                  <a:pt x="2358" y="6065"/>
                  <a:pt x="2321" y="6049"/>
                  <a:pt x="2294" y="6022"/>
                </a:cubicBezTo>
                <a:lnTo>
                  <a:pt x="184" y="3732"/>
                </a:lnTo>
                <a:cubicBezTo>
                  <a:pt x="150" y="3695"/>
                  <a:pt x="138" y="3631"/>
                  <a:pt x="159" y="3583"/>
                </a:cubicBezTo>
                <a:cubicBezTo>
                  <a:pt x="179" y="3538"/>
                  <a:pt x="234" y="3501"/>
                  <a:pt x="284" y="3501"/>
                </a:cubicBezTo>
                <a:lnTo>
                  <a:pt x="606" y="3501"/>
                </a:lnTo>
                <a:cubicBezTo>
                  <a:pt x="686" y="3501"/>
                  <a:pt x="743" y="3446"/>
                  <a:pt x="743" y="3364"/>
                </a:cubicBezTo>
                <a:cubicBezTo>
                  <a:pt x="748" y="3272"/>
                  <a:pt x="738" y="2373"/>
                  <a:pt x="732" y="1264"/>
                </a:cubicBezTo>
                <a:cubicBezTo>
                  <a:pt x="726" y="155"/>
                  <a:pt x="243" y="1"/>
                  <a:pt x="38" y="0"/>
                </a:cubicBezTo>
                <a:close/>
              </a:path>
            </a:pathLst>
          </a:custGeom>
          <a:gradFill flip="none" rotWithShape="1">
            <a:gsLst>
              <a:gs pos="0">
                <a:schemeClr val="accent2">
                  <a:lumMod val="40000"/>
                  <a:lumOff val="60000"/>
                  <a:alpha val="100000"/>
                </a:schemeClr>
              </a:gs>
              <a:gs pos="90000">
                <a:schemeClr val="accent2">
                  <a:alpha val="100000"/>
                </a:schemeClr>
              </a:gs>
            </a:gsLst>
            <a:lin ang="8100000" scaled="0"/>
            <a:tileRect/>
          </a:gradFill>
          <a:ln>
            <a:noFill/>
          </a:ln>
          <a:effectLst>
            <a:outerShdw blurRad="50800" dist="63500" dir="8100000" algn="tr" rotWithShape="0">
              <a:schemeClr val="accent2">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179705" tIns="71755" rIns="107950" bIns="288290" numCol="1" spcCol="0" rtlCol="0" fromWordArt="0" anchor="ctr" anchorCtr="0" forceAA="0" compatLnSpc="1">
            <a:normAutofit fontScale="8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fontAlgn="auto">
              <a:lnSpc>
                <a:spcPct val="120000"/>
              </a:lnSpc>
              <a:spcBef>
                <a:spcPct val="0"/>
              </a:spcBef>
              <a:spcAft>
                <a:spcPct val="0"/>
              </a:spcAft>
              <a:buClrTx/>
              <a:buSzTx/>
              <a:buFontTx/>
            </a:pPr>
            <a:r>
              <a:rPr lang="en-US" altLang="zh-CN" sz="2400" b="1">
                <a:solidFill>
                  <a:srgbClr val="FFFFFF"/>
                </a:solidFill>
                <a:latin typeface="Comic Sans MS" panose="030F0702030302020204" charset="0"/>
                <a:cs typeface="Comic Sans MS" panose="030F0702030302020204" charset="0"/>
                <a:sym typeface="+mn-ea"/>
              </a:rPr>
              <a:t>08</a:t>
            </a:r>
            <a:endParaRPr lang="en-US" altLang="zh-CN" sz="2400" b="1">
              <a:solidFill>
                <a:srgbClr val="FFFFFF"/>
              </a:solidFill>
              <a:latin typeface="Comic Sans MS" panose="030F0702030302020204" charset="0"/>
              <a:cs typeface="Comic Sans MS" panose="030F0702030302020204" charset="0"/>
              <a:sym typeface="+mn-ea"/>
            </a:endParaRPr>
          </a:p>
        </p:txBody>
      </p:sp>
      <p:sp>
        <p:nvSpPr>
          <p:cNvPr id="127" name="TextBox 1"/>
          <p:cNvSpPr txBox="1"/>
          <p:nvPr/>
        </p:nvSpPr>
        <p:spPr>
          <a:xfrm>
            <a:off x="0" y="5978525"/>
            <a:ext cx="12192635" cy="588645"/>
          </a:xfrm>
          <a:prstGeom prst="rect">
            <a:avLst/>
          </a:prstGeom>
          <a:solidFill>
            <a:schemeClr val="accent2">
              <a:lumMod val="20000"/>
              <a:lumOff val="80000"/>
              <a:alpha val="44000"/>
            </a:schemeClr>
          </a:solidFill>
          <a:ln w="12700" cmpd="sng">
            <a:noFill/>
            <a:prstDash val="sysDash"/>
          </a:ln>
        </p:spPr>
        <p:txBody>
          <a:bodyPr wrap="square" rtlCol="0" anchor="ctr" anchorCtr="0">
            <a:noAutofit/>
          </a:bodyPr>
          <a:p>
            <a:pPr marL="0" lvl="1" indent="393700" fontAlgn="auto">
              <a:lnSpc>
                <a:spcPts val="1980"/>
              </a:lnSpc>
            </a:pPr>
            <a:r>
              <a:rPr lang="zh-CN" altLang="en-US" sz="1600" b="1" kern="0" spc="-50" dirty="0">
                <a:solidFill>
                  <a:srgbClr val="FF0000"/>
                </a:solidFill>
                <a:uFillTx/>
                <a:latin typeface="微软雅黑" panose="020B0503020204020204" charset="-122"/>
                <a:ea typeface="微软雅黑" panose="020B0503020204020204" charset="-122"/>
                <a:cs typeface="微软雅黑" panose="020B0503020204020204" charset="-122"/>
                <a:sym typeface="+mn-ea"/>
              </a:rPr>
              <a:t>特别提醒：</a:t>
            </a:r>
            <a:r>
              <a:rPr lang="zh-CN" altLang="en-US" sz="1400" b="1" kern="0" spc="-50" dirty="0">
                <a:solidFill>
                  <a:schemeClr val="tx1"/>
                </a:solidFill>
                <a:latin typeface="微软雅黑" panose="020B0503020204020204" charset="-122"/>
                <a:ea typeface="微软雅黑" panose="020B0503020204020204" charset="-122"/>
                <a:cs typeface="微软雅黑" panose="020B0503020204020204" charset="-122"/>
                <a:sym typeface="+mn-ea"/>
              </a:rPr>
              <a:t>超危大工程施工方案未按规定编审批，违法转分包，违规压缩工期，特种作业无证上岗，动火、起重吊装、临时用电、有限空间、临电近电</a:t>
            </a:r>
            <a:r>
              <a:rPr lang="zh-CN" altLang="en-US" sz="1400" b="1" kern="0" spc="-50" dirty="0">
                <a:solidFill>
                  <a:schemeClr val="tx1"/>
                </a:solidFill>
                <a:latin typeface="微软雅黑" panose="020B0503020204020204" charset="-122"/>
                <a:ea typeface="微软雅黑" panose="020B0503020204020204" charset="-122"/>
                <a:cs typeface="微软雅黑" panose="020B0503020204020204" charset="-122"/>
                <a:sym typeface="+mn-ea"/>
              </a:rPr>
              <a:t>等危险作业无审批或无专人现场管理</a:t>
            </a:r>
            <a:r>
              <a:rPr lang="zh-CN" altLang="en-US" sz="1400" b="1" kern="0" spc="-50" dirty="0">
                <a:solidFill>
                  <a:schemeClr val="tx1"/>
                </a:solidFill>
                <a:uFillTx/>
                <a:latin typeface="微软雅黑" panose="020B0503020204020204" charset="-122"/>
                <a:ea typeface="微软雅黑" panose="020B0503020204020204" charset="-122"/>
                <a:cs typeface="微软雅黑" panose="020B0503020204020204" charset="-122"/>
                <a:sym typeface="+mn-ea"/>
              </a:rPr>
              <a:t>等问</a:t>
            </a:r>
            <a:r>
              <a:rPr lang="zh-CN" altLang="en-US" sz="1400" b="1" kern="0" spc="-50" dirty="0">
                <a:solidFill>
                  <a:schemeClr val="tx1"/>
                </a:solidFill>
                <a:latin typeface="微软雅黑" panose="020B0503020204020204" charset="-122"/>
                <a:ea typeface="微软雅黑" panose="020B0503020204020204" charset="-122"/>
                <a:cs typeface="微软雅黑" panose="020B0503020204020204" charset="-122"/>
                <a:sym typeface="+mn-ea"/>
              </a:rPr>
              <a:t>题，已</a:t>
            </a:r>
            <a:r>
              <a:rPr lang="zh-CN" altLang="en-US" sz="1400" b="1" kern="0" spc="-50" dirty="0">
                <a:solidFill>
                  <a:schemeClr val="tx1"/>
                </a:solidFill>
                <a:uFillTx/>
                <a:latin typeface="微软雅黑" panose="020B0503020204020204" charset="-122"/>
                <a:ea typeface="微软雅黑" panose="020B0503020204020204" charset="-122"/>
                <a:cs typeface="微软雅黑" panose="020B0503020204020204" charset="-122"/>
                <a:sym typeface="+mn-ea"/>
              </a:rPr>
              <a:t>定性为重大事故隐患。</a:t>
            </a:r>
            <a:endParaRPr lang="zh-CN" altLang="en-US" sz="1400" b="1" kern="0" spc="-50" dirty="0">
              <a:solidFill>
                <a:schemeClr val="tx1"/>
              </a:solidFill>
              <a:uFillTx/>
              <a:latin typeface="微软雅黑" panose="020B0503020204020204" charset="-122"/>
              <a:ea typeface="微软雅黑" panose="020B0503020204020204" charset="-122"/>
              <a:cs typeface="微软雅黑" panose="020B0503020204020204" charset="-122"/>
              <a:sym typeface="+mn-ea"/>
            </a:endParaRPr>
          </a:p>
        </p:txBody>
      </p:sp>
      <p:sp>
        <p:nvSpPr>
          <p:cNvPr id="6" name="灯片编号占位符 5"/>
          <p:cNvSpPr>
            <a:spLocks noGrp="1"/>
          </p:cNvSpPr>
          <p:nvPr>
            <p:ph type="sldNum" sz="quarter" idx="4294967295"/>
          </p:nvPr>
        </p:nvSpPr>
        <p:spPr>
          <a:xfrm>
            <a:off x="9997440" y="6499860"/>
            <a:ext cx="2133600" cy="365125"/>
          </a:xfrm>
        </p:spPr>
        <p:txBody>
          <a:bodyPr/>
          <a:lstStyle/>
          <a:p>
            <a:fld id="{A10E9369-8E4E-4DE7-B129-F0280ABC27D7}" type="slidenum">
              <a:rPr lang="zh-CN" altLang="en-US" smtClean="0"/>
            </a:fld>
            <a:endParaRPr lang="zh-CN" altLang="en-US" dirty="0"/>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C:\Users\Administrator\Desktop\B15会议文件封面-11.png"/>
          <p:cNvPicPr>
            <a:picLocks noChangeAspect="1" noChangeArrowheads="1"/>
          </p:cNvPicPr>
          <p:nvPr/>
        </p:nvPicPr>
        <p:blipFill>
          <a:blip r:embed="rId1" cstate="print">
            <a:extLst>
              <a:ext uri="{28A0092B-C50C-407E-A947-70E740481C1C}">
                <a14:useLocalDpi xmlns:a14="http://schemas.microsoft.com/office/drawing/2010/main" val="0"/>
              </a:ext>
            </a:extLst>
          </a:blip>
          <a:srcRect l="2368" r="22060" b="77960"/>
          <a:stretch>
            <a:fillRect/>
          </a:stretch>
        </p:blipFill>
        <p:spPr bwMode="auto">
          <a:xfrm>
            <a:off x="8904312" y="87923"/>
            <a:ext cx="3096344" cy="676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8"/>
          <p:cNvSpPr txBox="1"/>
          <p:nvPr/>
        </p:nvSpPr>
        <p:spPr>
          <a:xfrm>
            <a:off x="168275" y="347345"/>
            <a:ext cx="6793865" cy="491490"/>
          </a:xfrm>
          <a:prstGeom prst="rect">
            <a:avLst/>
          </a:prstGeom>
          <a:noFill/>
        </p:spPr>
        <p:txBody>
          <a:bodyPr wrap="square" rtlCol="0">
            <a:spAutoFit/>
          </a:bodyPr>
          <a:p>
            <a:pPr algn="l">
              <a:buClrTx/>
              <a:buSzTx/>
              <a:buFont typeface="Wingdings" panose="05000000000000000000" charset="0"/>
              <a:buNone/>
            </a:pPr>
            <a:r>
              <a:rPr lang="zh-CN" sz="2600" b="1">
                <a:latin typeface="微软雅黑" panose="020B0503020204020204" charset="-122"/>
                <a:ea typeface="微软雅黑" panose="020B0503020204020204" charset="-122"/>
                <a:cs typeface="微软雅黑" panose="020B0503020204020204" charset="-122"/>
                <a:sym typeface="+mn-ea"/>
              </a:rPr>
              <a:t>一、国家发改委第41号令宣贯</a:t>
            </a:r>
            <a:endParaRPr sz="2600" b="1">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9" name="矩形 8"/>
          <p:cNvSpPr/>
          <p:nvPr/>
        </p:nvSpPr>
        <p:spPr>
          <a:xfrm>
            <a:off x="481330" y="1032510"/>
            <a:ext cx="6733540" cy="467360"/>
          </a:xfrm>
          <a:prstGeom prst="rect">
            <a:avLst/>
          </a:prstGeom>
          <a:gradFill>
            <a:gsLst>
              <a:gs pos="0">
                <a:schemeClr val="accent1">
                  <a:lumMod val="5000"/>
                  <a:lumOff val="95000"/>
                </a:schemeClr>
              </a:gs>
              <a:gs pos="40000">
                <a:schemeClr val="accent1">
                  <a:lumMod val="59000"/>
                  <a:lumOff val="41000"/>
                </a:schemeClr>
              </a:gs>
              <a:gs pos="72000">
                <a:schemeClr val="accent1">
                  <a:lumMod val="45000"/>
                  <a:lumOff val="55000"/>
                </a:schemeClr>
              </a:gs>
              <a:gs pos="100000">
                <a:schemeClr val="accent1">
                  <a:lumMod val="30000"/>
                  <a:lumOff val="70000"/>
                </a:schemeClr>
              </a:gs>
            </a:gsLst>
            <a:lin ang="108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indent="457200" algn="l" fontAlgn="auto"/>
            <a:r>
              <a:rPr lang="zh-CN" altLang="en-US" b="1">
                <a:solidFill>
                  <a:schemeClr val="tx1"/>
                </a:solidFill>
                <a:latin typeface="微软雅黑" panose="020B0503020204020204" charset="-122"/>
                <a:ea typeface="微软雅黑" panose="020B0503020204020204" charset="-122"/>
                <a:cs typeface="微软雅黑" panose="020B0503020204020204" charset="-122"/>
              </a:rPr>
              <a:t>第二章</a:t>
            </a:r>
            <a:r>
              <a:rPr lang="en-US" altLang="zh-CN" b="1">
                <a:solidFill>
                  <a:schemeClr val="tx1"/>
                </a:solidFill>
                <a:latin typeface="微软雅黑" panose="020B0503020204020204" charset="-122"/>
                <a:ea typeface="微软雅黑" panose="020B0503020204020204" charset="-122"/>
                <a:cs typeface="微软雅黑" panose="020B0503020204020204" charset="-122"/>
              </a:rPr>
              <a:t>  </a:t>
            </a:r>
            <a:r>
              <a:rPr lang="zh-CN" altLang="en-US" b="1">
                <a:solidFill>
                  <a:schemeClr val="tx1"/>
                </a:solidFill>
                <a:latin typeface="微软雅黑" panose="020B0503020204020204" charset="-122"/>
                <a:ea typeface="微软雅黑" panose="020B0503020204020204" charset="-122"/>
                <a:cs typeface="微软雅黑" panose="020B0503020204020204" charset="-122"/>
              </a:rPr>
              <a:t>重大隐患判定标准（</a:t>
            </a:r>
            <a:r>
              <a:rPr lang="en-US" altLang="zh-CN" b="1">
                <a:solidFill>
                  <a:schemeClr val="tx1"/>
                </a:solidFill>
                <a:latin typeface="微软雅黑" panose="020B0503020204020204" charset="-122"/>
                <a:ea typeface="微软雅黑" panose="020B0503020204020204" charset="-122"/>
                <a:cs typeface="微软雅黑" panose="020B0503020204020204" charset="-122"/>
              </a:rPr>
              <a:t>2/4</a:t>
            </a:r>
            <a:r>
              <a:rPr lang="zh-CN" altLang="en-US" b="1">
                <a:solidFill>
                  <a:schemeClr val="tx1"/>
                </a:solidFill>
                <a:latin typeface="微软雅黑" panose="020B0503020204020204" charset="-122"/>
                <a:ea typeface="微软雅黑" panose="020B0503020204020204" charset="-122"/>
                <a:cs typeface="微软雅黑" panose="020B0503020204020204" charset="-122"/>
              </a:rPr>
              <a:t>）</a:t>
            </a:r>
            <a:r>
              <a:rPr lang="en-US" altLang="zh-CN" b="1">
                <a:solidFill>
                  <a:schemeClr val="tx1"/>
                </a:solidFill>
                <a:latin typeface="微软雅黑" panose="020B0503020204020204" charset="-122"/>
                <a:ea typeface="微软雅黑" panose="020B0503020204020204" charset="-122"/>
                <a:cs typeface="微软雅黑" panose="020B0503020204020204" charset="-122"/>
              </a:rPr>
              <a:t>——</a:t>
            </a:r>
            <a:r>
              <a:rPr lang="zh-CN" altLang="en-US" b="1">
                <a:solidFill>
                  <a:schemeClr val="tx1"/>
                </a:solidFill>
                <a:latin typeface="微软雅黑" panose="020B0503020204020204" charset="-122"/>
                <a:ea typeface="微软雅黑" panose="020B0503020204020204" charset="-122"/>
                <a:cs typeface="微软雅黑" panose="020B0503020204020204" charset="-122"/>
              </a:rPr>
              <a:t>重点关注隐患情形</a:t>
            </a:r>
            <a:endParaRPr lang="zh-CN" altLang="en-US" b="1">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5" name="AutoShape 5"/>
          <p:cNvSpPr/>
          <p:nvPr>
            <p:custDataLst>
              <p:tags r:id="rId2"/>
            </p:custDataLst>
          </p:nvPr>
        </p:nvSpPr>
        <p:spPr>
          <a:xfrm>
            <a:off x="762000" y="1579880"/>
            <a:ext cx="10681335" cy="4959985"/>
          </a:xfrm>
          <a:prstGeom prst="roundRect">
            <a:avLst>
              <a:gd name="adj" fmla="val 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7" name="AutoShape 7"/>
          <p:cNvSpPr/>
          <p:nvPr>
            <p:custDataLst>
              <p:tags r:id="rId3"/>
            </p:custDataLst>
          </p:nvPr>
        </p:nvSpPr>
        <p:spPr>
          <a:xfrm>
            <a:off x="2794000" y="1629410"/>
            <a:ext cx="7829550" cy="451485"/>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1F2937"/>
                </a:solidFill>
                <a:latin typeface="微软雅黑" panose="020B0503020204020204" charset="-122"/>
                <a:ea typeface="微软雅黑" panose="020B0503020204020204" charset="-122"/>
                <a:cs typeface="微软雅黑" panose="020B0503020204020204" charset="-122"/>
                <a:sym typeface="Noto Sans SC" panose="020B0200000000000000" charset="-122"/>
              </a:rPr>
              <a:t>第</a:t>
            </a:r>
            <a:r>
              <a:rPr lang="zh-CN" altLang="en-US" sz="1800" b="1" i="0" u="none" strike="noStrike">
                <a:solidFill>
                  <a:srgbClr val="1F2937"/>
                </a:solidFill>
                <a:latin typeface="微软雅黑" panose="020B0503020204020204" charset="-122"/>
                <a:ea typeface="微软雅黑" panose="020B0503020204020204" charset="-122"/>
                <a:cs typeface="微软雅黑" panose="020B0503020204020204" charset="-122"/>
                <a:sym typeface="Noto Sans SC" panose="020B0200000000000000" charset="-122"/>
              </a:rPr>
              <a:t>十</a:t>
            </a:r>
            <a:r>
              <a:rPr lang="en-US" sz="1800" b="1" i="0" u="none" strike="noStrike">
                <a:solidFill>
                  <a:srgbClr val="1F2937"/>
                </a:solidFill>
                <a:latin typeface="微软雅黑" panose="020B0503020204020204" charset="-122"/>
                <a:ea typeface="微软雅黑" panose="020B0503020204020204" charset="-122"/>
                <a:cs typeface="微软雅黑" panose="020B0503020204020204" charset="-122"/>
                <a:sym typeface="Noto Sans SC" panose="020B0200000000000000" charset="-122"/>
              </a:rPr>
              <a:t>条：电力建设工程、电力检修项目</a:t>
            </a:r>
            <a:endParaRPr lang="zh-CN" altLang="en-US" sz="1800" b="1" i="0" u="none" strike="noStrike">
              <a:solidFill>
                <a:srgbClr val="1F2937"/>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4" name="文本框 3"/>
          <p:cNvSpPr txBox="1"/>
          <p:nvPr/>
        </p:nvSpPr>
        <p:spPr>
          <a:xfrm>
            <a:off x="2658110" y="2062480"/>
            <a:ext cx="8529955" cy="4378325"/>
          </a:xfrm>
          <a:prstGeom prst="rect">
            <a:avLst/>
          </a:prstGeom>
          <a:noFill/>
        </p:spPr>
        <p:txBody>
          <a:bodyPr wrap="square" rtlCol="0" anchor="ctr" anchorCtr="0">
            <a:noAutofit/>
          </a:bodyPr>
          <a:p>
            <a:pPr indent="0" fontAlgn="auto">
              <a:lnSpc>
                <a:spcPts val="2280"/>
              </a:lnSpc>
              <a:spcAft>
                <a:spcPts val="300"/>
              </a:spcAft>
            </a:pPr>
            <a:r>
              <a:rPr lang="zh-CN" altLang="en-US" sz="1400">
                <a:latin typeface="微软雅黑" panose="020B0503020204020204" charset="-122"/>
                <a:ea typeface="微软雅黑" panose="020B0503020204020204" charset="-122"/>
                <a:cs typeface="微软雅黑" panose="020B0503020204020204" charset="-122"/>
              </a:rPr>
              <a:t>（一）</a:t>
            </a:r>
            <a:r>
              <a:rPr lang="zh-CN" altLang="en-US" sz="1400" b="1">
                <a:solidFill>
                  <a:srgbClr val="C00000"/>
                </a:solidFill>
                <a:latin typeface="微软雅黑" panose="020B0503020204020204" charset="-122"/>
                <a:ea typeface="微软雅黑" panose="020B0503020204020204" charset="-122"/>
                <a:cs typeface="微软雅黑" panose="020B0503020204020204" charset="-122"/>
              </a:rPr>
              <a:t>未经论证</a:t>
            </a:r>
            <a:r>
              <a:rPr lang="zh-CN" altLang="en-US" sz="1400">
                <a:latin typeface="微软雅黑" panose="020B0503020204020204" charset="-122"/>
                <a:ea typeface="微软雅黑" panose="020B0503020204020204" charset="-122"/>
                <a:cs typeface="微软雅黑" panose="020B0503020204020204" charset="-122"/>
              </a:rPr>
              <a:t>的情况下</a:t>
            </a:r>
            <a:r>
              <a:rPr lang="zh-CN" altLang="en-US" sz="1400" b="1">
                <a:solidFill>
                  <a:srgbClr val="C00000"/>
                </a:solidFill>
                <a:latin typeface="微软雅黑" panose="020B0503020204020204" charset="-122"/>
                <a:ea typeface="微软雅黑" panose="020B0503020204020204" charset="-122"/>
                <a:cs typeface="微软雅黑" panose="020B0503020204020204" charset="-122"/>
              </a:rPr>
              <a:t>压缩合同约定工期</a:t>
            </a:r>
            <a:r>
              <a:rPr lang="zh-CN" altLang="en-US" sz="1400">
                <a:latin typeface="微软雅黑" panose="020B0503020204020204" charset="-122"/>
                <a:ea typeface="微软雅黑" panose="020B0503020204020204" charset="-122"/>
                <a:cs typeface="微软雅黑" panose="020B0503020204020204" charset="-122"/>
              </a:rPr>
              <a:t>，或论证后应采取的措施未落实</a:t>
            </a:r>
            <a:endParaRPr lang="zh-CN" altLang="en-US" sz="1400">
              <a:latin typeface="微软雅黑" panose="020B0503020204020204" charset="-122"/>
              <a:ea typeface="微软雅黑" panose="020B0503020204020204" charset="-122"/>
              <a:cs typeface="微软雅黑" panose="020B0503020204020204" charset="-122"/>
            </a:endParaRPr>
          </a:p>
          <a:p>
            <a:pPr indent="0" fontAlgn="auto">
              <a:lnSpc>
                <a:spcPts val="2280"/>
              </a:lnSpc>
              <a:spcAft>
                <a:spcPts val="300"/>
              </a:spcAft>
            </a:pPr>
            <a:r>
              <a:rPr lang="zh-CN" altLang="en-US" sz="1400">
                <a:latin typeface="微软雅黑" panose="020B0503020204020204" charset="-122"/>
                <a:ea typeface="微软雅黑" panose="020B0503020204020204" charset="-122"/>
                <a:cs typeface="微软雅黑" panose="020B0503020204020204" charset="-122"/>
              </a:rPr>
              <a:t>（二）电力建设工程、检修项目</a:t>
            </a:r>
            <a:r>
              <a:rPr lang="zh-CN" altLang="en-US" sz="1400" b="1">
                <a:solidFill>
                  <a:srgbClr val="C00000"/>
                </a:solidFill>
                <a:latin typeface="微软雅黑" panose="020B0503020204020204" charset="-122"/>
                <a:ea typeface="微软雅黑" panose="020B0503020204020204" charset="-122"/>
                <a:cs typeface="微软雅黑" panose="020B0503020204020204" charset="-122"/>
              </a:rPr>
              <a:t>发包给不具备安全生产条件或相应资质</a:t>
            </a:r>
            <a:r>
              <a:rPr lang="zh-CN" altLang="en-US" sz="1400">
                <a:latin typeface="微软雅黑" panose="020B0503020204020204" charset="-122"/>
                <a:ea typeface="微软雅黑" panose="020B0503020204020204" charset="-122"/>
                <a:cs typeface="微软雅黑" panose="020B0503020204020204" charset="-122"/>
              </a:rPr>
              <a:t>的企业或个人</a:t>
            </a:r>
            <a:endParaRPr lang="zh-CN" altLang="en-US" sz="1400">
              <a:latin typeface="微软雅黑" panose="020B0503020204020204" charset="-122"/>
              <a:ea typeface="微软雅黑" panose="020B0503020204020204" charset="-122"/>
              <a:cs typeface="微软雅黑" panose="020B0503020204020204" charset="-122"/>
            </a:endParaRPr>
          </a:p>
          <a:p>
            <a:pPr indent="0" fontAlgn="auto">
              <a:lnSpc>
                <a:spcPts val="2280"/>
              </a:lnSpc>
              <a:spcAft>
                <a:spcPts val="300"/>
              </a:spcAft>
            </a:pPr>
            <a:r>
              <a:rPr lang="zh-CN" altLang="en-US" sz="1400">
                <a:latin typeface="微软雅黑" panose="020B0503020204020204" charset="-122"/>
                <a:ea typeface="微软雅黑" panose="020B0503020204020204" charset="-122"/>
                <a:cs typeface="微软雅黑" panose="020B0503020204020204" charset="-122"/>
              </a:rPr>
              <a:t>（三）</a:t>
            </a:r>
            <a:r>
              <a:rPr lang="zh-CN" altLang="en-US" sz="1400" b="1">
                <a:solidFill>
                  <a:srgbClr val="C00000"/>
                </a:solidFill>
                <a:latin typeface="微软雅黑" panose="020B0503020204020204" charset="-122"/>
                <a:ea typeface="微软雅黑" panose="020B0503020204020204" charset="-122"/>
                <a:cs typeface="微软雅黑" panose="020B0503020204020204" charset="-122"/>
              </a:rPr>
              <a:t>无资质或超资质、超经营范围</a:t>
            </a:r>
            <a:r>
              <a:rPr lang="zh-CN" altLang="en-US" sz="1400">
                <a:latin typeface="微软雅黑" panose="020B0503020204020204" charset="-122"/>
                <a:ea typeface="微软雅黑" panose="020B0503020204020204" charset="-122"/>
                <a:cs typeface="微软雅黑" panose="020B0503020204020204" charset="-122"/>
              </a:rPr>
              <a:t>承揽电力建设工程、电力检修项目</a:t>
            </a:r>
            <a:endParaRPr lang="zh-CN" altLang="en-US" sz="1400">
              <a:latin typeface="微软雅黑" panose="020B0503020204020204" charset="-122"/>
              <a:ea typeface="微软雅黑" panose="020B0503020204020204" charset="-122"/>
              <a:cs typeface="微软雅黑" panose="020B0503020204020204" charset="-122"/>
            </a:endParaRPr>
          </a:p>
          <a:p>
            <a:pPr indent="0" fontAlgn="auto">
              <a:lnSpc>
                <a:spcPts val="2280"/>
              </a:lnSpc>
              <a:spcAft>
                <a:spcPts val="300"/>
              </a:spcAft>
            </a:pPr>
            <a:r>
              <a:rPr lang="zh-CN" altLang="en-US" sz="1400">
                <a:latin typeface="微软雅黑" panose="020B0503020204020204" charset="-122"/>
                <a:ea typeface="微软雅黑" panose="020B0503020204020204" charset="-122"/>
                <a:cs typeface="微软雅黑" panose="020B0503020204020204" charset="-122"/>
              </a:rPr>
              <a:t>（四）电力建设工程中超过一定规模的危险性较大的分部分项工程，其</a:t>
            </a:r>
            <a:r>
              <a:rPr lang="zh-CN" altLang="en-US" sz="1400" b="1">
                <a:solidFill>
                  <a:srgbClr val="C00000"/>
                </a:solidFill>
                <a:latin typeface="微软雅黑" panose="020B0503020204020204" charset="-122"/>
                <a:ea typeface="微软雅黑" panose="020B0503020204020204" charset="-122"/>
                <a:cs typeface="微软雅黑" panose="020B0503020204020204" charset="-122"/>
              </a:rPr>
              <a:t>专项施工方案未按规定开展编制、审核、批准、专家论证、技术交底</a:t>
            </a:r>
            <a:r>
              <a:rPr lang="zh-CN" altLang="en-US" sz="1400">
                <a:latin typeface="微软雅黑" panose="020B0503020204020204" charset="-122"/>
                <a:ea typeface="微软雅黑" panose="020B0503020204020204" charset="-122"/>
                <a:cs typeface="微软雅黑" panose="020B0503020204020204" charset="-122"/>
              </a:rPr>
              <a:t>，</a:t>
            </a:r>
            <a:r>
              <a:rPr lang="zh-CN" altLang="en-US" sz="1400" b="1">
                <a:latin typeface="微软雅黑" panose="020B0503020204020204" charset="-122"/>
                <a:ea typeface="微软雅黑" panose="020B0503020204020204" charset="-122"/>
                <a:cs typeface="微软雅黑" panose="020B0503020204020204" charset="-122"/>
              </a:rPr>
              <a:t>方案存在严重缺陷或方案规定的重要安全保障措施未落实</a:t>
            </a:r>
            <a:r>
              <a:rPr lang="zh-CN" altLang="en-US" sz="1400">
                <a:latin typeface="微软雅黑" panose="020B0503020204020204" charset="-122"/>
                <a:ea typeface="微软雅黑" panose="020B0503020204020204" charset="-122"/>
                <a:cs typeface="微软雅黑" panose="020B0503020204020204" charset="-122"/>
              </a:rPr>
              <a:t>，以及方案实施过程中，因自然条件、地质条件、周边环境或者施工工艺等安全生产条件发生重大变化，方案内容应当作出重大调整但未调整，或者调整后未履行审核、批准、专家论证、技术交底等管理程序</a:t>
            </a:r>
            <a:endParaRPr lang="zh-CN" altLang="en-US" sz="1400">
              <a:latin typeface="微软雅黑" panose="020B0503020204020204" charset="-122"/>
              <a:ea typeface="微软雅黑" panose="020B0503020204020204" charset="-122"/>
              <a:cs typeface="微软雅黑" panose="020B0503020204020204" charset="-122"/>
            </a:endParaRPr>
          </a:p>
          <a:p>
            <a:pPr indent="0" fontAlgn="auto">
              <a:lnSpc>
                <a:spcPts val="2280"/>
              </a:lnSpc>
              <a:spcAft>
                <a:spcPts val="300"/>
              </a:spcAft>
            </a:pPr>
            <a:r>
              <a:rPr lang="zh-CN" altLang="en-US" sz="1400">
                <a:latin typeface="微软雅黑" panose="020B0503020204020204" charset="-122"/>
                <a:ea typeface="微软雅黑" panose="020B0503020204020204" charset="-122"/>
                <a:cs typeface="微软雅黑" panose="020B0503020204020204" charset="-122"/>
              </a:rPr>
              <a:t>（五）施工单位或施工总承包单位对电力建设主体工程进行</a:t>
            </a:r>
            <a:r>
              <a:rPr lang="zh-CN" altLang="en-US" sz="1400" b="1">
                <a:solidFill>
                  <a:srgbClr val="C00000"/>
                </a:solidFill>
                <a:latin typeface="微软雅黑" panose="020B0503020204020204" charset="-122"/>
                <a:ea typeface="微软雅黑" panose="020B0503020204020204" charset="-122"/>
                <a:cs typeface="微软雅黑" panose="020B0503020204020204" charset="-122"/>
              </a:rPr>
              <a:t>转包或违法分包</a:t>
            </a:r>
            <a:endParaRPr lang="zh-CN" altLang="en-US" sz="1400">
              <a:latin typeface="微软雅黑" panose="020B0503020204020204" charset="-122"/>
              <a:ea typeface="微软雅黑" panose="020B0503020204020204" charset="-122"/>
              <a:cs typeface="微软雅黑" panose="020B0503020204020204" charset="-122"/>
            </a:endParaRPr>
          </a:p>
          <a:p>
            <a:pPr indent="0" fontAlgn="auto">
              <a:lnSpc>
                <a:spcPts val="2280"/>
              </a:lnSpc>
              <a:spcAft>
                <a:spcPts val="300"/>
              </a:spcAft>
            </a:pPr>
            <a:r>
              <a:rPr lang="zh-CN" altLang="en-US" sz="1400">
                <a:latin typeface="微软雅黑" panose="020B0503020204020204" charset="-122"/>
                <a:ea typeface="微软雅黑" panose="020B0503020204020204" charset="-122"/>
                <a:cs typeface="微软雅黑" panose="020B0503020204020204" charset="-122"/>
              </a:rPr>
              <a:t>（六）开展</a:t>
            </a:r>
            <a:r>
              <a:rPr lang="zh-CN" altLang="en-US" sz="1400" b="1">
                <a:latin typeface="微软雅黑" panose="020B0503020204020204" charset="-122"/>
                <a:ea typeface="微软雅黑" panose="020B0503020204020204" charset="-122"/>
                <a:cs typeface="微软雅黑" panose="020B0503020204020204" charset="-122"/>
              </a:rPr>
              <a:t>爆破、动火、高处、起重吊装、临时用电、有限空间、临近带电体等危险作业</a:t>
            </a:r>
            <a:r>
              <a:rPr lang="zh-CN" altLang="en-US" sz="1400" b="1">
                <a:solidFill>
                  <a:srgbClr val="C00000"/>
                </a:solidFill>
                <a:latin typeface="微软雅黑" panose="020B0503020204020204" charset="-122"/>
                <a:ea typeface="微软雅黑" panose="020B0503020204020204" charset="-122"/>
                <a:cs typeface="微软雅黑" panose="020B0503020204020204" charset="-122"/>
              </a:rPr>
              <a:t>未履行审批手续或未安排专门人员进行现场安全管理</a:t>
            </a:r>
            <a:endParaRPr lang="zh-CN" altLang="en-US" sz="1400">
              <a:latin typeface="微软雅黑" panose="020B0503020204020204" charset="-122"/>
              <a:ea typeface="微软雅黑" panose="020B0503020204020204" charset="-122"/>
              <a:cs typeface="微软雅黑" panose="020B0503020204020204" charset="-122"/>
            </a:endParaRPr>
          </a:p>
          <a:p>
            <a:pPr indent="0" fontAlgn="auto">
              <a:lnSpc>
                <a:spcPts val="2280"/>
              </a:lnSpc>
              <a:spcAft>
                <a:spcPts val="300"/>
              </a:spcAft>
            </a:pPr>
            <a:r>
              <a:rPr lang="zh-CN" altLang="en-US" sz="1400">
                <a:latin typeface="微软雅黑" panose="020B0503020204020204" charset="-122"/>
                <a:ea typeface="微软雅黑" panose="020B0503020204020204" charset="-122"/>
                <a:cs typeface="微软雅黑" panose="020B0503020204020204" charset="-122"/>
              </a:rPr>
              <a:t>（七）在人员密集或易燃易爆场所进行</a:t>
            </a:r>
            <a:r>
              <a:rPr lang="zh-CN" altLang="en-US" sz="1400" b="1">
                <a:solidFill>
                  <a:srgbClr val="C00000"/>
                </a:solidFill>
                <a:latin typeface="微软雅黑" panose="020B0503020204020204" charset="-122"/>
                <a:ea typeface="微软雅黑" panose="020B0503020204020204" charset="-122"/>
                <a:cs typeface="微软雅黑" panose="020B0503020204020204" charset="-122"/>
              </a:rPr>
              <a:t>动火作业，作业人员未取得相应特种作业资格</a:t>
            </a:r>
            <a:endParaRPr lang="zh-CN" altLang="en-US" sz="1400">
              <a:latin typeface="微软雅黑" panose="020B0503020204020204" charset="-122"/>
              <a:ea typeface="微软雅黑" panose="020B0503020204020204" charset="-122"/>
              <a:cs typeface="微软雅黑" panose="020B0503020204020204" charset="-122"/>
            </a:endParaRPr>
          </a:p>
          <a:p>
            <a:pPr indent="0" defTabSz="914400" fontAlgn="auto">
              <a:lnSpc>
                <a:spcPts val="2280"/>
              </a:lnSpc>
              <a:spcAft>
                <a:spcPts val="300"/>
              </a:spcAft>
              <a:tabLst>
                <a:tab pos="4208145" algn="l"/>
                <a:tab pos="4834890" algn="l"/>
              </a:tabLst>
            </a:pPr>
            <a:r>
              <a:rPr lang="zh-CN" altLang="en-US" sz="1400">
                <a:latin typeface="微软雅黑" panose="020B0503020204020204" charset="-122"/>
                <a:ea typeface="微软雅黑" panose="020B0503020204020204" charset="-122"/>
                <a:cs typeface="微软雅黑" panose="020B0503020204020204" charset="-122"/>
              </a:rPr>
              <a:t>（八）电力建设工程</a:t>
            </a:r>
            <a:r>
              <a:rPr lang="zh-CN" altLang="en-US" sz="1400" b="1">
                <a:latin typeface="微软雅黑" panose="020B0503020204020204" charset="-122"/>
                <a:ea typeface="微软雅黑" panose="020B0503020204020204" charset="-122"/>
                <a:cs typeface="微软雅黑" panose="020B0503020204020204" charset="-122"/>
              </a:rPr>
              <a:t>征地红线内</a:t>
            </a:r>
            <a:r>
              <a:rPr lang="zh-CN" altLang="en-US" sz="1400">
                <a:latin typeface="微软雅黑" panose="020B0503020204020204" charset="-122"/>
                <a:ea typeface="微软雅黑" panose="020B0503020204020204" charset="-122"/>
                <a:cs typeface="微软雅黑" panose="020B0503020204020204" charset="-122"/>
              </a:rPr>
              <a:t>的办公区和生活区，以及电力检修项目（含技改项目）的</a:t>
            </a:r>
            <a:r>
              <a:rPr lang="zh-CN" altLang="en-US" sz="1400" b="1">
                <a:latin typeface="微软雅黑" panose="020B0503020204020204" charset="-122"/>
                <a:ea typeface="微软雅黑" panose="020B0503020204020204" charset="-122"/>
                <a:cs typeface="微软雅黑" panose="020B0503020204020204" charset="-122"/>
              </a:rPr>
              <a:t>办公区和生活区设置在</a:t>
            </a:r>
            <a:r>
              <a:rPr lang="zh-CN" altLang="en-US" sz="1400" b="1">
                <a:solidFill>
                  <a:srgbClr val="C00000"/>
                </a:solidFill>
                <a:latin typeface="微软雅黑" panose="020B0503020204020204" charset="-122"/>
                <a:ea typeface="微软雅黑" panose="020B0503020204020204" charset="-122"/>
                <a:cs typeface="微软雅黑" panose="020B0503020204020204" charset="-122"/>
              </a:rPr>
              <a:t>滑坡、坍塌、山洪、泥石流、雪崩等自然灾害</a:t>
            </a:r>
            <a:r>
              <a:rPr lang="zh-CN" altLang="en-US" sz="1400" b="1">
                <a:latin typeface="微软雅黑" panose="020B0503020204020204" charset="-122"/>
                <a:ea typeface="微软雅黑" panose="020B0503020204020204" charset="-122"/>
                <a:cs typeface="微软雅黑" panose="020B0503020204020204" charset="-122"/>
              </a:rPr>
              <a:t>高风险区域</a:t>
            </a:r>
            <a:endParaRPr lang="zh-CN" altLang="en-US" sz="1400" b="1">
              <a:latin typeface="微软雅黑" panose="020B0503020204020204" charset="-122"/>
              <a:ea typeface="微软雅黑" panose="020B0503020204020204" charset="-122"/>
              <a:cs typeface="微软雅黑" panose="020B0503020204020204" charset="-122"/>
            </a:endParaRPr>
          </a:p>
        </p:txBody>
      </p:sp>
      <p:pic>
        <p:nvPicPr>
          <p:cNvPr id="17" name="Picture 11"/>
          <p:cNvPicPr>
            <a:picLocks noChangeAspect="1"/>
          </p:cNvPicPr>
          <p:nvPr>
            <p:custDataLst>
              <p:tags r:id="rId4"/>
            </p:custDataLst>
          </p:nvPr>
        </p:nvPicPr>
        <p:blipFill>
          <a:blip r:embed="rId5"/>
          <a:srcRect l="14426" r="14426"/>
          <a:stretch>
            <a:fillRect/>
          </a:stretch>
        </p:blipFill>
        <p:spPr>
          <a:xfrm>
            <a:off x="867410" y="2162810"/>
            <a:ext cx="1703705" cy="1949450"/>
          </a:xfrm>
          <a:prstGeom prst="rect">
            <a:avLst/>
          </a:prstGeom>
          <a:noFill/>
          <a:ln w="25400" cap="flat" cmpd="sng">
            <a:noFill/>
            <a:prstDash val="solid"/>
            <a:round/>
          </a:ln>
        </p:spPr>
      </p:pic>
      <p:sp>
        <p:nvSpPr>
          <p:cNvPr id="6" name="灯片编号占位符 5"/>
          <p:cNvSpPr>
            <a:spLocks noGrp="1"/>
          </p:cNvSpPr>
          <p:nvPr>
            <p:ph type="sldNum" sz="quarter" idx="4294967295"/>
          </p:nvPr>
        </p:nvSpPr>
        <p:spPr>
          <a:xfrm>
            <a:off x="9997440" y="6499860"/>
            <a:ext cx="2133600" cy="365125"/>
          </a:xfrm>
        </p:spPr>
        <p:txBody>
          <a:bodyPr/>
          <a:lstStyle/>
          <a:p>
            <a:fld id="{A10E9369-8E4E-4DE7-B129-F0280ABC27D7}" type="slidenum">
              <a:rPr lang="zh-CN" altLang="en-US" smtClean="0"/>
            </a:fld>
            <a:endParaRPr lang="zh-CN" altLang="en-US" dirty="0"/>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C:\Users\Administrator\Desktop\B15会议文件封面-11.png"/>
          <p:cNvPicPr>
            <a:picLocks noChangeAspect="1" noChangeArrowheads="1"/>
          </p:cNvPicPr>
          <p:nvPr/>
        </p:nvPicPr>
        <p:blipFill>
          <a:blip r:embed="rId1" cstate="print">
            <a:extLst>
              <a:ext uri="{28A0092B-C50C-407E-A947-70E740481C1C}">
                <a14:useLocalDpi xmlns:a14="http://schemas.microsoft.com/office/drawing/2010/main" val="0"/>
              </a:ext>
            </a:extLst>
          </a:blip>
          <a:srcRect l="2368" r="22060" b="77960"/>
          <a:stretch>
            <a:fillRect/>
          </a:stretch>
        </p:blipFill>
        <p:spPr bwMode="auto">
          <a:xfrm>
            <a:off x="8904312" y="87923"/>
            <a:ext cx="3096344" cy="676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8"/>
          <p:cNvSpPr txBox="1"/>
          <p:nvPr/>
        </p:nvSpPr>
        <p:spPr>
          <a:xfrm>
            <a:off x="168275" y="347345"/>
            <a:ext cx="6793865" cy="491490"/>
          </a:xfrm>
          <a:prstGeom prst="rect">
            <a:avLst/>
          </a:prstGeom>
          <a:noFill/>
        </p:spPr>
        <p:txBody>
          <a:bodyPr wrap="square" rtlCol="0">
            <a:spAutoFit/>
          </a:bodyPr>
          <a:p>
            <a:pPr algn="l">
              <a:buClrTx/>
              <a:buSzTx/>
              <a:buFont typeface="Wingdings" panose="05000000000000000000" charset="0"/>
              <a:buNone/>
            </a:pPr>
            <a:r>
              <a:rPr lang="zh-CN" sz="2600" b="1">
                <a:latin typeface="微软雅黑" panose="020B0503020204020204" charset="-122"/>
                <a:ea typeface="微软雅黑" panose="020B0503020204020204" charset="-122"/>
                <a:cs typeface="微软雅黑" panose="020B0503020204020204" charset="-122"/>
                <a:sym typeface="+mn-ea"/>
              </a:rPr>
              <a:t>一、国家发改委第41号令宣贯</a:t>
            </a:r>
            <a:endParaRPr sz="2600" b="1">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9" name="矩形 8"/>
          <p:cNvSpPr/>
          <p:nvPr/>
        </p:nvSpPr>
        <p:spPr>
          <a:xfrm>
            <a:off x="481330" y="1032510"/>
            <a:ext cx="6733540" cy="467360"/>
          </a:xfrm>
          <a:prstGeom prst="rect">
            <a:avLst/>
          </a:prstGeom>
          <a:gradFill>
            <a:gsLst>
              <a:gs pos="0">
                <a:schemeClr val="accent1">
                  <a:lumMod val="5000"/>
                  <a:lumOff val="95000"/>
                </a:schemeClr>
              </a:gs>
              <a:gs pos="40000">
                <a:schemeClr val="accent1">
                  <a:lumMod val="59000"/>
                  <a:lumOff val="41000"/>
                </a:schemeClr>
              </a:gs>
              <a:gs pos="72000">
                <a:schemeClr val="accent1">
                  <a:lumMod val="45000"/>
                  <a:lumOff val="55000"/>
                </a:schemeClr>
              </a:gs>
              <a:gs pos="100000">
                <a:schemeClr val="accent1">
                  <a:lumMod val="30000"/>
                  <a:lumOff val="70000"/>
                </a:schemeClr>
              </a:gs>
            </a:gsLst>
            <a:lin ang="108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indent="457200" algn="l" fontAlgn="auto"/>
            <a:r>
              <a:rPr lang="zh-CN" altLang="en-US" b="1">
                <a:solidFill>
                  <a:schemeClr val="tx1"/>
                </a:solidFill>
                <a:latin typeface="微软雅黑" panose="020B0503020204020204" charset="-122"/>
                <a:ea typeface="微软雅黑" panose="020B0503020204020204" charset="-122"/>
                <a:cs typeface="微软雅黑" panose="020B0503020204020204" charset="-122"/>
              </a:rPr>
              <a:t>第二章</a:t>
            </a:r>
            <a:r>
              <a:rPr lang="en-US" altLang="zh-CN" b="1">
                <a:solidFill>
                  <a:schemeClr val="tx1"/>
                </a:solidFill>
                <a:latin typeface="微软雅黑" panose="020B0503020204020204" charset="-122"/>
                <a:ea typeface="微软雅黑" panose="020B0503020204020204" charset="-122"/>
                <a:cs typeface="微软雅黑" panose="020B0503020204020204" charset="-122"/>
              </a:rPr>
              <a:t>  </a:t>
            </a:r>
            <a:r>
              <a:rPr lang="zh-CN" altLang="en-US" b="1">
                <a:solidFill>
                  <a:schemeClr val="tx1"/>
                </a:solidFill>
                <a:latin typeface="微软雅黑" panose="020B0503020204020204" charset="-122"/>
                <a:ea typeface="微软雅黑" panose="020B0503020204020204" charset="-122"/>
                <a:cs typeface="微软雅黑" panose="020B0503020204020204" charset="-122"/>
              </a:rPr>
              <a:t>重大隐患判定标准（</a:t>
            </a:r>
            <a:r>
              <a:rPr lang="en-US" altLang="zh-CN" b="1">
                <a:solidFill>
                  <a:schemeClr val="tx1"/>
                </a:solidFill>
                <a:latin typeface="微软雅黑" panose="020B0503020204020204" charset="-122"/>
                <a:ea typeface="微软雅黑" panose="020B0503020204020204" charset="-122"/>
                <a:cs typeface="微软雅黑" panose="020B0503020204020204" charset="-122"/>
              </a:rPr>
              <a:t>3/4</a:t>
            </a:r>
            <a:r>
              <a:rPr lang="zh-CN" altLang="en-US" b="1">
                <a:solidFill>
                  <a:schemeClr val="tx1"/>
                </a:solidFill>
                <a:latin typeface="微软雅黑" panose="020B0503020204020204" charset="-122"/>
                <a:ea typeface="微软雅黑" panose="020B0503020204020204" charset="-122"/>
                <a:cs typeface="微软雅黑" panose="020B0503020204020204" charset="-122"/>
              </a:rPr>
              <a:t>）</a:t>
            </a:r>
            <a:r>
              <a:rPr lang="en-US" altLang="zh-CN" b="1">
                <a:solidFill>
                  <a:schemeClr val="tx1"/>
                </a:solidFill>
                <a:latin typeface="微软雅黑" panose="020B0503020204020204" charset="-122"/>
                <a:ea typeface="微软雅黑" panose="020B0503020204020204" charset="-122"/>
                <a:cs typeface="微软雅黑" panose="020B0503020204020204" charset="-122"/>
              </a:rPr>
              <a:t>——</a:t>
            </a:r>
            <a:r>
              <a:rPr lang="zh-CN" altLang="en-US" b="1">
                <a:solidFill>
                  <a:schemeClr val="tx1"/>
                </a:solidFill>
                <a:latin typeface="微软雅黑" panose="020B0503020204020204" charset="-122"/>
                <a:ea typeface="微软雅黑" panose="020B0503020204020204" charset="-122"/>
                <a:cs typeface="微软雅黑" panose="020B0503020204020204" charset="-122"/>
              </a:rPr>
              <a:t>重点关注隐患情形</a:t>
            </a:r>
            <a:endParaRPr lang="zh-CN" altLang="en-US" b="1">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5" name="AutoShape 5"/>
          <p:cNvSpPr/>
          <p:nvPr>
            <p:custDataLst>
              <p:tags r:id="rId2"/>
            </p:custDataLst>
          </p:nvPr>
        </p:nvSpPr>
        <p:spPr>
          <a:xfrm>
            <a:off x="762000" y="1579880"/>
            <a:ext cx="10681335" cy="4959985"/>
          </a:xfrm>
          <a:prstGeom prst="roundRect">
            <a:avLst>
              <a:gd name="adj" fmla="val 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7" name="AutoShape 7"/>
          <p:cNvSpPr/>
          <p:nvPr>
            <p:custDataLst>
              <p:tags r:id="rId3"/>
            </p:custDataLst>
          </p:nvPr>
        </p:nvSpPr>
        <p:spPr>
          <a:xfrm>
            <a:off x="2794000" y="1696085"/>
            <a:ext cx="7829550" cy="451485"/>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1F2937"/>
                </a:solidFill>
                <a:latin typeface="微软雅黑" panose="020B0503020204020204" charset="-122"/>
                <a:ea typeface="微软雅黑" panose="020B0503020204020204" charset="-122"/>
                <a:cs typeface="微软雅黑" panose="020B0503020204020204" charset="-122"/>
                <a:sym typeface="Noto Sans SC" panose="020B0200000000000000" charset="-122"/>
              </a:rPr>
              <a:t>第</a:t>
            </a:r>
            <a:r>
              <a:rPr lang="zh-CN" altLang="en-US" sz="1800" b="1" i="0" u="none" strike="noStrike">
                <a:solidFill>
                  <a:srgbClr val="1F2937"/>
                </a:solidFill>
                <a:latin typeface="微软雅黑" panose="020B0503020204020204" charset="-122"/>
                <a:ea typeface="微软雅黑" panose="020B0503020204020204" charset="-122"/>
                <a:cs typeface="微软雅黑" panose="020B0503020204020204" charset="-122"/>
                <a:sym typeface="Noto Sans SC" panose="020B0200000000000000" charset="-122"/>
              </a:rPr>
              <a:t>十一</a:t>
            </a:r>
            <a:r>
              <a:rPr lang="en-US" sz="1800" b="1" i="0" u="none" strike="noStrike">
                <a:solidFill>
                  <a:srgbClr val="1F2937"/>
                </a:solidFill>
                <a:latin typeface="微软雅黑" panose="020B0503020204020204" charset="-122"/>
                <a:ea typeface="微软雅黑" panose="020B0503020204020204" charset="-122"/>
                <a:cs typeface="微软雅黑" panose="020B0503020204020204" charset="-122"/>
                <a:sym typeface="Noto Sans SC" panose="020B0200000000000000" charset="-122"/>
              </a:rPr>
              <a:t>条：电力建设工程质量管理</a:t>
            </a:r>
            <a:endParaRPr lang="en-US" sz="1800" b="1" i="0" u="none" strike="noStrike">
              <a:solidFill>
                <a:srgbClr val="1F2937"/>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4" name="文本框 3"/>
          <p:cNvSpPr txBox="1"/>
          <p:nvPr/>
        </p:nvSpPr>
        <p:spPr>
          <a:xfrm>
            <a:off x="2658110" y="2062480"/>
            <a:ext cx="8142605" cy="3997325"/>
          </a:xfrm>
          <a:prstGeom prst="rect">
            <a:avLst/>
          </a:prstGeom>
          <a:noFill/>
        </p:spPr>
        <p:txBody>
          <a:bodyPr wrap="square" rtlCol="0" anchor="ctr" anchorCtr="0">
            <a:noAutofit/>
          </a:bodyPr>
          <a:p>
            <a:pPr indent="0" fontAlgn="auto">
              <a:lnSpc>
                <a:spcPts val="2280"/>
              </a:lnSpc>
              <a:spcAft>
                <a:spcPts val="300"/>
              </a:spcAft>
            </a:pPr>
            <a:r>
              <a:rPr lang="zh-CN" altLang="en-US" sz="1400">
                <a:latin typeface="微软雅黑" panose="020B0503020204020204" charset="-122"/>
                <a:ea typeface="微软雅黑" panose="020B0503020204020204" charset="-122"/>
                <a:cs typeface="微软雅黑" panose="020B0503020204020204" charset="-122"/>
              </a:rPr>
              <a:t>（一）建设单位</a:t>
            </a:r>
            <a:r>
              <a:rPr lang="zh-CN" altLang="en-US" sz="1400" b="1">
                <a:latin typeface="微软雅黑" panose="020B0503020204020204" charset="-122"/>
                <a:ea typeface="微软雅黑" panose="020B0503020204020204" charset="-122"/>
                <a:cs typeface="微软雅黑" panose="020B0503020204020204" charset="-122"/>
              </a:rPr>
              <a:t>未按照国家有关规定</a:t>
            </a:r>
            <a:r>
              <a:rPr lang="zh-CN" altLang="en-US" sz="1400" b="1">
                <a:solidFill>
                  <a:srgbClr val="C00000"/>
                </a:solidFill>
                <a:latin typeface="微软雅黑" panose="020B0503020204020204" charset="-122"/>
                <a:ea typeface="微软雅黑" panose="020B0503020204020204" charset="-122"/>
                <a:cs typeface="微软雅黑" panose="020B0503020204020204" charset="-122"/>
              </a:rPr>
              <a:t>办理工程质量监督手续</a:t>
            </a:r>
            <a:r>
              <a:rPr lang="zh-CN" altLang="en-US" sz="1400" b="1">
                <a:latin typeface="微软雅黑" panose="020B0503020204020204" charset="-122"/>
                <a:ea typeface="微软雅黑" panose="020B0503020204020204" charset="-122"/>
                <a:cs typeface="微软雅黑" panose="020B0503020204020204" charset="-122"/>
              </a:rPr>
              <a:t>，或</a:t>
            </a:r>
            <a:r>
              <a:rPr lang="zh-CN" altLang="en-US" sz="1400" b="1">
                <a:solidFill>
                  <a:srgbClr val="C00000"/>
                </a:solidFill>
                <a:latin typeface="微软雅黑" panose="020B0503020204020204" charset="-122"/>
                <a:ea typeface="微软雅黑" panose="020B0503020204020204" charset="-122"/>
                <a:cs typeface="微软雅黑" panose="020B0503020204020204" charset="-122"/>
              </a:rPr>
              <a:t>未接受质量监督</a:t>
            </a:r>
            <a:r>
              <a:rPr lang="zh-CN" altLang="en-US" sz="1400" b="1">
                <a:latin typeface="微软雅黑" panose="020B0503020204020204" charset="-122"/>
                <a:ea typeface="微软雅黑" panose="020B0503020204020204" charset="-122"/>
                <a:cs typeface="微软雅黑" panose="020B0503020204020204" charset="-122"/>
              </a:rPr>
              <a:t>，或</a:t>
            </a:r>
            <a:r>
              <a:rPr lang="zh-CN" altLang="en-US" sz="1400" b="1">
                <a:solidFill>
                  <a:srgbClr val="C00000"/>
                </a:solidFill>
                <a:latin typeface="微软雅黑" panose="020B0503020204020204" charset="-122"/>
                <a:ea typeface="微软雅黑" panose="020B0503020204020204" charset="-122"/>
                <a:cs typeface="微软雅黑" panose="020B0503020204020204" charset="-122"/>
              </a:rPr>
              <a:t>未按规定取得质量监督并网意见书即并网</a:t>
            </a:r>
            <a:endParaRPr lang="zh-CN" altLang="en-US" sz="1400" b="1">
              <a:solidFill>
                <a:srgbClr val="C00000"/>
              </a:solidFill>
              <a:latin typeface="微软雅黑" panose="020B0503020204020204" charset="-122"/>
              <a:ea typeface="微软雅黑" panose="020B0503020204020204" charset="-122"/>
              <a:cs typeface="微软雅黑" panose="020B0503020204020204" charset="-122"/>
            </a:endParaRPr>
          </a:p>
          <a:p>
            <a:pPr indent="0" defTabSz="914400" fontAlgn="auto">
              <a:lnSpc>
                <a:spcPts val="2280"/>
              </a:lnSpc>
              <a:spcAft>
                <a:spcPts val="300"/>
              </a:spcAft>
              <a:tabLst>
                <a:tab pos="268605" algn="l"/>
              </a:tabLst>
            </a:pPr>
            <a:r>
              <a:rPr lang="zh-CN" altLang="en-US" sz="1400">
                <a:latin typeface="微软雅黑" panose="020B0503020204020204" charset="-122"/>
                <a:ea typeface="微软雅黑" panose="020B0503020204020204" charset="-122"/>
                <a:cs typeface="微软雅黑" panose="020B0503020204020204" charset="-122"/>
              </a:rPr>
              <a:t>（二）电力建设工程因</a:t>
            </a:r>
            <a:r>
              <a:rPr lang="zh-CN" altLang="en-US" sz="1400" b="1">
                <a:latin typeface="微软雅黑" panose="020B0503020204020204" charset="-122"/>
                <a:ea typeface="微软雅黑" panose="020B0503020204020204" charset="-122"/>
                <a:cs typeface="微软雅黑" panose="020B0503020204020204" charset="-122"/>
              </a:rPr>
              <a:t>质量问题</a:t>
            </a:r>
            <a:r>
              <a:rPr lang="zh-CN" altLang="en-US" sz="1400" b="1">
                <a:solidFill>
                  <a:srgbClr val="C00000"/>
                </a:solidFill>
                <a:latin typeface="微软雅黑" panose="020B0503020204020204" charset="-122"/>
                <a:ea typeface="微软雅黑" panose="020B0503020204020204" charset="-122"/>
                <a:cs typeface="微软雅黑" panose="020B0503020204020204" charset="-122"/>
              </a:rPr>
              <a:t>未通过竣工验收</a:t>
            </a:r>
            <a:r>
              <a:rPr lang="zh-CN" altLang="en-US" sz="1400">
                <a:latin typeface="微软雅黑" panose="020B0503020204020204" charset="-122"/>
                <a:ea typeface="微软雅黑" panose="020B0503020204020204" charset="-122"/>
                <a:cs typeface="微软雅黑" panose="020B0503020204020204" charset="-122"/>
              </a:rPr>
              <a:t>，或</a:t>
            </a:r>
            <a:r>
              <a:rPr lang="zh-CN" altLang="en-US" sz="1400" b="1">
                <a:solidFill>
                  <a:srgbClr val="C00000"/>
                </a:solidFill>
                <a:latin typeface="微软雅黑" panose="020B0503020204020204" charset="-122"/>
                <a:ea typeface="微软雅黑" panose="020B0503020204020204" charset="-122"/>
                <a:cs typeface="微软雅黑" panose="020B0503020204020204" charset="-122"/>
              </a:rPr>
              <a:t>验收不合格即交付使用</a:t>
            </a:r>
            <a:endParaRPr lang="zh-CN" altLang="en-US" sz="1400">
              <a:latin typeface="微软雅黑" panose="020B0503020204020204" charset="-122"/>
              <a:ea typeface="微软雅黑" panose="020B0503020204020204" charset="-122"/>
              <a:cs typeface="微软雅黑" panose="020B0503020204020204" charset="-122"/>
            </a:endParaRPr>
          </a:p>
          <a:p>
            <a:pPr indent="0" fontAlgn="auto">
              <a:lnSpc>
                <a:spcPts val="2280"/>
              </a:lnSpc>
              <a:spcAft>
                <a:spcPts val="300"/>
              </a:spcAft>
            </a:pPr>
            <a:r>
              <a:rPr lang="zh-CN" altLang="en-US" sz="1400">
                <a:latin typeface="微软雅黑" panose="020B0503020204020204" charset="-122"/>
                <a:ea typeface="微软雅黑" panose="020B0503020204020204" charset="-122"/>
                <a:cs typeface="微软雅黑" panose="020B0503020204020204" charset="-122"/>
              </a:rPr>
              <a:t>（三）勘察、设计单位</a:t>
            </a:r>
            <a:r>
              <a:rPr lang="zh-CN" altLang="en-US" sz="1400" b="1">
                <a:latin typeface="微软雅黑" panose="020B0503020204020204" charset="-122"/>
                <a:ea typeface="微软雅黑" panose="020B0503020204020204" charset="-122"/>
                <a:cs typeface="微软雅黑" panose="020B0503020204020204" charset="-122"/>
              </a:rPr>
              <a:t>未按照</a:t>
            </a:r>
            <a:r>
              <a:rPr lang="zh-CN" altLang="en-US" sz="1400">
                <a:latin typeface="微软雅黑" panose="020B0503020204020204" charset="-122"/>
                <a:ea typeface="微软雅黑" panose="020B0503020204020204" charset="-122"/>
                <a:cs typeface="微软雅黑" panose="020B0503020204020204" charset="-122"/>
              </a:rPr>
              <a:t>工程建设强制性标准和国家有关勘察、设计深度</a:t>
            </a:r>
            <a:r>
              <a:rPr lang="zh-CN" altLang="en-US" sz="1400" b="1">
                <a:solidFill>
                  <a:srgbClr val="C00000"/>
                </a:solidFill>
                <a:latin typeface="微软雅黑" panose="020B0503020204020204" charset="-122"/>
                <a:ea typeface="微软雅黑" panose="020B0503020204020204" charset="-122"/>
                <a:cs typeface="微软雅黑" panose="020B0503020204020204" charset="-122"/>
              </a:rPr>
              <a:t>要求编制勘察、设计文件</a:t>
            </a:r>
            <a:r>
              <a:rPr lang="zh-CN" altLang="en-US" sz="1400">
                <a:latin typeface="微软雅黑" panose="020B0503020204020204" charset="-122"/>
                <a:ea typeface="微软雅黑" panose="020B0503020204020204" charset="-122"/>
                <a:cs typeface="微软雅黑" panose="020B0503020204020204" charset="-122"/>
              </a:rPr>
              <a:t>，或者</a:t>
            </a:r>
            <a:r>
              <a:rPr lang="zh-CN" altLang="en-US" sz="1400" b="1">
                <a:solidFill>
                  <a:srgbClr val="C00000"/>
                </a:solidFill>
                <a:latin typeface="微软雅黑" panose="020B0503020204020204" charset="-122"/>
                <a:ea typeface="微软雅黑" panose="020B0503020204020204" charset="-122"/>
                <a:cs typeface="微软雅黑" panose="020B0503020204020204" charset="-122"/>
              </a:rPr>
              <a:t>重大设计变更未按规定履行变更程序</a:t>
            </a:r>
            <a:endParaRPr lang="zh-CN" altLang="en-US" sz="1400">
              <a:latin typeface="微软雅黑" panose="020B0503020204020204" charset="-122"/>
              <a:ea typeface="微软雅黑" panose="020B0503020204020204" charset="-122"/>
              <a:cs typeface="微软雅黑" panose="020B0503020204020204" charset="-122"/>
            </a:endParaRPr>
          </a:p>
          <a:p>
            <a:pPr indent="0" fontAlgn="auto">
              <a:lnSpc>
                <a:spcPts val="2280"/>
              </a:lnSpc>
              <a:spcAft>
                <a:spcPts val="300"/>
              </a:spcAft>
            </a:pPr>
            <a:r>
              <a:rPr lang="zh-CN" altLang="en-US" sz="1400">
                <a:latin typeface="微软雅黑" panose="020B0503020204020204" charset="-122"/>
                <a:ea typeface="微软雅黑" panose="020B0503020204020204" charset="-122"/>
                <a:cs typeface="微软雅黑" panose="020B0503020204020204" charset="-122"/>
              </a:rPr>
              <a:t>（四）施工单位在</a:t>
            </a:r>
            <a:r>
              <a:rPr lang="zh-CN" altLang="en-US" sz="1400" b="1">
                <a:latin typeface="微软雅黑" panose="020B0503020204020204" charset="-122"/>
                <a:ea typeface="微软雅黑" panose="020B0503020204020204" charset="-122"/>
                <a:cs typeface="微软雅黑" panose="020B0503020204020204" charset="-122"/>
              </a:rPr>
              <a:t>主要建（构）筑物的基础、主体结构、主要设备、承重构件等关键部位</a:t>
            </a:r>
            <a:r>
              <a:rPr lang="zh-CN" altLang="en-US" sz="1400">
                <a:latin typeface="微软雅黑" panose="020B0503020204020204" charset="-122"/>
                <a:ea typeface="微软雅黑" panose="020B0503020204020204" charset="-122"/>
                <a:cs typeface="微软雅黑" panose="020B0503020204020204" charset="-122"/>
              </a:rPr>
              <a:t>施工中</a:t>
            </a:r>
            <a:r>
              <a:rPr lang="zh-CN" altLang="en-US" sz="1400" b="1">
                <a:solidFill>
                  <a:srgbClr val="C00000"/>
                </a:solidFill>
                <a:latin typeface="微软雅黑" panose="020B0503020204020204" charset="-122"/>
                <a:ea typeface="微软雅黑" panose="020B0503020204020204" charset="-122"/>
                <a:cs typeface="微软雅黑" panose="020B0503020204020204" charset="-122"/>
              </a:rPr>
              <a:t>偷工减料，</a:t>
            </a:r>
            <a:r>
              <a:rPr lang="zh-CN" altLang="en-US" sz="1400">
                <a:latin typeface="微软雅黑" panose="020B0503020204020204" charset="-122"/>
                <a:ea typeface="微软雅黑" panose="020B0503020204020204" charset="-122"/>
                <a:cs typeface="微软雅黑" panose="020B0503020204020204" charset="-122"/>
              </a:rPr>
              <a:t>或使用</a:t>
            </a:r>
            <a:r>
              <a:rPr lang="zh-CN" altLang="en-US" sz="1400" b="1">
                <a:solidFill>
                  <a:srgbClr val="C00000"/>
                </a:solidFill>
                <a:latin typeface="微软雅黑" panose="020B0503020204020204" charset="-122"/>
                <a:ea typeface="微软雅黑" panose="020B0503020204020204" charset="-122"/>
                <a:cs typeface="微软雅黑" panose="020B0503020204020204" charset="-122"/>
              </a:rPr>
              <a:t>不合格的建筑材料、建筑构配件和设备</a:t>
            </a:r>
            <a:r>
              <a:rPr lang="zh-CN" altLang="en-US" sz="1400">
                <a:latin typeface="微软雅黑" panose="020B0503020204020204" charset="-122"/>
                <a:ea typeface="微软雅黑" panose="020B0503020204020204" charset="-122"/>
                <a:cs typeface="微软雅黑" panose="020B0503020204020204" charset="-122"/>
              </a:rPr>
              <a:t>，或有</a:t>
            </a:r>
            <a:r>
              <a:rPr lang="zh-CN" altLang="en-US" sz="1400" b="1">
                <a:solidFill>
                  <a:srgbClr val="C00000"/>
                </a:solidFill>
                <a:latin typeface="微软雅黑" panose="020B0503020204020204" charset="-122"/>
                <a:ea typeface="微软雅黑" panose="020B0503020204020204" charset="-122"/>
                <a:cs typeface="微软雅黑" panose="020B0503020204020204" charset="-122"/>
              </a:rPr>
              <a:t>不按照工程设计图纸、施工技术标准施工</a:t>
            </a:r>
            <a:r>
              <a:rPr lang="zh-CN" altLang="en-US" sz="1400">
                <a:latin typeface="微软雅黑" panose="020B0503020204020204" charset="-122"/>
                <a:ea typeface="微软雅黑" panose="020B0503020204020204" charset="-122"/>
                <a:cs typeface="微软雅黑" panose="020B0503020204020204" charset="-122"/>
              </a:rPr>
              <a:t>的其他行为</a:t>
            </a:r>
            <a:endParaRPr lang="zh-CN" altLang="en-US" sz="1400">
              <a:latin typeface="微软雅黑" panose="020B0503020204020204" charset="-122"/>
              <a:ea typeface="微软雅黑" panose="020B0503020204020204" charset="-122"/>
              <a:cs typeface="微软雅黑" panose="020B0503020204020204" charset="-122"/>
            </a:endParaRPr>
          </a:p>
          <a:p>
            <a:pPr indent="0" fontAlgn="auto">
              <a:lnSpc>
                <a:spcPts val="2280"/>
              </a:lnSpc>
              <a:spcAft>
                <a:spcPts val="300"/>
              </a:spcAft>
            </a:pPr>
            <a:r>
              <a:rPr lang="zh-CN" altLang="en-US" sz="1400">
                <a:latin typeface="微软雅黑" panose="020B0503020204020204" charset="-122"/>
                <a:ea typeface="微软雅黑" panose="020B0503020204020204" charset="-122"/>
                <a:cs typeface="微软雅黑" panose="020B0503020204020204" charset="-122"/>
              </a:rPr>
              <a:t>（五）监理单位与建设单位或者施工单位串通，</a:t>
            </a:r>
            <a:r>
              <a:rPr lang="zh-CN" altLang="en-US" sz="1400" b="1">
                <a:solidFill>
                  <a:srgbClr val="C00000"/>
                </a:solidFill>
                <a:latin typeface="微软雅黑" panose="020B0503020204020204" charset="-122"/>
                <a:ea typeface="微软雅黑" panose="020B0503020204020204" charset="-122"/>
                <a:cs typeface="微软雅黑" panose="020B0503020204020204" charset="-122"/>
              </a:rPr>
              <a:t>弄虚作假、降低工程质量</a:t>
            </a:r>
            <a:r>
              <a:rPr lang="zh-CN" altLang="en-US" sz="1400">
                <a:latin typeface="微软雅黑" panose="020B0503020204020204" charset="-122"/>
                <a:ea typeface="微软雅黑" panose="020B0503020204020204" charset="-122"/>
                <a:cs typeface="微软雅黑" panose="020B0503020204020204" charset="-122"/>
              </a:rPr>
              <a:t>；或者</a:t>
            </a:r>
            <a:r>
              <a:rPr lang="zh-CN" altLang="en-US" sz="1400" b="1">
                <a:solidFill>
                  <a:srgbClr val="C00000"/>
                </a:solidFill>
                <a:latin typeface="微软雅黑" panose="020B0503020204020204" charset="-122"/>
                <a:ea typeface="微软雅黑" panose="020B0503020204020204" charset="-122"/>
                <a:cs typeface="微软雅黑" panose="020B0503020204020204" charset="-122"/>
              </a:rPr>
              <a:t>虚构、伪造、篡改相关监理记录</a:t>
            </a:r>
            <a:r>
              <a:rPr lang="zh-CN" altLang="en-US" sz="1400">
                <a:latin typeface="微软雅黑" panose="020B0503020204020204" charset="-122"/>
                <a:ea typeface="微软雅黑" panose="020B0503020204020204" charset="-122"/>
                <a:cs typeface="微软雅黑" panose="020B0503020204020204" charset="-122"/>
              </a:rPr>
              <a:t>，</a:t>
            </a:r>
            <a:r>
              <a:rPr lang="zh-CN" altLang="en-US" sz="1400" b="1">
                <a:latin typeface="微软雅黑" panose="020B0503020204020204" charset="-122"/>
                <a:ea typeface="微软雅黑" panose="020B0503020204020204" charset="-122"/>
                <a:cs typeface="微软雅黑" panose="020B0503020204020204" charset="-122"/>
              </a:rPr>
              <a:t>未对</a:t>
            </a:r>
            <a:r>
              <a:rPr lang="zh-CN" altLang="en-US" sz="1400">
                <a:latin typeface="微软雅黑" panose="020B0503020204020204" charset="-122"/>
                <a:ea typeface="微软雅黑" panose="020B0503020204020204" charset="-122"/>
                <a:cs typeface="微软雅黑" panose="020B0503020204020204" charset="-122"/>
              </a:rPr>
              <a:t>工程关键部位、重要工序开展检查即</a:t>
            </a:r>
            <a:r>
              <a:rPr lang="zh-CN" altLang="en-US" sz="1400" b="1">
                <a:solidFill>
                  <a:srgbClr val="C00000"/>
                </a:solidFill>
                <a:latin typeface="微软雅黑" panose="020B0503020204020204" charset="-122"/>
                <a:ea typeface="微软雅黑" panose="020B0503020204020204" charset="-122"/>
                <a:cs typeface="微软雅黑" panose="020B0503020204020204" charset="-122"/>
              </a:rPr>
              <a:t>签署通过，将不合格</a:t>
            </a:r>
            <a:r>
              <a:rPr lang="zh-CN" altLang="en-US" sz="1400">
                <a:latin typeface="微软雅黑" panose="020B0503020204020204" charset="-122"/>
                <a:ea typeface="微软雅黑" panose="020B0503020204020204" charset="-122"/>
                <a:cs typeface="微软雅黑" panose="020B0503020204020204" charset="-122"/>
              </a:rPr>
              <a:t>的建设工程、建筑材料、建筑构配件和设备按照合格签字</a:t>
            </a:r>
            <a:endParaRPr lang="zh-CN" altLang="en-US" sz="1400">
              <a:latin typeface="微软雅黑" panose="020B0503020204020204" charset="-122"/>
              <a:ea typeface="微软雅黑" panose="020B0503020204020204" charset="-122"/>
              <a:cs typeface="微软雅黑" panose="020B0503020204020204" charset="-122"/>
            </a:endParaRPr>
          </a:p>
        </p:txBody>
      </p:sp>
      <p:pic>
        <p:nvPicPr>
          <p:cNvPr id="2" name="Picture 14"/>
          <p:cNvPicPr>
            <a:picLocks noChangeAspect="1"/>
          </p:cNvPicPr>
          <p:nvPr/>
        </p:nvPicPr>
        <p:blipFill>
          <a:blip r:embed="rId4"/>
          <a:srcRect t="21870" b="21870"/>
          <a:stretch>
            <a:fillRect/>
          </a:stretch>
        </p:blipFill>
        <p:spPr>
          <a:xfrm>
            <a:off x="904240" y="2361565"/>
            <a:ext cx="1753870" cy="1753870"/>
          </a:xfrm>
          <a:prstGeom prst="roundRect">
            <a:avLst>
              <a:gd name="adj" fmla="val 6153"/>
            </a:avLst>
          </a:prstGeom>
          <a:noFill/>
          <a:ln w="25400" cap="flat" cmpd="sng">
            <a:noFill/>
            <a:prstDash val="solid"/>
            <a:round/>
          </a:ln>
        </p:spPr>
      </p:pic>
      <p:sp>
        <p:nvSpPr>
          <p:cNvPr id="6" name="灯片编号占位符 5"/>
          <p:cNvSpPr>
            <a:spLocks noGrp="1"/>
          </p:cNvSpPr>
          <p:nvPr>
            <p:ph type="sldNum" sz="quarter" idx="4294967295"/>
          </p:nvPr>
        </p:nvSpPr>
        <p:spPr>
          <a:xfrm>
            <a:off x="9997440" y="6499860"/>
            <a:ext cx="2133600" cy="365125"/>
          </a:xfrm>
        </p:spPr>
        <p:txBody>
          <a:bodyPr/>
          <a:lstStyle/>
          <a:p>
            <a:fld id="{A10E9369-8E4E-4DE7-B129-F0280ABC27D7}" type="slidenum">
              <a:rPr lang="zh-CN" altLang="en-US" smtClean="0"/>
            </a:fld>
            <a:endParaRPr lang="zh-CN" altLang="en-US" dirty="0"/>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C:\Users\Administrator\Desktop\B15会议文件封面-11.png"/>
          <p:cNvPicPr>
            <a:picLocks noChangeAspect="1" noChangeArrowheads="1"/>
          </p:cNvPicPr>
          <p:nvPr/>
        </p:nvPicPr>
        <p:blipFill>
          <a:blip r:embed="rId1" cstate="print">
            <a:extLst>
              <a:ext uri="{28A0092B-C50C-407E-A947-70E740481C1C}">
                <a14:useLocalDpi xmlns:a14="http://schemas.microsoft.com/office/drawing/2010/main" val="0"/>
              </a:ext>
            </a:extLst>
          </a:blip>
          <a:srcRect l="2368" r="22060" b="77960"/>
          <a:stretch>
            <a:fillRect/>
          </a:stretch>
        </p:blipFill>
        <p:spPr bwMode="auto">
          <a:xfrm>
            <a:off x="8904312" y="87923"/>
            <a:ext cx="3096344" cy="676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8"/>
          <p:cNvSpPr txBox="1"/>
          <p:nvPr/>
        </p:nvSpPr>
        <p:spPr>
          <a:xfrm>
            <a:off x="168275" y="347345"/>
            <a:ext cx="6793865" cy="491490"/>
          </a:xfrm>
          <a:prstGeom prst="rect">
            <a:avLst/>
          </a:prstGeom>
          <a:noFill/>
        </p:spPr>
        <p:txBody>
          <a:bodyPr wrap="square" rtlCol="0">
            <a:spAutoFit/>
          </a:bodyPr>
          <a:p>
            <a:pPr algn="l">
              <a:buClrTx/>
              <a:buSzTx/>
              <a:buFont typeface="Wingdings" panose="05000000000000000000" charset="0"/>
              <a:buNone/>
            </a:pPr>
            <a:r>
              <a:rPr lang="zh-CN" sz="2600" b="1">
                <a:latin typeface="微软雅黑" panose="020B0503020204020204" charset="-122"/>
                <a:ea typeface="微软雅黑" panose="020B0503020204020204" charset="-122"/>
                <a:cs typeface="微软雅黑" panose="020B0503020204020204" charset="-122"/>
                <a:sym typeface="+mn-ea"/>
              </a:rPr>
              <a:t>一、国家发改委第41号令宣贯</a:t>
            </a:r>
            <a:endParaRPr sz="2600" b="1">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9" name="矩形 8"/>
          <p:cNvSpPr/>
          <p:nvPr/>
        </p:nvSpPr>
        <p:spPr>
          <a:xfrm>
            <a:off x="481330" y="1032510"/>
            <a:ext cx="6733540" cy="467360"/>
          </a:xfrm>
          <a:prstGeom prst="rect">
            <a:avLst/>
          </a:prstGeom>
          <a:gradFill>
            <a:gsLst>
              <a:gs pos="0">
                <a:schemeClr val="accent1">
                  <a:lumMod val="5000"/>
                  <a:lumOff val="95000"/>
                </a:schemeClr>
              </a:gs>
              <a:gs pos="40000">
                <a:schemeClr val="accent1">
                  <a:lumMod val="59000"/>
                  <a:lumOff val="41000"/>
                </a:schemeClr>
              </a:gs>
              <a:gs pos="72000">
                <a:schemeClr val="accent1">
                  <a:lumMod val="45000"/>
                  <a:lumOff val="55000"/>
                </a:schemeClr>
              </a:gs>
              <a:gs pos="100000">
                <a:schemeClr val="accent1">
                  <a:lumMod val="30000"/>
                  <a:lumOff val="70000"/>
                </a:schemeClr>
              </a:gs>
            </a:gsLst>
            <a:lin ang="108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indent="457200" algn="l" fontAlgn="auto"/>
            <a:r>
              <a:rPr lang="zh-CN" altLang="en-US" b="1">
                <a:solidFill>
                  <a:schemeClr val="tx1"/>
                </a:solidFill>
                <a:latin typeface="微软雅黑" panose="020B0503020204020204" charset="-122"/>
                <a:ea typeface="微软雅黑" panose="020B0503020204020204" charset="-122"/>
                <a:cs typeface="微软雅黑" panose="020B0503020204020204" charset="-122"/>
              </a:rPr>
              <a:t>第二章</a:t>
            </a:r>
            <a:r>
              <a:rPr lang="en-US" altLang="zh-CN" b="1">
                <a:solidFill>
                  <a:schemeClr val="tx1"/>
                </a:solidFill>
                <a:latin typeface="微软雅黑" panose="020B0503020204020204" charset="-122"/>
                <a:ea typeface="微软雅黑" panose="020B0503020204020204" charset="-122"/>
                <a:cs typeface="微软雅黑" panose="020B0503020204020204" charset="-122"/>
              </a:rPr>
              <a:t>  </a:t>
            </a:r>
            <a:r>
              <a:rPr lang="zh-CN" altLang="en-US" b="1">
                <a:solidFill>
                  <a:schemeClr val="tx1"/>
                </a:solidFill>
                <a:latin typeface="微软雅黑" panose="020B0503020204020204" charset="-122"/>
                <a:ea typeface="微软雅黑" panose="020B0503020204020204" charset="-122"/>
                <a:cs typeface="微软雅黑" panose="020B0503020204020204" charset="-122"/>
              </a:rPr>
              <a:t>重大隐患判定标准（</a:t>
            </a:r>
            <a:r>
              <a:rPr lang="en-US" altLang="zh-CN" b="1">
                <a:solidFill>
                  <a:schemeClr val="tx1"/>
                </a:solidFill>
                <a:latin typeface="微软雅黑" panose="020B0503020204020204" charset="-122"/>
                <a:ea typeface="微软雅黑" panose="020B0503020204020204" charset="-122"/>
                <a:cs typeface="微软雅黑" panose="020B0503020204020204" charset="-122"/>
              </a:rPr>
              <a:t>4/4</a:t>
            </a:r>
            <a:r>
              <a:rPr lang="zh-CN" altLang="en-US" b="1">
                <a:solidFill>
                  <a:schemeClr val="tx1"/>
                </a:solidFill>
                <a:latin typeface="微软雅黑" panose="020B0503020204020204" charset="-122"/>
                <a:ea typeface="微软雅黑" panose="020B0503020204020204" charset="-122"/>
                <a:cs typeface="微软雅黑" panose="020B0503020204020204" charset="-122"/>
              </a:rPr>
              <a:t>）</a:t>
            </a:r>
            <a:r>
              <a:rPr lang="en-US" altLang="zh-CN" b="1">
                <a:solidFill>
                  <a:schemeClr val="tx1"/>
                </a:solidFill>
                <a:latin typeface="微软雅黑" panose="020B0503020204020204" charset="-122"/>
                <a:ea typeface="微软雅黑" panose="020B0503020204020204" charset="-122"/>
                <a:cs typeface="微软雅黑" panose="020B0503020204020204" charset="-122"/>
              </a:rPr>
              <a:t>——</a:t>
            </a:r>
            <a:r>
              <a:rPr lang="zh-CN" altLang="en-US" b="1">
                <a:solidFill>
                  <a:schemeClr val="tx1"/>
                </a:solidFill>
                <a:latin typeface="微软雅黑" panose="020B0503020204020204" charset="-122"/>
                <a:ea typeface="微软雅黑" panose="020B0503020204020204" charset="-122"/>
                <a:cs typeface="微软雅黑" panose="020B0503020204020204" charset="-122"/>
              </a:rPr>
              <a:t>重点关注隐患情形</a:t>
            </a:r>
            <a:endParaRPr lang="zh-CN" altLang="en-US" b="1">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5" name="AutoShape 5"/>
          <p:cNvSpPr/>
          <p:nvPr>
            <p:custDataLst>
              <p:tags r:id="rId2"/>
            </p:custDataLst>
          </p:nvPr>
        </p:nvSpPr>
        <p:spPr>
          <a:xfrm>
            <a:off x="847725" y="1539875"/>
            <a:ext cx="10681335" cy="4959985"/>
          </a:xfrm>
          <a:prstGeom prst="roundRect">
            <a:avLst>
              <a:gd name="adj" fmla="val 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6" name="AutoShape 7"/>
          <p:cNvSpPr/>
          <p:nvPr>
            <p:custDataLst>
              <p:tags r:id="rId3"/>
            </p:custDataLst>
          </p:nvPr>
        </p:nvSpPr>
        <p:spPr>
          <a:xfrm>
            <a:off x="2794000" y="1679575"/>
            <a:ext cx="7829550" cy="451485"/>
          </a:xfrm>
          <a:prstGeom prst="rect">
            <a:avLst/>
          </a:prstGeom>
          <a:noFill/>
          <a:ln w="12700" cap="flat" cmpd="sng">
            <a:noFill/>
            <a:prstDash val="solid"/>
            <a:round/>
          </a:ln>
        </p:spPr>
        <p:txBody>
          <a:bodyPr vert="horz" wrap="square" lIns="0" tIns="0" rIns="0" bIns="0" rtlCol="0" anchor="ctr" anchorCtr="0"/>
          <a:p>
            <a:pPr indent="0" algn="l">
              <a:lnSpc>
                <a:spcPct val="100000"/>
              </a:lnSpc>
              <a:defRPr/>
            </a:pPr>
            <a:r>
              <a:rPr lang="en-US" sz="1800" b="1" i="0" u="none" strike="noStrike">
                <a:solidFill>
                  <a:srgbClr val="1F2937"/>
                </a:solidFill>
                <a:latin typeface="微软雅黑" panose="020B0503020204020204" charset="-122"/>
                <a:ea typeface="微软雅黑" panose="020B0503020204020204" charset="-122"/>
                <a:cs typeface="微软雅黑" panose="020B0503020204020204" charset="-122"/>
                <a:sym typeface="Noto Sans SC" panose="020B0200000000000000" charset="-122"/>
              </a:rPr>
              <a:t>第</a:t>
            </a:r>
            <a:r>
              <a:rPr lang="zh-CN" altLang="en-US" sz="1800" b="1" i="0" u="none" strike="noStrike">
                <a:solidFill>
                  <a:srgbClr val="1F2937"/>
                </a:solidFill>
                <a:latin typeface="微软雅黑" panose="020B0503020204020204" charset="-122"/>
                <a:ea typeface="微软雅黑" panose="020B0503020204020204" charset="-122"/>
                <a:cs typeface="微软雅黑" panose="020B0503020204020204" charset="-122"/>
                <a:sym typeface="Noto Sans SC" panose="020B0200000000000000" charset="-122"/>
              </a:rPr>
              <a:t>十三</a:t>
            </a:r>
            <a:r>
              <a:rPr lang="en-US" sz="1800" b="1" i="0" u="none" strike="noStrike">
                <a:solidFill>
                  <a:srgbClr val="1F2937"/>
                </a:solidFill>
                <a:latin typeface="微软雅黑" panose="020B0503020204020204" charset="-122"/>
                <a:ea typeface="微软雅黑" panose="020B0503020204020204" charset="-122"/>
                <a:cs typeface="微软雅黑" panose="020B0503020204020204" charset="-122"/>
                <a:sym typeface="Noto Sans SC" panose="020B0200000000000000" charset="-122"/>
              </a:rPr>
              <a:t>条：电力企业安全管理</a:t>
            </a:r>
            <a:endParaRPr lang="en-US" sz="1800" b="1" i="0" u="none" strike="noStrike">
              <a:solidFill>
                <a:srgbClr val="1F2937"/>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10" name="文本框 9"/>
          <p:cNvSpPr txBox="1"/>
          <p:nvPr/>
        </p:nvSpPr>
        <p:spPr>
          <a:xfrm>
            <a:off x="2658110" y="2299335"/>
            <a:ext cx="8142605" cy="2115820"/>
          </a:xfrm>
          <a:prstGeom prst="rect">
            <a:avLst/>
          </a:prstGeom>
          <a:noFill/>
        </p:spPr>
        <p:txBody>
          <a:bodyPr wrap="square" rtlCol="0" anchor="ctr" anchorCtr="0">
            <a:noAutofit/>
          </a:bodyPr>
          <a:p>
            <a:pPr indent="0" fontAlgn="auto">
              <a:lnSpc>
                <a:spcPts val="2280"/>
              </a:lnSpc>
              <a:spcAft>
                <a:spcPts val="300"/>
              </a:spcAft>
            </a:pPr>
            <a:r>
              <a:rPr lang="zh-CN" altLang="en-US" sz="1400">
                <a:latin typeface="微软雅黑" panose="020B0503020204020204" charset="-122"/>
                <a:ea typeface="微软雅黑" panose="020B0503020204020204" charset="-122"/>
                <a:cs typeface="微软雅黑" panose="020B0503020204020204" charset="-122"/>
              </a:rPr>
              <a:t>（一）</a:t>
            </a:r>
            <a:r>
              <a:rPr lang="zh-CN" altLang="en-US" sz="1400" b="1">
                <a:latin typeface="微软雅黑" panose="020B0503020204020204" charset="-122"/>
                <a:ea typeface="微软雅黑" panose="020B0503020204020204" charset="-122"/>
                <a:cs typeface="微软雅黑" panose="020B0503020204020204" charset="-122"/>
              </a:rPr>
              <a:t>上岗作业的特种作业人员</a:t>
            </a:r>
            <a:r>
              <a:rPr lang="zh-CN" altLang="en-US" sz="1400" b="1">
                <a:solidFill>
                  <a:srgbClr val="C00000"/>
                </a:solidFill>
                <a:latin typeface="微软雅黑" panose="020B0503020204020204" charset="-122"/>
                <a:ea typeface="微软雅黑" panose="020B0503020204020204" charset="-122"/>
                <a:cs typeface="微软雅黑" panose="020B0503020204020204" charset="-122"/>
              </a:rPr>
              <a:t>未按照规定经专门的安全作业培训并取得相应资格</a:t>
            </a:r>
            <a:endParaRPr lang="zh-CN" altLang="en-US" sz="1400">
              <a:latin typeface="微软雅黑" panose="020B0503020204020204" charset="-122"/>
              <a:ea typeface="微软雅黑" panose="020B0503020204020204" charset="-122"/>
              <a:cs typeface="微软雅黑" panose="020B0503020204020204" charset="-122"/>
            </a:endParaRPr>
          </a:p>
          <a:p>
            <a:pPr indent="0" fontAlgn="auto">
              <a:lnSpc>
                <a:spcPts val="2280"/>
              </a:lnSpc>
              <a:spcAft>
                <a:spcPts val="300"/>
              </a:spcAft>
            </a:pPr>
            <a:r>
              <a:rPr lang="zh-CN" altLang="en-US" sz="1400">
                <a:latin typeface="微软雅黑" panose="020B0503020204020204" charset="-122"/>
                <a:ea typeface="微软雅黑" panose="020B0503020204020204" charset="-122"/>
                <a:cs typeface="微软雅黑" panose="020B0503020204020204" charset="-122"/>
              </a:rPr>
              <a:t>（二）</a:t>
            </a:r>
            <a:r>
              <a:rPr lang="zh-CN" altLang="en-US" sz="1400" b="1">
                <a:latin typeface="微软雅黑" panose="020B0503020204020204" charset="-122"/>
                <a:ea typeface="微软雅黑" panose="020B0503020204020204" charset="-122"/>
                <a:cs typeface="微软雅黑" panose="020B0503020204020204" charset="-122"/>
              </a:rPr>
              <a:t>新建、改建、扩建工程的关键安全设施</a:t>
            </a:r>
            <a:r>
              <a:rPr lang="zh-CN" altLang="en-US" sz="1400">
                <a:latin typeface="微软雅黑" panose="020B0503020204020204" charset="-122"/>
                <a:ea typeface="微软雅黑" panose="020B0503020204020204" charset="-122"/>
                <a:cs typeface="微软雅黑" panose="020B0503020204020204" charset="-122"/>
              </a:rPr>
              <a:t>，</a:t>
            </a:r>
            <a:r>
              <a:rPr lang="zh-CN" altLang="en-US" sz="1400" b="1">
                <a:solidFill>
                  <a:srgbClr val="C00000"/>
                </a:solidFill>
                <a:latin typeface="微软雅黑" panose="020B0503020204020204" charset="-122"/>
                <a:ea typeface="微软雅黑" panose="020B0503020204020204" charset="-122"/>
                <a:cs typeface="微软雅黑" panose="020B0503020204020204" charset="-122"/>
              </a:rPr>
              <a:t>未与主体工程同时设计、同时施工、同时投入生产和使用</a:t>
            </a:r>
            <a:endParaRPr lang="zh-CN" altLang="en-US" sz="1400" b="1">
              <a:solidFill>
                <a:srgbClr val="C00000"/>
              </a:solidFill>
              <a:latin typeface="微软雅黑" panose="020B0503020204020204" charset="-122"/>
              <a:ea typeface="微软雅黑" panose="020B0503020204020204" charset="-122"/>
              <a:cs typeface="微软雅黑" panose="020B0503020204020204" charset="-122"/>
            </a:endParaRPr>
          </a:p>
          <a:p>
            <a:pPr indent="0" fontAlgn="auto">
              <a:lnSpc>
                <a:spcPts val="2280"/>
              </a:lnSpc>
              <a:spcAft>
                <a:spcPts val="300"/>
              </a:spcAft>
            </a:pPr>
            <a:r>
              <a:rPr lang="zh-CN" altLang="en-US" sz="1400">
                <a:latin typeface="微软雅黑" panose="020B0503020204020204" charset="-122"/>
                <a:ea typeface="微软雅黑" panose="020B0503020204020204" charset="-122"/>
                <a:cs typeface="微软雅黑" panose="020B0503020204020204" charset="-122"/>
              </a:rPr>
              <a:t>（三）关闭、破坏直接关系生产安全的</a:t>
            </a:r>
            <a:r>
              <a:rPr lang="zh-CN" altLang="en-US" sz="1400" b="1">
                <a:latin typeface="微软雅黑" panose="020B0503020204020204" charset="-122"/>
                <a:ea typeface="微软雅黑" panose="020B0503020204020204" charset="-122"/>
                <a:cs typeface="微软雅黑" panose="020B0503020204020204" charset="-122"/>
              </a:rPr>
              <a:t>监控、报警、防护、救生设备、设施</a:t>
            </a:r>
            <a:r>
              <a:rPr lang="zh-CN" altLang="en-US" sz="1400">
                <a:latin typeface="微软雅黑" panose="020B0503020204020204" charset="-122"/>
                <a:ea typeface="微软雅黑" panose="020B0503020204020204" charset="-122"/>
                <a:cs typeface="微软雅黑" panose="020B0503020204020204" charset="-122"/>
              </a:rPr>
              <a:t>，或</a:t>
            </a:r>
            <a:r>
              <a:rPr lang="zh-CN" altLang="en-US" sz="1400" b="1">
                <a:solidFill>
                  <a:srgbClr val="C00000"/>
                </a:solidFill>
                <a:latin typeface="微软雅黑" panose="020B0503020204020204" charset="-122"/>
                <a:ea typeface="微软雅黑" panose="020B0503020204020204" charset="-122"/>
                <a:cs typeface="微软雅黑" panose="020B0503020204020204" charset="-122"/>
              </a:rPr>
              <a:t>篡改、隐瞒、销毁其相关数据、信息</a:t>
            </a:r>
            <a:endParaRPr lang="zh-CN" altLang="en-US" sz="1400" b="1">
              <a:solidFill>
                <a:srgbClr val="C00000"/>
              </a:solidFill>
              <a:latin typeface="微软雅黑" panose="020B0503020204020204" charset="-122"/>
              <a:ea typeface="微软雅黑" panose="020B0503020204020204" charset="-122"/>
              <a:cs typeface="微软雅黑" panose="020B0503020204020204" charset="-122"/>
            </a:endParaRPr>
          </a:p>
          <a:p>
            <a:pPr indent="0" fontAlgn="auto">
              <a:lnSpc>
                <a:spcPts val="2280"/>
              </a:lnSpc>
              <a:spcAft>
                <a:spcPts val="300"/>
              </a:spcAft>
            </a:pPr>
            <a:r>
              <a:rPr lang="zh-CN" altLang="en-US" sz="1400">
                <a:latin typeface="微软雅黑" panose="020B0503020204020204" charset="-122"/>
                <a:ea typeface="微软雅黑" panose="020B0503020204020204" charset="-122"/>
                <a:cs typeface="微软雅黑" panose="020B0503020204020204" charset="-122"/>
              </a:rPr>
              <a:t>（四）</a:t>
            </a:r>
            <a:r>
              <a:rPr lang="zh-CN" altLang="en-US" sz="1400" b="1">
                <a:latin typeface="微软雅黑" panose="020B0503020204020204" charset="-122"/>
                <a:ea typeface="微软雅黑" panose="020B0503020204020204" charset="-122"/>
                <a:cs typeface="微软雅黑" panose="020B0503020204020204" charset="-122"/>
              </a:rPr>
              <a:t>未按规定制定</a:t>
            </a:r>
            <a:r>
              <a:rPr lang="zh-CN" altLang="en-US" sz="1400">
                <a:latin typeface="微软雅黑" panose="020B0503020204020204" charset="-122"/>
                <a:ea typeface="微软雅黑" panose="020B0503020204020204" charset="-122"/>
                <a:cs typeface="微软雅黑" panose="020B0503020204020204" charset="-122"/>
              </a:rPr>
              <a:t>本单位</a:t>
            </a:r>
            <a:r>
              <a:rPr lang="zh-CN" altLang="en-US" sz="1400" b="1">
                <a:solidFill>
                  <a:srgbClr val="C00000"/>
                </a:solidFill>
                <a:latin typeface="微软雅黑" panose="020B0503020204020204" charset="-122"/>
                <a:ea typeface="微软雅黑" panose="020B0503020204020204" charset="-122"/>
                <a:cs typeface="微软雅黑" panose="020B0503020204020204" charset="-122"/>
              </a:rPr>
              <a:t>生产安全事故应急救援预案或未定期组织应急演练</a:t>
            </a:r>
            <a:r>
              <a:rPr lang="zh-CN" altLang="en-US" sz="1400">
                <a:latin typeface="微软雅黑" panose="020B0503020204020204" charset="-122"/>
                <a:ea typeface="微软雅黑" panose="020B0503020204020204" charset="-122"/>
                <a:cs typeface="微软雅黑" panose="020B0503020204020204" charset="-122"/>
              </a:rPr>
              <a:t>。</a:t>
            </a:r>
            <a:endParaRPr lang="zh-CN" altLang="en-US" sz="1400">
              <a:latin typeface="微软雅黑" panose="020B0503020204020204" charset="-122"/>
              <a:ea typeface="微软雅黑" panose="020B0503020204020204" charset="-122"/>
              <a:cs typeface="微软雅黑" panose="020B0503020204020204" charset="-122"/>
            </a:endParaRPr>
          </a:p>
        </p:txBody>
      </p:sp>
      <p:pic>
        <p:nvPicPr>
          <p:cNvPr id="11" name="Picture 7"/>
          <p:cNvPicPr>
            <a:picLocks noChangeAspect="1"/>
          </p:cNvPicPr>
          <p:nvPr/>
        </p:nvPicPr>
        <p:blipFill>
          <a:blip r:embed="rId4"/>
          <a:srcRect t="869" b="869"/>
          <a:stretch>
            <a:fillRect/>
          </a:stretch>
        </p:blipFill>
        <p:spPr>
          <a:xfrm>
            <a:off x="922020" y="2187575"/>
            <a:ext cx="1778000" cy="1651000"/>
          </a:xfrm>
          <a:prstGeom prst="roundRect">
            <a:avLst>
              <a:gd name="adj" fmla="val 6153"/>
            </a:avLst>
          </a:prstGeom>
          <a:noFill/>
          <a:ln w="25400" cap="flat" cmpd="sng">
            <a:noFill/>
            <a:prstDash val="solid"/>
            <a:round/>
          </a:ln>
        </p:spPr>
      </p:pic>
      <p:cxnSp>
        <p:nvCxnSpPr>
          <p:cNvPr id="13" name="直接连接符 12"/>
          <p:cNvCxnSpPr/>
          <p:nvPr/>
        </p:nvCxnSpPr>
        <p:spPr>
          <a:xfrm>
            <a:off x="2831465" y="4405630"/>
            <a:ext cx="8014970" cy="0"/>
          </a:xfrm>
          <a:prstGeom prst="line">
            <a:avLst/>
          </a:prstGeom>
          <a:ln>
            <a:solidFill>
              <a:srgbClr val="BEBEBE"/>
            </a:solidFill>
          </a:ln>
        </p:spPr>
        <p:style>
          <a:lnRef idx="1">
            <a:schemeClr val="accent1"/>
          </a:lnRef>
          <a:fillRef idx="0">
            <a:schemeClr val="accent1"/>
          </a:fillRef>
          <a:effectRef idx="0">
            <a:schemeClr val="accent1"/>
          </a:effectRef>
          <a:fontRef idx="minor">
            <a:schemeClr val="tx1"/>
          </a:fontRef>
        </p:style>
      </p:cxnSp>
      <p:sp>
        <p:nvSpPr>
          <p:cNvPr id="2" name="灯片编号占位符 1"/>
          <p:cNvSpPr>
            <a:spLocks noGrp="1"/>
          </p:cNvSpPr>
          <p:nvPr>
            <p:ph type="sldNum" sz="quarter" idx="4294967295"/>
          </p:nvPr>
        </p:nvSpPr>
        <p:spPr>
          <a:xfrm>
            <a:off x="9997440" y="6499860"/>
            <a:ext cx="2133600" cy="365125"/>
          </a:xfrm>
        </p:spPr>
        <p:txBody>
          <a:bodyPr/>
          <a:lstStyle/>
          <a:p>
            <a:fld id="{A10E9369-8E4E-4DE7-B129-F0280ABC27D7}" type="slidenum">
              <a:rPr lang="zh-CN" altLang="en-US" smtClean="0"/>
            </a:fld>
            <a:endParaRPr lang="zh-CN" altLang="en-US" dirty="0"/>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C:\Users\Administrator\Desktop\B15会议文件封面-11.png"/>
          <p:cNvPicPr>
            <a:picLocks noChangeAspect="1" noChangeArrowheads="1"/>
          </p:cNvPicPr>
          <p:nvPr/>
        </p:nvPicPr>
        <p:blipFill>
          <a:blip r:embed="rId1" cstate="print">
            <a:extLst>
              <a:ext uri="{28A0092B-C50C-407E-A947-70E740481C1C}">
                <a14:useLocalDpi xmlns:a14="http://schemas.microsoft.com/office/drawing/2010/main" val="0"/>
              </a:ext>
            </a:extLst>
          </a:blip>
          <a:srcRect l="2368" r="22060" b="77960"/>
          <a:stretch>
            <a:fillRect/>
          </a:stretch>
        </p:blipFill>
        <p:spPr bwMode="auto">
          <a:xfrm>
            <a:off x="8904312" y="87923"/>
            <a:ext cx="3096344" cy="676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8"/>
          <p:cNvSpPr txBox="1"/>
          <p:nvPr/>
        </p:nvSpPr>
        <p:spPr>
          <a:xfrm>
            <a:off x="168275" y="347345"/>
            <a:ext cx="6793865" cy="491490"/>
          </a:xfrm>
          <a:prstGeom prst="rect">
            <a:avLst/>
          </a:prstGeom>
          <a:noFill/>
        </p:spPr>
        <p:txBody>
          <a:bodyPr wrap="square" rtlCol="0">
            <a:spAutoFit/>
          </a:bodyPr>
          <a:p>
            <a:pPr algn="l">
              <a:buClrTx/>
              <a:buSzTx/>
              <a:buFont typeface="Wingdings" panose="05000000000000000000" charset="0"/>
              <a:buNone/>
            </a:pPr>
            <a:r>
              <a:rPr lang="zh-CN" sz="2600" b="1">
                <a:latin typeface="微软雅黑" panose="020B0503020204020204" charset="-122"/>
                <a:ea typeface="微软雅黑" panose="020B0503020204020204" charset="-122"/>
                <a:sym typeface="+mn-ea"/>
              </a:rPr>
              <a:t>一、</a:t>
            </a:r>
            <a:r>
              <a:rPr lang="zh-CN" sz="2600" b="1">
                <a:latin typeface="微软雅黑" panose="020B0503020204020204" charset="-122"/>
                <a:ea typeface="微软雅黑" panose="020B0503020204020204" charset="-122"/>
                <a:sym typeface="+mn-ea"/>
              </a:rPr>
              <a:t>国家发改委第41号令宣贯</a:t>
            </a:r>
            <a:endParaRPr sz="2600" b="1">
              <a:solidFill>
                <a:schemeClr val="tx1"/>
              </a:solidFill>
              <a:latin typeface="微软雅黑" panose="020B0503020204020204" charset="-122"/>
              <a:ea typeface="微软雅黑" panose="020B0503020204020204" charset="-122"/>
            </a:endParaRPr>
          </a:p>
        </p:txBody>
      </p:sp>
      <p:sp>
        <p:nvSpPr>
          <p:cNvPr id="9" name="矩形 8"/>
          <p:cNvSpPr/>
          <p:nvPr/>
        </p:nvSpPr>
        <p:spPr>
          <a:xfrm>
            <a:off x="400685" y="1022350"/>
            <a:ext cx="6733540" cy="467360"/>
          </a:xfrm>
          <a:prstGeom prst="rect">
            <a:avLst/>
          </a:prstGeom>
          <a:gradFill>
            <a:gsLst>
              <a:gs pos="0">
                <a:schemeClr val="accent1">
                  <a:lumMod val="5000"/>
                  <a:lumOff val="95000"/>
                </a:schemeClr>
              </a:gs>
              <a:gs pos="40000">
                <a:schemeClr val="accent1">
                  <a:lumMod val="59000"/>
                  <a:lumOff val="41000"/>
                </a:schemeClr>
              </a:gs>
              <a:gs pos="72000">
                <a:schemeClr val="accent1">
                  <a:lumMod val="45000"/>
                  <a:lumOff val="55000"/>
                </a:schemeClr>
              </a:gs>
              <a:gs pos="100000">
                <a:schemeClr val="accent1">
                  <a:lumMod val="30000"/>
                  <a:lumOff val="70000"/>
                </a:schemeClr>
              </a:gs>
            </a:gsLst>
            <a:lin ang="108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indent="457200" algn="l" fontAlgn="auto"/>
            <a:r>
              <a:rPr lang="zh-CN" altLang="en-US" b="1">
                <a:solidFill>
                  <a:schemeClr val="tx1"/>
                </a:solidFill>
                <a:latin typeface="微软雅黑" panose="020B0503020204020204" charset="-122"/>
                <a:ea typeface="微软雅黑" panose="020B0503020204020204" charset="-122"/>
              </a:rPr>
              <a:t>第三章</a:t>
            </a:r>
            <a:r>
              <a:rPr lang="en-US" altLang="zh-CN" b="1">
                <a:solidFill>
                  <a:schemeClr val="tx1"/>
                </a:solidFill>
                <a:latin typeface="微软雅黑" panose="020B0503020204020204" charset="-122"/>
                <a:ea typeface="微软雅黑" panose="020B0503020204020204" charset="-122"/>
              </a:rPr>
              <a:t>  </a:t>
            </a:r>
            <a:r>
              <a:rPr lang="zh-CN" altLang="en-US" b="1">
                <a:solidFill>
                  <a:schemeClr val="tx1"/>
                </a:solidFill>
                <a:latin typeface="微软雅黑" panose="020B0503020204020204" charset="-122"/>
                <a:ea typeface="微软雅黑" panose="020B0503020204020204" charset="-122"/>
              </a:rPr>
              <a:t>重大隐患排查治理</a:t>
            </a:r>
            <a:endParaRPr lang="zh-CN" altLang="en-US" b="1">
              <a:solidFill>
                <a:schemeClr val="tx1"/>
              </a:solidFill>
              <a:latin typeface="微软雅黑" panose="020B0503020204020204" charset="-122"/>
              <a:ea typeface="微软雅黑" panose="020B0503020204020204" charset="-122"/>
            </a:endParaRPr>
          </a:p>
        </p:txBody>
      </p:sp>
      <p:grpSp>
        <p:nvGrpSpPr>
          <p:cNvPr id="11" name="组合 10"/>
          <p:cNvGrpSpPr/>
          <p:nvPr/>
        </p:nvGrpSpPr>
        <p:grpSpPr>
          <a:xfrm>
            <a:off x="339725" y="1614170"/>
            <a:ext cx="11306175" cy="3729355"/>
            <a:chOff x="1243675" y="2175765"/>
            <a:chExt cx="8175137" cy="1931528"/>
          </a:xfrm>
        </p:grpSpPr>
        <p:sp>
          <p:nvSpPr>
            <p:cNvPr id="13" name="矩形: 圆顶角 77"/>
            <p:cNvSpPr/>
            <p:nvPr/>
          </p:nvSpPr>
          <p:spPr>
            <a:xfrm>
              <a:off x="1243675" y="2175765"/>
              <a:ext cx="8175137" cy="1931528"/>
            </a:xfrm>
            <a:prstGeom prst="round2SameRect">
              <a:avLst>
                <a:gd name="adj1" fmla="val 6255"/>
                <a:gd name="adj2" fmla="val 0"/>
              </a:avLst>
            </a:prstGeom>
            <a:gradFill flip="none" rotWithShape="1">
              <a:gsLst>
                <a:gs pos="0">
                  <a:schemeClr val="bg1"/>
                </a:gs>
                <a:gs pos="100000">
                  <a:schemeClr val="bg1">
                    <a:alpha val="0"/>
                  </a:schemeClr>
                </a:gs>
              </a:gsLst>
              <a:lin ang="5400000" scaled="1"/>
              <a:tileRect/>
            </a:gradFill>
            <a:ln>
              <a:noFill/>
            </a:ln>
            <a:effectLst>
              <a:outerShdw blurRad="101600" dist="38100" dir="16200000" rotWithShape="0">
                <a:schemeClr val="accent1">
                  <a:lumMod val="5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14" name="文本框 13"/>
            <p:cNvSpPr txBox="1"/>
            <p:nvPr/>
          </p:nvSpPr>
          <p:spPr>
            <a:xfrm>
              <a:off x="1483810" y="2204707"/>
              <a:ext cx="7779810" cy="471947"/>
            </a:xfrm>
            <a:prstGeom prst="rect">
              <a:avLst/>
            </a:prstGeom>
            <a:noFill/>
            <a:effectLst/>
          </p:spPr>
          <p:txBody>
            <a:bodyPr vert="horz" wrap="square" lIns="91440" tIns="45720" rIns="91440" bIns="45720" rtlCol="0">
              <a:noAutofit/>
            </a:bodyPr>
            <a:lstStyle>
              <a:defPPr>
                <a:defRPr lang="zh-CN"/>
              </a:defPPr>
              <a:lvl1pPr defTabSz="878205">
                <a:defRPr sz="2000" kern="100">
                  <a:gradFill flip="none" rotWithShape="1">
                    <a:gsLst>
                      <a:gs pos="0">
                        <a:srgbClr val="3465DD"/>
                      </a:gs>
                      <a:gs pos="100000">
                        <a:srgbClr val="0D35AD"/>
                      </a:gs>
                    </a:gsLst>
                    <a:lin ang="0" scaled="1"/>
                    <a:tileRect/>
                  </a:gradFill>
                  <a:effectLst>
                    <a:outerShdw blurRad="50800" dist="38100" dir="5400000" algn="t" rotWithShape="0">
                      <a:srgbClr val="0D35AD">
                        <a:alpha val="17000"/>
                      </a:srgbClr>
                    </a:outerShdw>
                  </a:effectLst>
                  <a:latin typeface="+mj-ea"/>
                  <a:ea typeface="+mj-ea"/>
                </a:defRPr>
              </a:lvl1pPr>
            </a:lstStyle>
            <a:p>
              <a:pPr marL="0" lvl="1" indent="385445" algn="l" fontAlgn="auto">
                <a:lnSpc>
                  <a:spcPts val="2700"/>
                </a:lnSpc>
                <a:buClrTx/>
                <a:buSzTx/>
                <a:buFontTx/>
              </a:pPr>
              <a:r>
                <a:rPr lang="zh-CN" altLang="en-US" sz="1600" b="1">
                  <a:solidFill>
                    <a:srgbClr val="2C5BD3"/>
                  </a:solidFill>
                  <a:latin typeface="微软雅黑" panose="020B0503020204020204" charset="-122"/>
                  <a:ea typeface="微软雅黑" panose="020B0503020204020204" charset="-122"/>
                  <a:sym typeface="+mn-ea"/>
                </a:rPr>
                <a:t>第</a:t>
              </a:r>
              <a:r>
                <a:rPr lang="zh-CN" altLang="en-US" sz="1600" b="1">
                  <a:solidFill>
                    <a:srgbClr val="2C5BD3"/>
                  </a:solidFill>
                  <a:latin typeface="微软雅黑" panose="020B0503020204020204" charset="-122"/>
                  <a:ea typeface="微软雅黑" panose="020B0503020204020204" charset="-122"/>
                  <a:sym typeface="+mn-ea"/>
                </a:rPr>
                <a:t>三章为重大隐患排查治理，共</a:t>
              </a:r>
              <a:r>
                <a:rPr lang="zh-CN" altLang="en-US" sz="1600" b="1" i="1" u="sng">
                  <a:solidFill>
                    <a:srgbClr val="2C5BD3"/>
                  </a:solidFill>
                  <a:latin typeface="微软雅黑" panose="020B0503020204020204" charset="-122"/>
                  <a:ea typeface="微软雅黑" panose="020B0503020204020204" charset="-122"/>
                  <a:sym typeface="+mn-ea"/>
                </a:rPr>
                <a:t>11条</a:t>
              </a:r>
              <a:r>
                <a:rPr lang="zh-CN" altLang="en-US" sz="1600" kern="100" noProof="0" dirty="0">
                  <a:ln>
                    <a:noFill/>
                  </a:ln>
                  <a:solidFill>
                    <a:prstClr val="black"/>
                  </a:solidFill>
                  <a:effectLst/>
                  <a:uLnTx/>
                  <a:uFillTx/>
                  <a:latin typeface="楷体" panose="02010609060101010101" charset="-122"/>
                  <a:ea typeface="楷体" panose="02010609060101010101" charset="-122"/>
                  <a:cs typeface="微软雅黑" panose="020B0503020204020204" charset="-122"/>
                  <a:sym typeface="+mn-ea"/>
                </a:rPr>
                <a:t>（第十五条至第二十五条）</a:t>
              </a:r>
              <a:r>
                <a:rPr lang="zh-CN" altLang="en-US" sz="1600" b="1">
                  <a:solidFill>
                    <a:srgbClr val="2C5BD3"/>
                  </a:solidFill>
                  <a:latin typeface="微软雅黑" panose="020B0503020204020204" charset="-122"/>
                  <a:ea typeface="微软雅黑" panose="020B0503020204020204" charset="-122"/>
                  <a:sym typeface="+mn-ea"/>
                </a:rPr>
                <a:t>，建立排查治理制度，对排查治理重大隐患的主体责任进行细化，对重大隐患排查、上报、警示、治理、评估、复工复产、奖惩、防范措施制定等环节作出具体规定</a:t>
              </a:r>
              <a:endParaRPr lang="zh-CN" altLang="en-US" sz="1600" b="1" dirty="0">
                <a:solidFill>
                  <a:srgbClr val="2C5BD3"/>
                </a:solidFill>
                <a:latin typeface="微软雅黑" panose="020B0503020204020204" charset="-122"/>
                <a:ea typeface="微软雅黑" panose="020B0503020204020204" charset="-122"/>
                <a:sym typeface="+mn-ea"/>
              </a:endParaRPr>
            </a:p>
          </p:txBody>
        </p:sp>
        <p:cxnSp>
          <p:nvCxnSpPr>
            <p:cNvPr id="16" name="直接连接符 15"/>
            <p:cNvCxnSpPr/>
            <p:nvPr/>
          </p:nvCxnSpPr>
          <p:spPr>
            <a:xfrm>
              <a:off x="1562100" y="2599920"/>
              <a:ext cx="7409180"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6" name="文本框 5"/>
          <p:cNvSpPr txBox="1"/>
          <p:nvPr/>
        </p:nvSpPr>
        <p:spPr>
          <a:xfrm>
            <a:off x="635000" y="4925060"/>
            <a:ext cx="10965815" cy="1680210"/>
          </a:xfrm>
          <a:prstGeom prst="rect">
            <a:avLst/>
          </a:prstGeom>
          <a:noFill/>
          <a:effectLst/>
        </p:spPr>
        <p:txBody>
          <a:bodyPr vert="horz" wrap="square" lIns="91440" tIns="45720" rIns="91440" bIns="45720" rtlCol="0">
            <a:noAutofit/>
          </a:bodyPr>
          <a:lstStyle/>
          <a:p>
            <a:pPr marL="285750" indent="-285750" algn="just" fontAlgn="auto">
              <a:lnSpc>
                <a:spcPts val="2000"/>
              </a:lnSpc>
              <a:spcAft>
                <a:spcPts val="200"/>
              </a:spcAft>
              <a:buFont typeface="Wingdings" panose="05000000000000000000" charset="0"/>
              <a:buChar char="Ø"/>
            </a:pPr>
            <a:r>
              <a:rPr lang="zh-CN" altLang="en-US" sz="1400" b="1" dirty="0">
                <a:solidFill>
                  <a:srgbClr val="0070C0"/>
                </a:solidFill>
                <a:latin typeface="微软雅黑" panose="020B0503020204020204" charset="-122"/>
                <a:ea typeface="微软雅黑" panose="020B0503020204020204" charset="-122"/>
                <a:cs typeface="微软雅黑" panose="020B0503020204020204" charset="-122"/>
                <a:sym typeface="+mn-ea"/>
              </a:rPr>
              <a:t>压</a:t>
            </a:r>
            <a:r>
              <a:rPr lang="zh-CN" altLang="en-US" sz="1400" b="1">
                <a:solidFill>
                  <a:srgbClr val="0070C0"/>
                </a:solidFill>
                <a:latin typeface="微软雅黑" panose="020B0503020204020204" charset="-122"/>
                <a:ea typeface="微软雅黑" panose="020B0503020204020204" charset="-122"/>
                <a:sym typeface="+mn-ea"/>
              </a:rPr>
              <a:t>实主体责任：</a:t>
            </a:r>
            <a:r>
              <a:rPr lang="zh-CN" altLang="en-US" sz="1400" b="1">
                <a:latin typeface="微软雅黑" panose="020B0503020204020204" charset="-122"/>
                <a:ea typeface="微软雅黑" panose="020B0503020204020204" charset="-122"/>
                <a:sym typeface="+mn-ea"/>
              </a:rPr>
              <a:t>企业主要负责人为第一责任人</a:t>
            </a:r>
            <a:r>
              <a:rPr lang="zh-CN" altLang="en-US" sz="1400">
                <a:latin typeface="微软雅黑" panose="020B0503020204020204" charset="-122"/>
                <a:ea typeface="微软雅黑" panose="020B0503020204020204" charset="-122"/>
                <a:sym typeface="+mn-ea"/>
              </a:rPr>
              <a:t>，全面牵头隐患排查治理工作，，对重大隐患排查治理工作全面负责。</a:t>
            </a:r>
            <a:endParaRPr lang="zh-CN" altLang="en-US" sz="1400">
              <a:latin typeface="微软雅黑" panose="020B0503020204020204" charset="-122"/>
              <a:ea typeface="微软雅黑" panose="020B0503020204020204" charset="-122"/>
              <a:sym typeface="+mn-ea"/>
            </a:endParaRPr>
          </a:p>
          <a:p>
            <a:pPr marL="285750" indent="-285750" algn="just" fontAlgn="auto">
              <a:lnSpc>
                <a:spcPts val="2000"/>
              </a:lnSpc>
              <a:spcAft>
                <a:spcPts val="200"/>
              </a:spcAft>
              <a:buClrTx/>
              <a:buSzTx/>
              <a:buFont typeface="Wingdings" panose="05000000000000000000" charset="0"/>
              <a:buChar char="Ø"/>
            </a:pPr>
            <a:r>
              <a:rPr lang="zh-CN" altLang="en-US" sz="1400" b="1">
                <a:solidFill>
                  <a:srgbClr val="0070C0"/>
                </a:solidFill>
                <a:latin typeface="微软雅黑" panose="020B0503020204020204" charset="-122"/>
                <a:ea typeface="微软雅黑" panose="020B0503020204020204" charset="-122"/>
                <a:sym typeface="+mn-ea"/>
              </a:rPr>
              <a:t>严守报告时限：</a:t>
            </a:r>
            <a:r>
              <a:rPr lang="zh-CN" altLang="en-US" sz="1400">
                <a:latin typeface="微软雅黑" panose="020B0503020204020204" charset="-122"/>
                <a:ea typeface="微软雅黑" panose="020B0503020204020204" charset="-122"/>
                <a:sym typeface="+mn-ea"/>
              </a:rPr>
              <a:t>发现</a:t>
            </a:r>
            <a:r>
              <a:rPr lang="zh-CN" altLang="en-US" sz="1400" b="1">
                <a:solidFill>
                  <a:srgbClr val="FF0000"/>
                </a:solidFill>
                <a:latin typeface="微软雅黑" panose="020B0503020204020204" charset="-122"/>
                <a:ea typeface="微软雅黑" panose="020B0503020204020204" charset="-122"/>
                <a:sym typeface="+mn-ea"/>
              </a:rPr>
              <a:t>重大隐患3个工作日内必须完成上报</a:t>
            </a:r>
            <a:r>
              <a:rPr lang="zh-CN" altLang="en-US" sz="1400">
                <a:latin typeface="微软雅黑" panose="020B0503020204020204" charset="-122"/>
                <a:ea typeface="微软雅黑" panose="020B0503020204020204" charset="-122"/>
                <a:sym typeface="+mn-ea"/>
              </a:rPr>
              <a:t>，涉及相邻单位、公共安全的，及时报备属地监管部门。</a:t>
            </a:r>
            <a:endParaRPr lang="zh-CN" altLang="en-US" sz="1400">
              <a:latin typeface="微软雅黑" panose="020B0503020204020204" charset="-122"/>
              <a:ea typeface="微软雅黑" panose="020B0503020204020204" charset="-122"/>
              <a:sym typeface="+mn-ea"/>
            </a:endParaRPr>
          </a:p>
          <a:p>
            <a:pPr marL="285750" indent="-285750" algn="just" fontAlgn="auto">
              <a:lnSpc>
                <a:spcPts val="2000"/>
              </a:lnSpc>
              <a:spcAft>
                <a:spcPts val="200"/>
              </a:spcAft>
              <a:buClrTx/>
              <a:buSzTx/>
              <a:buFont typeface="Wingdings" panose="05000000000000000000" charset="0"/>
              <a:buChar char="Ø"/>
            </a:pPr>
            <a:r>
              <a:rPr lang="zh-CN" altLang="en-US" sz="1400" b="1">
                <a:solidFill>
                  <a:srgbClr val="0070C0"/>
                </a:solidFill>
                <a:latin typeface="微软雅黑" panose="020B0503020204020204" charset="-122"/>
                <a:ea typeface="微软雅黑" panose="020B0503020204020204" charset="-122"/>
                <a:sym typeface="+mn-ea"/>
              </a:rPr>
              <a:t>从严</a:t>
            </a:r>
            <a:r>
              <a:rPr lang="zh-CN" altLang="en-US" sz="1400" b="1">
                <a:solidFill>
                  <a:srgbClr val="0070C0"/>
                </a:solidFill>
                <a:latin typeface="微软雅黑" panose="020B0503020204020204" charset="-122"/>
                <a:ea typeface="微软雅黑" panose="020B0503020204020204" charset="-122"/>
                <a:sym typeface="+mn-ea"/>
              </a:rPr>
              <a:t>管控治理：</a:t>
            </a:r>
            <a:r>
              <a:rPr lang="zh-CN" altLang="en-US" sz="1400">
                <a:latin typeface="微软雅黑" panose="020B0503020204020204" charset="-122"/>
                <a:ea typeface="微软雅黑" panose="020B0503020204020204" charset="-122"/>
                <a:sym typeface="+mn-ea"/>
              </a:rPr>
              <a:t>重大隐患必须</a:t>
            </a:r>
            <a:r>
              <a:rPr lang="zh-CN" altLang="en-US" sz="1400" b="1">
                <a:latin typeface="微软雅黑" panose="020B0503020204020204" charset="-122"/>
                <a:ea typeface="微软雅黑" panose="020B0503020204020204" charset="-122"/>
                <a:sym typeface="+mn-ea"/>
              </a:rPr>
              <a:t>建立管理台账、制定专项治理方案</a:t>
            </a:r>
            <a:r>
              <a:rPr lang="zh-CN" altLang="en-US" sz="1400">
                <a:latin typeface="微软雅黑" panose="020B0503020204020204" charset="-122"/>
                <a:ea typeface="微软雅黑" panose="020B0503020204020204" charset="-122"/>
                <a:sym typeface="+mn-ea"/>
              </a:rPr>
              <a:t>，落实管控措施；</a:t>
            </a:r>
            <a:r>
              <a:rPr lang="zh-CN" altLang="en-US" sz="1400" b="1">
                <a:latin typeface="微软雅黑" panose="020B0503020204020204" charset="-122"/>
                <a:ea typeface="微软雅黑" panose="020B0503020204020204" charset="-122"/>
                <a:sym typeface="+mn-ea"/>
              </a:rPr>
              <a:t>无法保障安全的，立即停建、停产、停业，撤离作业人员</a:t>
            </a:r>
            <a:r>
              <a:rPr lang="zh-CN" altLang="en-US" sz="1400">
                <a:latin typeface="微软雅黑" panose="020B0503020204020204" charset="-122"/>
                <a:ea typeface="微软雅黑" panose="020B0503020204020204" charset="-122"/>
                <a:sym typeface="+mn-ea"/>
              </a:rPr>
              <a:t>，严禁冒险作业。</a:t>
            </a:r>
            <a:endParaRPr lang="zh-CN" altLang="en-US" sz="1400">
              <a:latin typeface="微软雅黑" panose="020B0503020204020204" charset="-122"/>
              <a:ea typeface="微软雅黑" panose="020B0503020204020204" charset="-122"/>
              <a:sym typeface="+mn-ea"/>
            </a:endParaRPr>
          </a:p>
          <a:p>
            <a:pPr marL="285750" indent="-285750" algn="just" fontAlgn="auto">
              <a:lnSpc>
                <a:spcPts val="2000"/>
              </a:lnSpc>
              <a:spcAft>
                <a:spcPts val="200"/>
              </a:spcAft>
              <a:buClrTx/>
              <a:buSzTx/>
              <a:buFont typeface="Wingdings" panose="05000000000000000000" charset="0"/>
              <a:buChar char="Ø"/>
            </a:pPr>
            <a:r>
              <a:rPr lang="zh-CN" altLang="en-US" sz="1400" b="1">
                <a:solidFill>
                  <a:srgbClr val="0070C0"/>
                </a:solidFill>
                <a:latin typeface="微软雅黑" panose="020B0503020204020204" charset="-122"/>
                <a:ea typeface="微软雅黑" panose="020B0503020204020204" charset="-122"/>
                <a:sym typeface="+mn-ea"/>
              </a:rPr>
              <a:t>把关验收复产：</a:t>
            </a:r>
            <a:r>
              <a:rPr lang="zh-CN" altLang="en-US" sz="1400">
                <a:latin typeface="微软雅黑" panose="020B0503020204020204" charset="-122"/>
                <a:ea typeface="微软雅黑" panose="020B0503020204020204" charset="-122"/>
                <a:sym typeface="+mn-ea"/>
              </a:rPr>
              <a:t>隐患治理完成后，必须组织</a:t>
            </a:r>
            <a:r>
              <a:rPr lang="zh-CN" altLang="en-US" sz="1400" b="1">
                <a:latin typeface="微软雅黑" panose="020B0503020204020204" charset="-122"/>
                <a:ea typeface="微软雅黑" panose="020B0503020204020204" charset="-122"/>
                <a:sym typeface="+mn-ea"/>
              </a:rPr>
              <a:t>开展评估并将结果报告至上级监管部门，合规后方可复产复工</a:t>
            </a:r>
            <a:r>
              <a:rPr lang="zh-CN" altLang="en-US" sz="1400">
                <a:latin typeface="微软雅黑" panose="020B0503020204020204" charset="-122"/>
                <a:ea typeface="微软雅黑" panose="020B0503020204020204" charset="-122"/>
                <a:sym typeface="+mn-ea"/>
              </a:rPr>
              <a:t>，治理情况须及时向职工大会或职工代表大会报告。</a:t>
            </a:r>
            <a:endParaRPr lang="zh-CN" altLang="en-US" sz="1400">
              <a:latin typeface="微软雅黑" panose="020B0503020204020204" charset="-122"/>
              <a:ea typeface="微软雅黑" panose="020B0503020204020204" charset="-122"/>
              <a:sym typeface="+mn-ea"/>
            </a:endParaRPr>
          </a:p>
        </p:txBody>
      </p:sp>
      <p:sp>
        <p:nvSpPr>
          <p:cNvPr id="43" name="AutoShape 5"/>
          <p:cNvSpPr/>
          <p:nvPr/>
        </p:nvSpPr>
        <p:spPr>
          <a:xfrm>
            <a:off x="762000" y="2504440"/>
            <a:ext cx="2603500" cy="1068705"/>
          </a:xfrm>
          <a:prstGeom prst="roundRect">
            <a:avLst>
              <a:gd name="adj" fmla="val 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44" name="AutoShape 6"/>
          <p:cNvSpPr/>
          <p:nvPr/>
        </p:nvSpPr>
        <p:spPr>
          <a:xfrm>
            <a:off x="762000" y="2504440"/>
            <a:ext cx="76200" cy="1068705"/>
          </a:xfrm>
          <a:prstGeom prst="roundRect">
            <a:avLst>
              <a:gd name="adj" fmla="val 0"/>
            </a:avLst>
          </a:prstGeom>
          <a:solidFill>
            <a:srgbClr val="CC000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45" name="Picture 7"/>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2667000"/>
            <a:ext cx="355600" cy="355600"/>
          </a:xfrm>
          <a:prstGeom prst="rect">
            <a:avLst/>
          </a:prstGeom>
        </p:spPr>
      </p:pic>
      <p:sp>
        <p:nvSpPr>
          <p:cNvPr id="46" name="AutoShape 8"/>
          <p:cNvSpPr/>
          <p:nvPr/>
        </p:nvSpPr>
        <p:spPr>
          <a:xfrm>
            <a:off x="1498600" y="2641600"/>
            <a:ext cx="1651000" cy="76327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700" b="1" i="0" u="none" strike="noStrike">
                <a:solidFill>
                  <a:srgbClr val="1F2937"/>
                </a:solidFill>
                <a:latin typeface="微软雅黑" panose="020B0503020204020204" charset="-122"/>
                <a:ea typeface="微软雅黑" panose="020B0503020204020204" charset="-122"/>
                <a:cs typeface="Noto Sans SC" panose="020B0200000000000000" charset="-122"/>
                <a:sym typeface="Noto Sans SC" panose="020B0200000000000000" charset="-122"/>
              </a:rPr>
              <a:t>1.责任制度</a:t>
            </a:r>
            <a:endParaRPr lang="en-US" sz="1100">
              <a:latin typeface="微软雅黑" panose="020B0503020204020204" charset="-122"/>
              <a:ea typeface="微软雅黑" panose="020B0503020204020204" charset="-122"/>
            </a:endParaRPr>
          </a:p>
          <a:p>
            <a:pPr indent="0" algn="l">
              <a:lnSpc>
                <a:spcPct val="108000"/>
              </a:lnSpc>
              <a:spcBef>
                <a:spcPts val="800"/>
              </a:spcBef>
            </a:pPr>
            <a:r>
              <a:rPr lang="en-US" sz="1200" b="0" i="0" u="none" strike="noStrike">
                <a:solidFill>
                  <a:srgbClr val="6B7280"/>
                </a:solidFill>
                <a:latin typeface="微软雅黑" panose="020B0503020204020204" charset="-122"/>
                <a:ea typeface="微软雅黑" panose="020B0503020204020204" charset="-122"/>
                <a:cs typeface="Noto Sans SC" panose="020B0200000000000000" charset="-122"/>
                <a:sym typeface="Noto Sans SC" panose="020B0200000000000000" charset="-122"/>
              </a:rPr>
              <a:t>明确各层级、各岗位在隐患排查治理中的具体职责，确保责任到人。</a:t>
            </a:r>
            <a:endParaRPr lang="en-US" sz="1200" b="0" i="0" u="none" strike="noStrike">
              <a:solidFill>
                <a:srgbClr val="6B7280"/>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47" name="AutoShape 9"/>
          <p:cNvSpPr/>
          <p:nvPr/>
        </p:nvSpPr>
        <p:spPr>
          <a:xfrm>
            <a:off x="3556000" y="2504440"/>
            <a:ext cx="2603500" cy="1068705"/>
          </a:xfrm>
          <a:prstGeom prst="roundRect">
            <a:avLst>
              <a:gd name="adj" fmla="val 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48" name="AutoShape 10"/>
          <p:cNvSpPr/>
          <p:nvPr/>
        </p:nvSpPr>
        <p:spPr>
          <a:xfrm>
            <a:off x="3556000" y="2504440"/>
            <a:ext cx="76200" cy="1068705"/>
          </a:xfrm>
          <a:prstGeom prst="roundRect">
            <a:avLst>
              <a:gd name="adj" fmla="val 0"/>
            </a:avLst>
          </a:prstGeom>
          <a:solidFill>
            <a:srgbClr val="CC000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49" name="Picture 11"/>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810000" y="2667000"/>
            <a:ext cx="355600" cy="355600"/>
          </a:xfrm>
          <a:prstGeom prst="rect">
            <a:avLst/>
          </a:prstGeom>
        </p:spPr>
      </p:pic>
      <p:sp>
        <p:nvSpPr>
          <p:cNvPr id="50" name="AutoShape 12"/>
          <p:cNvSpPr/>
          <p:nvPr/>
        </p:nvSpPr>
        <p:spPr>
          <a:xfrm>
            <a:off x="4292600" y="2641600"/>
            <a:ext cx="1857375" cy="76327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700" b="1" i="0" u="none" strike="noStrike">
                <a:solidFill>
                  <a:srgbClr val="1F2937"/>
                </a:solidFill>
                <a:latin typeface="微软雅黑" panose="020B0503020204020204" charset="-122"/>
                <a:ea typeface="微软雅黑" panose="020B0503020204020204" charset="-122"/>
                <a:cs typeface="Noto Sans SC" panose="020B0200000000000000" charset="-122"/>
                <a:sym typeface="Noto Sans SC" panose="020B0200000000000000" charset="-122"/>
              </a:rPr>
              <a:t>2.排查制度</a:t>
            </a:r>
            <a:endParaRPr lang="en-US" sz="1100">
              <a:latin typeface="微软雅黑" panose="020B0503020204020204" charset="-122"/>
              <a:ea typeface="微软雅黑" panose="020B0503020204020204" charset="-122"/>
            </a:endParaRPr>
          </a:p>
          <a:p>
            <a:pPr indent="0" algn="l">
              <a:lnSpc>
                <a:spcPct val="108000"/>
              </a:lnSpc>
              <a:spcBef>
                <a:spcPts val="800"/>
              </a:spcBef>
            </a:pPr>
            <a:r>
              <a:rPr lang="en-US" sz="1200" b="0" i="0" u="none" strike="noStrike">
                <a:solidFill>
                  <a:srgbClr val="6B7280"/>
                </a:solidFill>
                <a:latin typeface="微软雅黑" panose="020B0503020204020204" charset="-122"/>
                <a:ea typeface="微软雅黑" panose="020B0503020204020204" charset="-122"/>
                <a:cs typeface="Noto Sans SC" panose="020B0200000000000000" charset="-122"/>
                <a:sym typeface="Noto Sans SC" panose="020B0200000000000000" charset="-122"/>
              </a:rPr>
              <a:t>明确排查事项、重点内容和排查周期，实现隐患排查的全面性与常态化。</a:t>
            </a:r>
            <a:endParaRPr lang="en-US" sz="1200" b="0" i="0" u="none" strike="noStrike">
              <a:solidFill>
                <a:srgbClr val="6B7280"/>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51" name="AutoShape 13"/>
          <p:cNvSpPr/>
          <p:nvPr/>
        </p:nvSpPr>
        <p:spPr>
          <a:xfrm>
            <a:off x="6350000" y="2504440"/>
            <a:ext cx="2603500" cy="1068705"/>
          </a:xfrm>
          <a:prstGeom prst="roundRect">
            <a:avLst>
              <a:gd name="adj" fmla="val 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52" name="AutoShape 14"/>
          <p:cNvSpPr/>
          <p:nvPr/>
        </p:nvSpPr>
        <p:spPr>
          <a:xfrm>
            <a:off x="6350000" y="2504440"/>
            <a:ext cx="76200" cy="1068705"/>
          </a:xfrm>
          <a:prstGeom prst="roundRect">
            <a:avLst>
              <a:gd name="adj" fmla="val 0"/>
            </a:avLst>
          </a:prstGeom>
          <a:solidFill>
            <a:srgbClr val="CC000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53" name="Picture 15"/>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604000" y="2667000"/>
            <a:ext cx="355600" cy="355600"/>
          </a:xfrm>
          <a:prstGeom prst="rect">
            <a:avLst/>
          </a:prstGeom>
        </p:spPr>
      </p:pic>
      <p:sp>
        <p:nvSpPr>
          <p:cNvPr id="54" name="AutoShape 16"/>
          <p:cNvSpPr/>
          <p:nvPr/>
        </p:nvSpPr>
        <p:spPr>
          <a:xfrm>
            <a:off x="7086600" y="2641600"/>
            <a:ext cx="1756410" cy="76327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700" b="1" i="0" u="none" strike="noStrike">
                <a:solidFill>
                  <a:srgbClr val="1F2937"/>
                </a:solidFill>
                <a:latin typeface="微软雅黑" panose="020B0503020204020204" charset="-122"/>
                <a:ea typeface="微软雅黑" panose="020B0503020204020204" charset="-122"/>
                <a:cs typeface="Noto Sans SC" panose="020B0200000000000000" charset="-122"/>
                <a:sym typeface="Noto Sans SC" panose="020B0200000000000000" charset="-122"/>
              </a:rPr>
              <a:t>3.治理流程制度</a:t>
            </a:r>
            <a:endParaRPr lang="en-US" sz="1100">
              <a:latin typeface="微软雅黑" panose="020B0503020204020204" charset="-122"/>
              <a:ea typeface="微软雅黑" panose="020B0503020204020204" charset="-122"/>
            </a:endParaRPr>
          </a:p>
          <a:p>
            <a:pPr indent="0" algn="l">
              <a:lnSpc>
                <a:spcPct val="108000"/>
              </a:lnSpc>
              <a:spcBef>
                <a:spcPts val="800"/>
              </a:spcBef>
            </a:pPr>
            <a:r>
              <a:rPr lang="en-US" sz="1200" b="0" i="0" u="none" strike="noStrike">
                <a:solidFill>
                  <a:srgbClr val="6B7280"/>
                </a:solidFill>
                <a:latin typeface="微软雅黑" panose="020B0503020204020204" charset="-122"/>
                <a:ea typeface="微软雅黑" panose="020B0503020204020204" charset="-122"/>
                <a:cs typeface="Noto Sans SC" panose="020B0200000000000000" charset="-122"/>
                <a:sym typeface="Noto Sans SC" panose="020B0200000000000000" charset="-122"/>
              </a:rPr>
              <a:t>规范隐患从发现、上报、整改、验收至销号的全流程管理，杜绝有头无尾。</a:t>
            </a:r>
            <a:endParaRPr lang="en-US" sz="1200" b="0" i="0" u="none" strike="noStrike">
              <a:solidFill>
                <a:srgbClr val="6B7280"/>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55" name="AutoShape 17"/>
          <p:cNvSpPr/>
          <p:nvPr/>
        </p:nvSpPr>
        <p:spPr>
          <a:xfrm>
            <a:off x="9080500" y="2504440"/>
            <a:ext cx="2407920" cy="1068705"/>
          </a:xfrm>
          <a:prstGeom prst="roundRect">
            <a:avLst>
              <a:gd name="adj" fmla="val 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56" name="AutoShape 18"/>
          <p:cNvSpPr/>
          <p:nvPr/>
        </p:nvSpPr>
        <p:spPr>
          <a:xfrm>
            <a:off x="9080500" y="2504440"/>
            <a:ext cx="76200" cy="1068705"/>
          </a:xfrm>
          <a:prstGeom prst="roundRect">
            <a:avLst>
              <a:gd name="adj" fmla="val 0"/>
            </a:avLst>
          </a:prstGeom>
          <a:solidFill>
            <a:srgbClr val="CC000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57" name="Picture 19"/>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334500" y="2667000"/>
            <a:ext cx="355600" cy="355600"/>
          </a:xfrm>
          <a:prstGeom prst="rect">
            <a:avLst/>
          </a:prstGeom>
        </p:spPr>
      </p:pic>
      <p:sp>
        <p:nvSpPr>
          <p:cNvPr id="58" name="AutoShape 20"/>
          <p:cNvSpPr/>
          <p:nvPr/>
        </p:nvSpPr>
        <p:spPr>
          <a:xfrm>
            <a:off x="9723755" y="2641600"/>
            <a:ext cx="1605915" cy="76327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700" b="1" i="0" u="none" strike="noStrike">
                <a:solidFill>
                  <a:srgbClr val="1F2937"/>
                </a:solidFill>
                <a:latin typeface="微软雅黑" panose="020B0503020204020204" charset="-122"/>
                <a:ea typeface="微软雅黑" panose="020B0503020204020204" charset="-122"/>
                <a:cs typeface="Noto Sans SC" panose="020B0200000000000000" charset="-122"/>
                <a:sym typeface="Noto Sans SC" panose="020B0200000000000000" charset="-122"/>
              </a:rPr>
              <a:t>4.评估制度</a:t>
            </a:r>
            <a:endParaRPr lang="en-US" sz="1100">
              <a:latin typeface="微软雅黑" panose="020B0503020204020204" charset="-122"/>
              <a:ea typeface="微软雅黑" panose="020B0503020204020204" charset="-122"/>
            </a:endParaRPr>
          </a:p>
          <a:p>
            <a:pPr indent="0" algn="l">
              <a:lnSpc>
                <a:spcPct val="108000"/>
              </a:lnSpc>
              <a:spcBef>
                <a:spcPts val="800"/>
              </a:spcBef>
            </a:pPr>
            <a:r>
              <a:rPr lang="en-US" sz="1200" b="0" i="0" u="none" strike="noStrike">
                <a:solidFill>
                  <a:srgbClr val="6B7280"/>
                </a:solidFill>
                <a:latin typeface="微软雅黑" panose="020B0503020204020204" charset="-122"/>
                <a:ea typeface="微软雅黑" panose="020B0503020204020204" charset="-122"/>
                <a:cs typeface="Noto Sans SC" panose="020B0200000000000000" charset="-122"/>
                <a:sym typeface="Noto Sans SC" panose="020B0200000000000000" charset="-122"/>
              </a:rPr>
              <a:t>对隐患治理的效果进行严格的评估和验收，确保整改措施落地见效。</a:t>
            </a:r>
            <a:endParaRPr lang="en-US" sz="1200" b="0" i="0" u="none" strike="noStrike">
              <a:solidFill>
                <a:srgbClr val="6B7280"/>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59" name="AutoShape 21"/>
          <p:cNvSpPr/>
          <p:nvPr/>
        </p:nvSpPr>
        <p:spPr>
          <a:xfrm>
            <a:off x="762000" y="3749040"/>
            <a:ext cx="3429000" cy="1068705"/>
          </a:xfrm>
          <a:prstGeom prst="roundRect">
            <a:avLst>
              <a:gd name="adj" fmla="val 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60" name="AutoShape 22"/>
          <p:cNvSpPr/>
          <p:nvPr/>
        </p:nvSpPr>
        <p:spPr>
          <a:xfrm>
            <a:off x="762000" y="3749040"/>
            <a:ext cx="76200" cy="1068705"/>
          </a:xfrm>
          <a:prstGeom prst="roundRect">
            <a:avLst>
              <a:gd name="adj" fmla="val 0"/>
            </a:avLst>
          </a:prstGeom>
          <a:solidFill>
            <a:srgbClr val="CC000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61" name="Picture 23"/>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16000" y="3911600"/>
            <a:ext cx="406400" cy="406400"/>
          </a:xfrm>
          <a:prstGeom prst="rect">
            <a:avLst/>
          </a:prstGeom>
        </p:spPr>
      </p:pic>
      <p:sp>
        <p:nvSpPr>
          <p:cNvPr id="62" name="AutoShape 24"/>
          <p:cNvSpPr/>
          <p:nvPr/>
        </p:nvSpPr>
        <p:spPr>
          <a:xfrm>
            <a:off x="1549400" y="3886200"/>
            <a:ext cx="2413000" cy="76327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700" b="1" i="0" u="none" strike="noStrike">
                <a:solidFill>
                  <a:srgbClr val="1F2937"/>
                </a:solidFill>
                <a:latin typeface="微软雅黑" panose="020B0503020204020204" charset="-122"/>
                <a:ea typeface="微软雅黑" panose="020B0503020204020204" charset="-122"/>
                <a:cs typeface="Noto Sans SC" panose="020B0200000000000000" charset="-122"/>
                <a:sym typeface="Noto Sans SC" panose="020B0200000000000000" charset="-122"/>
              </a:rPr>
              <a:t>5.培训制度</a:t>
            </a:r>
            <a:endParaRPr lang="en-US" sz="1100">
              <a:latin typeface="微软雅黑" panose="020B0503020204020204" charset="-122"/>
              <a:ea typeface="微软雅黑" panose="020B0503020204020204" charset="-122"/>
            </a:endParaRPr>
          </a:p>
          <a:p>
            <a:pPr indent="0" algn="l">
              <a:lnSpc>
                <a:spcPct val="108000"/>
              </a:lnSpc>
              <a:spcBef>
                <a:spcPts val="800"/>
              </a:spcBef>
            </a:pPr>
            <a:r>
              <a:rPr lang="en-US" sz="1200" b="0" i="0" u="none" strike="noStrike">
                <a:solidFill>
                  <a:srgbClr val="6B7280"/>
                </a:solidFill>
                <a:latin typeface="微软雅黑" panose="020B0503020204020204" charset="-122"/>
                <a:ea typeface="微软雅黑" panose="020B0503020204020204" charset="-122"/>
                <a:cs typeface="Noto Sans SC" panose="020B0200000000000000" charset="-122"/>
                <a:sym typeface="Noto Sans SC" panose="020B0200000000000000" charset="-122"/>
              </a:rPr>
              <a:t>定期开展全员安全与隐患排查能力培训，提升全员的风险辨识水平。</a:t>
            </a:r>
            <a:endParaRPr lang="en-US" sz="1200" b="0" i="0" u="none" strike="noStrike">
              <a:solidFill>
                <a:srgbClr val="6B7280"/>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63" name="AutoShape 25"/>
          <p:cNvSpPr/>
          <p:nvPr/>
        </p:nvSpPr>
        <p:spPr>
          <a:xfrm>
            <a:off x="4381500" y="3749040"/>
            <a:ext cx="3429000" cy="1068705"/>
          </a:xfrm>
          <a:prstGeom prst="roundRect">
            <a:avLst>
              <a:gd name="adj" fmla="val 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64" name="AutoShape 26"/>
          <p:cNvSpPr/>
          <p:nvPr/>
        </p:nvSpPr>
        <p:spPr>
          <a:xfrm>
            <a:off x="4381500" y="3749040"/>
            <a:ext cx="76200" cy="1068705"/>
          </a:xfrm>
          <a:prstGeom prst="roundRect">
            <a:avLst>
              <a:gd name="adj" fmla="val 0"/>
            </a:avLst>
          </a:prstGeom>
          <a:solidFill>
            <a:srgbClr val="CC000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65" name="Picture 27"/>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4635500" y="3911600"/>
            <a:ext cx="406400" cy="406400"/>
          </a:xfrm>
          <a:prstGeom prst="rect">
            <a:avLst/>
          </a:prstGeom>
        </p:spPr>
      </p:pic>
      <p:sp>
        <p:nvSpPr>
          <p:cNvPr id="66" name="AutoShape 28"/>
          <p:cNvSpPr/>
          <p:nvPr/>
        </p:nvSpPr>
        <p:spPr>
          <a:xfrm>
            <a:off x="5168900" y="3886200"/>
            <a:ext cx="2413000" cy="76327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700" b="1" i="0" u="none" strike="noStrike">
                <a:solidFill>
                  <a:srgbClr val="1F2937"/>
                </a:solidFill>
                <a:latin typeface="微软雅黑" panose="020B0503020204020204" charset="-122"/>
                <a:ea typeface="微软雅黑" panose="020B0503020204020204" charset="-122"/>
                <a:cs typeface="Noto Sans SC" panose="020B0200000000000000" charset="-122"/>
                <a:sym typeface="Noto Sans SC" panose="020B0200000000000000" charset="-122"/>
              </a:rPr>
              <a:t>6.奖励制度</a:t>
            </a:r>
            <a:endParaRPr lang="en-US" sz="1100">
              <a:latin typeface="微软雅黑" panose="020B0503020204020204" charset="-122"/>
              <a:ea typeface="微软雅黑" panose="020B0503020204020204" charset="-122"/>
            </a:endParaRPr>
          </a:p>
          <a:p>
            <a:pPr indent="0" algn="l">
              <a:lnSpc>
                <a:spcPct val="108000"/>
              </a:lnSpc>
              <a:spcBef>
                <a:spcPts val="800"/>
              </a:spcBef>
            </a:pPr>
            <a:r>
              <a:rPr lang="en-US" sz="1200" b="0" i="0" u="none" strike="noStrike">
                <a:solidFill>
                  <a:srgbClr val="6B7280"/>
                </a:solidFill>
                <a:latin typeface="微软雅黑" panose="020B0503020204020204" charset="-122"/>
                <a:ea typeface="微软雅黑" panose="020B0503020204020204" charset="-122"/>
                <a:cs typeface="Noto Sans SC" panose="020B0200000000000000" charset="-122"/>
                <a:sym typeface="Noto Sans SC" panose="020B0200000000000000" charset="-122"/>
              </a:rPr>
              <a:t>建立内部隐患主动报告与发现奖励机制，鼓励全员参与隐患排查治理。</a:t>
            </a:r>
            <a:endParaRPr lang="en-US" sz="1200" b="0" i="0" u="none" strike="noStrike">
              <a:solidFill>
                <a:srgbClr val="6B7280"/>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67" name="AutoShape 29"/>
          <p:cNvSpPr/>
          <p:nvPr/>
        </p:nvSpPr>
        <p:spPr>
          <a:xfrm>
            <a:off x="8001000" y="3749040"/>
            <a:ext cx="3512185" cy="1068705"/>
          </a:xfrm>
          <a:prstGeom prst="roundRect">
            <a:avLst>
              <a:gd name="adj" fmla="val 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68" name="AutoShape 30"/>
          <p:cNvSpPr/>
          <p:nvPr/>
        </p:nvSpPr>
        <p:spPr>
          <a:xfrm>
            <a:off x="8001000" y="3749040"/>
            <a:ext cx="76200" cy="1068705"/>
          </a:xfrm>
          <a:prstGeom prst="roundRect">
            <a:avLst>
              <a:gd name="adj" fmla="val 0"/>
            </a:avLst>
          </a:prstGeom>
          <a:solidFill>
            <a:srgbClr val="CC000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69" name="Picture 31"/>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255000" y="3911600"/>
            <a:ext cx="406400" cy="406400"/>
          </a:xfrm>
          <a:prstGeom prst="rect">
            <a:avLst/>
          </a:prstGeom>
        </p:spPr>
      </p:pic>
      <p:sp>
        <p:nvSpPr>
          <p:cNvPr id="70" name="AutoShape 32"/>
          <p:cNvSpPr/>
          <p:nvPr/>
        </p:nvSpPr>
        <p:spPr>
          <a:xfrm>
            <a:off x="8788400" y="3886200"/>
            <a:ext cx="2663825" cy="76327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700" b="1" i="0" u="none" strike="noStrike">
                <a:solidFill>
                  <a:srgbClr val="1F2937"/>
                </a:solidFill>
                <a:latin typeface="微软雅黑" panose="020B0503020204020204" charset="-122"/>
                <a:ea typeface="微软雅黑" panose="020B0503020204020204" charset="-122"/>
                <a:cs typeface="Noto Sans SC" panose="020B0200000000000000" charset="-122"/>
                <a:sym typeface="Noto Sans SC" panose="020B0200000000000000" charset="-122"/>
              </a:rPr>
              <a:t>7.保障制度</a:t>
            </a:r>
            <a:endParaRPr lang="en-US" sz="1100">
              <a:latin typeface="微软雅黑" panose="020B0503020204020204" charset="-122"/>
              <a:ea typeface="微软雅黑" panose="020B0503020204020204" charset="-122"/>
            </a:endParaRPr>
          </a:p>
          <a:p>
            <a:pPr indent="0" algn="l">
              <a:lnSpc>
                <a:spcPct val="108000"/>
              </a:lnSpc>
              <a:spcBef>
                <a:spcPts val="800"/>
              </a:spcBef>
            </a:pPr>
            <a:r>
              <a:rPr lang="en-US" sz="1200" b="0" i="0" u="none" strike="noStrike">
                <a:solidFill>
                  <a:srgbClr val="6B7280"/>
                </a:solidFill>
                <a:latin typeface="微软雅黑" panose="020B0503020204020204" charset="-122"/>
                <a:ea typeface="微软雅黑" panose="020B0503020204020204" charset="-122"/>
                <a:cs typeface="Noto Sans SC" panose="020B0200000000000000" charset="-122"/>
                <a:sym typeface="Noto Sans SC" panose="020B0200000000000000" charset="-122"/>
              </a:rPr>
              <a:t>为隐患排查治理工作提供必要的资金支持、专业人员配置及技术装备保障。</a:t>
            </a:r>
            <a:endParaRPr lang="en-US" sz="1200" b="0" i="0" u="none" strike="noStrike">
              <a:solidFill>
                <a:srgbClr val="6B7280"/>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2" name="灯片编号占位符 1"/>
          <p:cNvSpPr>
            <a:spLocks noGrp="1"/>
          </p:cNvSpPr>
          <p:nvPr>
            <p:ph type="sldNum" sz="quarter" idx="4294967295"/>
          </p:nvPr>
        </p:nvSpPr>
        <p:spPr>
          <a:xfrm>
            <a:off x="9997440" y="6499860"/>
            <a:ext cx="2133600" cy="365125"/>
          </a:xfrm>
        </p:spPr>
        <p:txBody>
          <a:bodyPr/>
          <a:lstStyle/>
          <a:p>
            <a:fld id="{A10E9369-8E4E-4DE7-B129-F0280ABC27D7}" type="slidenum">
              <a:rPr lang="zh-CN" altLang="en-US" smtClean="0"/>
            </a:fld>
            <a:endParaRPr lang="zh-CN" altLang="en-US" dirty="0"/>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C:\Users\Administrator\Desktop\B15会议文件封面-11.png"/>
          <p:cNvPicPr>
            <a:picLocks noChangeAspect="1" noChangeArrowheads="1"/>
          </p:cNvPicPr>
          <p:nvPr/>
        </p:nvPicPr>
        <p:blipFill>
          <a:blip r:embed="rId1" cstate="print">
            <a:extLst>
              <a:ext uri="{28A0092B-C50C-407E-A947-70E740481C1C}">
                <a14:useLocalDpi xmlns:a14="http://schemas.microsoft.com/office/drawing/2010/main" val="0"/>
              </a:ext>
            </a:extLst>
          </a:blip>
          <a:srcRect l="2368" r="22060" b="77960"/>
          <a:stretch>
            <a:fillRect/>
          </a:stretch>
        </p:blipFill>
        <p:spPr bwMode="auto">
          <a:xfrm>
            <a:off x="8904312" y="87923"/>
            <a:ext cx="3096344" cy="676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8"/>
          <p:cNvSpPr txBox="1"/>
          <p:nvPr/>
        </p:nvSpPr>
        <p:spPr>
          <a:xfrm>
            <a:off x="168275" y="347345"/>
            <a:ext cx="6793865" cy="491490"/>
          </a:xfrm>
          <a:prstGeom prst="rect">
            <a:avLst/>
          </a:prstGeom>
          <a:noFill/>
        </p:spPr>
        <p:txBody>
          <a:bodyPr wrap="square" rtlCol="0">
            <a:spAutoFit/>
          </a:bodyPr>
          <a:p>
            <a:pPr algn="l">
              <a:buClrTx/>
              <a:buSzTx/>
              <a:buFont typeface="Wingdings" panose="05000000000000000000" charset="0"/>
              <a:buNone/>
            </a:pPr>
            <a:r>
              <a:rPr lang="zh-CN" sz="2600" b="1">
                <a:latin typeface="微软雅黑" panose="020B0503020204020204" charset="-122"/>
                <a:ea typeface="微软雅黑" panose="020B0503020204020204" charset="-122"/>
                <a:sym typeface="+mn-ea"/>
              </a:rPr>
              <a:t>一、</a:t>
            </a:r>
            <a:r>
              <a:rPr lang="zh-CN" sz="2600" b="1">
                <a:latin typeface="微软雅黑" panose="020B0503020204020204" charset="-122"/>
                <a:ea typeface="微软雅黑" panose="020B0503020204020204" charset="-122"/>
                <a:sym typeface="+mn-ea"/>
              </a:rPr>
              <a:t>国家发改委第41号令宣贯</a:t>
            </a:r>
            <a:endParaRPr sz="2600" b="1">
              <a:solidFill>
                <a:schemeClr val="tx1"/>
              </a:solidFill>
              <a:latin typeface="微软雅黑" panose="020B0503020204020204" charset="-122"/>
              <a:ea typeface="微软雅黑" panose="020B0503020204020204" charset="-122"/>
            </a:endParaRPr>
          </a:p>
        </p:txBody>
      </p:sp>
      <p:sp>
        <p:nvSpPr>
          <p:cNvPr id="9" name="矩形 8"/>
          <p:cNvSpPr/>
          <p:nvPr/>
        </p:nvSpPr>
        <p:spPr>
          <a:xfrm>
            <a:off x="400685" y="1022350"/>
            <a:ext cx="6733540" cy="467360"/>
          </a:xfrm>
          <a:prstGeom prst="rect">
            <a:avLst/>
          </a:prstGeom>
          <a:gradFill>
            <a:gsLst>
              <a:gs pos="0">
                <a:schemeClr val="accent1">
                  <a:lumMod val="5000"/>
                  <a:lumOff val="95000"/>
                </a:schemeClr>
              </a:gs>
              <a:gs pos="40000">
                <a:schemeClr val="accent1">
                  <a:lumMod val="59000"/>
                  <a:lumOff val="41000"/>
                </a:schemeClr>
              </a:gs>
              <a:gs pos="72000">
                <a:schemeClr val="accent1">
                  <a:lumMod val="45000"/>
                  <a:lumOff val="55000"/>
                </a:schemeClr>
              </a:gs>
              <a:gs pos="100000">
                <a:schemeClr val="accent1">
                  <a:lumMod val="30000"/>
                  <a:lumOff val="70000"/>
                </a:schemeClr>
              </a:gs>
            </a:gsLst>
            <a:lin ang="108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indent="457200" algn="l" fontAlgn="auto"/>
            <a:r>
              <a:rPr lang="zh-CN" altLang="en-US" b="1">
                <a:solidFill>
                  <a:schemeClr val="tx1"/>
                </a:solidFill>
                <a:latin typeface="微软雅黑" panose="020B0503020204020204" charset="-122"/>
                <a:ea typeface="微软雅黑" panose="020B0503020204020204" charset="-122"/>
              </a:rPr>
              <a:t>第四章</a:t>
            </a:r>
            <a:r>
              <a:rPr lang="en-US" altLang="zh-CN" b="1">
                <a:solidFill>
                  <a:schemeClr val="tx1"/>
                </a:solidFill>
                <a:latin typeface="微软雅黑" panose="020B0503020204020204" charset="-122"/>
                <a:ea typeface="微软雅黑" panose="020B0503020204020204" charset="-122"/>
              </a:rPr>
              <a:t>  </a:t>
            </a:r>
            <a:r>
              <a:rPr lang="zh-CN" altLang="en-US" b="1">
                <a:solidFill>
                  <a:schemeClr val="tx1"/>
                </a:solidFill>
                <a:latin typeface="微软雅黑" panose="020B0503020204020204" charset="-122"/>
                <a:ea typeface="微软雅黑" panose="020B0503020204020204" charset="-122"/>
              </a:rPr>
              <a:t>监督</a:t>
            </a:r>
            <a:r>
              <a:rPr lang="zh-CN" altLang="en-US" b="1">
                <a:solidFill>
                  <a:schemeClr val="tx1"/>
                </a:solidFill>
                <a:latin typeface="微软雅黑" panose="020B0503020204020204" charset="-122"/>
                <a:ea typeface="微软雅黑" panose="020B0503020204020204" charset="-122"/>
              </a:rPr>
              <a:t>管理</a:t>
            </a:r>
            <a:endParaRPr lang="zh-CN" altLang="en-US" b="1">
              <a:solidFill>
                <a:schemeClr val="tx1"/>
              </a:solidFill>
              <a:latin typeface="微软雅黑" panose="020B0503020204020204" charset="-122"/>
              <a:ea typeface="微软雅黑" panose="020B0503020204020204" charset="-122"/>
            </a:endParaRPr>
          </a:p>
        </p:txBody>
      </p:sp>
      <p:grpSp>
        <p:nvGrpSpPr>
          <p:cNvPr id="11" name="组合 10"/>
          <p:cNvGrpSpPr/>
          <p:nvPr/>
        </p:nvGrpSpPr>
        <p:grpSpPr>
          <a:xfrm>
            <a:off x="339725" y="1614170"/>
            <a:ext cx="11306175" cy="3729355"/>
            <a:chOff x="1243675" y="2175765"/>
            <a:chExt cx="8175137" cy="1931528"/>
          </a:xfrm>
        </p:grpSpPr>
        <p:sp>
          <p:nvSpPr>
            <p:cNvPr id="13" name="矩形: 圆顶角 77"/>
            <p:cNvSpPr/>
            <p:nvPr/>
          </p:nvSpPr>
          <p:spPr>
            <a:xfrm>
              <a:off x="1243675" y="2175765"/>
              <a:ext cx="8175137" cy="1931528"/>
            </a:xfrm>
            <a:prstGeom prst="round2SameRect">
              <a:avLst>
                <a:gd name="adj1" fmla="val 6255"/>
                <a:gd name="adj2" fmla="val 0"/>
              </a:avLst>
            </a:prstGeom>
            <a:gradFill flip="none" rotWithShape="1">
              <a:gsLst>
                <a:gs pos="0">
                  <a:schemeClr val="bg1"/>
                </a:gs>
                <a:gs pos="100000">
                  <a:schemeClr val="bg1">
                    <a:alpha val="0"/>
                  </a:schemeClr>
                </a:gs>
              </a:gsLst>
              <a:lin ang="5400000" scaled="1"/>
              <a:tileRect/>
            </a:gradFill>
            <a:ln>
              <a:noFill/>
            </a:ln>
            <a:effectLst>
              <a:outerShdw blurRad="101600" dist="38100" dir="16200000" rotWithShape="0">
                <a:schemeClr val="accent1">
                  <a:lumMod val="5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14" name="文本框 13"/>
            <p:cNvSpPr txBox="1"/>
            <p:nvPr/>
          </p:nvSpPr>
          <p:spPr>
            <a:xfrm>
              <a:off x="1483810" y="2270812"/>
              <a:ext cx="7779810" cy="521608"/>
            </a:xfrm>
            <a:prstGeom prst="rect">
              <a:avLst/>
            </a:prstGeom>
            <a:noFill/>
            <a:effectLst/>
          </p:spPr>
          <p:txBody>
            <a:bodyPr vert="horz" wrap="square" lIns="91440" tIns="45720" rIns="91440" bIns="45720" rtlCol="0">
              <a:noAutofit/>
            </a:bodyPr>
            <a:lstStyle>
              <a:defPPr>
                <a:defRPr lang="zh-CN"/>
              </a:defPPr>
              <a:lvl1pPr defTabSz="878205">
                <a:defRPr sz="2000" kern="100">
                  <a:gradFill flip="none" rotWithShape="1">
                    <a:gsLst>
                      <a:gs pos="0">
                        <a:srgbClr val="3465DD"/>
                      </a:gs>
                      <a:gs pos="100000">
                        <a:srgbClr val="0D35AD"/>
                      </a:gs>
                    </a:gsLst>
                    <a:lin ang="0" scaled="1"/>
                    <a:tileRect/>
                  </a:gradFill>
                  <a:effectLst>
                    <a:outerShdw blurRad="50800" dist="38100" dir="5400000" algn="t" rotWithShape="0">
                      <a:srgbClr val="0D35AD">
                        <a:alpha val="17000"/>
                      </a:srgbClr>
                    </a:outerShdw>
                  </a:effectLst>
                  <a:latin typeface="+mj-ea"/>
                  <a:ea typeface="+mj-ea"/>
                </a:defRPr>
              </a:lvl1pPr>
            </a:lstStyle>
            <a:p>
              <a:pPr marL="0" lvl="1" indent="385445" algn="l" fontAlgn="auto">
                <a:lnSpc>
                  <a:spcPts val="2700"/>
                </a:lnSpc>
                <a:buClrTx/>
                <a:buSzTx/>
                <a:buFontTx/>
              </a:pPr>
              <a:r>
                <a:rPr lang="zh-CN" altLang="en-US" b="1">
                  <a:solidFill>
                    <a:srgbClr val="2C5BD3"/>
                  </a:solidFill>
                  <a:latin typeface="微软雅黑" panose="020B0503020204020204" charset="-122"/>
                  <a:ea typeface="微软雅黑" panose="020B0503020204020204" charset="-122"/>
                  <a:sym typeface="+mn-ea"/>
                </a:rPr>
                <a:t>第四章为监督管理，</a:t>
              </a:r>
              <a:r>
                <a:rPr lang="zh-CN" altLang="en-US" b="1">
                  <a:solidFill>
                    <a:srgbClr val="2C5BD3"/>
                  </a:solidFill>
                  <a:latin typeface="微软雅黑" panose="020B0503020204020204" charset="-122"/>
                  <a:ea typeface="微软雅黑" panose="020B0503020204020204" charset="-122"/>
                  <a:sym typeface="+mn-ea"/>
                </a:rPr>
                <a:t>共</a:t>
              </a:r>
              <a:r>
                <a:rPr lang="zh-CN" altLang="en-US" b="1" i="1" u="sng">
                  <a:solidFill>
                    <a:srgbClr val="2C5BD3"/>
                  </a:solidFill>
                  <a:latin typeface="微软雅黑" panose="020B0503020204020204" charset="-122"/>
                  <a:ea typeface="微软雅黑" panose="020B0503020204020204" charset="-122"/>
                  <a:sym typeface="+mn-ea"/>
                </a:rPr>
                <a:t>5条</a:t>
              </a:r>
              <a:r>
                <a:rPr lang="zh-CN" altLang="en-US" kern="100" noProof="0" dirty="0">
                  <a:ln>
                    <a:noFill/>
                  </a:ln>
                  <a:solidFill>
                    <a:prstClr val="black"/>
                  </a:solidFill>
                  <a:effectLst/>
                  <a:uLnTx/>
                  <a:uFillTx/>
                  <a:latin typeface="楷体" panose="02010609060101010101" charset="-122"/>
                  <a:ea typeface="楷体" panose="02010609060101010101" charset="-122"/>
                  <a:cs typeface="微软雅黑" panose="020B0503020204020204" charset="-122"/>
                  <a:sym typeface="+mn-ea"/>
                </a:rPr>
                <a:t>（第二十六条至第二十九条）</a:t>
              </a:r>
              <a:r>
                <a:rPr lang="zh-CN" altLang="en-US" b="1">
                  <a:solidFill>
                    <a:srgbClr val="2C5BD3"/>
                  </a:solidFill>
                  <a:latin typeface="微软雅黑" panose="020B0503020204020204" charset="-122"/>
                  <a:ea typeface="微软雅黑" panose="020B0503020204020204" charset="-122"/>
                  <a:sym typeface="+mn-ea"/>
                </a:rPr>
                <a:t>，对监督管理部门的责任进行细化</a:t>
              </a:r>
              <a:endParaRPr lang="zh-CN" altLang="en-US" b="1">
                <a:solidFill>
                  <a:srgbClr val="2C5BD3"/>
                </a:solidFill>
                <a:latin typeface="微软雅黑" panose="020B0503020204020204" charset="-122"/>
                <a:ea typeface="微软雅黑" panose="020B0503020204020204" charset="-122"/>
                <a:sym typeface="+mn-ea"/>
              </a:endParaRPr>
            </a:p>
            <a:p>
              <a:pPr marL="0" lvl="1" indent="385445" algn="l" fontAlgn="auto">
                <a:lnSpc>
                  <a:spcPts val="2700"/>
                </a:lnSpc>
                <a:buClrTx/>
                <a:buSzTx/>
                <a:buFontTx/>
              </a:pPr>
              <a:endParaRPr lang="zh-CN" altLang="en-US" b="1" dirty="0">
                <a:solidFill>
                  <a:srgbClr val="2C5BD3"/>
                </a:solidFill>
                <a:latin typeface="微软雅黑" panose="020B0503020204020204" charset="-122"/>
                <a:ea typeface="微软雅黑" panose="020B0503020204020204" charset="-122"/>
                <a:sym typeface="+mn-ea"/>
              </a:endParaRPr>
            </a:p>
          </p:txBody>
        </p:sp>
        <p:cxnSp>
          <p:nvCxnSpPr>
            <p:cNvPr id="16" name="直接连接符 15"/>
            <p:cNvCxnSpPr/>
            <p:nvPr/>
          </p:nvCxnSpPr>
          <p:spPr>
            <a:xfrm>
              <a:off x="1562100" y="2533486"/>
              <a:ext cx="7409180"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5" name="AutoShape 5"/>
          <p:cNvSpPr/>
          <p:nvPr>
            <p:custDataLst>
              <p:tags r:id="rId2"/>
            </p:custDataLst>
          </p:nvPr>
        </p:nvSpPr>
        <p:spPr>
          <a:xfrm>
            <a:off x="762000" y="2529840"/>
            <a:ext cx="3314700" cy="2032000"/>
          </a:xfrm>
          <a:prstGeom prst="roundRect">
            <a:avLst>
              <a:gd name="adj" fmla="val 500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sz="2000">
              <a:latin typeface="微软雅黑" panose="020B0503020204020204" charset="-122"/>
              <a:ea typeface="微软雅黑" panose="020B0503020204020204" charset="-122"/>
            </a:endParaRPr>
          </a:p>
        </p:txBody>
      </p:sp>
      <p:pic>
        <p:nvPicPr>
          <p:cNvPr id="2" name="Picture 6"/>
          <p:cNvPicPr>
            <a:picLocks noChangeAspect="1"/>
          </p:cNvPicPr>
          <p:nvPr>
            <p:custDataLst>
              <p:tags r:id="rId3"/>
            </p:custDataLst>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2720340"/>
            <a:ext cx="431165" cy="355600"/>
          </a:xfrm>
          <a:prstGeom prst="rect">
            <a:avLst/>
          </a:prstGeom>
        </p:spPr>
      </p:pic>
      <p:sp>
        <p:nvSpPr>
          <p:cNvPr id="7" name="AutoShape 7"/>
          <p:cNvSpPr/>
          <p:nvPr>
            <p:custDataLst>
              <p:tags r:id="rId6"/>
            </p:custDataLst>
          </p:nvPr>
        </p:nvSpPr>
        <p:spPr>
          <a:xfrm>
            <a:off x="1397000" y="2682240"/>
            <a:ext cx="2312035" cy="75692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b="1" i="0" u="none" strike="noStrike">
                <a:solidFill>
                  <a:srgbClr val="1F2937"/>
                </a:solidFill>
                <a:latin typeface="微软雅黑" panose="020B0503020204020204" charset="-122"/>
                <a:ea typeface="微软雅黑" panose="020B0503020204020204" charset="-122"/>
                <a:cs typeface="Noto Sans SC" panose="020B0200000000000000" charset="-122"/>
                <a:sym typeface="Noto Sans SC" panose="020B0200000000000000" charset="-122"/>
              </a:rPr>
              <a:t>信息报送</a:t>
            </a:r>
            <a:endParaRPr lang="zh-CN" altLang="en-US" b="1" i="0" u="none" strike="noStrike">
              <a:solidFill>
                <a:srgbClr val="1F2937"/>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p>
            <a:pPr indent="0" algn="l">
              <a:lnSpc>
                <a:spcPct val="125000"/>
              </a:lnSpc>
              <a:defRPr/>
            </a:pPr>
            <a:r>
              <a:rPr lang="zh-CN" altLang="en-US" b="1" i="0" u="none" strike="noStrike">
                <a:solidFill>
                  <a:srgbClr val="1F2937"/>
                </a:solidFill>
                <a:latin typeface="微软雅黑" panose="020B0503020204020204" charset="-122"/>
                <a:ea typeface="微软雅黑" panose="020B0503020204020204" charset="-122"/>
                <a:cs typeface="Noto Sans SC" panose="020B0200000000000000" charset="-122"/>
                <a:sym typeface="Noto Sans SC" panose="020B0200000000000000" charset="-122"/>
              </a:rPr>
              <a:t>（第二十六条）</a:t>
            </a:r>
            <a:endParaRPr lang="zh-CN" altLang="en-US" b="1" i="0" u="none" strike="noStrike">
              <a:solidFill>
                <a:srgbClr val="1F2937"/>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3" name="AutoShape 8"/>
          <p:cNvSpPr/>
          <p:nvPr>
            <p:custDataLst>
              <p:tags r:id="rId7"/>
            </p:custDataLst>
          </p:nvPr>
        </p:nvSpPr>
        <p:spPr>
          <a:xfrm>
            <a:off x="952500" y="3355340"/>
            <a:ext cx="2851785" cy="1016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zh-CN" altLang="en-US" sz="1400" b="0" i="0" u="none" strike="noStrike">
                <a:solidFill>
                  <a:srgbClr val="4B5563"/>
                </a:solidFill>
                <a:latin typeface="微软雅黑" panose="020B0503020204020204" charset="-122"/>
                <a:ea typeface="微软雅黑" panose="020B0503020204020204" charset="-122"/>
                <a:cs typeface="Noto Sans SC" panose="020B0200000000000000" charset="-122"/>
                <a:sym typeface="Noto Sans SC" panose="020B0200000000000000" charset="-122"/>
              </a:rPr>
              <a:t>监督机构应将检查发现或企业报送的重大隐患情况，于</a:t>
            </a:r>
            <a:r>
              <a:rPr lang="zh-CN" altLang="en-US" sz="1400" b="1" i="0" u="none" strike="noStrike">
                <a:solidFill>
                  <a:srgbClr val="C00000"/>
                </a:solidFill>
                <a:latin typeface="微软雅黑" panose="020B0503020204020204" charset="-122"/>
                <a:ea typeface="微软雅黑" panose="020B0503020204020204" charset="-122"/>
                <a:cs typeface="Noto Sans SC" panose="020B0200000000000000" charset="-122"/>
                <a:sym typeface="Noto Sans SC" panose="020B0200000000000000" charset="-122"/>
              </a:rPr>
              <a:t>10个工作日</a:t>
            </a:r>
            <a:r>
              <a:rPr lang="zh-CN" altLang="en-US" sz="1400" b="0" i="0" u="none" strike="noStrike">
                <a:solidFill>
                  <a:srgbClr val="4B5563"/>
                </a:solidFill>
                <a:latin typeface="微软雅黑" panose="020B0503020204020204" charset="-122"/>
                <a:ea typeface="微软雅黑" panose="020B0503020204020204" charset="-122"/>
                <a:cs typeface="Noto Sans SC" panose="020B0200000000000000" charset="-122"/>
                <a:sym typeface="Noto Sans SC" panose="020B0200000000000000" charset="-122"/>
              </a:rPr>
              <a:t>内逐级报送至国家能源局。</a:t>
            </a:r>
            <a:endParaRPr lang="zh-CN" altLang="en-US" sz="1400" b="0" i="0" u="none" strike="noStrike">
              <a:solidFill>
                <a:srgbClr val="4B5563"/>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4" name="AutoShape 9"/>
          <p:cNvSpPr/>
          <p:nvPr>
            <p:custDataLst>
              <p:tags r:id="rId8"/>
            </p:custDataLst>
          </p:nvPr>
        </p:nvSpPr>
        <p:spPr>
          <a:xfrm>
            <a:off x="4344670" y="2529840"/>
            <a:ext cx="3314700" cy="2032000"/>
          </a:xfrm>
          <a:prstGeom prst="roundRect">
            <a:avLst>
              <a:gd name="adj" fmla="val 500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sz="2000">
              <a:latin typeface="微软雅黑" panose="020B0503020204020204" charset="-122"/>
              <a:ea typeface="微软雅黑" panose="020B0503020204020204" charset="-122"/>
            </a:endParaRPr>
          </a:p>
        </p:txBody>
      </p:sp>
      <p:pic>
        <p:nvPicPr>
          <p:cNvPr id="10" name="Picture 10"/>
          <p:cNvPicPr>
            <a:picLocks noChangeAspect="1"/>
          </p:cNvPicPr>
          <p:nvPr>
            <p:custDataLst>
              <p:tags r:id="rId9"/>
            </p:custDataLst>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4535170" y="2720340"/>
            <a:ext cx="431165" cy="355600"/>
          </a:xfrm>
          <a:prstGeom prst="rect">
            <a:avLst/>
          </a:prstGeom>
        </p:spPr>
      </p:pic>
      <p:sp>
        <p:nvSpPr>
          <p:cNvPr id="15" name="AutoShape 11"/>
          <p:cNvSpPr/>
          <p:nvPr>
            <p:custDataLst>
              <p:tags r:id="rId12"/>
            </p:custDataLst>
          </p:nvPr>
        </p:nvSpPr>
        <p:spPr>
          <a:xfrm>
            <a:off x="4979670" y="2682240"/>
            <a:ext cx="2312035" cy="6731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b="1" i="0" u="none" strike="noStrike">
                <a:solidFill>
                  <a:srgbClr val="1F2937"/>
                </a:solidFill>
                <a:latin typeface="微软雅黑" panose="020B0503020204020204" charset="-122"/>
                <a:ea typeface="微软雅黑" panose="020B0503020204020204" charset="-122"/>
                <a:cs typeface="Noto Sans SC" panose="020B0200000000000000" charset="-122"/>
                <a:sym typeface="Noto Sans SC" panose="020B0200000000000000" charset="-122"/>
              </a:rPr>
              <a:t>督办机制</a:t>
            </a:r>
            <a:endParaRPr lang="zh-CN" altLang="en-US" b="1" i="0" u="none" strike="noStrike">
              <a:solidFill>
                <a:srgbClr val="1F2937"/>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p>
            <a:pPr indent="0" algn="l">
              <a:lnSpc>
                <a:spcPct val="125000"/>
              </a:lnSpc>
              <a:defRPr/>
            </a:pPr>
            <a:r>
              <a:rPr lang="zh-CN" altLang="en-US" b="1">
                <a:solidFill>
                  <a:srgbClr val="1F2937"/>
                </a:solidFill>
                <a:latin typeface="微软雅黑" panose="020B0503020204020204" charset="-122"/>
                <a:ea typeface="微软雅黑" panose="020B0503020204020204" charset="-122"/>
                <a:cs typeface="Noto Sans SC" panose="020B0200000000000000" charset="-122"/>
                <a:sym typeface="Noto Sans SC" panose="020B0200000000000000" charset="-122"/>
              </a:rPr>
              <a:t>（第二十六条）</a:t>
            </a:r>
            <a:endParaRPr lang="zh-CN" altLang="en-US" b="1" i="0" u="none" strike="noStrike">
              <a:solidFill>
                <a:srgbClr val="1F2937"/>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17" name="AutoShape 12"/>
          <p:cNvSpPr/>
          <p:nvPr>
            <p:custDataLst>
              <p:tags r:id="rId13"/>
            </p:custDataLst>
          </p:nvPr>
        </p:nvSpPr>
        <p:spPr>
          <a:xfrm>
            <a:off x="4535170" y="3355340"/>
            <a:ext cx="2851785" cy="1016000"/>
          </a:xfrm>
          <a:prstGeom prst="rect">
            <a:avLst/>
          </a:prstGeom>
          <a:noFill/>
          <a:ln w="12700" cap="flat" cmpd="sng">
            <a:noFill/>
            <a:prstDash val="solid"/>
            <a:round/>
          </a:ln>
        </p:spPr>
        <p:txBody>
          <a:bodyPr vert="horz" wrap="square" lIns="0" tIns="0" rIns="0" bIns="0" rtlCol="0" anchor="ctr" anchorCtr="0"/>
          <a:lstStyle/>
          <a:p>
            <a:pPr algn="l">
              <a:lnSpc>
                <a:spcPct val="108000"/>
              </a:lnSpc>
              <a:buClrTx/>
              <a:buSzTx/>
              <a:buFontTx/>
              <a:defRPr/>
            </a:pPr>
            <a:r>
              <a:rPr lang="zh-CN" altLang="en-US" sz="1400" b="0" i="0" u="none" strike="noStrike">
                <a:solidFill>
                  <a:srgbClr val="4B5563"/>
                </a:solidFill>
                <a:latin typeface="微软雅黑" panose="020B0503020204020204" charset="-122"/>
                <a:ea typeface="微软雅黑" panose="020B0503020204020204" charset="-122"/>
                <a:cs typeface="Noto Sans SC" panose="020B0200000000000000" charset="-122"/>
                <a:sym typeface="Noto Sans SC" panose="020B0200000000000000" charset="-122"/>
              </a:rPr>
              <a:t>对整改难度大、整改时间长的隐患，监管机构可进行</a:t>
            </a:r>
            <a:r>
              <a:rPr lang="zh-CN" altLang="en-US" sz="1400" b="1" i="0" u="none" strike="noStrike">
                <a:solidFill>
                  <a:srgbClr val="C00000"/>
                </a:solidFill>
                <a:latin typeface="微软雅黑" panose="020B0503020204020204" charset="-122"/>
                <a:ea typeface="微软雅黑" panose="020B0503020204020204" charset="-122"/>
                <a:cs typeface="Noto Sans SC" panose="020B0200000000000000" charset="-122"/>
                <a:sym typeface="Noto Sans SC" panose="020B0200000000000000" charset="-122"/>
              </a:rPr>
              <a:t>挂牌督办</a:t>
            </a:r>
            <a:r>
              <a:rPr lang="zh-CN" altLang="en-US" sz="1400" i="0" u="none" strike="noStrike">
                <a:solidFill>
                  <a:srgbClr val="4B5563"/>
                </a:solidFill>
                <a:latin typeface="微软雅黑" panose="020B0503020204020204" charset="-122"/>
                <a:ea typeface="微软雅黑" panose="020B0503020204020204" charset="-122"/>
                <a:cs typeface="Noto Sans SC" panose="020B0200000000000000" charset="-122"/>
                <a:sym typeface="Noto Sans SC" panose="020B0200000000000000" charset="-122"/>
              </a:rPr>
              <a:t>，并下发含整改要求、期限的督办通知单。</a:t>
            </a:r>
            <a:endParaRPr lang="zh-CN" altLang="en-US" sz="1400" i="0" u="none" strike="noStrike">
              <a:solidFill>
                <a:srgbClr val="4B5563"/>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18" name="AutoShape 13"/>
          <p:cNvSpPr/>
          <p:nvPr/>
        </p:nvSpPr>
        <p:spPr>
          <a:xfrm>
            <a:off x="762000" y="4711065"/>
            <a:ext cx="4932680" cy="1765935"/>
          </a:xfrm>
          <a:prstGeom prst="roundRect">
            <a:avLst>
              <a:gd name="adj" fmla="val 500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sz="2000">
              <a:latin typeface="微软雅黑" panose="020B0503020204020204" charset="-122"/>
              <a:ea typeface="微软雅黑" panose="020B0503020204020204" charset="-122"/>
            </a:endParaRPr>
          </a:p>
        </p:txBody>
      </p:sp>
      <p:pic>
        <p:nvPicPr>
          <p:cNvPr id="19" name="Picture 14"/>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52500" y="4909820"/>
            <a:ext cx="355600" cy="355600"/>
          </a:xfrm>
          <a:prstGeom prst="rect">
            <a:avLst/>
          </a:prstGeom>
        </p:spPr>
      </p:pic>
      <p:sp>
        <p:nvSpPr>
          <p:cNvPr id="20" name="AutoShape 15"/>
          <p:cNvSpPr/>
          <p:nvPr/>
        </p:nvSpPr>
        <p:spPr>
          <a:xfrm>
            <a:off x="1397000" y="4871720"/>
            <a:ext cx="323088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b="1" i="0" u="none" strike="noStrike">
                <a:solidFill>
                  <a:srgbClr val="1F2937"/>
                </a:solidFill>
                <a:latin typeface="微软雅黑" panose="020B0503020204020204" charset="-122"/>
                <a:ea typeface="微软雅黑" panose="020B0503020204020204" charset="-122"/>
                <a:cs typeface="Noto Sans SC" panose="020B0200000000000000" charset="-122"/>
                <a:sym typeface="Noto Sans SC" panose="020B0200000000000000" charset="-122"/>
              </a:rPr>
              <a:t>信息化管理</a:t>
            </a:r>
            <a:r>
              <a:rPr lang="zh-CN" altLang="en-US" b="1" i="0" u="none" strike="noStrike">
                <a:solidFill>
                  <a:srgbClr val="1F2937"/>
                </a:solidFill>
                <a:latin typeface="微软雅黑" panose="020B0503020204020204" charset="-122"/>
                <a:ea typeface="微软雅黑" panose="020B0503020204020204" charset="-122"/>
                <a:cs typeface="Noto Sans SC" panose="020B0200000000000000" charset="-122"/>
                <a:sym typeface="Noto Sans SC" panose="020B0200000000000000" charset="-122"/>
              </a:rPr>
              <a:t>（第二十八条）</a:t>
            </a:r>
            <a:endParaRPr lang="zh-CN" altLang="en-US" b="1" i="0" u="none" strike="noStrike">
              <a:solidFill>
                <a:srgbClr val="1F2937"/>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21" name="AutoShape 16"/>
          <p:cNvSpPr/>
          <p:nvPr/>
        </p:nvSpPr>
        <p:spPr>
          <a:xfrm>
            <a:off x="952500" y="5270500"/>
            <a:ext cx="4489450" cy="1016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4B5563"/>
                </a:solidFill>
                <a:latin typeface="微软雅黑" panose="020B0503020204020204" charset="-122"/>
                <a:ea typeface="微软雅黑" panose="020B0503020204020204" charset="-122"/>
                <a:cs typeface="Noto Sans SC" panose="020B0200000000000000" charset="-122"/>
                <a:sym typeface="Noto Sans SC" panose="020B0200000000000000" charset="-122"/>
              </a:rPr>
              <a:t>监管部门</a:t>
            </a:r>
            <a:r>
              <a:rPr lang="zh-CN" altLang="en-US" sz="1400" b="0" i="0" u="none" strike="noStrike">
                <a:solidFill>
                  <a:srgbClr val="4B5563"/>
                </a:solidFill>
                <a:latin typeface="微软雅黑" panose="020B0503020204020204" charset="-122"/>
                <a:ea typeface="微软雅黑" panose="020B0503020204020204" charset="-122"/>
                <a:cs typeface="Noto Sans SC" panose="020B0200000000000000" charset="-122"/>
                <a:sym typeface="Noto Sans SC" panose="020B0200000000000000" charset="-122"/>
              </a:rPr>
              <a:t>应当加强信息化建设，定期统计分析电力企业重大隐患排查治理情况，并将重大隐患纳入相关信息系统管理。</a:t>
            </a:r>
            <a:endParaRPr lang="zh-CN" altLang="en-US" sz="1400" b="0" i="0" u="none" strike="noStrike">
              <a:solidFill>
                <a:srgbClr val="4B5563"/>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26" name="AutoShape 17"/>
          <p:cNvSpPr/>
          <p:nvPr>
            <p:custDataLst>
              <p:tags r:id="rId16"/>
            </p:custDataLst>
          </p:nvPr>
        </p:nvSpPr>
        <p:spPr>
          <a:xfrm>
            <a:off x="7885430" y="2529840"/>
            <a:ext cx="3314700" cy="2032000"/>
          </a:xfrm>
          <a:prstGeom prst="roundRect">
            <a:avLst>
              <a:gd name="adj" fmla="val 500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sz="2000">
              <a:latin typeface="微软雅黑" panose="020B0503020204020204" charset="-122"/>
              <a:ea typeface="微软雅黑" panose="020B0503020204020204" charset="-122"/>
            </a:endParaRPr>
          </a:p>
        </p:txBody>
      </p:sp>
      <p:pic>
        <p:nvPicPr>
          <p:cNvPr id="27" name="Picture 18"/>
          <p:cNvPicPr>
            <a:picLocks noChangeAspect="1"/>
          </p:cNvPicPr>
          <p:nvPr>
            <p:custDataLst>
              <p:tags r:id="rId17"/>
            </p:custDataLst>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8075930" y="2720340"/>
            <a:ext cx="431165" cy="355600"/>
          </a:xfrm>
          <a:prstGeom prst="rect">
            <a:avLst/>
          </a:prstGeom>
        </p:spPr>
      </p:pic>
      <p:sp>
        <p:nvSpPr>
          <p:cNvPr id="28" name="AutoShape 19"/>
          <p:cNvSpPr/>
          <p:nvPr>
            <p:custDataLst>
              <p:tags r:id="rId20"/>
            </p:custDataLst>
          </p:nvPr>
        </p:nvSpPr>
        <p:spPr>
          <a:xfrm>
            <a:off x="8520430" y="2682240"/>
            <a:ext cx="2312035" cy="672465"/>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b="1">
                <a:solidFill>
                  <a:srgbClr val="1F2937"/>
                </a:solidFill>
                <a:latin typeface="微软雅黑" panose="020B0503020204020204" charset="-122"/>
                <a:ea typeface="微软雅黑" panose="020B0503020204020204" charset="-122"/>
                <a:cs typeface="Noto Sans SC" panose="020B0200000000000000" charset="-122"/>
                <a:sym typeface="Noto Sans SC" panose="020B0200000000000000" charset="-122"/>
              </a:rPr>
              <a:t>社会监督</a:t>
            </a:r>
            <a:endParaRPr lang="zh-CN" altLang="en-US" b="1">
              <a:solidFill>
                <a:srgbClr val="1F2937"/>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p>
            <a:pPr indent="0" algn="l">
              <a:lnSpc>
                <a:spcPct val="125000"/>
              </a:lnSpc>
              <a:defRPr/>
            </a:pPr>
            <a:r>
              <a:rPr lang="zh-CN" altLang="en-US" b="1">
                <a:solidFill>
                  <a:srgbClr val="1F2937"/>
                </a:solidFill>
                <a:latin typeface="微软雅黑" panose="020B0503020204020204" charset="-122"/>
                <a:ea typeface="微软雅黑" panose="020B0503020204020204" charset="-122"/>
                <a:cs typeface="Noto Sans SC" panose="020B0200000000000000" charset="-122"/>
                <a:sym typeface="Noto Sans SC" panose="020B0200000000000000" charset="-122"/>
              </a:rPr>
              <a:t>（第二十七条）</a:t>
            </a:r>
            <a:endParaRPr lang="zh-CN" altLang="en-US" b="1" i="0" u="none" strike="noStrike">
              <a:solidFill>
                <a:srgbClr val="1F2937"/>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29" name="AutoShape 20"/>
          <p:cNvSpPr/>
          <p:nvPr>
            <p:custDataLst>
              <p:tags r:id="rId21"/>
            </p:custDataLst>
          </p:nvPr>
        </p:nvSpPr>
        <p:spPr>
          <a:xfrm>
            <a:off x="8075930" y="3355340"/>
            <a:ext cx="2851785" cy="1016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zh-CN" altLang="en-US" sz="1400" b="0" i="0" u="none" strike="noStrike">
                <a:solidFill>
                  <a:srgbClr val="4B5563"/>
                </a:solidFill>
                <a:latin typeface="微软雅黑" panose="020B0503020204020204" charset="-122"/>
                <a:ea typeface="微软雅黑" panose="020B0503020204020204" charset="-122"/>
                <a:cs typeface="Noto Sans SC" panose="020B0200000000000000" charset="-122"/>
                <a:sym typeface="Noto Sans SC" panose="020B0200000000000000" charset="-122"/>
              </a:rPr>
              <a:t>任何单位或个人发现重大隐患或重大隐患排查治理违法行为，均有权向国家能源局及其派出机构、地方电力管理部门报告或举报。</a:t>
            </a:r>
            <a:endParaRPr lang="zh-CN" altLang="en-US" sz="1400" b="0" i="0" u="none" strike="noStrike">
              <a:solidFill>
                <a:srgbClr val="4B5563"/>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31" name="AutoShape 13"/>
          <p:cNvSpPr/>
          <p:nvPr/>
        </p:nvSpPr>
        <p:spPr>
          <a:xfrm>
            <a:off x="6269355" y="4702810"/>
            <a:ext cx="4932680" cy="1765935"/>
          </a:xfrm>
          <a:prstGeom prst="roundRect">
            <a:avLst>
              <a:gd name="adj" fmla="val 500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sz="2000">
              <a:latin typeface="微软雅黑" panose="020B0503020204020204" charset="-122"/>
              <a:ea typeface="微软雅黑" panose="020B0503020204020204" charset="-122"/>
            </a:endParaRPr>
          </a:p>
        </p:txBody>
      </p:sp>
      <p:sp>
        <p:nvSpPr>
          <p:cNvPr id="33" name="AutoShape 15"/>
          <p:cNvSpPr/>
          <p:nvPr/>
        </p:nvSpPr>
        <p:spPr>
          <a:xfrm>
            <a:off x="6904355" y="4863465"/>
            <a:ext cx="323088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b="1" i="0" u="none" strike="noStrike">
                <a:solidFill>
                  <a:srgbClr val="1F2937"/>
                </a:solidFill>
                <a:latin typeface="微软雅黑" panose="020B0503020204020204" charset="-122"/>
                <a:ea typeface="微软雅黑" panose="020B0503020204020204" charset="-122"/>
                <a:cs typeface="Noto Sans SC" panose="020B0200000000000000" charset="-122"/>
                <a:sym typeface="Noto Sans SC" panose="020B0200000000000000" charset="-122"/>
              </a:rPr>
              <a:t>现场处置权（第二十</a:t>
            </a:r>
            <a:r>
              <a:rPr lang="zh-CN" altLang="en-US" b="1" i="0" u="none" strike="noStrike">
                <a:solidFill>
                  <a:srgbClr val="1F2937"/>
                </a:solidFill>
                <a:latin typeface="微软雅黑" panose="020B0503020204020204" charset="-122"/>
                <a:ea typeface="微软雅黑" panose="020B0503020204020204" charset="-122"/>
                <a:cs typeface="Noto Sans SC" panose="020B0200000000000000" charset="-122"/>
                <a:sym typeface="Noto Sans SC" panose="020B0200000000000000" charset="-122"/>
              </a:rPr>
              <a:t>九条）</a:t>
            </a:r>
            <a:endParaRPr lang="zh-CN" altLang="en-US" b="1" i="0" u="none" strike="noStrike">
              <a:solidFill>
                <a:srgbClr val="1F2937"/>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34" name="AutoShape 16"/>
          <p:cNvSpPr/>
          <p:nvPr/>
        </p:nvSpPr>
        <p:spPr>
          <a:xfrm>
            <a:off x="6459855" y="5262245"/>
            <a:ext cx="4489450" cy="1016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zh-CN" altLang="en-US" sz="1400" b="0" i="0" u="none" strike="noStrike">
                <a:solidFill>
                  <a:srgbClr val="4B5563"/>
                </a:solidFill>
                <a:latin typeface="微软雅黑" panose="020B0503020204020204" charset="-122"/>
                <a:ea typeface="微软雅黑" panose="020B0503020204020204" charset="-122"/>
                <a:cs typeface="Noto Sans SC" panose="020B0200000000000000" charset="-122"/>
                <a:sym typeface="Noto Sans SC" panose="020B0200000000000000" charset="-122"/>
              </a:rPr>
              <a:t>发现重大隐患应当责令立即排除或限期排除；重大隐患排除前或排除过程中无法保证安全的，应当责令从危险区域内</a:t>
            </a:r>
            <a:r>
              <a:rPr lang="zh-CN" altLang="en-US" sz="1400" b="1" i="0" u="none" strike="noStrike">
                <a:solidFill>
                  <a:srgbClr val="C00000"/>
                </a:solidFill>
                <a:latin typeface="微软雅黑" panose="020B0503020204020204" charset="-122"/>
                <a:ea typeface="微软雅黑" panose="020B0503020204020204" charset="-122"/>
                <a:cs typeface="Noto Sans SC" panose="020B0200000000000000" charset="-122"/>
                <a:sym typeface="Noto Sans SC" panose="020B0200000000000000" charset="-122"/>
              </a:rPr>
              <a:t>撤出作业人员、暂时停建停产停业。</a:t>
            </a:r>
            <a:endParaRPr lang="zh-CN" altLang="en-US" sz="1400" b="1" i="0" u="none" strike="noStrike">
              <a:solidFill>
                <a:srgbClr val="C00000"/>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pic>
        <p:nvPicPr>
          <p:cNvPr id="35" name="Picture 25"/>
          <p:cNvPicPr>
            <a:picLocks noChangeAspect="1"/>
          </p:cNvPicPr>
          <p:nvPr>
            <p:custDataLst>
              <p:tags r:id="rId22"/>
            </p:custDataLst>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6406515" y="4811395"/>
            <a:ext cx="457200" cy="457200"/>
          </a:xfrm>
          <a:prstGeom prst="rect">
            <a:avLst/>
          </a:prstGeom>
        </p:spPr>
      </p:pic>
      <p:sp>
        <p:nvSpPr>
          <p:cNvPr id="6" name="灯片编号占位符 5"/>
          <p:cNvSpPr>
            <a:spLocks noGrp="1"/>
          </p:cNvSpPr>
          <p:nvPr>
            <p:ph type="sldNum" sz="quarter" idx="4294967295"/>
          </p:nvPr>
        </p:nvSpPr>
        <p:spPr>
          <a:xfrm>
            <a:off x="9997440" y="6499860"/>
            <a:ext cx="2133600" cy="365125"/>
          </a:xfrm>
        </p:spPr>
        <p:txBody>
          <a:bodyPr/>
          <a:lstStyle/>
          <a:p>
            <a:fld id="{A10E9369-8E4E-4DE7-B129-F0280ABC27D7}" type="slidenum">
              <a:rPr lang="zh-CN" altLang="en-US" smtClean="0"/>
            </a:fld>
            <a:endParaRPr lang="zh-CN" altLang="en-US" dirty="0"/>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339725" y="1612265"/>
            <a:ext cx="11306175" cy="3729355"/>
            <a:chOff x="1243675" y="2175765"/>
            <a:chExt cx="8175137" cy="1931528"/>
          </a:xfrm>
        </p:grpSpPr>
        <p:sp>
          <p:nvSpPr>
            <p:cNvPr id="13" name="矩形: 圆顶角 77"/>
            <p:cNvSpPr/>
            <p:nvPr/>
          </p:nvSpPr>
          <p:spPr>
            <a:xfrm>
              <a:off x="1243675" y="2175765"/>
              <a:ext cx="8175137" cy="1931528"/>
            </a:xfrm>
            <a:prstGeom prst="round2SameRect">
              <a:avLst>
                <a:gd name="adj1" fmla="val 6255"/>
                <a:gd name="adj2" fmla="val 0"/>
              </a:avLst>
            </a:prstGeom>
            <a:gradFill flip="none" rotWithShape="1">
              <a:gsLst>
                <a:gs pos="0">
                  <a:schemeClr val="bg1"/>
                </a:gs>
                <a:gs pos="100000">
                  <a:schemeClr val="bg1">
                    <a:alpha val="0"/>
                  </a:schemeClr>
                </a:gs>
              </a:gsLst>
              <a:lin ang="5400000" scaled="1"/>
              <a:tileRect/>
            </a:gradFill>
            <a:ln>
              <a:noFill/>
            </a:ln>
            <a:effectLst>
              <a:outerShdw blurRad="101600" dist="38100" dir="16200000" rotWithShape="0">
                <a:schemeClr val="accent1">
                  <a:lumMod val="5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14" name="文本框 13"/>
            <p:cNvSpPr txBox="1"/>
            <p:nvPr/>
          </p:nvSpPr>
          <p:spPr>
            <a:xfrm>
              <a:off x="1483810" y="2270812"/>
              <a:ext cx="7779810" cy="521608"/>
            </a:xfrm>
            <a:prstGeom prst="rect">
              <a:avLst/>
            </a:prstGeom>
            <a:noFill/>
            <a:effectLst/>
          </p:spPr>
          <p:txBody>
            <a:bodyPr vert="horz" wrap="square" lIns="91440" tIns="45720" rIns="91440" bIns="45720" rtlCol="0">
              <a:noAutofit/>
            </a:bodyPr>
            <a:lstStyle>
              <a:defPPr>
                <a:defRPr lang="zh-CN"/>
              </a:defPPr>
              <a:lvl1pPr defTabSz="878205">
                <a:defRPr sz="2000" kern="100">
                  <a:gradFill flip="none" rotWithShape="1">
                    <a:gsLst>
                      <a:gs pos="0">
                        <a:srgbClr val="3465DD"/>
                      </a:gs>
                      <a:gs pos="100000">
                        <a:srgbClr val="0D35AD"/>
                      </a:gs>
                    </a:gsLst>
                    <a:lin ang="0" scaled="1"/>
                    <a:tileRect/>
                  </a:gradFill>
                  <a:effectLst>
                    <a:outerShdw blurRad="50800" dist="38100" dir="5400000" algn="t" rotWithShape="0">
                      <a:srgbClr val="0D35AD">
                        <a:alpha val="17000"/>
                      </a:srgbClr>
                    </a:outerShdw>
                  </a:effectLst>
                  <a:latin typeface="+mj-ea"/>
                  <a:ea typeface="+mj-ea"/>
                </a:defRPr>
              </a:lvl1pPr>
            </a:lstStyle>
            <a:p>
              <a:pPr marL="0" lvl="1" indent="385445" algn="l" fontAlgn="auto">
                <a:lnSpc>
                  <a:spcPts val="2700"/>
                </a:lnSpc>
                <a:buClrTx/>
                <a:buSzTx/>
                <a:buFontTx/>
              </a:pPr>
              <a:r>
                <a:rPr lang="zh-CN" altLang="en-US" b="1">
                  <a:solidFill>
                    <a:srgbClr val="2C5BD3"/>
                  </a:solidFill>
                  <a:latin typeface="微软雅黑" panose="020B0503020204020204" charset="-122"/>
                  <a:ea typeface="微软雅黑" panose="020B0503020204020204" charset="-122"/>
                  <a:sym typeface="+mn-ea"/>
                </a:rPr>
                <a:t>第五章为法律责任，共</a:t>
              </a:r>
              <a:r>
                <a:rPr lang="zh-CN" altLang="en-US" b="1" i="1" u="sng">
                  <a:solidFill>
                    <a:srgbClr val="2C5BD3"/>
                  </a:solidFill>
                  <a:latin typeface="微软雅黑" panose="020B0503020204020204" charset="-122"/>
                  <a:ea typeface="微软雅黑" panose="020B0503020204020204" charset="-122"/>
                  <a:sym typeface="+mn-ea"/>
                </a:rPr>
                <a:t>5条</a:t>
              </a:r>
              <a:r>
                <a:rPr lang="zh-CN" altLang="en-US" kern="100" noProof="0" dirty="0">
                  <a:ln>
                    <a:noFill/>
                  </a:ln>
                  <a:solidFill>
                    <a:prstClr val="black"/>
                  </a:solidFill>
                  <a:effectLst/>
                  <a:uLnTx/>
                  <a:uFillTx/>
                  <a:latin typeface="楷体" panose="02010609060101010101" charset="-122"/>
                  <a:ea typeface="楷体" panose="02010609060101010101" charset="-122"/>
                  <a:cs typeface="微软雅黑" panose="020B0503020204020204" charset="-122"/>
                  <a:sym typeface="+mn-ea"/>
                </a:rPr>
                <a:t>（第三十条至第三十四条）</a:t>
              </a:r>
              <a:r>
                <a:rPr lang="zh-CN" altLang="en-US" b="1">
                  <a:solidFill>
                    <a:srgbClr val="2C5BD3"/>
                  </a:solidFill>
                  <a:latin typeface="微软雅黑" panose="020B0503020204020204" charset="-122"/>
                  <a:ea typeface="微软雅黑" panose="020B0503020204020204" charset="-122"/>
                  <a:sym typeface="+mn-ea"/>
                </a:rPr>
                <a:t>，明确了问责、处罚措施等具体规定</a:t>
              </a:r>
              <a:endParaRPr lang="zh-CN" altLang="en-US" b="1">
                <a:solidFill>
                  <a:srgbClr val="2C5BD3"/>
                </a:solidFill>
                <a:latin typeface="微软雅黑" panose="020B0503020204020204" charset="-122"/>
                <a:ea typeface="微软雅黑" panose="020B0503020204020204" charset="-122"/>
                <a:sym typeface="+mn-ea"/>
              </a:endParaRPr>
            </a:p>
            <a:p>
              <a:pPr marL="0" lvl="1" indent="385445" algn="l" fontAlgn="auto">
                <a:lnSpc>
                  <a:spcPts val="2700"/>
                </a:lnSpc>
                <a:buClrTx/>
                <a:buSzTx/>
                <a:buFontTx/>
              </a:pPr>
              <a:endParaRPr lang="zh-CN" altLang="en-US" b="1" dirty="0">
                <a:solidFill>
                  <a:srgbClr val="2C5BD3"/>
                </a:solidFill>
                <a:latin typeface="微软雅黑" panose="020B0503020204020204" charset="-122"/>
                <a:ea typeface="微软雅黑" panose="020B0503020204020204" charset="-122"/>
                <a:sym typeface="+mn-ea"/>
              </a:endParaRPr>
            </a:p>
          </p:txBody>
        </p:sp>
        <p:cxnSp>
          <p:nvCxnSpPr>
            <p:cNvPr id="16" name="直接连接符 15"/>
            <p:cNvCxnSpPr/>
            <p:nvPr/>
          </p:nvCxnSpPr>
          <p:spPr>
            <a:xfrm>
              <a:off x="1562100" y="2533486"/>
              <a:ext cx="7409180"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49" name="AutoShape 5"/>
          <p:cNvSpPr/>
          <p:nvPr>
            <p:custDataLst>
              <p:tags r:id="rId1"/>
            </p:custDataLst>
          </p:nvPr>
        </p:nvSpPr>
        <p:spPr>
          <a:xfrm>
            <a:off x="7809865" y="2448560"/>
            <a:ext cx="3552825" cy="2005965"/>
          </a:xfrm>
          <a:prstGeom prst="roundRect">
            <a:avLst>
              <a:gd name="adj" fmla="val 4615"/>
            </a:avLst>
          </a:prstGeom>
          <a:solidFill>
            <a:srgbClr val="FFFFFF">
              <a:alpha val="95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sz="2000">
              <a:latin typeface="微软雅黑" panose="020B0503020204020204" charset="-122"/>
              <a:ea typeface="微软雅黑" panose="020B0503020204020204" charset="-122"/>
            </a:endParaRPr>
          </a:p>
        </p:txBody>
      </p:sp>
      <p:pic>
        <p:nvPicPr>
          <p:cNvPr id="8" name="Picture 7" descr="C:\Users\Administrator\Desktop\B15会议文件封面-11.png"/>
          <p:cNvPicPr>
            <a:picLocks noChangeAspect="1" noChangeArrowheads="1"/>
          </p:cNvPicPr>
          <p:nvPr/>
        </p:nvPicPr>
        <p:blipFill>
          <a:blip r:embed="rId2" cstate="print">
            <a:extLst>
              <a:ext uri="{28A0092B-C50C-407E-A947-70E740481C1C}">
                <a14:useLocalDpi xmlns:a14="http://schemas.microsoft.com/office/drawing/2010/main" val="0"/>
              </a:ext>
            </a:extLst>
          </a:blip>
          <a:srcRect l="2368" r="22060" b="77960"/>
          <a:stretch>
            <a:fillRect/>
          </a:stretch>
        </p:blipFill>
        <p:spPr bwMode="auto">
          <a:xfrm>
            <a:off x="8904312" y="87923"/>
            <a:ext cx="3096344" cy="676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8"/>
          <p:cNvSpPr txBox="1"/>
          <p:nvPr/>
        </p:nvSpPr>
        <p:spPr>
          <a:xfrm>
            <a:off x="168275" y="347345"/>
            <a:ext cx="6793865" cy="491490"/>
          </a:xfrm>
          <a:prstGeom prst="rect">
            <a:avLst/>
          </a:prstGeom>
          <a:noFill/>
        </p:spPr>
        <p:txBody>
          <a:bodyPr wrap="square" rtlCol="0">
            <a:spAutoFit/>
          </a:bodyPr>
          <a:p>
            <a:pPr algn="l">
              <a:buClrTx/>
              <a:buSzTx/>
              <a:buFont typeface="Wingdings" panose="05000000000000000000" charset="0"/>
              <a:buNone/>
            </a:pPr>
            <a:r>
              <a:rPr lang="zh-CN" sz="2600" b="1">
                <a:latin typeface="微软雅黑" panose="020B0503020204020204" charset="-122"/>
                <a:ea typeface="微软雅黑" panose="020B0503020204020204" charset="-122"/>
                <a:sym typeface="+mn-ea"/>
              </a:rPr>
              <a:t>一、</a:t>
            </a:r>
            <a:r>
              <a:rPr lang="zh-CN" sz="2600" b="1">
                <a:latin typeface="微软雅黑" panose="020B0503020204020204" charset="-122"/>
                <a:ea typeface="微软雅黑" panose="020B0503020204020204" charset="-122"/>
                <a:sym typeface="+mn-ea"/>
              </a:rPr>
              <a:t>国家发改委第41号令宣贯</a:t>
            </a:r>
            <a:endParaRPr sz="2600" b="1">
              <a:solidFill>
                <a:schemeClr val="tx1"/>
              </a:solidFill>
              <a:latin typeface="微软雅黑" panose="020B0503020204020204" charset="-122"/>
              <a:ea typeface="微软雅黑" panose="020B0503020204020204" charset="-122"/>
            </a:endParaRPr>
          </a:p>
        </p:txBody>
      </p:sp>
      <p:sp>
        <p:nvSpPr>
          <p:cNvPr id="9" name="矩形 8"/>
          <p:cNvSpPr/>
          <p:nvPr/>
        </p:nvSpPr>
        <p:spPr>
          <a:xfrm>
            <a:off x="400685" y="1022350"/>
            <a:ext cx="6733540" cy="467360"/>
          </a:xfrm>
          <a:prstGeom prst="rect">
            <a:avLst/>
          </a:prstGeom>
          <a:gradFill>
            <a:gsLst>
              <a:gs pos="0">
                <a:schemeClr val="accent1">
                  <a:lumMod val="5000"/>
                  <a:lumOff val="95000"/>
                </a:schemeClr>
              </a:gs>
              <a:gs pos="40000">
                <a:schemeClr val="accent1">
                  <a:lumMod val="59000"/>
                  <a:lumOff val="41000"/>
                </a:schemeClr>
              </a:gs>
              <a:gs pos="72000">
                <a:schemeClr val="accent1">
                  <a:lumMod val="45000"/>
                  <a:lumOff val="55000"/>
                </a:schemeClr>
              </a:gs>
              <a:gs pos="100000">
                <a:schemeClr val="accent1">
                  <a:lumMod val="30000"/>
                  <a:lumOff val="70000"/>
                </a:schemeClr>
              </a:gs>
            </a:gsLst>
            <a:lin ang="108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indent="457200" algn="l" fontAlgn="auto"/>
            <a:r>
              <a:rPr lang="zh-CN" altLang="en-US" b="1">
                <a:solidFill>
                  <a:schemeClr val="tx1"/>
                </a:solidFill>
                <a:latin typeface="微软雅黑" panose="020B0503020204020204" charset="-122"/>
                <a:ea typeface="微软雅黑" panose="020B0503020204020204" charset="-122"/>
              </a:rPr>
              <a:t>第五章</a:t>
            </a:r>
            <a:r>
              <a:rPr lang="en-US" altLang="zh-CN" b="1">
                <a:solidFill>
                  <a:schemeClr val="tx1"/>
                </a:solidFill>
                <a:latin typeface="微软雅黑" panose="020B0503020204020204" charset="-122"/>
                <a:ea typeface="微软雅黑" panose="020B0503020204020204" charset="-122"/>
              </a:rPr>
              <a:t>  </a:t>
            </a:r>
            <a:r>
              <a:rPr lang="zh-CN" altLang="en-US" b="1">
                <a:solidFill>
                  <a:schemeClr val="tx1"/>
                </a:solidFill>
                <a:latin typeface="微软雅黑" panose="020B0503020204020204" charset="-122"/>
                <a:ea typeface="微软雅黑" panose="020B0503020204020204" charset="-122"/>
              </a:rPr>
              <a:t>法律</a:t>
            </a:r>
            <a:r>
              <a:rPr lang="zh-CN" altLang="en-US" b="1">
                <a:solidFill>
                  <a:schemeClr val="tx1"/>
                </a:solidFill>
                <a:latin typeface="微软雅黑" panose="020B0503020204020204" charset="-122"/>
                <a:ea typeface="微软雅黑" panose="020B0503020204020204" charset="-122"/>
              </a:rPr>
              <a:t>责任</a:t>
            </a:r>
            <a:endParaRPr lang="zh-CN" altLang="en-US" b="1">
              <a:solidFill>
                <a:schemeClr val="tx1"/>
              </a:solidFill>
              <a:latin typeface="微软雅黑" panose="020B0503020204020204" charset="-122"/>
              <a:ea typeface="微软雅黑" panose="020B0503020204020204" charset="-122"/>
            </a:endParaRPr>
          </a:p>
        </p:txBody>
      </p:sp>
      <p:sp>
        <p:nvSpPr>
          <p:cNvPr id="37" name="AutoShape 13"/>
          <p:cNvSpPr/>
          <p:nvPr/>
        </p:nvSpPr>
        <p:spPr>
          <a:xfrm>
            <a:off x="668655" y="2489200"/>
            <a:ext cx="3056255" cy="3937000"/>
          </a:xfrm>
          <a:prstGeom prst="roundRect">
            <a:avLst>
              <a:gd name="adj" fmla="val 4615"/>
            </a:avLst>
          </a:prstGeom>
          <a:solidFill>
            <a:srgbClr val="FFFFFF">
              <a:alpha val="95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sz="2000">
              <a:latin typeface="微软雅黑" panose="020B0503020204020204" charset="-122"/>
              <a:ea typeface="微软雅黑" panose="020B0503020204020204" charset="-122"/>
            </a:endParaRPr>
          </a:p>
        </p:txBody>
      </p:sp>
      <p:pic>
        <p:nvPicPr>
          <p:cNvPr id="38" name="Picture 14"/>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73455" y="2870200"/>
            <a:ext cx="508000" cy="508000"/>
          </a:xfrm>
          <a:prstGeom prst="rect">
            <a:avLst/>
          </a:prstGeom>
        </p:spPr>
      </p:pic>
      <p:sp>
        <p:nvSpPr>
          <p:cNvPr id="39" name="AutoShape 15"/>
          <p:cNvSpPr/>
          <p:nvPr/>
        </p:nvSpPr>
        <p:spPr>
          <a:xfrm>
            <a:off x="1608455" y="2895600"/>
            <a:ext cx="2032000" cy="76073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F2937"/>
                </a:solidFill>
                <a:latin typeface="微软雅黑" panose="020B0503020204020204" charset="-122"/>
                <a:ea typeface="微软雅黑" panose="020B0503020204020204" charset="-122"/>
                <a:cs typeface="Noto Sans SC" panose="020B0200000000000000" charset="-122"/>
                <a:sym typeface="Noto Sans SC" panose="020B0200000000000000" charset="-122"/>
              </a:rPr>
              <a:t>责任追究</a:t>
            </a:r>
            <a:endParaRPr lang="en-US" sz="2000" b="1" i="0" u="none" strike="noStrike">
              <a:solidFill>
                <a:srgbClr val="1F2937"/>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p>
            <a:pPr indent="0" algn="l">
              <a:lnSpc>
                <a:spcPct val="125000"/>
              </a:lnSpc>
              <a:defRPr/>
            </a:pPr>
            <a:r>
              <a:rPr lang="zh-CN" altLang="en-US" sz="2000" b="1" i="0" u="none" strike="noStrike">
                <a:solidFill>
                  <a:srgbClr val="1F2937"/>
                </a:solidFill>
                <a:latin typeface="微软雅黑" panose="020B0503020204020204" charset="-122"/>
                <a:ea typeface="微软雅黑" panose="020B0503020204020204" charset="-122"/>
                <a:cs typeface="Noto Sans SC" panose="020B0200000000000000" charset="-122"/>
                <a:sym typeface="Noto Sans SC" panose="020B0200000000000000" charset="-122"/>
              </a:rPr>
              <a:t>（</a:t>
            </a:r>
            <a:r>
              <a:rPr lang="zh-CN" altLang="en-US" sz="2000" b="1" i="0" u="none" strike="noStrike">
                <a:solidFill>
                  <a:srgbClr val="1F2937"/>
                </a:solidFill>
                <a:latin typeface="微软雅黑" panose="020B0503020204020204" charset="-122"/>
                <a:ea typeface="微软雅黑" panose="020B0503020204020204" charset="-122"/>
                <a:cs typeface="Noto Sans SC" panose="020B0200000000000000" charset="-122"/>
                <a:sym typeface="Noto Sans SC" panose="020B0200000000000000" charset="-122"/>
              </a:rPr>
              <a:t>第三十条）</a:t>
            </a:r>
            <a:endParaRPr lang="zh-CN" altLang="en-US" sz="2000" b="1" i="0" u="none" strike="noStrike">
              <a:solidFill>
                <a:srgbClr val="1F2937"/>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40" name="AutoShape 16"/>
          <p:cNvSpPr/>
          <p:nvPr/>
        </p:nvSpPr>
        <p:spPr>
          <a:xfrm>
            <a:off x="922655" y="3759200"/>
            <a:ext cx="2527300" cy="228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1600" b="1" i="0" u="none" strike="noStrike">
                <a:solidFill>
                  <a:srgbClr val="4B5563"/>
                </a:solidFill>
                <a:latin typeface="微软雅黑" panose="020B0503020204020204" charset="-122"/>
                <a:ea typeface="微软雅黑" panose="020B0503020204020204" charset="-122"/>
                <a:cs typeface="Noto Sans SC" panose="020B0200000000000000" charset="-122"/>
                <a:sym typeface="Noto Sans SC" panose="020B0200000000000000" charset="-122"/>
              </a:rPr>
              <a:t>违法行为：</a:t>
            </a:r>
            <a:r>
              <a:rPr lang="en-US" sz="1400" i="0" u="none" strike="noStrike">
                <a:solidFill>
                  <a:srgbClr val="4B5563"/>
                </a:solidFill>
                <a:latin typeface="微软雅黑" panose="020B0503020204020204" charset="-122"/>
                <a:ea typeface="微软雅黑" panose="020B0503020204020204" charset="-122"/>
                <a:cs typeface="微软雅黑" panose="020B0503020204020204" charset="-122"/>
                <a:sym typeface="Noto Sans SC" panose="020B0200000000000000" charset="-122"/>
              </a:rPr>
              <a:t>在监督检查中发现重大隐患，</a:t>
            </a:r>
            <a:r>
              <a:rPr lang="zh-CN" altLang="en-US" sz="1400" i="0" u="none" strike="noStrike">
                <a:solidFill>
                  <a:srgbClr val="4B5563"/>
                </a:solidFill>
                <a:latin typeface="微软雅黑" panose="020B0503020204020204" charset="-122"/>
                <a:ea typeface="微软雅黑" panose="020B0503020204020204" charset="-122"/>
                <a:cs typeface="微软雅黑" panose="020B0503020204020204" charset="-122"/>
                <a:sym typeface="Noto Sans SC" panose="020B0200000000000000" charset="-122"/>
              </a:rPr>
              <a:t>未</a:t>
            </a:r>
            <a:r>
              <a:rPr lang="en-US" sz="1400" i="0" u="none" strike="noStrike">
                <a:solidFill>
                  <a:srgbClr val="4B5563"/>
                </a:solidFill>
                <a:latin typeface="微软雅黑" panose="020B0503020204020204" charset="-122"/>
                <a:ea typeface="微软雅黑" panose="020B0503020204020204" charset="-122"/>
                <a:cs typeface="微软雅黑" panose="020B0503020204020204" charset="-122"/>
                <a:sym typeface="Noto Sans SC" panose="020B0200000000000000" charset="-122"/>
              </a:rPr>
              <a:t>依法及时处理</a:t>
            </a:r>
            <a:r>
              <a:rPr lang="zh-CN" altLang="en-US" sz="1400" i="0" u="none" strike="noStrike">
                <a:solidFill>
                  <a:srgbClr val="4B5563"/>
                </a:solidFill>
                <a:latin typeface="微软雅黑" panose="020B0503020204020204" charset="-122"/>
                <a:ea typeface="微软雅黑" panose="020B0503020204020204" charset="-122"/>
                <a:cs typeface="微软雅黑" panose="020B0503020204020204" charset="-122"/>
                <a:sym typeface="Noto Sans SC" panose="020B0200000000000000" charset="-122"/>
              </a:rPr>
              <a:t>或上报</a:t>
            </a:r>
            <a:endParaRPr lang="zh-CN" altLang="en-US" sz="1400" i="0" u="none" strike="noStrike">
              <a:solidFill>
                <a:srgbClr val="4B5563"/>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pPr algn="l">
              <a:lnSpc>
                <a:spcPct val="125000"/>
              </a:lnSpc>
              <a:buClrTx/>
              <a:buSzTx/>
              <a:buFontTx/>
              <a:defRPr/>
            </a:pPr>
            <a:r>
              <a:rPr lang="zh-CN" altLang="en-US" sz="1600" b="1" i="0" u="none" strike="noStrike">
                <a:solidFill>
                  <a:srgbClr val="4B5563"/>
                </a:solidFill>
                <a:latin typeface="微软雅黑" panose="020B0503020204020204" charset="-122"/>
                <a:ea typeface="微软雅黑" panose="020B0503020204020204" charset="-122"/>
                <a:cs typeface="Noto Sans SC" panose="020B0200000000000000" charset="-122"/>
                <a:sym typeface="Noto Sans SC" panose="020B0200000000000000" charset="-122"/>
              </a:rPr>
              <a:t>法律后果：</a:t>
            </a:r>
            <a:r>
              <a:rPr lang="en-US" sz="1400" i="0" u="none" strike="noStrike">
                <a:solidFill>
                  <a:srgbClr val="4B5563"/>
                </a:solidFill>
                <a:latin typeface="微软雅黑" panose="020B0503020204020204" charset="-122"/>
                <a:ea typeface="微软雅黑" panose="020B0503020204020204" charset="-122"/>
                <a:cs typeface="微软雅黑" panose="020B0503020204020204" charset="-122"/>
                <a:sym typeface="Noto Sans SC" panose="020B0200000000000000" charset="-122"/>
              </a:rPr>
              <a:t>给予降级或者撤职的处分；构成犯罪的，依照刑法有关规定追究刑事责任。</a:t>
            </a:r>
            <a:endParaRPr lang="zh-CN" altLang="en-US" sz="1600" b="1" i="0" u="none" strike="noStrike">
              <a:solidFill>
                <a:srgbClr val="4B5563"/>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p>
            <a:pPr indent="0" algn="l">
              <a:lnSpc>
                <a:spcPct val="125000"/>
              </a:lnSpc>
              <a:defRPr/>
            </a:pPr>
            <a:endParaRPr lang="zh-CN" altLang="en-US" sz="1400" b="1" i="0" u="none" strike="noStrike">
              <a:solidFill>
                <a:srgbClr val="CC0000"/>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p>
            <a:pPr indent="0" algn="l">
              <a:lnSpc>
                <a:spcPct val="125000"/>
              </a:lnSpc>
              <a:defRPr/>
            </a:pPr>
            <a:r>
              <a:rPr lang="en-US" sz="1400" b="1" i="0" u="none" strike="noStrike">
                <a:solidFill>
                  <a:srgbClr val="CC0000"/>
                </a:solidFill>
                <a:latin typeface="微软雅黑" panose="020B0503020204020204" charset="-122"/>
                <a:ea typeface="微软雅黑" panose="020B0503020204020204" charset="-122"/>
                <a:cs typeface="Noto Sans SC" panose="020B0200000000000000" charset="-122"/>
                <a:sym typeface="Noto Sans SC" panose="020B0200000000000000" charset="-122"/>
              </a:rPr>
              <a:t>红线不可触碰，底线不能逾越</a:t>
            </a:r>
            <a:endParaRPr lang="en-US" sz="1400" b="1" i="0" u="none" strike="noStrike">
              <a:solidFill>
                <a:srgbClr val="CC0000"/>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41" name="AutoShape 5"/>
          <p:cNvSpPr/>
          <p:nvPr>
            <p:custDataLst>
              <p:tags r:id="rId5"/>
            </p:custDataLst>
          </p:nvPr>
        </p:nvSpPr>
        <p:spPr>
          <a:xfrm>
            <a:off x="4397375" y="2448560"/>
            <a:ext cx="3302000" cy="2005965"/>
          </a:xfrm>
          <a:prstGeom prst="roundRect">
            <a:avLst>
              <a:gd name="adj" fmla="val 4615"/>
            </a:avLst>
          </a:prstGeom>
          <a:solidFill>
            <a:srgbClr val="FFFFFF">
              <a:alpha val="95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sz="2000">
              <a:latin typeface="微软雅黑" panose="020B0503020204020204" charset="-122"/>
              <a:ea typeface="微软雅黑" panose="020B0503020204020204" charset="-122"/>
            </a:endParaRPr>
          </a:p>
        </p:txBody>
      </p:sp>
      <p:pic>
        <p:nvPicPr>
          <p:cNvPr id="42" name="Picture 6"/>
          <p:cNvPicPr>
            <a:picLocks noChangeAspect="1"/>
          </p:cNvPicPr>
          <p:nvPr>
            <p:custDataLst>
              <p:tags r:id="rId6"/>
            </p:custDataLst>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468495" y="2473960"/>
            <a:ext cx="508000" cy="508000"/>
          </a:xfrm>
          <a:prstGeom prst="rect">
            <a:avLst/>
          </a:prstGeom>
        </p:spPr>
      </p:pic>
      <p:sp>
        <p:nvSpPr>
          <p:cNvPr id="43" name="AutoShape 7"/>
          <p:cNvSpPr/>
          <p:nvPr>
            <p:custDataLst>
              <p:tags r:id="rId9"/>
            </p:custDataLst>
          </p:nvPr>
        </p:nvSpPr>
        <p:spPr>
          <a:xfrm>
            <a:off x="5103495" y="2499360"/>
            <a:ext cx="233426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F2937"/>
                </a:solidFill>
                <a:latin typeface="微软雅黑" panose="020B0503020204020204" charset="-122"/>
                <a:ea typeface="微软雅黑" panose="020B0503020204020204" charset="-122"/>
                <a:cs typeface="Noto Sans SC" panose="020B0200000000000000" charset="-122"/>
                <a:sym typeface="Noto Sans SC" panose="020B0200000000000000" charset="-122"/>
              </a:rPr>
              <a:t>主要负责人</a:t>
            </a:r>
            <a:r>
              <a:rPr lang="zh-CN" altLang="en-US" sz="2000" b="1" i="0" u="none" strike="noStrike">
                <a:solidFill>
                  <a:srgbClr val="1F2937"/>
                </a:solidFill>
                <a:latin typeface="微软雅黑" panose="020B0503020204020204" charset="-122"/>
                <a:ea typeface="微软雅黑" panose="020B0503020204020204" charset="-122"/>
                <a:cs typeface="Noto Sans SC" panose="020B0200000000000000" charset="-122"/>
                <a:sym typeface="Noto Sans SC" panose="020B0200000000000000" charset="-122"/>
              </a:rPr>
              <a:t>失职</a:t>
            </a:r>
            <a:endParaRPr lang="zh-CN" altLang="en-US" sz="2000" b="1" i="0" u="none" strike="noStrike">
              <a:solidFill>
                <a:srgbClr val="1F2937"/>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44" name="AutoShape 8"/>
          <p:cNvSpPr/>
          <p:nvPr>
            <p:custDataLst>
              <p:tags r:id="rId10"/>
            </p:custDataLst>
          </p:nvPr>
        </p:nvSpPr>
        <p:spPr>
          <a:xfrm>
            <a:off x="4469130" y="3018790"/>
            <a:ext cx="3126740" cy="136271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zh-CN" altLang="en-US" sz="1200" b="1" i="0" u="none" strike="noStrike">
                <a:solidFill>
                  <a:srgbClr val="6B7280"/>
                </a:solidFill>
                <a:latin typeface="微软雅黑" panose="020B0503020204020204" charset="-122"/>
                <a:ea typeface="微软雅黑" panose="020B0503020204020204" charset="-122"/>
                <a:cs typeface="微软雅黑" panose="020B0503020204020204" charset="-122"/>
                <a:sym typeface="Noto Sans SC" panose="020B0200000000000000" charset="-122"/>
              </a:rPr>
              <a:t>未组织建立并落实重大隐患排查治理工作机制，或者未及时消除重大隐患</a:t>
            </a:r>
            <a:r>
              <a:rPr lang="zh-CN" altLang="en-US" sz="1200" i="0" u="none" strike="noStrike">
                <a:solidFill>
                  <a:srgbClr val="6B7280"/>
                </a:solidFill>
                <a:latin typeface="微软雅黑" panose="020B0503020204020204" charset="-122"/>
                <a:ea typeface="微软雅黑" panose="020B0503020204020204" charset="-122"/>
                <a:cs typeface="微软雅黑" panose="020B0503020204020204" charset="-122"/>
                <a:sym typeface="Noto Sans SC" panose="020B0200000000000000" charset="-122"/>
              </a:rPr>
              <a:t>的</a:t>
            </a:r>
            <a:r>
              <a:rPr lang="zh-CN" altLang="en-US" sz="1200" b="0" i="0" u="none" strike="noStrike">
                <a:solidFill>
                  <a:srgbClr val="6B7280"/>
                </a:solidFill>
                <a:latin typeface="微软雅黑" panose="020B0503020204020204" charset="-122"/>
                <a:ea typeface="微软雅黑" panose="020B0503020204020204" charset="-122"/>
                <a:cs typeface="微软雅黑" panose="020B0503020204020204" charset="-122"/>
                <a:sym typeface="Noto Sans SC" panose="020B0200000000000000" charset="-122"/>
              </a:rPr>
              <a:t>，责令限期改正，处</a:t>
            </a:r>
            <a:r>
              <a:rPr lang="zh-CN" altLang="en-US" sz="1200" b="1" i="0" u="none" strike="noStrike">
                <a:solidFill>
                  <a:srgbClr val="C00000"/>
                </a:solidFill>
                <a:latin typeface="微软雅黑" panose="020B0503020204020204" charset="-122"/>
                <a:ea typeface="微软雅黑" panose="020B0503020204020204" charset="-122"/>
                <a:cs typeface="微软雅黑" panose="020B0503020204020204" charset="-122"/>
                <a:sym typeface="Noto Sans SC" panose="020B0200000000000000" charset="-122"/>
              </a:rPr>
              <a:t>二万元以上五万元以下</a:t>
            </a:r>
            <a:r>
              <a:rPr lang="zh-CN" altLang="en-US" sz="1200" i="0" u="none" strike="noStrike">
                <a:solidFill>
                  <a:srgbClr val="6B7280"/>
                </a:solidFill>
                <a:latin typeface="微软雅黑" panose="020B0503020204020204" charset="-122"/>
                <a:ea typeface="微软雅黑" panose="020B0503020204020204" charset="-122"/>
                <a:cs typeface="微软雅黑" panose="020B0503020204020204" charset="-122"/>
                <a:sym typeface="Noto Sans SC" panose="020B0200000000000000" charset="-122"/>
              </a:rPr>
              <a:t>的罚款</a:t>
            </a:r>
            <a:r>
              <a:rPr lang="zh-CN" altLang="en-US" sz="1200" b="0" i="0" u="none" strike="noStrike">
                <a:solidFill>
                  <a:srgbClr val="6B7280"/>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zh-CN" altLang="en-US" sz="1200" b="1" i="0" u="none" strike="noStrike">
                <a:solidFill>
                  <a:srgbClr val="6B7280"/>
                </a:solidFill>
                <a:latin typeface="微软雅黑" panose="020B0503020204020204" charset="-122"/>
                <a:ea typeface="微软雅黑" panose="020B0503020204020204" charset="-122"/>
                <a:cs typeface="微软雅黑" panose="020B0503020204020204" charset="-122"/>
                <a:sym typeface="Noto Sans SC" panose="020B0200000000000000" charset="-122"/>
              </a:rPr>
              <a:t>逾期未改正</a:t>
            </a:r>
            <a:r>
              <a:rPr lang="zh-CN" altLang="en-US" sz="1200" b="0" i="0" u="none" strike="noStrike">
                <a:solidFill>
                  <a:srgbClr val="6B7280"/>
                </a:solidFill>
                <a:latin typeface="微软雅黑" panose="020B0503020204020204" charset="-122"/>
                <a:ea typeface="微软雅黑" panose="020B0503020204020204" charset="-122"/>
                <a:cs typeface="微软雅黑" panose="020B0503020204020204" charset="-122"/>
                <a:sym typeface="Noto Sans SC" panose="020B0200000000000000" charset="-122"/>
              </a:rPr>
              <a:t>的，处</a:t>
            </a:r>
            <a:r>
              <a:rPr lang="zh-CN" altLang="en-US" sz="1200" b="1" i="0" u="none" strike="noStrike">
                <a:solidFill>
                  <a:srgbClr val="C00000"/>
                </a:solidFill>
                <a:latin typeface="微软雅黑" panose="020B0503020204020204" charset="-122"/>
                <a:ea typeface="微软雅黑" panose="020B0503020204020204" charset="-122"/>
                <a:cs typeface="微软雅黑" panose="020B0503020204020204" charset="-122"/>
                <a:sym typeface="Noto Sans SC" panose="020B0200000000000000" charset="-122"/>
              </a:rPr>
              <a:t>五万元以上十万元以下</a:t>
            </a:r>
            <a:r>
              <a:rPr lang="zh-CN" altLang="en-US" sz="1200" b="0" i="0" u="none" strike="noStrike">
                <a:solidFill>
                  <a:srgbClr val="6B7280"/>
                </a:solidFill>
                <a:latin typeface="微软雅黑" panose="020B0503020204020204" charset="-122"/>
                <a:ea typeface="微软雅黑" panose="020B0503020204020204" charset="-122"/>
                <a:cs typeface="微软雅黑" panose="020B0503020204020204" charset="-122"/>
                <a:sym typeface="Noto Sans SC" panose="020B0200000000000000" charset="-122"/>
              </a:rPr>
              <a:t>的罚款。</a:t>
            </a:r>
            <a:endParaRPr lang="zh-CN" altLang="en-US" sz="1200" b="0" i="0" u="none" strike="noStrike">
              <a:solidFill>
                <a:srgbClr val="6B7280"/>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pic>
        <p:nvPicPr>
          <p:cNvPr id="46" name="Picture 10"/>
          <p:cNvPicPr>
            <a:picLocks noChangeAspect="1"/>
          </p:cNvPicPr>
          <p:nvPr>
            <p:custDataLst>
              <p:tags r:id="rId11"/>
            </p:custDataLst>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8059420" y="2473960"/>
            <a:ext cx="508000" cy="508000"/>
          </a:xfrm>
          <a:prstGeom prst="rect">
            <a:avLst/>
          </a:prstGeom>
        </p:spPr>
      </p:pic>
      <p:sp>
        <p:nvSpPr>
          <p:cNvPr id="47" name="AutoShape 11"/>
          <p:cNvSpPr/>
          <p:nvPr>
            <p:custDataLst>
              <p:tags r:id="rId14"/>
            </p:custDataLst>
          </p:nvPr>
        </p:nvSpPr>
        <p:spPr>
          <a:xfrm>
            <a:off x="8705215" y="2473960"/>
            <a:ext cx="203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2000" b="1" i="0" u="none" strike="noStrike">
                <a:solidFill>
                  <a:srgbClr val="1F2937"/>
                </a:solidFill>
                <a:latin typeface="微软雅黑" panose="020B0503020204020204" charset="-122"/>
                <a:ea typeface="微软雅黑" panose="020B0503020204020204" charset="-122"/>
                <a:cs typeface="Noto Sans SC" panose="020B0200000000000000" charset="-122"/>
                <a:sym typeface="Noto Sans SC" panose="020B0200000000000000" charset="-122"/>
              </a:rPr>
              <a:t>未</a:t>
            </a:r>
            <a:r>
              <a:rPr lang="zh-CN" altLang="en-US" sz="2000" b="1" i="0" u="none" strike="noStrike">
                <a:solidFill>
                  <a:srgbClr val="1F2937"/>
                </a:solidFill>
                <a:latin typeface="微软雅黑" panose="020B0503020204020204" charset="-122"/>
                <a:ea typeface="微软雅黑" panose="020B0503020204020204" charset="-122"/>
                <a:cs typeface="Noto Sans SC" panose="020B0200000000000000" charset="-122"/>
                <a:sym typeface="Noto Sans SC" panose="020B0200000000000000" charset="-122"/>
              </a:rPr>
              <a:t>建制度或</a:t>
            </a:r>
            <a:r>
              <a:rPr lang="zh-CN" altLang="en-US" sz="2000" b="1" i="0" u="none" strike="noStrike">
                <a:solidFill>
                  <a:srgbClr val="1F2937"/>
                </a:solidFill>
                <a:latin typeface="微软雅黑" panose="020B0503020204020204" charset="-122"/>
                <a:ea typeface="微软雅黑" panose="020B0503020204020204" charset="-122"/>
                <a:cs typeface="Noto Sans SC" panose="020B0200000000000000" charset="-122"/>
                <a:sym typeface="Noto Sans SC" panose="020B0200000000000000" charset="-122"/>
              </a:rPr>
              <a:t>未报告</a:t>
            </a:r>
            <a:endParaRPr lang="zh-CN" altLang="en-US" sz="2000" b="1" i="0" u="none" strike="noStrike">
              <a:solidFill>
                <a:srgbClr val="1F2937"/>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50" name="AutoShape 8"/>
          <p:cNvSpPr/>
          <p:nvPr>
            <p:custDataLst>
              <p:tags r:id="rId15"/>
            </p:custDataLst>
          </p:nvPr>
        </p:nvSpPr>
        <p:spPr>
          <a:xfrm>
            <a:off x="7881620" y="3018790"/>
            <a:ext cx="3429635" cy="136271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zh-CN" altLang="en-US" sz="1100" b="1" i="0" u="none" strike="noStrike">
                <a:solidFill>
                  <a:srgbClr val="6B7280"/>
                </a:solidFill>
                <a:latin typeface="微软雅黑" panose="020B0503020204020204" charset="-122"/>
                <a:ea typeface="微软雅黑" panose="020B0503020204020204" charset="-122"/>
                <a:cs typeface="微软雅黑" panose="020B0503020204020204" charset="-122"/>
                <a:sym typeface="Noto Sans SC" panose="020B0200000000000000" charset="-122"/>
              </a:rPr>
              <a:t>未建立重大隐患排查治理制度，或者重大隐患排查治理情况未报告</a:t>
            </a:r>
            <a:r>
              <a:rPr lang="zh-CN" altLang="en-US" sz="1100" i="0" u="none" strike="noStrike">
                <a:solidFill>
                  <a:srgbClr val="6B7280"/>
                </a:solidFill>
                <a:latin typeface="微软雅黑" panose="020B0503020204020204" charset="-122"/>
                <a:ea typeface="微软雅黑" panose="020B0503020204020204" charset="-122"/>
                <a:cs typeface="微软雅黑" panose="020B0503020204020204" charset="-122"/>
                <a:sym typeface="Noto Sans SC" panose="020B0200000000000000" charset="-122"/>
              </a:rPr>
              <a:t>的</a:t>
            </a:r>
            <a:r>
              <a:rPr lang="zh-CN" altLang="en-US" sz="1100" b="0" i="0" u="none" strike="noStrike">
                <a:solidFill>
                  <a:srgbClr val="6B7280"/>
                </a:solidFill>
                <a:latin typeface="微软雅黑" panose="020B0503020204020204" charset="-122"/>
                <a:ea typeface="微软雅黑" panose="020B0503020204020204" charset="-122"/>
                <a:cs typeface="微软雅黑" panose="020B0503020204020204" charset="-122"/>
                <a:sym typeface="Noto Sans SC" panose="020B0200000000000000" charset="-122"/>
              </a:rPr>
              <a:t>，责令限期改正，</a:t>
            </a:r>
            <a:r>
              <a:rPr lang="zh-CN" altLang="en-US" sz="1100" b="1" i="0" u="none" strike="noStrike">
                <a:solidFill>
                  <a:srgbClr val="C00000"/>
                </a:solidFill>
                <a:latin typeface="微软雅黑" panose="020B0503020204020204" charset="-122"/>
                <a:ea typeface="微软雅黑" panose="020B0503020204020204" charset="-122"/>
                <a:cs typeface="微软雅黑" panose="020B0503020204020204" charset="-122"/>
                <a:sym typeface="Noto Sans SC" panose="020B0200000000000000" charset="-122"/>
              </a:rPr>
              <a:t>处十万元以下</a:t>
            </a:r>
            <a:r>
              <a:rPr lang="zh-CN" altLang="en-US" sz="1100" i="0" u="none" strike="noStrike">
                <a:solidFill>
                  <a:srgbClr val="6B7280"/>
                </a:solidFill>
                <a:latin typeface="微软雅黑" panose="020B0503020204020204" charset="-122"/>
                <a:ea typeface="微软雅黑" panose="020B0503020204020204" charset="-122"/>
                <a:cs typeface="微软雅黑" panose="020B0503020204020204" charset="-122"/>
                <a:sym typeface="Noto Sans SC" panose="020B0200000000000000" charset="-122"/>
              </a:rPr>
              <a:t>的罚款</a:t>
            </a:r>
            <a:r>
              <a:rPr lang="zh-CN" altLang="en-US" sz="1100" b="0" i="0" u="none" strike="noStrike">
                <a:solidFill>
                  <a:srgbClr val="6B7280"/>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zh-CN" altLang="en-US" sz="1100" b="1" i="0" u="none" strike="noStrike">
                <a:solidFill>
                  <a:srgbClr val="6B7280"/>
                </a:solidFill>
                <a:latin typeface="微软雅黑" panose="020B0503020204020204" charset="-122"/>
                <a:ea typeface="微软雅黑" panose="020B0503020204020204" charset="-122"/>
                <a:cs typeface="微软雅黑" panose="020B0503020204020204" charset="-122"/>
                <a:sym typeface="Noto Sans SC" panose="020B0200000000000000" charset="-122"/>
              </a:rPr>
              <a:t>逾期未改正</a:t>
            </a:r>
            <a:r>
              <a:rPr lang="zh-CN" altLang="en-US" sz="1100" b="0" i="0" u="none" strike="noStrike">
                <a:solidFill>
                  <a:srgbClr val="6B7280"/>
                </a:solidFill>
                <a:latin typeface="微软雅黑" panose="020B0503020204020204" charset="-122"/>
                <a:ea typeface="微软雅黑" panose="020B0503020204020204" charset="-122"/>
                <a:cs typeface="微软雅黑" panose="020B0503020204020204" charset="-122"/>
                <a:sym typeface="Noto Sans SC" panose="020B0200000000000000" charset="-122"/>
              </a:rPr>
              <a:t>的，责令停建停产停业整顿，处</a:t>
            </a:r>
            <a:r>
              <a:rPr lang="zh-CN" altLang="en-US" sz="1100" b="1" i="0" u="none" strike="noStrike">
                <a:solidFill>
                  <a:srgbClr val="C00000"/>
                </a:solidFill>
                <a:latin typeface="微软雅黑" panose="020B0503020204020204" charset="-122"/>
                <a:ea typeface="微软雅黑" panose="020B0503020204020204" charset="-122"/>
                <a:cs typeface="微软雅黑" panose="020B0503020204020204" charset="-122"/>
                <a:sym typeface="Noto Sans SC" panose="020B0200000000000000" charset="-122"/>
              </a:rPr>
              <a:t>十万元以上二十万元以下</a:t>
            </a:r>
            <a:r>
              <a:rPr lang="zh-CN" altLang="en-US" sz="1100" b="0" i="0" u="none" strike="noStrike">
                <a:solidFill>
                  <a:srgbClr val="6B7280"/>
                </a:solidFill>
                <a:latin typeface="微软雅黑" panose="020B0503020204020204" charset="-122"/>
                <a:ea typeface="微软雅黑" panose="020B0503020204020204" charset="-122"/>
                <a:cs typeface="微软雅黑" panose="020B0503020204020204" charset="-122"/>
                <a:sym typeface="Noto Sans SC" panose="020B0200000000000000" charset="-122"/>
              </a:rPr>
              <a:t>的罚</a:t>
            </a:r>
            <a:r>
              <a:rPr lang="zh-CN" altLang="en-US" sz="1100" i="0" u="none" strike="noStrike">
                <a:solidFill>
                  <a:srgbClr val="6B7280"/>
                </a:solidFill>
                <a:latin typeface="微软雅黑" panose="020B0503020204020204" charset="-122"/>
                <a:ea typeface="微软雅黑" panose="020B0503020204020204" charset="-122"/>
                <a:cs typeface="微软雅黑" panose="020B0503020204020204" charset="-122"/>
                <a:sym typeface="Noto Sans SC" panose="020B0200000000000000" charset="-122"/>
              </a:rPr>
              <a:t>款</a:t>
            </a:r>
            <a:r>
              <a:rPr lang="zh-CN" altLang="en-US" sz="1100" b="0" i="0" u="none" strike="noStrike">
                <a:solidFill>
                  <a:srgbClr val="6B7280"/>
                </a:solidFill>
                <a:latin typeface="微软雅黑" panose="020B0503020204020204" charset="-122"/>
                <a:ea typeface="微软雅黑" panose="020B0503020204020204" charset="-122"/>
                <a:cs typeface="微软雅黑" panose="020B0503020204020204" charset="-122"/>
                <a:sym typeface="Noto Sans SC" panose="020B0200000000000000" charset="-122"/>
              </a:rPr>
              <a:t>，对相关责任人员</a:t>
            </a:r>
            <a:r>
              <a:rPr lang="zh-CN" altLang="en-US" sz="1100" b="1" i="0" u="none" strike="noStrike">
                <a:solidFill>
                  <a:srgbClr val="C00000"/>
                </a:solidFill>
                <a:latin typeface="微软雅黑" panose="020B0503020204020204" charset="-122"/>
                <a:ea typeface="微软雅黑" panose="020B0503020204020204" charset="-122"/>
                <a:cs typeface="微软雅黑" panose="020B0503020204020204" charset="-122"/>
                <a:sym typeface="Noto Sans SC" panose="020B0200000000000000" charset="-122"/>
              </a:rPr>
              <a:t>处二万元以上五万元以下</a:t>
            </a:r>
            <a:r>
              <a:rPr lang="zh-CN" altLang="en-US" sz="1100" b="0" i="0" u="none" strike="noStrike">
                <a:solidFill>
                  <a:srgbClr val="6B7280"/>
                </a:solidFill>
                <a:latin typeface="微软雅黑" panose="020B0503020204020204" charset="-122"/>
                <a:ea typeface="微软雅黑" panose="020B0503020204020204" charset="-122"/>
                <a:cs typeface="微软雅黑" panose="020B0503020204020204" charset="-122"/>
                <a:sym typeface="Noto Sans SC" panose="020B0200000000000000" charset="-122"/>
              </a:rPr>
              <a:t>的罚款；</a:t>
            </a:r>
            <a:r>
              <a:rPr lang="zh-CN" altLang="en-US" sz="1100" b="1" i="0" u="none" strike="noStrike">
                <a:solidFill>
                  <a:srgbClr val="6B7280"/>
                </a:solidFill>
                <a:latin typeface="微软雅黑" panose="020B0503020204020204" charset="-122"/>
                <a:ea typeface="微软雅黑" panose="020B0503020204020204" charset="-122"/>
                <a:cs typeface="微软雅黑" panose="020B0503020204020204" charset="-122"/>
                <a:sym typeface="Noto Sans SC" panose="020B0200000000000000" charset="-122"/>
              </a:rPr>
              <a:t>构成犯罪的，依照刑法有关规定追究刑事责任。</a:t>
            </a:r>
            <a:endParaRPr lang="zh-CN" altLang="en-US" sz="1100" b="1" i="0" u="none" strike="noStrike">
              <a:solidFill>
                <a:srgbClr val="6B7280"/>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51" name="AutoShape 5"/>
          <p:cNvSpPr/>
          <p:nvPr>
            <p:custDataLst>
              <p:tags r:id="rId16"/>
            </p:custDataLst>
          </p:nvPr>
        </p:nvSpPr>
        <p:spPr>
          <a:xfrm>
            <a:off x="7813675" y="4568825"/>
            <a:ext cx="3552825" cy="2005965"/>
          </a:xfrm>
          <a:prstGeom prst="roundRect">
            <a:avLst>
              <a:gd name="adj" fmla="val 4615"/>
            </a:avLst>
          </a:prstGeom>
          <a:solidFill>
            <a:srgbClr val="FFFFFF">
              <a:alpha val="95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sz="2000">
              <a:latin typeface="微软雅黑" panose="020B0503020204020204" charset="-122"/>
              <a:ea typeface="微软雅黑" panose="020B0503020204020204" charset="-122"/>
            </a:endParaRPr>
          </a:p>
        </p:txBody>
      </p:sp>
      <p:sp>
        <p:nvSpPr>
          <p:cNvPr id="53" name="AutoShape 11"/>
          <p:cNvSpPr/>
          <p:nvPr>
            <p:custDataLst>
              <p:tags r:id="rId17"/>
            </p:custDataLst>
          </p:nvPr>
        </p:nvSpPr>
        <p:spPr>
          <a:xfrm>
            <a:off x="8709025" y="4594225"/>
            <a:ext cx="2657475"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2000" b="1" i="0" u="none" strike="noStrike">
                <a:solidFill>
                  <a:srgbClr val="1F2937"/>
                </a:solidFill>
                <a:latin typeface="微软雅黑" panose="020B0503020204020204" charset="-122"/>
                <a:ea typeface="微软雅黑" panose="020B0503020204020204" charset="-122"/>
                <a:cs typeface="Noto Sans SC" panose="020B0200000000000000" charset="-122"/>
                <a:sym typeface="Noto Sans SC" panose="020B0200000000000000" charset="-122"/>
              </a:rPr>
              <a:t>拒不采取措施消除</a:t>
            </a:r>
            <a:r>
              <a:rPr lang="zh-CN" altLang="en-US" sz="2000" b="1" i="0" u="none" strike="noStrike">
                <a:solidFill>
                  <a:srgbClr val="1F2937"/>
                </a:solidFill>
                <a:latin typeface="微软雅黑" panose="020B0503020204020204" charset="-122"/>
                <a:ea typeface="微软雅黑" panose="020B0503020204020204" charset="-122"/>
                <a:cs typeface="Noto Sans SC" panose="020B0200000000000000" charset="-122"/>
                <a:sym typeface="Noto Sans SC" panose="020B0200000000000000" charset="-122"/>
              </a:rPr>
              <a:t>隐患</a:t>
            </a:r>
            <a:endParaRPr lang="zh-CN" altLang="en-US" sz="2000" b="1" i="0" u="none" strike="noStrike">
              <a:solidFill>
                <a:srgbClr val="1F2937"/>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54" name="AutoShape 8"/>
          <p:cNvSpPr/>
          <p:nvPr>
            <p:custDataLst>
              <p:tags r:id="rId18"/>
            </p:custDataLst>
          </p:nvPr>
        </p:nvSpPr>
        <p:spPr>
          <a:xfrm>
            <a:off x="7885430" y="5139055"/>
            <a:ext cx="3429635" cy="136271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zh-CN" altLang="en-US" sz="1100" b="1" i="0" u="none" strike="noStrike">
                <a:solidFill>
                  <a:srgbClr val="6B7280"/>
                </a:solidFill>
                <a:latin typeface="微软雅黑" panose="020B0503020204020204" charset="-122"/>
                <a:ea typeface="微软雅黑" panose="020B0503020204020204" charset="-122"/>
                <a:cs typeface="微软雅黑" panose="020B0503020204020204" charset="-122"/>
                <a:sym typeface="Noto Sans SC" panose="020B0200000000000000" charset="-122"/>
              </a:rPr>
              <a:t>未采取措施消除重大隐患的，责令立即消除或者限期消除</a:t>
            </a:r>
            <a:r>
              <a:rPr lang="zh-CN" altLang="en-US" sz="1100" b="0" i="0" u="none" strike="noStrike">
                <a:solidFill>
                  <a:srgbClr val="6B7280"/>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zh-CN" altLang="en-US" sz="1100" b="1" i="0" u="none" strike="noStrike">
                <a:solidFill>
                  <a:srgbClr val="C00000"/>
                </a:solidFill>
                <a:latin typeface="微软雅黑" panose="020B0503020204020204" charset="-122"/>
                <a:ea typeface="微软雅黑" panose="020B0503020204020204" charset="-122"/>
                <a:cs typeface="微软雅黑" panose="020B0503020204020204" charset="-122"/>
                <a:sym typeface="Noto Sans SC" panose="020B0200000000000000" charset="-122"/>
              </a:rPr>
              <a:t>处五万元以下的罚款；</a:t>
            </a:r>
            <a:r>
              <a:rPr lang="zh-CN" altLang="en-US" sz="1100" b="1" i="0" u="none" strike="noStrike">
                <a:solidFill>
                  <a:srgbClr val="6B7280"/>
                </a:solidFill>
                <a:latin typeface="微软雅黑" panose="020B0503020204020204" charset="-122"/>
                <a:ea typeface="微软雅黑" panose="020B0503020204020204" charset="-122"/>
                <a:cs typeface="微软雅黑" panose="020B0503020204020204" charset="-122"/>
                <a:sym typeface="Noto Sans SC" panose="020B0200000000000000" charset="-122"/>
              </a:rPr>
              <a:t>拒不执行</a:t>
            </a:r>
            <a:r>
              <a:rPr lang="zh-CN" altLang="en-US" sz="1100" b="0" i="0" u="none" strike="noStrike">
                <a:solidFill>
                  <a:srgbClr val="6B7280"/>
                </a:solidFill>
                <a:latin typeface="微软雅黑" panose="020B0503020204020204" charset="-122"/>
                <a:ea typeface="微软雅黑" panose="020B0503020204020204" charset="-122"/>
                <a:cs typeface="微软雅黑" panose="020B0503020204020204" charset="-122"/>
                <a:sym typeface="Noto Sans SC" panose="020B0200000000000000" charset="-122"/>
              </a:rPr>
              <a:t>的，责令停建停产停业整顿，对</a:t>
            </a:r>
            <a:r>
              <a:rPr lang="zh-CN" altLang="en-US" sz="1100" b="0" i="0" u="none" strike="noStrike">
                <a:solidFill>
                  <a:srgbClr val="6B7280"/>
                </a:solidFill>
                <a:latin typeface="微软雅黑" panose="020B0503020204020204" charset="-122"/>
                <a:ea typeface="微软雅黑" panose="020B0503020204020204" charset="-122"/>
                <a:cs typeface="微软雅黑" panose="020B0503020204020204" charset="-122"/>
                <a:sym typeface="Noto Sans SC" panose="020B0200000000000000" charset="-122"/>
              </a:rPr>
              <a:t>相关责任人员处</a:t>
            </a:r>
            <a:r>
              <a:rPr lang="zh-CN" altLang="en-US" sz="1100" b="1" i="0" u="none" strike="noStrike">
                <a:solidFill>
                  <a:srgbClr val="C00000"/>
                </a:solidFill>
                <a:latin typeface="微软雅黑" panose="020B0503020204020204" charset="-122"/>
                <a:ea typeface="微软雅黑" panose="020B0503020204020204" charset="-122"/>
                <a:cs typeface="微软雅黑" panose="020B0503020204020204" charset="-122"/>
                <a:sym typeface="Noto Sans SC" panose="020B0200000000000000" charset="-122"/>
              </a:rPr>
              <a:t>五万元以上十万元以下</a:t>
            </a:r>
            <a:r>
              <a:rPr lang="zh-CN" altLang="en-US" sz="1100" b="0" i="0" u="none" strike="noStrike">
                <a:solidFill>
                  <a:srgbClr val="6B7280"/>
                </a:solidFill>
                <a:latin typeface="微软雅黑" panose="020B0503020204020204" charset="-122"/>
                <a:ea typeface="微软雅黑" panose="020B0503020204020204" charset="-122"/>
                <a:cs typeface="微软雅黑" panose="020B0503020204020204" charset="-122"/>
                <a:sym typeface="Noto Sans SC" panose="020B0200000000000000" charset="-122"/>
              </a:rPr>
              <a:t>的罚款；</a:t>
            </a:r>
            <a:r>
              <a:rPr lang="zh-CN" altLang="en-US" sz="1100" b="1" i="0" u="none" strike="noStrike">
                <a:solidFill>
                  <a:srgbClr val="6B7280"/>
                </a:solidFill>
                <a:latin typeface="微软雅黑" panose="020B0503020204020204" charset="-122"/>
                <a:ea typeface="微软雅黑" panose="020B0503020204020204" charset="-122"/>
                <a:cs typeface="微软雅黑" panose="020B0503020204020204" charset="-122"/>
                <a:sym typeface="Noto Sans SC" panose="020B0200000000000000" charset="-122"/>
              </a:rPr>
              <a:t>构成犯罪的，依照刑法有关规定追究刑事责任。</a:t>
            </a:r>
            <a:endParaRPr lang="zh-CN" altLang="en-US" sz="1100" b="1" i="0" u="none" strike="noStrike">
              <a:solidFill>
                <a:srgbClr val="6B7280"/>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pic>
        <p:nvPicPr>
          <p:cNvPr id="55" name="Picture 19"/>
          <p:cNvPicPr>
            <a:picLocks noChangeAspect="1"/>
          </p:cNvPicPr>
          <p:nvPr>
            <p:custDataLst>
              <p:tags r:id="rId19"/>
            </p:custDataLst>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8063230" y="4601210"/>
            <a:ext cx="551180" cy="551180"/>
          </a:xfrm>
          <a:prstGeom prst="rect">
            <a:avLst/>
          </a:prstGeom>
        </p:spPr>
      </p:pic>
      <p:sp>
        <p:nvSpPr>
          <p:cNvPr id="56" name="AutoShape 5"/>
          <p:cNvSpPr/>
          <p:nvPr>
            <p:custDataLst>
              <p:tags r:id="rId22"/>
            </p:custDataLst>
          </p:nvPr>
        </p:nvSpPr>
        <p:spPr>
          <a:xfrm>
            <a:off x="4399280" y="4559935"/>
            <a:ext cx="3302000" cy="2005965"/>
          </a:xfrm>
          <a:prstGeom prst="roundRect">
            <a:avLst>
              <a:gd name="adj" fmla="val 4615"/>
            </a:avLst>
          </a:prstGeom>
          <a:solidFill>
            <a:srgbClr val="FFFFFF">
              <a:alpha val="95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sz="2000">
              <a:latin typeface="微软雅黑" panose="020B0503020204020204" charset="-122"/>
              <a:ea typeface="微软雅黑" panose="020B0503020204020204" charset="-122"/>
            </a:endParaRPr>
          </a:p>
        </p:txBody>
      </p:sp>
      <p:sp>
        <p:nvSpPr>
          <p:cNvPr id="58" name="AutoShape 7"/>
          <p:cNvSpPr/>
          <p:nvPr>
            <p:custDataLst>
              <p:tags r:id="rId23"/>
            </p:custDataLst>
          </p:nvPr>
        </p:nvSpPr>
        <p:spPr>
          <a:xfrm>
            <a:off x="5105400" y="4610735"/>
            <a:ext cx="233426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2000" b="1" i="0" u="none" strike="noStrike">
                <a:solidFill>
                  <a:srgbClr val="1F2937"/>
                </a:solidFill>
                <a:latin typeface="微软雅黑" panose="020B0503020204020204" charset="-122"/>
                <a:ea typeface="微软雅黑" panose="020B0503020204020204" charset="-122"/>
                <a:cs typeface="Noto Sans SC" panose="020B0200000000000000" charset="-122"/>
                <a:sym typeface="Noto Sans SC" panose="020B0200000000000000" charset="-122"/>
              </a:rPr>
              <a:t>未记录排查或未</a:t>
            </a:r>
            <a:r>
              <a:rPr lang="zh-CN" altLang="en-US" sz="2000" b="1" i="0" u="none" strike="noStrike">
                <a:solidFill>
                  <a:srgbClr val="1F2937"/>
                </a:solidFill>
                <a:latin typeface="微软雅黑" panose="020B0503020204020204" charset="-122"/>
                <a:ea typeface="微软雅黑" panose="020B0503020204020204" charset="-122"/>
                <a:cs typeface="Noto Sans SC" panose="020B0200000000000000" charset="-122"/>
                <a:sym typeface="Noto Sans SC" panose="020B0200000000000000" charset="-122"/>
              </a:rPr>
              <a:t>通报</a:t>
            </a:r>
            <a:endParaRPr lang="zh-CN" altLang="en-US" sz="2000" b="1" i="0" u="none" strike="noStrike">
              <a:solidFill>
                <a:srgbClr val="1F2937"/>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59" name="AutoShape 8"/>
          <p:cNvSpPr/>
          <p:nvPr>
            <p:custDataLst>
              <p:tags r:id="rId24"/>
            </p:custDataLst>
          </p:nvPr>
        </p:nvSpPr>
        <p:spPr>
          <a:xfrm>
            <a:off x="4471035" y="5130165"/>
            <a:ext cx="3126740" cy="136271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zh-CN" altLang="en-US" sz="1200" b="0" i="0" u="none" strike="noStrike">
                <a:solidFill>
                  <a:srgbClr val="6B7280"/>
                </a:solidFill>
                <a:latin typeface="微软雅黑" panose="020B0503020204020204" charset="-122"/>
                <a:ea typeface="微软雅黑" panose="020B0503020204020204" charset="-122"/>
                <a:cs typeface="微软雅黑" panose="020B0503020204020204" charset="-122"/>
                <a:sym typeface="Noto Sans SC" panose="020B0200000000000000" charset="-122"/>
              </a:rPr>
              <a:t>未将重大隐患排查治理情况如实记录或者未向从业人员通报的，责令限期改正，</a:t>
            </a:r>
            <a:r>
              <a:rPr lang="zh-CN" altLang="en-US" sz="1200" b="1" i="0" u="none" strike="noStrike">
                <a:solidFill>
                  <a:srgbClr val="C00000"/>
                </a:solidFill>
                <a:latin typeface="微软雅黑" panose="020B0503020204020204" charset="-122"/>
                <a:ea typeface="微软雅黑" panose="020B0503020204020204" charset="-122"/>
                <a:cs typeface="微软雅黑" panose="020B0503020204020204" charset="-122"/>
                <a:sym typeface="Noto Sans SC" panose="020B0200000000000000" charset="-122"/>
              </a:rPr>
              <a:t>处十万元以下</a:t>
            </a:r>
            <a:r>
              <a:rPr lang="zh-CN" altLang="en-US" sz="1200" b="0" i="0" u="none" strike="noStrike">
                <a:solidFill>
                  <a:srgbClr val="6B7280"/>
                </a:solidFill>
                <a:latin typeface="微软雅黑" panose="020B0503020204020204" charset="-122"/>
                <a:ea typeface="微软雅黑" panose="020B0503020204020204" charset="-122"/>
                <a:cs typeface="微软雅黑" panose="020B0503020204020204" charset="-122"/>
                <a:sym typeface="Noto Sans SC" panose="020B0200000000000000" charset="-122"/>
              </a:rPr>
              <a:t>的罚款；</a:t>
            </a:r>
            <a:r>
              <a:rPr lang="zh-CN" altLang="en-US" sz="1200" b="1" i="0" u="none" strike="noStrike">
                <a:solidFill>
                  <a:srgbClr val="6B7280"/>
                </a:solidFill>
                <a:latin typeface="微软雅黑" panose="020B0503020204020204" charset="-122"/>
                <a:ea typeface="微软雅黑" panose="020B0503020204020204" charset="-122"/>
                <a:cs typeface="微软雅黑" panose="020B0503020204020204" charset="-122"/>
                <a:sym typeface="Noto Sans SC" panose="020B0200000000000000" charset="-122"/>
              </a:rPr>
              <a:t>逾期未改正</a:t>
            </a:r>
            <a:r>
              <a:rPr lang="zh-CN" altLang="en-US" sz="1200" i="0" u="none" strike="noStrike">
                <a:solidFill>
                  <a:srgbClr val="6B7280"/>
                </a:solidFill>
                <a:latin typeface="微软雅黑" panose="020B0503020204020204" charset="-122"/>
                <a:ea typeface="微软雅黑" panose="020B0503020204020204" charset="-122"/>
                <a:cs typeface="微软雅黑" panose="020B0503020204020204" charset="-122"/>
                <a:sym typeface="Noto Sans SC" panose="020B0200000000000000" charset="-122"/>
              </a:rPr>
              <a:t>的</a:t>
            </a:r>
            <a:r>
              <a:rPr lang="zh-CN" altLang="en-US" sz="1200" b="0" i="0" u="none" strike="noStrike">
                <a:solidFill>
                  <a:srgbClr val="6B7280"/>
                </a:solidFill>
                <a:latin typeface="微软雅黑" panose="020B0503020204020204" charset="-122"/>
                <a:ea typeface="微软雅黑" panose="020B0503020204020204" charset="-122"/>
                <a:cs typeface="微软雅黑" panose="020B0503020204020204" charset="-122"/>
                <a:sym typeface="Noto Sans SC" panose="020B0200000000000000" charset="-122"/>
              </a:rPr>
              <a:t>，责令停建停产停业整顿，并处</a:t>
            </a:r>
            <a:r>
              <a:rPr lang="zh-CN" altLang="en-US" sz="1200" b="1" i="0" u="none" strike="noStrike">
                <a:solidFill>
                  <a:srgbClr val="C00000"/>
                </a:solidFill>
                <a:latin typeface="微软雅黑" panose="020B0503020204020204" charset="-122"/>
                <a:ea typeface="微软雅黑" panose="020B0503020204020204" charset="-122"/>
                <a:cs typeface="微软雅黑" panose="020B0503020204020204" charset="-122"/>
                <a:sym typeface="Noto Sans SC" panose="020B0200000000000000" charset="-122"/>
              </a:rPr>
              <a:t>十万元以上二十万元以下</a:t>
            </a:r>
            <a:r>
              <a:rPr lang="zh-CN" altLang="en-US" sz="1200" b="0" i="0" u="none" strike="noStrike">
                <a:solidFill>
                  <a:srgbClr val="6B7280"/>
                </a:solidFill>
                <a:latin typeface="微软雅黑" panose="020B0503020204020204" charset="-122"/>
                <a:ea typeface="微软雅黑" panose="020B0503020204020204" charset="-122"/>
                <a:cs typeface="微软雅黑" panose="020B0503020204020204" charset="-122"/>
                <a:sym typeface="Noto Sans SC" panose="020B0200000000000000" charset="-122"/>
              </a:rPr>
              <a:t>的罚款，对其直接负责的主管人员和其他直接责任人员处</a:t>
            </a:r>
            <a:r>
              <a:rPr lang="zh-CN" altLang="en-US" sz="1200" b="1" i="0" u="none" strike="noStrike">
                <a:solidFill>
                  <a:srgbClr val="C00000"/>
                </a:solidFill>
                <a:latin typeface="微软雅黑" panose="020B0503020204020204" charset="-122"/>
                <a:ea typeface="微软雅黑" panose="020B0503020204020204" charset="-122"/>
                <a:cs typeface="微软雅黑" panose="020B0503020204020204" charset="-122"/>
                <a:sym typeface="Noto Sans SC" panose="020B0200000000000000" charset="-122"/>
              </a:rPr>
              <a:t>二万元以上五万元以下</a:t>
            </a:r>
            <a:r>
              <a:rPr lang="zh-CN" altLang="en-US" sz="1200" b="0" i="0" u="none" strike="noStrike">
                <a:solidFill>
                  <a:srgbClr val="6B7280"/>
                </a:solidFill>
                <a:latin typeface="微软雅黑" panose="020B0503020204020204" charset="-122"/>
                <a:ea typeface="微软雅黑" panose="020B0503020204020204" charset="-122"/>
                <a:cs typeface="微软雅黑" panose="020B0503020204020204" charset="-122"/>
                <a:sym typeface="Noto Sans SC" panose="020B0200000000000000" charset="-122"/>
              </a:rPr>
              <a:t>的罚款。</a:t>
            </a:r>
            <a:endParaRPr lang="zh-CN" altLang="en-US" sz="1200" b="0" i="0" u="none" strike="noStrike">
              <a:solidFill>
                <a:srgbClr val="6B7280"/>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pic>
        <p:nvPicPr>
          <p:cNvPr id="60" name="Picture 22"/>
          <p:cNvPicPr>
            <a:picLocks noChangeAspect="1"/>
          </p:cNvPicPr>
          <p:nvPr>
            <p:custDataLst>
              <p:tags r:id="rId25"/>
            </p:custDataLst>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4519295" y="4610735"/>
            <a:ext cx="491490" cy="491490"/>
          </a:xfrm>
          <a:prstGeom prst="rect">
            <a:avLst/>
          </a:prstGeom>
        </p:spPr>
      </p:pic>
      <p:sp>
        <p:nvSpPr>
          <p:cNvPr id="62" name="文本框 61"/>
          <p:cNvSpPr txBox="1"/>
          <p:nvPr/>
        </p:nvSpPr>
        <p:spPr>
          <a:xfrm>
            <a:off x="3905885" y="2488565"/>
            <a:ext cx="490220" cy="4086860"/>
          </a:xfrm>
          <a:prstGeom prst="rect">
            <a:avLst/>
          </a:prstGeom>
          <a:solidFill>
            <a:schemeClr val="accent1">
              <a:lumMod val="20000"/>
              <a:lumOff val="80000"/>
              <a:alpha val="95000"/>
            </a:schemeClr>
          </a:solidFill>
        </p:spPr>
        <p:txBody>
          <a:bodyPr vert="eaVert" wrap="square" rtlCol="0">
            <a:spAutoFit/>
          </a:bodyPr>
          <a:p>
            <a:pPr algn="ctr"/>
            <a:r>
              <a:rPr lang="en-US" sz="2000" b="1">
                <a:solidFill>
                  <a:srgbClr val="1F2937"/>
                </a:solidFill>
                <a:latin typeface="微软雅黑" panose="020B0503020204020204" charset="-122"/>
                <a:ea typeface="微软雅黑" panose="020B0503020204020204" charset="-122"/>
                <a:cs typeface="Noto Sans SC" panose="020B0200000000000000" charset="-122"/>
              </a:rPr>
              <a:t>责任认定（三十一条至三十四条）</a:t>
            </a:r>
            <a:endParaRPr lang="en-US" sz="2000" b="1">
              <a:solidFill>
                <a:srgbClr val="1F2937"/>
              </a:solidFill>
              <a:latin typeface="微软雅黑" panose="020B0503020204020204" charset="-122"/>
              <a:ea typeface="微软雅黑" panose="020B0503020204020204" charset="-122"/>
              <a:cs typeface="Noto Sans SC" panose="020B0200000000000000" charset="-122"/>
            </a:endParaRPr>
          </a:p>
        </p:txBody>
      </p:sp>
      <p:sp>
        <p:nvSpPr>
          <p:cNvPr id="6" name="灯片编号占位符 5"/>
          <p:cNvSpPr>
            <a:spLocks noGrp="1"/>
          </p:cNvSpPr>
          <p:nvPr>
            <p:ph type="sldNum" sz="quarter" idx="4294967295"/>
          </p:nvPr>
        </p:nvSpPr>
        <p:spPr>
          <a:xfrm>
            <a:off x="9997440" y="6499860"/>
            <a:ext cx="2133600" cy="365125"/>
          </a:xfrm>
        </p:spPr>
        <p:txBody>
          <a:bodyPr/>
          <a:lstStyle/>
          <a:p>
            <a:fld id="{A10E9369-8E4E-4DE7-B129-F0280ABC27D7}" type="slidenum">
              <a:rPr lang="zh-CN" altLang="en-US" smtClean="0"/>
            </a:fld>
            <a:endParaRPr lang="zh-CN" altLang="en-US" dirty="0"/>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4294967295"/>
          </p:nvPr>
        </p:nvSpPr>
        <p:spPr>
          <a:xfrm>
            <a:off x="9997440" y="6499860"/>
            <a:ext cx="2133600" cy="365125"/>
          </a:xfrm>
        </p:spPr>
        <p:txBody>
          <a:bodyPr/>
          <a:lstStyle/>
          <a:p>
            <a:fld id="{A10E9369-8E4E-4DE7-B129-F0280ABC27D7}" type="slidenum">
              <a:rPr lang="zh-CN" altLang="en-US" smtClean="0"/>
            </a:fld>
            <a:endParaRPr lang="zh-CN" altLang="en-US" dirty="0"/>
          </a:p>
        </p:txBody>
      </p:sp>
      <p:sp>
        <p:nvSpPr>
          <p:cNvPr id="26" name="TextBox 8"/>
          <p:cNvSpPr txBox="1"/>
          <p:nvPr/>
        </p:nvSpPr>
        <p:spPr>
          <a:xfrm>
            <a:off x="168335" y="271329"/>
            <a:ext cx="7002524" cy="52197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charset="-122"/>
                <a:ea typeface="微软雅黑" panose="020B0503020204020204" charset="-122"/>
              </a:rPr>
              <a:t>目录</a:t>
            </a:r>
            <a:endParaRPr lang="zh-CN" altLang="en-US" sz="2800" b="1" dirty="0">
              <a:latin typeface="微软雅黑" panose="020B0503020204020204" charset="-122"/>
              <a:ea typeface="微软雅黑" panose="020B0503020204020204" charset="-122"/>
            </a:endParaRPr>
          </a:p>
        </p:txBody>
      </p:sp>
      <p:sp>
        <p:nvSpPr>
          <p:cNvPr id="30" name="矩形 29"/>
          <p:cNvSpPr/>
          <p:nvPr/>
        </p:nvSpPr>
        <p:spPr>
          <a:xfrm>
            <a:off x="3919546" y="3206064"/>
            <a:ext cx="1873885" cy="864000"/>
          </a:xfrm>
          <a:prstGeom prst="rect">
            <a:avLst/>
          </a:prstGeom>
          <a:solidFill>
            <a:srgbClr val="0070C0"/>
          </a:solidFill>
          <a:ln>
            <a:solidFill>
              <a:srgbClr val="37609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spc="300" dirty="0">
              <a:latin typeface="微软雅黑" panose="020B0503020204020204" charset="-122"/>
            </a:endParaRPr>
          </a:p>
        </p:txBody>
      </p:sp>
      <p:sp>
        <p:nvSpPr>
          <p:cNvPr id="31" name="矩形 30"/>
          <p:cNvSpPr/>
          <p:nvPr/>
        </p:nvSpPr>
        <p:spPr>
          <a:xfrm>
            <a:off x="3919752" y="3206167"/>
            <a:ext cx="6715125" cy="864235"/>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schemeClr val="accent1">
                  <a:lumMod val="75000"/>
                </a:schemeClr>
              </a:solidFill>
              <a:effectLst/>
              <a:uLnTx/>
              <a:uFillTx/>
              <a:latin typeface="微软雅黑" panose="020B0503020204020204" charset="-122"/>
              <a:ea typeface="微软雅黑" panose="020B0503020204020204" charset="-122"/>
            </a:endParaRPr>
          </a:p>
        </p:txBody>
      </p:sp>
      <p:sp>
        <p:nvSpPr>
          <p:cNvPr id="32" name="文本框 31"/>
          <p:cNvSpPr txBox="1"/>
          <p:nvPr/>
        </p:nvSpPr>
        <p:spPr>
          <a:xfrm>
            <a:off x="4168002" y="3407877"/>
            <a:ext cx="1555515" cy="460375"/>
          </a:xfrm>
          <a:prstGeom prst="rect">
            <a:avLst/>
          </a:prstGeom>
          <a:solidFill>
            <a:srgbClr val="0070C0"/>
          </a:solidFill>
          <a:ln>
            <a:solidFill>
              <a:srgbClr val="0070C0"/>
            </a:solidFill>
          </a:ln>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300" normalizeH="0" noProof="0" dirty="0">
                <a:ln>
                  <a:noFill/>
                </a:ln>
                <a:solidFill>
                  <a:schemeClr val="bg1"/>
                </a:solidFill>
                <a:effectLst/>
                <a:uLnTx/>
                <a:uFillTx/>
                <a:latin typeface="微软雅黑" panose="020B0503020204020204" charset="-122"/>
                <a:ea typeface="微软雅黑" panose="020B0503020204020204" charset="-122"/>
              </a:rPr>
              <a:t>第二部分</a:t>
            </a:r>
            <a:endParaRPr kumimoji="0" lang="zh-CN" altLang="en-US" sz="2400" b="1" i="0" u="none" strike="noStrike" kern="1200" cap="none" spc="300" normalizeH="0" noProof="0" dirty="0">
              <a:ln>
                <a:noFill/>
              </a:ln>
              <a:solidFill>
                <a:schemeClr val="bg1"/>
              </a:solidFill>
              <a:effectLst/>
              <a:uLnTx/>
              <a:uFillTx/>
              <a:latin typeface="微软雅黑" panose="020B0503020204020204" charset="-122"/>
              <a:ea typeface="微软雅黑" panose="020B0503020204020204" charset="-122"/>
            </a:endParaRPr>
          </a:p>
        </p:txBody>
      </p:sp>
      <p:sp>
        <p:nvSpPr>
          <p:cNvPr id="33" name="文本框 32"/>
          <p:cNvSpPr txBox="1"/>
          <p:nvPr/>
        </p:nvSpPr>
        <p:spPr>
          <a:xfrm>
            <a:off x="5794272" y="3407452"/>
            <a:ext cx="4840502" cy="461665"/>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400" b="1" noProof="0" dirty="0">
                <a:ln>
                  <a:noFill/>
                </a:ln>
                <a:solidFill>
                  <a:srgbClr val="0070C0"/>
                </a:solidFill>
                <a:effectLst/>
                <a:uLnTx/>
                <a:uFillTx/>
                <a:latin typeface="微软雅黑" panose="020B0503020204020204" charset="-122"/>
                <a:ea typeface="微软雅黑" panose="020B0503020204020204" charset="-122"/>
                <a:sym typeface="+mn-ea"/>
              </a:rPr>
              <a:t>网公司事故隐患判定标准宣贯学习</a:t>
            </a:r>
            <a:endParaRPr kumimoji="0" lang="zh-CN" altLang="en-US" sz="2400" b="1" i="0" noProof="0" dirty="0">
              <a:ln>
                <a:noFill/>
              </a:ln>
              <a:solidFill>
                <a:srgbClr val="0070C0"/>
              </a:solidFill>
              <a:effectLst/>
              <a:uLnTx/>
              <a:uFillTx/>
              <a:latin typeface="微软雅黑" panose="020B0503020204020204" charset="-122"/>
              <a:ea typeface="微软雅黑" panose="020B0503020204020204" charset="-122"/>
              <a:sym typeface="思源黑体 CN Medium" panose="020B0600000000000000" pitchFamily="34" charset="-122"/>
            </a:endParaRPr>
          </a:p>
        </p:txBody>
      </p:sp>
      <p:grpSp>
        <p:nvGrpSpPr>
          <p:cNvPr id="3" name="组合 2"/>
          <p:cNvGrpSpPr/>
          <p:nvPr/>
        </p:nvGrpSpPr>
        <p:grpSpPr>
          <a:xfrm>
            <a:off x="3919649" y="4510405"/>
            <a:ext cx="6715125" cy="864235"/>
            <a:chOff x="4463831" y="4623435"/>
            <a:chExt cx="6715125" cy="864235"/>
          </a:xfrm>
        </p:grpSpPr>
        <p:grpSp>
          <p:nvGrpSpPr>
            <p:cNvPr id="4" name="组合 3"/>
            <p:cNvGrpSpPr/>
            <p:nvPr/>
          </p:nvGrpSpPr>
          <p:grpSpPr>
            <a:xfrm>
              <a:off x="4463831" y="4623435"/>
              <a:ext cx="6715125" cy="864235"/>
              <a:chOff x="4369485" y="4140059"/>
              <a:chExt cx="6715125" cy="864235"/>
            </a:xfrm>
          </p:grpSpPr>
          <p:sp>
            <p:nvSpPr>
              <p:cNvPr id="5" name="矩形 4"/>
              <p:cNvSpPr/>
              <p:nvPr/>
            </p:nvSpPr>
            <p:spPr>
              <a:xfrm>
                <a:off x="4369485" y="4140059"/>
                <a:ext cx="1873885" cy="864000"/>
              </a:xfrm>
              <a:prstGeom prst="rect">
                <a:avLst/>
              </a:prstGeom>
              <a:solidFill>
                <a:schemeClr val="bg1">
                  <a:lumMod val="6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spc="300" dirty="0">
                  <a:latin typeface="微软雅黑" panose="020B0503020204020204" charset="-122"/>
                </a:endParaRPr>
              </a:p>
            </p:txBody>
          </p:sp>
          <p:sp>
            <p:nvSpPr>
              <p:cNvPr id="7" name="矩形 6"/>
              <p:cNvSpPr/>
              <p:nvPr/>
            </p:nvSpPr>
            <p:spPr>
              <a:xfrm>
                <a:off x="4369485" y="4140059"/>
                <a:ext cx="6715125" cy="864235"/>
              </a:xfrm>
              <a:prstGeom prst="rect">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schemeClr val="accent1">
                      <a:lumMod val="75000"/>
                    </a:schemeClr>
                  </a:solidFill>
                  <a:effectLst/>
                  <a:uLnTx/>
                  <a:uFillTx/>
                  <a:latin typeface="微软雅黑" panose="020B0503020204020204" charset="-122"/>
                  <a:ea typeface="微软雅黑" panose="020B0503020204020204" charset="-122"/>
                </a:endParaRPr>
              </a:p>
            </p:txBody>
          </p:sp>
        </p:grpSp>
        <p:sp>
          <p:nvSpPr>
            <p:cNvPr id="10" name="文本框 9"/>
            <p:cNvSpPr txBox="1"/>
            <p:nvPr/>
          </p:nvSpPr>
          <p:spPr>
            <a:xfrm>
              <a:off x="4712287" y="4825248"/>
              <a:ext cx="1555515" cy="460375"/>
            </a:xfrm>
            <a:prstGeom prst="rect">
              <a:avLst/>
            </a:prstGeom>
            <a:solidFill>
              <a:schemeClr val="bg1">
                <a:lumMod val="65000"/>
              </a:schemeClr>
            </a:solidFill>
            <a:ln>
              <a:solidFill>
                <a:schemeClr val="bg1">
                  <a:lumMod val="65000"/>
                </a:schemeClr>
              </a:solidFill>
            </a:ln>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300" normalizeH="0" noProof="0" dirty="0">
                  <a:ln>
                    <a:noFill/>
                  </a:ln>
                  <a:solidFill>
                    <a:schemeClr val="bg1"/>
                  </a:solidFill>
                  <a:effectLst/>
                  <a:uLnTx/>
                  <a:uFillTx/>
                  <a:latin typeface="微软雅黑" panose="020B0503020204020204" charset="-122"/>
                  <a:ea typeface="微软雅黑" panose="020B0503020204020204" charset="-122"/>
                </a:rPr>
                <a:t>第三部分</a:t>
              </a:r>
              <a:endParaRPr kumimoji="0" lang="zh-CN" altLang="en-US" sz="2400" b="1" i="0" u="none" strike="noStrike" kern="1200" cap="none" spc="300" normalizeH="0" noProof="0" dirty="0">
                <a:ln>
                  <a:noFill/>
                </a:ln>
                <a:solidFill>
                  <a:schemeClr val="bg1"/>
                </a:solidFill>
                <a:effectLst/>
                <a:uLnTx/>
                <a:uFillTx/>
                <a:latin typeface="微软雅黑" panose="020B0503020204020204" charset="-122"/>
                <a:ea typeface="微软雅黑" panose="020B0503020204020204" charset="-122"/>
              </a:endParaRPr>
            </a:p>
          </p:txBody>
        </p:sp>
        <p:sp>
          <p:nvSpPr>
            <p:cNvPr id="11" name="文本框 10"/>
            <p:cNvSpPr txBox="1"/>
            <p:nvPr/>
          </p:nvSpPr>
          <p:spPr>
            <a:xfrm>
              <a:off x="6337716" y="4825365"/>
              <a:ext cx="3420110" cy="460375"/>
            </a:xfrm>
            <a:prstGeom prst="rect">
              <a:avLst/>
            </a:prstGeom>
            <a:noFill/>
            <a:ln>
              <a:noFill/>
            </a:ln>
          </p:spPr>
          <p:txBody>
            <a:bodyPr wrap="square" rtlCol="0" anchor="ctr">
              <a:spAutoFit/>
            </a:bodyPr>
            <a:lstStyle/>
            <a:p>
              <a:pPr marL="0" marR="0" lvl="0" algn="l" defTabSz="914400" rtl="0" eaLnBrk="1" fontAlgn="auto" latinLnBrk="0" hangingPunct="1">
                <a:lnSpc>
                  <a:spcPct val="100000"/>
                </a:lnSpc>
                <a:spcBef>
                  <a:spcPts val="0"/>
                </a:spcBef>
                <a:spcAft>
                  <a:spcPts val="0"/>
                </a:spcAft>
                <a:buClrTx/>
                <a:buSzTx/>
                <a:buFontTx/>
                <a:buNone/>
                <a:defRPr/>
              </a:pPr>
              <a:r>
                <a:rPr lang="zh-CN" altLang="en-US" sz="2400" b="1" noProof="0" dirty="0">
                  <a:ln>
                    <a:noFill/>
                  </a:ln>
                  <a:solidFill>
                    <a:schemeClr val="bg1">
                      <a:lumMod val="65000"/>
                    </a:schemeClr>
                  </a:solidFill>
                  <a:effectLst/>
                  <a:uLnTx/>
                  <a:uFillTx/>
                  <a:latin typeface="微软雅黑" panose="020B0503020204020204" charset="-122"/>
                  <a:ea typeface="微软雅黑" panose="020B0503020204020204" charset="-122"/>
                  <a:sym typeface="+mn-ea"/>
                </a:rPr>
                <a:t>有关工作要求</a:t>
              </a:r>
              <a:endParaRPr kumimoji="0" lang="zh-CN" altLang="en-US" sz="2400" b="1" i="0" noProof="0" dirty="0">
                <a:ln>
                  <a:noFill/>
                </a:ln>
                <a:solidFill>
                  <a:schemeClr val="bg1">
                    <a:lumMod val="65000"/>
                  </a:schemeClr>
                </a:solidFill>
                <a:effectLst/>
                <a:uLnTx/>
                <a:uFillTx/>
                <a:latin typeface="微软雅黑" panose="020B0503020204020204" charset="-122"/>
                <a:ea typeface="微软雅黑" panose="020B0503020204020204" charset="-122"/>
                <a:sym typeface="+mn-ea"/>
              </a:endParaRPr>
            </a:p>
          </p:txBody>
        </p:sp>
      </p:grpSp>
      <p:grpSp>
        <p:nvGrpSpPr>
          <p:cNvPr id="9" name="组合 8"/>
          <p:cNvGrpSpPr/>
          <p:nvPr/>
        </p:nvGrpSpPr>
        <p:grpSpPr>
          <a:xfrm>
            <a:off x="3919752" y="1912569"/>
            <a:ext cx="6715125" cy="864235"/>
            <a:chOff x="4369485" y="4140059"/>
            <a:chExt cx="6715125" cy="864235"/>
          </a:xfrm>
        </p:grpSpPr>
        <p:sp>
          <p:nvSpPr>
            <p:cNvPr id="23" name="矩形 22"/>
            <p:cNvSpPr/>
            <p:nvPr/>
          </p:nvSpPr>
          <p:spPr>
            <a:xfrm>
              <a:off x="4369485" y="4140059"/>
              <a:ext cx="1873885" cy="864000"/>
            </a:xfrm>
            <a:prstGeom prst="rect">
              <a:avLst/>
            </a:prstGeom>
            <a:solidFill>
              <a:schemeClr val="bg1">
                <a:lumMod val="6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spc="300" dirty="0">
                <a:latin typeface="微软雅黑" panose="020B0503020204020204" charset="-122"/>
              </a:endParaRPr>
            </a:p>
          </p:txBody>
        </p:sp>
        <p:sp>
          <p:nvSpPr>
            <p:cNvPr id="24" name="矩形 23"/>
            <p:cNvSpPr/>
            <p:nvPr/>
          </p:nvSpPr>
          <p:spPr>
            <a:xfrm>
              <a:off x="4369485" y="4140059"/>
              <a:ext cx="6715125" cy="864235"/>
            </a:xfrm>
            <a:prstGeom prst="rect">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schemeClr val="accent1">
                    <a:lumMod val="75000"/>
                  </a:schemeClr>
                </a:solidFill>
                <a:effectLst/>
                <a:uLnTx/>
                <a:uFillTx/>
                <a:latin typeface="微软雅黑" panose="020B0503020204020204" charset="-122"/>
                <a:ea typeface="微软雅黑" panose="020B0503020204020204" charset="-122"/>
              </a:endParaRPr>
            </a:p>
          </p:txBody>
        </p:sp>
      </p:grpSp>
      <p:sp>
        <p:nvSpPr>
          <p:cNvPr id="37" name="文本框 36"/>
          <p:cNvSpPr txBox="1"/>
          <p:nvPr/>
        </p:nvSpPr>
        <p:spPr>
          <a:xfrm>
            <a:off x="4168208" y="2114382"/>
            <a:ext cx="1555515" cy="460375"/>
          </a:xfrm>
          <a:prstGeom prst="rect">
            <a:avLst/>
          </a:prstGeom>
          <a:solidFill>
            <a:schemeClr val="bg1">
              <a:lumMod val="65000"/>
            </a:schemeClr>
          </a:solidFill>
          <a:ln>
            <a:solidFill>
              <a:schemeClr val="bg1">
                <a:lumMod val="65000"/>
              </a:schemeClr>
            </a:solidFill>
          </a:ln>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300" normalizeH="0" noProof="0" dirty="0">
                <a:ln>
                  <a:noFill/>
                </a:ln>
                <a:solidFill>
                  <a:schemeClr val="bg1"/>
                </a:solidFill>
                <a:effectLst/>
                <a:uLnTx/>
                <a:uFillTx/>
                <a:latin typeface="微软雅黑" panose="020B0503020204020204" charset="-122"/>
                <a:ea typeface="微软雅黑" panose="020B0503020204020204" charset="-122"/>
              </a:rPr>
              <a:t>第一部分</a:t>
            </a:r>
            <a:endParaRPr kumimoji="0" lang="zh-CN" altLang="en-US" sz="2400" b="1" i="0" u="none" strike="noStrike" kern="1200" cap="none" spc="300" normalizeH="0" noProof="0" dirty="0">
              <a:ln>
                <a:noFill/>
              </a:ln>
              <a:solidFill>
                <a:schemeClr val="bg1"/>
              </a:solidFill>
              <a:effectLst/>
              <a:uLnTx/>
              <a:uFillTx/>
              <a:latin typeface="微软雅黑" panose="020B0503020204020204" charset="-122"/>
              <a:ea typeface="微软雅黑" panose="020B0503020204020204" charset="-122"/>
            </a:endParaRPr>
          </a:p>
        </p:txBody>
      </p:sp>
      <p:sp>
        <p:nvSpPr>
          <p:cNvPr id="38" name="文本框 37"/>
          <p:cNvSpPr txBox="1"/>
          <p:nvPr/>
        </p:nvSpPr>
        <p:spPr>
          <a:xfrm>
            <a:off x="5793637" y="2114499"/>
            <a:ext cx="4841240" cy="460375"/>
          </a:xfrm>
          <a:prstGeom prst="rect">
            <a:avLst/>
          </a:prstGeom>
          <a:noFill/>
          <a:ln>
            <a:noFill/>
          </a:ln>
        </p:spPr>
        <p:txBody>
          <a:bodyPr wrap="square" rtlCol="0" anchor="ctr">
            <a:spAutoFit/>
          </a:bodyPr>
          <a:lstStyle/>
          <a:p>
            <a:pPr marL="0" marR="0" lvl="0" algn="l" defTabSz="914400" rtl="0" eaLnBrk="1" fontAlgn="auto" latinLnBrk="0" hangingPunct="1">
              <a:lnSpc>
                <a:spcPct val="100000"/>
              </a:lnSpc>
              <a:spcBef>
                <a:spcPts val="0"/>
              </a:spcBef>
              <a:spcAft>
                <a:spcPts val="0"/>
              </a:spcAft>
              <a:buClrTx/>
              <a:buSzTx/>
              <a:buFontTx/>
              <a:buNone/>
              <a:defRPr/>
            </a:pPr>
            <a:r>
              <a:rPr lang="zh-CN" altLang="en-US" sz="2400" b="1" noProof="0">
                <a:ln>
                  <a:noFill/>
                </a:ln>
                <a:solidFill>
                  <a:schemeClr val="bg1">
                    <a:lumMod val="65000"/>
                  </a:schemeClr>
                </a:solidFill>
                <a:effectLst/>
                <a:uLnTx/>
                <a:uFillTx/>
                <a:latin typeface="微软雅黑" panose="020B0503020204020204" charset="-122"/>
                <a:ea typeface="微软雅黑" panose="020B0503020204020204" charset="-122"/>
                <a:sym typeface="+mn-ea"/>
              </a:rPr>
              <a:t>国家发改委第</a:t>
            </a:r>
            <a:r>
              <a:rPr lang="en-US" altLang="zh-CN" sz="2400" b="1" noProof="0">
                <a:ln>
                  <a:noFill/>
                </a:ln>
                <a:solidFill>
                  <a:schemeClr val="bg1">
                    <a:lumMod val="65000"/>
                  </a:schemeClr>
                </a:solidFill>
                <a:effectLst/>
                <a:uLnTx/>
                <a:uFillTx/>
                <a:latin typeface="微软雅黑" panose="020B0503020204020204" charset="-122"/>
                <a:ea typeface="微软雅黑" panose="020B0503020204020204" charset="-122"/>
                <a:sym typeface="+mn-ea"/>
              </a:rPr>
              <a:t>41</a:t>
            </a:r>
            <a:r>
              <a:rPr lang="zh-CN" altLang="en-US" sz="2400" b="1" noProof="0">
                <a:ln>
                  <a:noFill/>
                </a:ln>
                <a:solidFill>
                  <a:schemeClr val="bg1">
                    <a:lumMod val="65000"/>
                  </a:schemeClr>
                </a:solidFill>
                <a:effectLst/>
                <a:uLnTx/>
                <a:uFillTx/>
                <a:latin typeface="微软雅黑" panose="020B0503020204020204" charset="-122"/>
                <a:ea typeface="微软雅黑" panose="020B0503020204020204" charset="-122"/>
                <a:sym typeface="+mn-ea"/>
              </a:rPr>
              <a:t>号令宣贯学习</a:t>
            </a:r>
            <a:endParaRPr kumimoji="0" lang="zh-CN" altLang="en-US" sz="2400" b="1" i="0" noProof="0" dirty="0">
              <a:ln>
                <a:noFill/>
              </a:ln>
              <a:solidFill>
                <a:schemeClr val="bg1">
                  <a:lumMod val="65000"/>
                </a:schemeClr>
              </a:solidFill>
              <a:effectLst/>
              <a:uLnTx/>
              <a:uFillTx/>
              <a:latin typeface="微软雅黑" panose="020B0503020204020204" charset="-122"/>
              <a:ea typeface="微软雅黑" panose="020B0503020204020204" charset="-122"/>
              <a:sym typeface="+mn-ea"/>
            </a:endParaRPr>
          </a:p>
        </p:txBody>
      </p:sp>
      <p:grpSp>
        <p:nvGrpSpPr>
          <p:cNvPr id="8" name="组合 7"/>
          <p:cNvGrpSpPr/>
          <p:nvPr/>
        </p:nvGrpSpPr>
        <p:grpSpPr>
          <a:xfrm>
            <a:off x="1376866" y="2622242"/>
            <a:ext cx="1326804" cy="2005100"/>
            <a:chOff x="1752600" y="2439316"/>
            <a:chExt cx="1326804" cy="2005100"/>
          </a:xfrm>
        </p:grpSpPr>
        <p:sp>
          <p:nvSpPr>
            <p:cNvPr id="12" name="矩形 11"/>
            <p:cNvSpPr/>
            <p:nvPr/>
          </p:nvSpPr>
          <p:spPr>
            <a:xfrm>
              <a:off x="1752600" y="2439316"/>
              <a:ext cx="1198120" cy="2005100"/>
            </a:xfrm>
            <a:prstGeom prst="rect">
              <a:avLst/>
            </a:prstGeom>
            <a:noFill/>
            <a:ln w="3175">
              <a:solidFill>
                <a:srgbClr val="0070C0">
                  <a:alpha val="7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accent1">
                    <a:lumMod val="75000"/>
                  </a:schemeClr>
                </a:solidFill>
                <a:effectLst/>
                <a:uLnTx/>
                <a:uFillTx/>
                <a:latin typeface="微软雅黑" panose="020B0503020204020204" charset="-122"/>
                <a:ea typeface="微软雅黑" panose="020B0503020204020204" charset="-122"/>
              </a:endParaRPr>
            </a:p>
          </p:txBody>
        </p:sp>
        <p:sp>
          <p:nvSpPr>
            <p:cNvPr id="13" name="文本框 12"/>
            <p:cNvSpPr txBox="1"/>
            <p:nvPr/>
          </p:nvSpPr>
          <p:spPr>
            <a:xfrm>
              <a:off x="2837424" y="2662237"/>
              <a:ext cx="241980" cy="1576387"/>
            </a:xfrm>
            <a:prstGeom prst="rect">
              <a:avLst/>
            </a:prstGeom>
            <a:solidFill>
              <a:srgbClr val="0070C0"/>
            </a:solidFill>
          </p:spPr>
          <p:txBody>
            <a:bodyPr vert="eaVert" wrap="square" lIns="36000" tIns="72000" rIns="36000" bIns="7200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100" b="1" i="0" u="none" strike="noStrike" kern="1200" cap="none" spc="400" normalizeH="0" baseline="0" noProof="0" dirty="0">
                  <a:ln>
                    <a:noFill/>
                  </a:ln>
                  <a:solidFill>
                    <a:prstClr val="white"/>
                  </a:solidFill>
                  <a:effectLst/>
                  <a:uLnTx/>
                  <a:uFillTx/>
                  <a:latin typeface="微软雅黑" panose="020B0503020204020204" charset="-122"/>
                  <a:ea typeface="微软雅黑" panose="020B0503020204020204" charset="-122"/>
                  <a:sym typeface="思源黑体 CN ExtraLight" panose="020B0200000000000000" pitchFamily="34" charset="-122"/>
                </a:rPr>
                <a:t>CONTENTS</a:t>
              </a:r>
              <a:endParaRPr kumimoji="0" lang="zh-CN" altLang="en-US" sz="1100" b="1" i="0" u="none" strike="noStrike" kern="1200" cap="none" spc="400" normalizeH="0" baseline="0" noProof="0" dirty="0">
                <a:ln>
                  <a:noFill/>
                </a:ln>
                <a:solidFill>
                  <a:prstClr val="white"/>
                </a:solidFill>
                <a:effectLst/>
                <a:uLnTx/>
                <a:uFillTx/>
                <a:latin typeface="微软雅黑" panose="020B0503020204020204" charset="-122"/>
                <a:ea typeface="微软雅黑" panose="020B0503020204020204" charset="-122"/>
                <a:sym typeface="思源黑体 CN ExtraLight" panose="020B0200000000000000" pitchFamily="34" charset="-122"/>
              </a:endParaRPr>
            </a:p>
          </p:txBody>
        </p:sp>
        <p:sp>
          <p:nvSpPr>
            <p:cNvPr id="14" name="文本框 13"/>
            <p:cNvSpPr txBox="1"/>
            <p:nvPr/>
          </p:nvSpPr>
          <p:spPr>
            <a:xfrm>
              <a:off x="1752600" y="2563317"/>
              <a:ext cx="1107996" cy="1731366"/>
            </a:xfrm>
            <a:prstGeom prst="rect">
              <a:avLst/>
            </a:prstGeom>
            <a:noFill/>
          </p:spPr>
          <p:txBody>
            <a:bodyPr vert="eaVert"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dirty="0">
                  <a:ln>
                    <a:noFill/>
                  </a:ln>
                  <a:solidFill>
                    <a:srgbClr val="0070C0"/>
                  </a:solidFill>
                  <a:effectLst/>
                  <a:uLnTx/>
                  <a:uFillTx/>
                  <a:latin typeface="微软雅黑" panose="020B0503020204020204" charset="-122"/>
                  <a:ea typeface="微软雅黑" panose="020B0503020204020204" charset="-122"/>
                  <a:sym typeface="思源黑体 CN Medium" panose="020B0600000000000000" pitchFamily="34" charset="-122"/>
                </a:rPr>
                <a:t>目录</a:t>
              </a:r>
              <a:endParaRPr kumimoji="0" lang="zh-CN" altLang="en-US" sz="6000" b="1" i="0" u="none" strike="noStrike" kern="1200" cap="none" spc="0" normalizeH="0" baseline="0" noProof="0" dirty="0">
                <a:ln>
                  <a:noFill/>
                </a:ln>
                <a:solidFill>
                  <a:srgbClr val="0070C0"/>
                </a:solidFill>
                <a:effectLst/>
                <a:uLnTx/>
                <a:uFillTx/>
                <a:latin typeface="微软雅黑" panose="020B0503020204020204" charset="-122"/>
                <a:ea typeface="微软雅黑" panose="020B0503020204020204" charset="-122"/>
                <a:sym typeface="思源黑体 CN Medium" panose="020B0600000000000000" pitchFamily="34" charset="-122"/>
              </a:endParaRPr>
            </a:p>
          </p:txBody>
        </p:sp>
      </p:gr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4294967295"/>
          </p:nvPr>
        </p:nvSpPr>
        <p:spPr>
          <a:xfrm>
            <a:off x="9997440" y="6499860"/>
            <a:ext cx="2133600" cy="365125"/>
          </a:xfrm>
        </p:spPr>
        <p:txBody>
          <a:bodyPr/>
          <a:lstStyle/>
          <a:p>
            <a:fld id="{A10E9369-8E4E-4DE7-B129-F0280ABC27D7}" type="slidenum">
              <a:rPr lang="zh-CN" altLang="en-US" smtClean="0"/>
            </a:fld>
            <a:endParaRPr lang="zh-CN" altLang="en-US" dirty="0"/>
          </a:p>
        </p:txBody>
      </p:sp>
      <p:sp>
        <p:nvSpPr>
          <p:cNvPr id="3" name="TextBox 8"/>
          <p:cNvSpPr txBox="1"/>
          <p:nvPr/>
        </p:nvSpPr>
        <p:spPr>
          <a:xfrm>
            <a:off x="168335" y="271329"/>
            <a:ext cx="7002524" cy="52197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charset="-122"/>
                <a:ea typeface="微软雅黑" panose="020B0503020204020204" charset="-122"/>
              </a:rPr>
              <a:t>二、</a:t>
            </a:r>
            <a:r>
              <a:rPr lang="zh-CN" altLang="en-US" sz="2800" b="1" dirty="0">
                <a:latin typeface="微软雅黑" panose="020B0503020204020204" charset="-122"/>
                <a:ea typeface="微软雅黑" panose="020B0503020204020204" charset="-122"/>
                <a:sym typeface="+mn-ea"/>
              </a:rPr>
              <a:t>网公司事故隐患判定标准宣贯学习</a:t>
            </a:r>
            <a:endParaRPr lang="zh-CN" altLang="en-US" sz="2800" b="1" dirty="0">
              <a:latin typeface="微软雅黑" panose="020B0503020204020204" charset="-122"/>
              <a:ea typeface="微软雅黑" panose="020B0503020204020204" charset="-122"/>
            </a:endParaRPr>
          </a:p>
        </p:txBody>
      </p:sp>
      <p:sp>
        <p:nvSpPr>
          <p:cNvPr id="19462" name="Text Box 5"/>
          <p:cNvSpPr txBox="1"/>
          <p:nvPr>
            <p:custDataLst>
              <p:tags r:id="rId1"/>
            </p:custDataLst>
          </p:nvPr>
        </p:nvSpPr>
        <p:spPr>
          <a:xfrm>
            <a:off x="304799" y="975995"/>
            <a:ext cx="11638915" cy="1334770"/>
          </a:xfrm>
          <a:prstGeom prst="rect">
            <a:avLst/>
          </a:prstGeom>
          <a:noFill/>
          <a:ln w="9525">
            <a:noFill/>
          </a:ln>
        </p:spPr>
        <p:txBody>
          <a:bodyPr wrap="square">
            <a:no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457200" algn="just">
              <a:lnSpc>
                <a:spcPct val="150000"/>
              </a:lnSpc>
              <a:buNone/>
            </a:pPr>
            <a:r>
              <a:rPr lang="zh-CN" sz="1700" dirty="0">
                <a:latin typeface="微软雅黑" panose="020B0503020204020204" charset="-122"/>
                <a:ea typeface="微软雅黑" panose="020B0503020204020204" charset="-122"/>
                <a:cs typeface="微软雅黑" panose="020B0503020204020204" charset="-122"/>
                <a:sym typeface="+mn-ea"/>
              </a:rPr>
              <a:t>网公司承接并修订</a:t>
            </a:r>
            <a:r>
              <a:rPr sz="1700" dirty="0">
                <a:latin typeface="微软雅黑" panose="020B0503020204020204" charset="-122"/>
                <a:ea typeface="微软雅黑" panose="020B0503020204020204" charset="-122"/>
                <a:cs typeface="微软雅黑" panose="020B0503020204020204" charset="-122"/>
                <a:sym typeface="+mn-ea"/>
              </a:rPr>
              <a:t>印发</a:t>
            </a:r>
            <a:r>
              <a:rPr lang="zh-CN" sz="1700" dirty="0">
                <a:latin typeface="微软雅黑" panose="020B0503020204020204" charset="-122"/>
                <a:ea typeface="微软雅黑" panose="020B0503020204020204" charset="-122"/>
                <a:cs typeface="微软雅黑" panose="020B0503020204020204" charset="-122"/>
                <a:sym typeface="+mn-ea"/>
              </a:rPr>
              <a:t>《</a:t>
            </a:r>
            <a:r>
              <a:rPr sz="1700" dirty="0">
                <a:latin typeface="微软雅黑" panose="020B0503020204020204" charset="-122"/>
                <a:ea typeface="微软雅黑" panose="020B0503020204020204" charset="-122"/>
                <a:cs typeface="微软雅黑" panose="020B0503020204020204" charset="-122"/>
                <a:sym typeface="+mn-ea"/>
              </a:rPr>
              <a:t>南方电网公司重大和较大事故隐患判定标准（2026版）</a:t>
            </a:r>
            <a:r>
              <a:rPr lang="zh-CN" sz="1700" dirty="0">
                <a:latin typeface="微软雅黑" panose="020B0503020204020204" charset="-122"/>
                <a:ea typeface="微软雅黑" panose="020B0503020204020204" charset="-122"/>
                <a:cs typeface="微软雅黑" panose="020B0503020204020204" charset="-122"/>
                <a:sym typeface="+mn-ea"/>
              </a:rPr>
              <a:t>》</a:t>
            </a:r>
            <a:r>
              <a:rPr lang="en-US" sz="1700" dirty="0">
                <a:latin typeface="微软雅黑" panose="020B0503020204020204" charset="-122"/>
                <a:ea typeface="微软雅黑" panose="020B0503020204020204" charset="-122"/>
                <a:cs typeface="微软雅黑" panose="020B0503020204020204" charset="-122"/>
                <a:sym typeface="+mn-ea"/>
              </a:rPr>
              <a:t>，</a:t>
            </a:r>
            <a:r>
              <a:rPr sz="1700" dirty="0">
                <a:latin typeface="微软雅黑" panose="020B0503020204020204" charset="-122"/>
                <a:ea typeface="微软雅黑" panose="020B0503020204020204" charset="-122"/>
                <a:cs typeface="微软雅黑" panose="020B0503020204020204" charset="-122"/>
                <a:sym typeface="+mn-ea"/>
              </a:rPr>
              <a:t>与</a:t>
            </a:r>
            <a:r>
              <a:rPr lang="en-US" sz="1700" dirty="0">
                <a:latin typeface="微软雅黑" panose="020B0503020204020204" charset="-122"/>
                <a:ea typeface="微软雅黑" panose="020B0503020204020204" charset="-122"/>
                <a:cs typeface="微软雅黑" panose="020B0503020204020204" charset="-122"/>
                <a:sym typeface="+mn-ea"/>
              </a:rPr>
              <a:t>2024</a:t>
            </a:r>
            <a:r>
              <a:rPr sz="1700" dirty="0">
                <a:latin typeface="微软雅黑" panose="020B0503020204020204" charset="-122"/>
                <a:ea typeface="微软雅黑" panose="020B0503020204020204" charset="-122"/>
                <a:cs typeface="微软雅黑" panose="020B0503020204020204" charset="-122"/>
                <a:sym typeface="+mn-ea"/>
              </a:rPr>
              <a:t>版相比</a:t>
            </a:r>
            <a:r>
              <a:rPr lang="zh-CN" sz="1700" dirty="0">
                <a:latin typeface="微软雅黑" panose="020B0503020204020204" charset="-122"/>
                <a:ea typeface="微软雅黑" panose="020B0503020204020204" charset="-122"/>
                <a:cs typeface="微软雅黑" panose="020B0503020204020204" charset="-122"/>
                <a:sym typeface="+mn-ea"/>
              </a:rPr>
              <a:t>：</a:t>
            </a:r>
            <a:r>
              <a:rPr sz="1700" b="1" dirty="0">
                <a:latin typeface="微软雅黑" panose="020B0503020204020204" charset="-122"/>
                <a:ea typeface="微软雅黑" panose="020B0503020204020204" charset="-122"/>
                <a:cs typeface="微软雅黑" panose="020B0503020204020204" charset="-122"/>
                <a:sym typeface="+mn-ea"/>
              </a:rPr>
              <a:t>重大事故隐患</a:t>
            </a:r>
            <a:r>
              <a:rPr sz="1700" dirty="0">
                <a:latin typeface="微软雅黑" panose="020B0503020204020204" charset="-122"/>
                <a:ea typeface="微软雅黑" panose="020B0503020204020204" charset="-122"/>
                <a:cs typeface="微软雅黑" panose="020B0503020204020204" charset="-122"/>
                <a:sym typeface="+mn-ea"/>
              </a:rPr>
              <a:t>判定标准</a:t>
            </a:r>
            <a:r>
              <a:rPr lang="zh-CN" altLang="en-US" sz="1700" dirty="0">
                <a:latin typeface="微软雅黑" panose="020B0503020204020204" charset="-122"/>
                <a:ea typeface="微软雅黑" panose="020B0503020204020204" charset="-122"/>
                <a:cs typeface="微软雅黑" panose="020B0503020204020204" charset="-122"/>
                <a:sym typeface="+mn-ea"/>
              </a:rPr>
              <a:t>由</a:t>
            </a:r>
            <a:r>
              <a:rPr lang="zh-CN" altLang="en-US" sz="1700" b="1" dirty="0">
                <a:solidFill>
                  <a:srgbClr val="0070C0"/>
                </a:solidFill>
                <a:latin typeface="微软雅黑" panose="020B0503020204020204" charset="-122"/>
                <a:ea typeface="微软雅黑" panose="020B0503020204020204" charset="-122"/>
                <a:sym typeface="+mn-ea"/>
              </a:rPr>
              <a:t>41条增至47条</a:t>
            </a:r>
            <a:r>
              <a:rPr lang="zh-CN" altLang="en-US" sz="1700" dirty="0">
                <a:latin typeface="微软雅黑" panose="020B0503020204020204" charset="-122"/>
                <a:ea typeface="微软雅黑" panose="020B0503020204020204" charset="-122"/>
                <a:cs typeface="微软雅黑" panose="020B0503020204020204" charset="-122"/>
                <a:sym typeface="+mn-ea"/>
              </a:rPr>
              <a:t>，并</a:t>
            </a:r>
            <a:r>
              <a:rPr lang="zh-CN" altLang="en-US" sz="1700" kern="0" dirty="0">
                <a:latin typeface="微软雅黑" panose="020B0503020204020204" charset="-122"/>
                <a:ea typeface="微软雅黑" panose="020B0503020204020204" charset="-122"/>
                <a:cs typeface="微软雅黑" panose="020B0503020204020204" charset="-122"/>
                <a:sym typeface="+mn-ea"/>
              </a:rPr>
              <a:t>全面承接</a:t>
            </a:r>
            <a:r>
              <a:rPr lang="en-US" altLang="zh-CN" sz="1700" kern="0" dirty="0">
                <a:latin typeface="微软雅黑" panose="020B0503020204020204" charset="-122"/>
                <a:ea typeface="微软雅黑" panose="020B0503020204020204" charset="-122"/>
                <a:cs typeface="微软雅黑" panose="020B0503020204020204" charset="-122"/>
                <a:sym typeface="+mn-ea"/>
              </a:rPr>
              <a:t>41</a:t>
            </a:r>
            <a:r>
              <a:rPr lang="zh-CN" altLang="en-US" sz="1700" kern="0" dirty="0">
                <a:latin typeface="微软雅黑" panose="020B0503020204020204" charset="-122"/>
                <a:ea typeface="微软雅黑" panose="020B0503020204020204" charset="-122"/>
                <a:cs typeface="微软雅黑" panose="020B0503020204020204" charset="-122"/>
                <a:sym typeface="+mn-ea"/>
              </a:rPr>
              <a:t>号令补充了</a:t>
            </a:r>
            <a:r>
              <a:rPr lang="en-US" altLang="zh-CN" sz="1700" kern="0" dirty="0">
                <a:latin typeface="微软雅黑" panose="020B0503020204020204" charset="-122"/>
                <a:ea typeface="微软雅黑" panose="020B0503020204020204" charset="-122"/>
                <a:cs typeface="微软雅黑" panose="020B0503020204020204" charset="-122"/>
                <a:sym typeface="+mn-ea"/>
              </a:rPr>
              <a:t>10</a:t>
            </a:r>
            <a:r>
              <a:rPr lang="zh-CN" altLang="en-US" sz="1700" dirty="0">
                <a:latin typeface="微软雅黑" panose="020B0503020204020204" charset="-122"/>
                <a:ea typeface="微软雅黑" panose="020B0503020204020204" charset="-122"/>
                <a:sym typeface="+mn-ea"/>
              </a:rPr>
              <a:t>类48项重大隐患情形</a:t>
            </a:r>
            <a:r>
              <a:rPr lang="zh-CN" sz="1700" dirty="0">
                <a:latin typeface="微软雅黑" panose="020B0503020204020204" charset="-122"/>
                <a:ea typeface="微软雅黑" panose="020B0503020204020204" charset="-122"/>
                <a:cs typeface="微软雅黑" panose="020B0503020204020204" charset="-122"/>
                <a:sym typeface="+mn-ea"/>
              </a:rPr>
              <a:t>。</a:t>
            </a:r>
            <a:r>
              <a:rPr sz="1700" b="1" dirty="0">
                <a:latin typeface="微软雅黑" panose="020B0503020204020204" charset="-122"/>
                <a:ea typeface="微软雅黑" panose="020B0503020204020204" charset="-122"/>
                <a:cs typeface="微软雅黑" panose="020B0503020204020204" charset="-122"/>
                <a:sym typeface="+mn-ea"/>
              </a:rPr>
              <a:t>较大事故隐患</a:t>
            </a:r>
            <a:r>
              <a:rPr sz="1700" dirty="0">
                <a:latin typeface="微软雅黑" panose="020B0503020204020204" charset="-122"/>
                <a:ea typeface="微软雅黑" panose="020B0503020204020204" charset="-122"/>
                <a:cs typeface="微软雅黑" panose="020B0503020204020204" charset="-122"/>
                <a:sym typeface="+mn-ea"/>
              </a:rPr>
              <a:t>判定标准由</a:t>
            </a:r>
            <a:r>
              <a:rPr lang="zh-CN" altLang="en-US" sz="1700" b="1" dirty="0">
                <a:solidFill>
                  <a:srgbClr val="0070C0"/>
                </a:solidFill>
                <a:latin typeface="微软雅黑" panose="020B0503020204020204" charset="-122"/>
                <a:ea typeface="微软雅黑" panose="020B0503020204020204" charset="-122"/>
                <a:sym typeface="+mn-ea"/>
              </a:rPr>
              <a:t>87条调减为70条</a:t>
            </a:r>
            <a:r>
              <a:rPr sz="1700" dirty="0">
                <a:latin typeface="微软雅黑" panose="020B0503020204020204" charset="-122"/>
                <a:ea typeface="微软雅黑" panose="020B0503020204020204" charset="-122"/>
                <a:cs typeface="微软雅黑" panose="020B0503020204020204" charset="-122"/>
                <a:sym typeface="+mn-ea"/>
              </a:rPr>
              <a:t>（Ⅰ级较大事故隐患33条、Ⅱ级较大事故隐患37条），补充电力建设工程质量管理、设备图实不一致、混凝土电杆等较大事故隐患判定标准。</a:t>
            </a:r>
            <a:endParaRPr lang="zh-CN" altLang="en-US" sz="1700" b="1" dirty="0">
              <a:latin typeface="微软雅黑" panose="020B0503020204020204" charset="-122"/>
              <a:ea typeface="微软雅黑" panose="020B0503020204020204" charset="-122"/>
              <a:cs typeface="微软雅黑" panose="020B0503020204020204" charset="-122"/>
            </a:endParaRPr>
          </a:p>
        </p:txBody>
      </p:sp>
      <p:graphicFrame>
        <p:nvGraphicFramePr>
          <p:cNvPr id="4" name="表格 3"/>
          <p:cNvGraphicFramePr/>
          <p:nvPr>
            <p:custDataLst>
              <p:tags r:id="rId2"/>
            </p:custDataLst>
          </p:nvPr>
        </p:nvGraphicFramePr>
        <p:xfrm>
          <a:off x="304799" y="2711450"/>
          <a:ext cx="11582401" cy="3824605"/>
        </p:xfrm>
        <a:graphic>
          <a:graphicData uri="http://schemas.openxmlformats.org/drawingml/2006/table">
            <a:tbl>
              <a:tblPr firstRow="1" bandRow="1">
                <a:tableStyleId>{5C22544A-7EE6-4342-B048-85BDC9FD1C3A}</a:tableStyleId>
              </a:tblPr>
              <a:tblGrid>
                <a:gridCol w="1238522"/>
                <a:gridCol w="1097521"/>
                <a:gridCol w="1364914"/>
                <a:gridCol w="1399212"/>
                <a:gridCol w="6482232"/>
              </a:tblGrid>
              <a:tr h="422275">
                <a:tc>
                  <a:txBody>
                    <a:bodyPr/>
                    <a:lstStyle/>
                    <a:p>
                      <a:pPr algn="ctr">
                        <a:buClrTx/>
                        <a:buSzTx/>
                        <a:buFontTx/>
                        <a:buNone/>
                      </a:pPr>
                      <a:r>
                        <a:rPr lang="zh-CN" altLang="en-US" sz="1400" dirty="0">
                          <a:latin typeface="微软雅黑" panose="020B0503020204020204" charset="-122"/>
                          <a:ea typeface="微软雅黑" panose="020B0503020204020204" charset="-122"/>
                          <a:cs typeface="微软雅黑" panose="020B0503020204020204" charset="-122"/>
                        </a:rPr>
                        <a:t>隐患等级</a:t>
                      </a:r>
                      <a:endParaRPr lang="zh-CN" altLang="en-US" sz="1400" dirty="0">
                        <a:latin typeface="微软雅黑" panose="020B0503020204020204" charset="-122"/>
                        <a:ea typeface="微软雅黑" panose="020B0503020204020204" charset="-122"/>
                        <a:cs typeface="微软雅黑" panose="020B0503020204020204" charset="-122"/>
                      </a:endParaRPr>
                    </a:p>
                  </a:txBody>
                  <a:tcPr anchor="ctr">
                    <a:solidFill>
                      <a:srgbClr val="0070C0"/>
                    </a:solidFill>
                  </a:tcPr>
                </a:tc>
                <a:tc>
                  <a:txBody>
                    <a:bodyPr/>
                    <a:lstStyle/>
                    <a:p>
                      <a:pPr algn="ctr">
                        <a:buClrTx/>
                        <a:buSzTx/>
                        <a:buFontTx/>
                        <a:buNone/>
                      </a:pPr>
                      <a:r>
                        <a:rPr lang="zh-CN" altLang="en-US" sz="1400" dirty="0">
                          <a:latin typeface="微软雅黑" panose="020B0503020204020204" charset="-122"/>
                          <a:ea typeface="微软雅黑" panose="020B0503020204020204" charset="-122"/>
                          <a:cs typeface="微软雅黑" panose="020B0503020204020204" charset="-122"/>
                          <a:sym typeface="+mn-ea"/>
                        </a:rPr>
                        <a:t>2024版</a:t>
                      </a:r>
                      <a:endParaRPr lang="zh-CN" altLang="en-US" sz="1400" dirty="0">
                        <a:latin typeface="微软雅黑" panose="020B0503020204020204" charset="-122"/>
                        <a:ea typeface="微软雅黑" panose="020B0503020204020204" charset="-122"/>
                        <a:cs typeface="微软雅黑" panose="020B0503020204020204" charset="-122"/>
                        <a:sym typeface="+mn-ea"/>
                      </a:endParaRPr>
                    </a:p>
                  </a:txBody>
                  <a:tcPr anchor="ctr">
                    <a:solidFill>
                      <a:srgbClr val="0070C0"/>
                    </a:solidFill>
                  </a:tcPr>
                </a:tc>
                <a:tc>
                  <a:txBody>
                    <a:bodyPr/>
                    <a:lstStyle/>
                    <a:p>
                      <a:pPr algn="ctr">
                        <a:buClrTx/>
                        <a:buSzTx/>
                        <a:buFontTx/>
                        <a:buNone/>
                      </a:pPr>
                      <a:r>
                        <a:rPr lang="zh-CN" altLang="en-US" sz="1400" dirty="0">
                          <a:latin typeface="微软雅黑" panose="020B0503020204020204" charset="-122"/>
                          <a:ea typeface="微软雅黑" panose="020B0503020204020204" charset="-122"/>
                          <a:cs typeface="微软雅黑" panose="020B0503020204020204" charset="-122"/>
                          <a:sym typeface="+mn-ea"/>
                        </a:rPr>
                        <a:t>2026版</a:t>
                      </a:r>
                      <a:endParaRPr lang="zh-CN" altLang="en-US" sz="1400" dirty="0">
                        <a:latin typeface="微软雅黑" panose="020B0503020204020204" charset="-122"/>
                        <a:ea typeface="微软雅黑" panose="020B0503020204020204" charset="-122"/>
                        <a:cs typeface="微软雅黑" panose="020B0503020204020204" charset="-122"/>
                        <a:sym typeface="+mn-ea"/>
                      </a:endParaRPr>
                    </a:p>
                  </a:txBody>
                  <a:tcPr anchor="ctr">
                    <a:solidFill>
                      <a:srgbClr val="0070C0"/>
                    </a:solidFill>
                  </a:tcPr>
                </a:tc>
                <a:tc>
                  <a:txBody>
                    <a:bodyPr/>
                    <a:lstStyle/>
                    <a:p>
                      <a:pPr algn="ctr">
                        <a:buClrTx/>
                        <a:buSzTx/>
                        <a:buFontTx/>
                        <a:buNone/>
                      </a:pPr>
                      <a:r>
                        <a:rPr lang="zh-CN" altLang="en-US" sz="1400" dirty="0">
                          <a:latin typeface="微软雅黑" panose="020B0503020204020204" charset="-122"/>
                          <a:ea typeface="微软雅黑" panose="020B0503020204020204" charset="-122"/>
                          <a:cs typeface="微软雅黑" panose="020B0503020204020204" charset="-122"/>
                        </a:rPr>
                        <a:t>变动情况</a:t>
                      </a:r>
                      <a:endParaRPr lang="zh-CN" altLang="en-US" sz="1400" dirty="0">
                        <a:latin typeface="微软雅黑" panose="020B0503020204020204" charset="-122"/>
                        <a:ea typeface="微软雅黑" panose="020B0503020204020204" charset="-122"/>
                        <a:cs typeface="微软雅黑" panose="020B0503020204020204" charset="-122"/>
                      </a:endParaRPr>
                    </a:p>
                  </a:txBody>
                  <a:tcPr anchor="ctr">
                    <a:solidFill>
                      <a:srgbClr val="0070C0"/>
                    </a:solidFill>
                  </a:tcPr>
                </a:tc>
                <a:tc>
                  <a:txBody>
                    <a:bodyPr/>
                    <a:lstStyle/>
                    <a:p>
                      <a:pPr algn="ctr">
                        <a:buClrTx/>
                        <a:buSzTx/>
                        <a:buFontTx/>
                        <a:buNone/>
                      </a:pPr>
                      <a:r>
                        <a:rPr lang="zh-CN" altLang="en-US" sz="1400" dirty="0">
                          <a:latin typeface="微软雅黑" panose="020B0503020204020204" charset="-122"/>
                          <a:ea typeface="微软雅黑" panose="020B0503020204020204" charset="-122"/>
                          <a:cs typeface="微软雅黑" panose="020B0503020204020204" charset="-122"/>
                        </a:rPr>
                        <a:t>主要修订情况</a:t>
                      </a:r>
                      <a:r>
                        <a:rPr lang="zh-CN" altLang="en-US" sz="1400" dirty="0">
                          <a:latin typeface="微软雅黑" panose="020B0503020204020204" charset="-122"/>
                          <a:ea typeface="微软雅黑" panose="020B0503020204020204" charset="-122"/>
                          <a:cs typeface="微软雅黑" panose="020B0503020204020204" charset="-122"/>
                          <a:sym typeface="+mn-ea"/>
                        </a:rPr>
                        <a:t>说明</a:t>
                      </a:r>
                      <a:endParaRPr lang="zh-CN" altLang="en-US" sz="1400" dirty="0">
                        <a:latin typeface="微软雅黑" panose="020B0503020204020204" charset="-122"/>
                        <a:ea typeface="微软雅黑" panose="020B0503020204020204" charset="-122"/>
                        <a:cs typeface="微软雅黑" panose="020B0503020204020204" charset="-122"/>
                        <a:sym typeface="+mn-ea"/>
                      </a:endParaRPr>
                    </a:p>
                  </a:txBody>
                  <a:tcPr anchor="ctr">
                    <a:solidFill>
                      <a:srgbClr val="0070C0"/>
                    </a:solidFill>
                  </a:tcPr>
                </a:tc>
              </a:tr>
              <a:tr h="1901825">
                <a:tc>
                  <a:txBody>
                    <a:bodyPr/>
                    <a:lstStyle/>
                    <a:p>
                      <a:pPr algn="ctr">
                        <a:buNone/>
                      </a:pPr>
                      <a:r>
                        <a:rPr lang="zh-CN" altLang="en-US" sz="1200" b="1" dirty="0">
                          <a:latin typeface="微软雅黑" panose="020B0503020204020204" charset="-122"/>
                          <a:ea typeface="微软雅黑" panose="020B0503020204020204" charset="-122"/>
                        </a:rPr>
                        <a:t>重大事故隐患判定标准</a:t>
                      </a:r>
                      <a:endParaRPr lang="zh-CN" altLang="en-US" sz="1200" b="1" dirty="0">
                        <a:latin typeface="微软雅黑" panose="020B0503020204020204" charset="-122"/>
                        <a:ea typeface="微软雅黑" panose="020B0503020204020204" charset="-122"/>
                      </a:endParaRPr>
                    </a:p>
                  </a:txBody>
                  <a:tcPr anchor="ctr">
                    <a:solidFill>
                      <a:srgbClr val="0070C0">
                        <a:alpha val="20000"/>
                      </a:srgbClr>
                    </a:solidFill>
                  </a:tcPr>
                </a:tc>
                <a:tc>
                  <a:txBody>
                    <a:bodyPr/>
                    <a:lstStyle/>
                    <a:p>
                      <a:pPr algn="ctr">
                        <a:buNone/>
                      </a:pPr>
                      <a:r>
                        <a:rPr lang="en-US" altLang="zh-CN" sz="1200" dirty="0">
                          <a:latin typeface="微软雅黑" panose="020B0503020204020204" charset="-122"/>
                          <a:ea typeface="微软雅黑" panose="020B0503020204020204" charset="-122"/>
                          <a:cs typeface="微软雅黑" panose="020B0503020204020204" charset="-122"/>
                        </a:rPr>
                        <a:t>41</a:t>
                      </a:r>
                      <a:r>
                        <a:rPr lang="zh-CN" altLang="en-US" sz="1200" dirty="0">
                          <a:latin typeface="微软雅黑" panose="020B0503020204020204" charset="-122"/>
                          <a:ea typeface="微软雅黑" panose="020B0503020204020204" charset="-122"/>
                          <a:cs typeface="微软雅黑" panose="020B0503020204020204" charset="-122"/>
                        </a:rPr>
                        <a:t>条</a:t>
                      </a:r>
                      <a:endParaRPr lang="zh-CN" altLang="en-US" sz="1200" dirty="0">
                        <a:latin typeface="微软雅黑" panose="020B0503020204020204" charset="-122"/>
                        <a:ea typeface="微软雅黑" panose="020B0503020204020204" charset="-122"/>
                        <a:cs typeface="微软雅黑" panose="020B0503020204020204" charset="-122"/>
                      </a:endParaRPr>
                    </a:p>
                    <a:p>
                      <a:pPr algn="ctr">
                        <a:buNone/>
                      </a:pPr>
                      <a:r>
                        <a:rPr lang="zh-CN" altLang="en-US" sz="1200" dirty="0">
                          <a:latin typeface="微软雅黑" panose="020B0503020204020204" charset="-122"/>
                          <a:ea typeface="微软雅黑" panose="020B0503020204020204" charset="-122"/>
                          <a:cs typeface="微软雅黑" panose="020B0503020204020204" charset="-122"/>
                        </a:rPr>
                        <a:t>（约 90种情形）</a:t>
                      </a:r>
                      <a:endParaRPr lang="zh-CN" altLang="en-US" sz="1200" dirty="0">
                        <a:latin typeface="微软雅黑" panose="020B0503020204020204" charset="-122"/>
                        <a:ea typeface="微软雅黑" panose="020B0503020204020204" charset="-122"/>
                        <a:cs typeface="微软雅黑" panose="020B0503020204020204" charset="-122"/>
                      </a:endParaRPr>
                    </a:p>
                  </a:txBody>
                  <a:tcPr anchor="ctr">
                    <a:solidFill>
                      <a:srgbClr val="0070C0">
                        <a:alpha val="20000"/>
                      </a:srgbClr>
                    </a:solidFill>
                  </a:tcPr>
                </a:tc>
                <a:tc>
                  <a:txBody>
                    <a:bodyPr/>
                    <a:lstStyle/>
                    <a:p>
                      <a:pPr algn="ctr">
                        <a:buNone/>
                      </a:pPr>
                      <a:r>
                        <a:rPr lang="en-US" altLang="zh-CN" sz="1200" b="1" dirty="0">
                          <a:latin typeface="微软雅黑" panose="020B0503020204020204" charset="-122"/>
                          <a:ea typeface="微软雅黑" panose="020B0503020204020204" charset="-122"/>
                          <a:cs typeface="微软雅黑" panose="020B0503020204020204" charset="-122"/>
                        </a:rPr>
                        <a:t>47</a:t>
                      </a:r>
                      <a:r>
                        <a:rPr lang="zh-CN" altLang="en-US" sz="1200" b="1" dirty="0">
                          <a:latin typeface="微软雅黑" panose="020B0503020204020204" charset="-122"/>
                          <a:ea typeface="微软雅黑" panose="020B0503020204020204" charset="-122"/>
                          <a:cs typeface="微软雅黑" panose="020B0503020204020204" charset="-122"/>
                        </a:rPr>
                        <a:t>条</a:t>
                      </a:r>
                      <a:endParaRPr lang="zh-CN" altLang="en-US" sz="1200" b="1" dirty="0">
                        <a:latin typeface="微软雅黑" panose="020B0503020204020204" charset="-122"/>
                        <a:ea typeface="微软雅黑" panose="020B0503020204020204" charset="-122"/>
                        <a:cs typeface="微软雅黑" panose="020B0503020204020204" charset="-122"/>
                      </a:endParaRPr>
                    </a:p>
                    <a:p>
                      <a:pPr algn="ctr">
                        <a:buNone/>
                      </a:pPr>
                      <a:r>
                        <a:rPr lang="zh-CN" altLang="en-US" sz="1200" dirty="0">
                          <a:latin typeface="微软雅黑" panose="020B0503020204020204" charset="-122"/>
                          <a:ea typeface="微软雅黑" panose="020B0503020204020204" charset="-122"/>
                          <a:cs typeface="微软雅黑" panose="020B0503020204020204" charset="-122"/>
                        </a:rPr>
                        <a:t>（约</a:t>
                      </a:r>
                      <a:r>
                        <a:rPr lang="en-US" altLang="zh-CN" sz="1200" dirty="0">
                          <a:latin typeface="微软雅黑" panose="020B0503020204020204" charset="-122"/>
                          <a:ea typeface="微软雅黑" panose="020B0503020204020204" charset="-122"/>
                          <a:cs typeface="微软雅黑" panose="020B0503020204020204" charset="-122"/>
                        </a:rPr>
                        <a:t>13</a:t>
                      </a:r>
                      <a:r>
                        <a:rPr lang="zh-CN" altLang="en-US" sz="1200" dirty="0">
                          <a:latin typeface="微软雅黑" panose="020B0503020204020204" charset="-122"/>
                          <a:ea typeface="微软雅黑" panose="020B0503020204020204" charset="-122"/>
                          <a:cs typeface="微软雅黑" panose="020B0503020204020204" charset="-122"/>
                        </a:rPr>
                        <a:t>0种情形）</a:t>
                      </a:r>
                      <a:endParaRPr lang="zh-CN" altLang="en-US" sz="1200" dirty="0">
                        <a:latin typeface="微软雅黑" panose="020B0503020204020204" charset="-122"/>
                        <a:ea typeface="微软雅黑" panose="020B0503020204020204" charset="-122"/>
                        <a:cs typeface="微软雅黑" panose="020B0503020204020204" charset="-122"/>
                      </a:endParaRPr>
                    </a:p>
                  </a:txBody>
                  <a:tcPr anchor="ctr">
                    <a:solidFill>
                      <a:srgbClr val="0070C0">
                        <a:alpha val="20000"/>
                      </a:srgbClr>
                    </a:solidFill>
                  </a:tcPr>
                </a:tc>
                <a:tc>
                  <a:txBody>
                    <a:bodyPr/>
                    <a:lstStyle/>
                    <a:p>
                      <a:pPr marL="285750" indent="-285750" algn="l">
                        <a:buFont typeface="Wingdings" panose="05000000000000000000" charset="0"/>
                        <a:buChar char="l"/>
                      </a:pPr>
                      <a:r>
                        <a:rPr lang="zh-CN" altLang="en-US" sz="1200" b="0">
                          <a:latin typeface="微软雅黑" panose="020B0503020204020204" charset="-122"/>
                          <a:ea typeface="微软雅黑" panose="020B0503020204020204" charset="-122"/>
                          <a:cs typeface="微软雅黑" panose="020B0503020204020204" charset="-122"/>
                        </a:rPr>
                        <a:t>保留 8 条</a:t>
                      </a:r>
                      <a:endParaRPr lang="zh-CN" altLang="en-US" sz="1200" b="0">
                        <a:latin typeface="微软雅黑" panose="020B0503020204020204" charset="-122"/>
                        <a:ea typeface="微软雅黑" panose="020B0503020204020204" charset="-122"/>
                        <a:cs typeface="微软雅黑" panose="020B0503020204020204" charset="-122"/>
                      </a:endParaRPr>
                    </a:p>
                    <a:p>
                      <a:pPr marL="285750" indent="-285750" algn="l">
                        <a:buFont typeface="Wingdings" panose="05000000000000000000" charset="0"/>
                        <a:buChar char="l"/>
                      </a:pPr>
                      <a:r>
                        <a:rPr lang="zh-CN" altLang="en-US" sz="1200" b="0">
                          <a:latin typeface="微软雅黑" panose="020B0503020204020204" charset="-122"/>
                          <a:ea typeface="微软雅黑" panose="020B0503020204020204" charset="-122"/>
                          <a:cs typeface="微软雅黑" panose="020B0503020204020204" charset="-122"/>
                        </a:rPr>
                        <a:t>删除 1 条</a:t>
                      </a:r>
                      <a:endParaRPr lang="zh-CN" altLang="en-US" sz="1200" b="0">
                        <a:latin typeface="微软雅黑" panose="020B0503020204020204" charset="-122"/>
                        <a:ea typeface="微软雅黑" panose="020B0503020204020204" charset="-122"/>
                        <a:cs typeface="微软雅黑" panose="020B0503020204020204" charset="-122"/>
                      </a:endParaRPr>
                    </a:p>
                    <a:p>
                      <a:pPr marL="285750" indent="-285750" algn="l">
                        <a:buFont typeface="Wingdings" panose="05000000000000000000" charset="0"/>
                        <a:buChar char="l"/>
                      </a:pPr>
                      <a:r>
                        <a:rPr lang="zh-CN" altLang="en-US" sz="1200" b="0">
                          <a:latin typeface="微软雅黑" panose="020B0503020204020204" charset="-122"/>
                          <a:ea typeface="微软雅黑" panose="020B0503020204020204" charset="-122"/>
                          <a:cs typeface="微软雅黑" panose="020B0503020204020204" charset="-122"/>
                        </a:rPr>
                        <a:t>修改、整合成 33 条</a:t>
                      </a:r>
                      <a:endParaRPr lang="zh-CN" altLang="en-US" sz="1200" b="0">
                        <a:latin typeface="微软雅黑" panose="020B0503020204020204" charset="-122"/>
                        <a:ea typeface="微软雅黑" panose="020B0503020204020204" charset="-122"/>
                        <a:cs typeface="微软雅黑" panose="020B0503020204020204" charset="-122"/>
                      </a:endParaRPr>
                    </a:p>
                    <a:p>
                      <a:pPr marL="285750" indent="-285750" algn="l">
                        <a:buFont typeface="Wingdings" panose="05000000000000000000" charset="0"/>
                        <a:buChar char="l"/>
                      </a:pPr>
                      <a:r>
                        <a:rPr lang="zh-CN" altLang="en-US" sz="1200" b="0">
                          <a:latin typeface="微软雅黑" panose="020B0503020204020204" charset="-122"/>
                          <a:ea typeface="微软雅黑" panose="020B0503020204020204" charset="-122"/>
                          <a:cs typeface="微软雅黑" panose="020B0503020204020204" charset="-122"/>
                        </a:rPr>
                        <a:t>新增 6 条</a:t>
                      </a:r>
                      <a:endParaRPr lang="zh-CN" altLang="en-US" sz="1200" b="0">
                        <a:latin typeface="微软雅黑" panose="020B0503020204020204" charset="-122"/>
                        <a:ea typeface="微软雅黑" panose="020B0503020204020204" charset="-122"/>
                        <a:cs typeface="微软雅黑" panose="020B0503020204020204" charset="-122"/>
                      </a:endParaRPr>
                    </a:p>
                  </a:txBody>
                  <a:tcPr anchor="ctr">
                    <a:solidFill>
                      <a:srgbClr val="0070C0">
                        <a:alpha val="20000"/>
                      </a:srgbClr>
                    </a:solidFill>
                  </a:tcPr>
                </a:tc>
                <a:tc>
                  <a:txBody>
                    <a:bodyPr/>
                    <a:lstStyle/>
                    <a:p>
                      <a:pPr marL="171450" indent="-171450" algn="l">
                        <a:buFont typeface="Arial" panose="020B0604020202020204" pitchFamily="34" charset="0"/>
                        <a:buChar char="•"/>
                      </a:pPr>
                      <a:r>
                        <a:rPr lang="zh-CN" altLang="en-US" sz="1200" dirty="0">
                          <a:latin typeface="微软雅黑" panose="020B0503020204020204" charset="-122"/>
                          <a:ea typeface="微软雅黑" panose="020B0503020204020204" charset="-122"/>
                          <a:cs typeface="微软雅黑" panose="020B0503020204020204" charset="-122"/>
                        </a:rPr>
                        <a:t>加强与国家各行业领域最新标准衔接，2024 年底以来部分与公司生产经营范围密切相关的行业领域重大事故隐患判定标准进行了修订，</a:t>
                      </a:r>
                      <a:r>
                        <a:rPr lang="zh-CN" altLang="en-US" sz="1200" b="1" dirty="0">
                          <a:latin typeface="微软雅黑" panose="020B0503020204020204" charset="-122"/>
                          <a:ea typeface="微软雅黑" panose="020B0503020204020204" charset="-122"/>
                          <a:cs typeface="微软雅黑" panose="020B0503020204020204" charset="-122"/>
                        </a:rPr>
                        <a:t>其修订趋势均呈现适度扩大重大事故隐患覆盖范围情况</a:t>
                      </a:r>
                      <a:r>
                        <a:rPr lang="zh-CN" altLang="en-US" sz="1200" dirty="0">
                          <a:latin typeface="微软雅黑" panose="020B0503020204020204" charset="-122"/>
                          <a:ea typeface="微软雅黑" panose="020B0503020204020204" charset="-122"/>
                          <a:cs typeface="微软雅黑" panose="020B0503020204020204" charset="-122"/>
                        </a:rPr>
                        <a:t>。</a:t>
                      </a:r>
                      <a:endParaRPr lang="zh-CN" altLang="en-US" sz="1200" dirty="0">
                        <a:latin typeface="微软雅黑" panose="020B0503020204020204" charset="-122"/>
                        <a:ea typeface="微软雅黑" panose="020B0503020204020204" charset="-122"/>
                        <a:cs typeface="微软雅黑" panose="020B0503020204020204" charset="-122"/>
                      </a:endParaRPr>
                    </a:p>
                    <a:p>
                      <a:pPr marL="171450" indent="-171450" algn="l">
                        <a:buFont typeface="Arial" panose="020B0604020202020204" pitchFamily="34" charset="0"/>
                        <a:buChar char="•"/>
                      </a:pPr>
                      <a:r>
                        <a:rPr lang="zh-CN" altLang="en-US" sz="1200" dirty="0">
                          <a:latin typeface="微软雅黑" panose="020B0503020204020204" charset="-122"/>
                          <a:ea typeface="微软雅黑" panose="020B0503020204020204" charset="-122"/>
                          <a:cs typeface="微软雅黑" panose="020B0503020204020204" charset="-122"/>
                        </a:rPr>
                        <a:t>优化整合部分条款，如《房屋市政工程生产安全重大事故隐患判定标准（2024 版）》隧道工程隐患情形和《水利工程建设项目生产安全重大事故隐患清单指南》隧洞工程隐患情形（两者总体要求一致的）做了整合，结合 2024 年深江铁路“12.4”重大坍塌等事故教训等。</a:t>
                      </a:r>
                      <a:endParaRPr lang="zh-CN" altLang="en-US" sz="1200" dirty="0">
                        <a:latin typeface="微软雅黑" panose="020B0503020204020204" charset="-122"/>
                        <a:ea typeface="微软雅黑" panose="020B0503020204020204" charset="-122"/>
                        <a:cs typeface="微软雅黑" panose="020B0503020204020204" charset="-122"/>
                      </a:endParaRPr>
                    </a:p>
                    <a:p>
                      <a:pPr marL="171450" indent="-171450" algn="l">
                        <a:buFont typeface="Arial" panose="020B0604020202020204" pitchFamily="34" charset="0"/>
                        <a:buChar char="•"/>
                      </a:pPr>
                      <a:r>
                        <a:rPr lang="zh-CN" altLang="en-US" sz="1200" dirty="0">
                          <a:latin typeface="微软雅黑" panose="020B0503020204020204" charset="-122"/>
                          <a:ea typeface="微软雅黑" panose="020B0503020204020204" charset="-122"/>
                          <a:cs typeface="微软雅黑" panose="020B0503020204020204" charset="-122"/>
                        </a:rPr>
                        <a:t>补充完善细化部分条款，引入阈值标准、参数范围等量化指标，使判定要素更加具体、明确。</a:t>
                      </a:r>
                      <a:endParaRPr lang="zh-CN" altLang="en-US" sz="1200" dirty="0">
                        <a:latin typeface="微软雅黑" panose="020B0503020204020204" charset="-122"/>
                        <a:ea typeface="微软雅黑" panose="020B0503020204020204" charset="-122"/>
                        <a:cs typeface="微软雅黑" panose="020B0503020204020204" charset="-122"/>
                      </a:endParaRPr>
                    </a:p>
                  </a:txBody>
                  <a:tcPr anchor="ctr">
                    <a:solidFill>
                      <a:srgbClr val="0070C0">
                        <a:alpha val="20000"/>
                      </a:srgbClr>
                    </a:solidFill>
                  </a:tcPr>
                </a:tc>
              </a:tr>
              <a:tr h="1500505">
                <a:tc>
                  <a:txBody>
                    <a:bodyPr/>
                    <a:lstStyle/>
                    <a:p>
                      <a:pPr algn="ctr">
                        <a:buNone/>
                      </a:pPr>
                      <a:r>
                        <a:rPr lang="zh-CN" altLang="en-US" sz="1200" b="1" dirty="0">
                          <a:latin typeface="微软雅黑" panose="020B0503020204020204" charset="-122"/>
                          <a:ea typeface="微软雅黑" panose="020B0503020204020204" charset="-122"/>
                        </a:rPr>
                        <a:t>较大事故隐患判定标准</a:t>
                      </a:r>
                      <a:endParaRPr lang="zh-CN" altLang="en-US" sz="1200" b="1" dirty="0">
                        <a:latin typeface="微软雅黑" panose="020B0503020204020204" charset="-122"/>
                        <a:ea typeface="微软雅黑" panose="020B0503020204020204" charset="-122"/>
                      </a:endParaRPr>
                    </a:p>
                  </a:txBody>
                  <a:tcPr anchor="ctr">
                    <a:solidFill>
                      <a:srgbClr val="0070C0">
                        <a:alpha val="10000"/>
                      </a:srgbClr>
                    </a:solidFill>
                  </a:tcPr>
                </a:tc>
                <a:tc>
                  <a:txBody>
                    <a:bodyPr/>
                    <a:lstStyle/>
                    <a:p>
                      <a:pPr algn="ctr">
                        <a:buNone/>
                      </a:pPr>
                      <a:r>
                        <a:rPr lang="zh-CN" altLang="en-US" sz="1200" dirty="0">
                          <a:latin typeface="微软雅黑" panose="020B0503020204020204" charset="-122"/>
                          <a:ea typeface="微软雅黑" panose="020B0503020204020204" charset="-122"/>
                          <a:cs typeface="微软雅黑" panose="020B0503020204020204" charset="-122"/>
                        </a:rPr>
                        <a:t>87 条</a:t>
                      </a:r>
                      <a:endParaRPr lang="zh-CN" altLang="en-US" sz="1200" dirty="0">
                        <a:latin typeface="微软雅黑" panose="020B0503020204020204" charset="-122"/>
                        <a:ea typeface="微软雅黑" panose="020B0503020204020204" charset="-122"/>
                        <a:cs typeface="微软雅黑" panose="020B0503020204020204" charset="-122"/>
                      </a:endParaRPr>
                    </a:p>
                    <a:p>
                      <a:pPr algn="ctr">
                        <a:buNone/>
                      </a:pPr>
                      <a:r>
                        <a:rPr lang="zh-CN" altLang="en-US" sz="1200" dirty="0">
                          <a:latin typeface="微软雅黑" panose="020B0503020204020204" charset="-122"/>
                          <a:ea typeface="微软雅黑" panose="020B0503020204020204" charset="-122"/>
                          <a:cs typeface="微软雅黑" panose="020B0503020204020204" charset="-122"/>
                        </a:rPr>
                        <a:t>（约 140种情形）</a:t>
                      </a:r>
                      <a:endParaRPr lang="zh-CN" altLang="en-US" sz="1200" dirty="0">
                        <a:latin typeface="微软雅黑" panose="020B0503020204020204" charset="-122"/>
                        <a:ea typeface="微软雅黑" panose="020B0503020204020204" charset="-122"/>
                        <a:cs typeface="微软雅黑" panose="020B0503020204020204" charset="-122"/>
                      </a:endParaRPr>
                    </a:p>
                  </a:txBody>
                  <a:tcPr anchor="ctr">
                    <a:solidFill>
                      <a:srgbClr val="0070C0">
                        <a:alpha val="10000"/>
                      </a:srgbClr>
                    </a:solidFill>
                  </a:tcPr>
                </a:tc>
                <a:tc>
                  <a:txBody>
                    <a:bodyPr/>
                    <a:lstStyle/>
                    <a:p>
                      <a:pPr algn="ctr">
                        <a:buNone/>
                      </a:pPr>
                      <a:r>
                        <a:rPr lang="zh-CN" altLang="en-US" sz="1200" b="1" dirty="0">
                          <a:latin typeface="微软雅黑" panose="020B0503020204020204" charset="-122"/>
                          <a:ea typeface="微软雅黑" panose="020B0503020204020204" charset="-122"/>
                          <a:cs typeface="微软雅黑" panose="020B0503020204020204" charset="-122"/>
                          <a:sym typeface="+mn-ea"/>
                        </a:rPr>
                        <a:t> 70 条</a:t>
                      </a:r>
                      <a:endParaRPr lang="zh-CN" altLang="en-US" sz="1200" b="1" dirty="0">
                        <a:latin typeface="微软雅黑" panose="020B0503020204020204" charset="-122"/>
                        <a:ea typeface="微软雅黑" panose="020B0503020204020204" charset="-122"/>
                        <a:cs typeface="微软雅黑" panose="020B0503020204020204" charset="-122"/>
                        <a:sym typeface="+mn-ea"/>
                      </a:endParaRPr>
                    </a:p>
                    <a:p>
                      <a:pPr algn="ctr">
                        <a:buNone/>
                      </a:pPr>
                      <a:r>
                        <a:rPr lang="zh-CN" altLang="en-US" sz="1200" dirty="0">
                          <a:latin typeface="微软雅黑" panose="020B0503020204020204" charset="-122"/>
                          <a:ea typeface="微软雅黑" panose="020B0503020204020204" charset="-122"/>
                          <a:cs typeface="微软雅黑" panose="020B0503020204020204" charset="-122"/>
                          <a:sym typeface="+mn-ea"/>
                        </a:rPr>
                        <a:t>（约 160 种情形）</a:t>
                      </a:r>
                      <a:endParaRPr lang="zh-CN" altLang="en-US" sz="1200" dirty="0">
                        <a:latin typeface="微软雅黑" panose="020B0503020204020204" charset="-122"/>
                        <a:ea typeface="微软雅黑" panose="020B0503020204020204" charset="-122"/>
                        <a:cs typeface="微软雅黑" panose="020B0503020204020204" charset="-122"/>
                        <a:sym typeface="+mn-ea"/>
                      </a:endParaRPr>
                    </a:p>
                  </a:txBody>
                  <a:tcPr anchor="ctr">
                    <a:solidFill>
                      <a:srgbClr val="0070C0">
                        <a:alpha val="10000"/>
                      </a:srgbClr>
                    </a:solidFill>
                  </a:tcPr>
                </a:tc>
                <a:tc>
                  <a:txBody>
                    <a:bodyPr/>
                    <a:lstStyle/>
                    <a:p>
                      <a:pPr marL="285750" indent="-285750" algn="l">
                        <a:buFont typeface="Wingdings" panose="05000000000000000000" charset="0"/>
                        <a:buChar char="l"/>
                      </a:pPr>
                      <a:r>
                        <a:rPr lang="zh-CN" altLang="en-US" sz="1200" b="0" dirty="0">
                          <a:latin typeface="微软雅黑" panose="020B0503020204020204" charset="-122"/>
                          <a:ea typeface="微软雅黑" panose="020B0503020204020204" charset="-122"/>
                          <a:cs typeface="微软雅黑" panose="020B0503020204020204" charset="-122"/>
                        </a:rPr>
                        <a:t>保留款 34 条</a:t>
                      </a:r>
                      <a:endParaRPr lang="zh-CN" altLang="en-US" sz="1200" b="0" dirty="0">
                        <a:latin typeface="微软雅黑" panose="020B0503020204020204" charset="-122"/>
                        <a:ea typeface="微软雅黑" panose="020B0503020204020204" charset="-122"/>
                        <a:cs typeface="微软雅黑" panose="020B0503020204020204" charset="-122"/>
                      </a:endParaRPr>
                    </a:p>
                    <a:p>
                      <a:pPr marL="285750" indent="-285750" algn="l">
                        <a:buFont typeface="Wingdings" panose="05000000000000000000" charset="0"/>
                        <a:buChar char="l"/>
                      </a:pPr>
                      <a:r>
                        <a:rPr lang="zh-CN" altLang="en-US" sz="1200" b="0" dirty="0">
                          <a:latin typeface="微软雅黑" panose="020B0503020204020204" charset="-122"/>
                          <a:ea typeface="微软雅黑" panose="020B0503020204020204" charset="-122"/>
                          <a:cs typeface="微软雅黑" panose="020B0503020204020204" charset="-122"/>
                        </a:rPr>
                        <a:t>删除 12 条</a:t>
                      </a:r>
                      <a:endParaRPr lang="zh-CN" altLang="en-US" sz="1200" b="0" dirty="0">
                        <a:latin typeface="微软雅黑" panose="020B0503020204020204" charset="-122"/>
                        <a:ea typeface="微软雅黑" panose="020B0503020204020204" charset="-122"/>
                        <a:cs typeface="微软雅黑" panose="020B0503020204020204" charset="-122"/>
                      </a:endParaRPr>
                    </a:p>
                    <a:p>
                      <a:pPr marL="285750" indent="-285750" algn="l">
                        <a:buFont typeface="Wingdings" panose="05000000000000000000" charset="0"/>
                        <a:buChar char="l"/>
                      </a:pPr>
                      <a:r>
                        <a:rPr lang="zh-CN" altLang="en-US" sz="1200" b="0" dirty="0">
                          <a:latin typeface="微软雅黑" panose="020B0503020204020204" charset="-122"/>
                          <a:ea typeface="微软雅黑" panose="020B0503020204020204" charset="-122"/>
                          <a:cs typeface="微软雅黑" panose="020B0503020204020204" charset="-122"/>
                        </a:rPr>
                        <a:t>修改、整合成 19 条</a:t>
                      </a:r>
                      <a:endParaRPr lang="zh-CN" altLang="en-US" sz="1200" b="0" dirty="0">
                        <a:latin typeface="微软雅黑" panose="020B0503020204020204" charset="-122"/>
                        <a:ea typeface="微软雅黑" panose="020B0503020204020204" charset="-122"/>
                        <a:cs typeface="微软雅黑" panose="020B0503020204020204" charset="-122"/>
                      </a:endParaRPr>
                    </a:p>
                    <a:p>
                      <a:pPr marL="285750" indent="-285750" algn="l">
                        <a:buFont typeface="Wingdings" panose="05000000000000000000" charset="0"/>
                        <a:buChar char="l"/>
                      </a:pPr>
                      <a:r>
                        <a:rPr lang="zh-CN" altLang="en-US" sz="1200" b="0" dirty="0">
                          <a:latin typeface="微软雅黑" panose="020B0503020204020204" charset="-122"/>
                          <a:ea typeface="微软雅黑" panose="020B0503020204020204" charset="-122"/>
                          <a:cs typeface="微软雅黑" panose="020B0503020204020204" charset="-122"/>
                        </a:rPr>
                        <a:t>新增 7 条</a:t>
                      </a:r>
                      <a:endParaRPr lang="zh-CN" altLang="en-US" sz="1200" b="0" dirty="0">
                        <a:latin typeface="微软雅黑" panose="020B0503020204020204" charset="-122"/>
                        <a:ea typeface="微软雅黑" panose="020B0503020204020204" charset="-122"/>
                        <a:cs typeface="微软雅黑" panose="020B0503020204020204" charset="-122"/>
                      </a:endParaRPr>
                    </a:p>
                  </a:txBody>
                  <a:tcPr anchor="ctr">
                    <a:solidFill>
                      <a:srgbClr val="0070C0">
                        <a:alpha val="10000"/>
                      </a:srgbClr>
                    </a:solidFill>
                  </a:tcPr>
                </a:tc>
                <a:tc>
                  <a:txBody>
                    <a:bodyPr/>
                    <a:lstStyle/>
                    <a:p>
                      <a:pPr marL="171450" indent="-171450" algn="l">
                        <a:buFont typeface="Arial" panose="020B0604020202020204" pitchFamily="34" charset="0"/>
                        <a:buChar char="•"/>
                      </a:pPr>
                      <a:r>
                        <a:rPr lang="zh-CN" altLang="en-US" sz="1200" b="1" dirty="0">
                          <a:latin typeface="微软雅黑" panose="020B0503020204020204" charset="-122"/>
                          <a:ea typeface="微软雅黑" panose="020B0503020204020204" charset="-122"/>
                          <a:cs typeface="微软雅黑" panose="020B0503020204020204" charset="-122"/>
                        </a:rPr>
                        <a:t>部分原较大事故隐患标准已提级为重大事故隐患</a:t>
                      </a:r>
                      <a:r>
                        <a:rPr lang="zh-CN" altLang="en-US" sz="1200" dirty="0">
                          <a:latin typeface="微软雅黑" panose="020B0503020204020204" charset="-122"/>
                          <a:ea typeface="微软雅黑" panose="020B0503020204020204" charset="-122"/>
                          <a:cs typeface="微软雅黑" panose="020B0503020204020204" charset="-122"/>
                        </a:rPr>
                        <a:t>，如国家能源局新修订的电力重大事故隐患判定标准覆盖一个以上地级行政区的电力监控系统跨区互联等纳入重大事故隐患情形（已涵盖网省地三级）。</a:t>
                      </a:r>
                      <a:endParaRPr lang="zh-CN" altLang="en-US" sz="1200" dirty="0">
                        <a:latin typeface="微软雅黑" panose="020B0503020204020204" charset="-122"/>
                        <a:ea typeface="微软雅黑" panose="020B0503020204020204" charset="-122"/>
                        <a:cs typeface="微软雅黑" panose="020B0503020204020204" charset="-122"/>
                      </a:endParaRPr>
                    </a:p>
                    <a:p>
                      <a:pPr marL="171450" indent="-171450" algn="l">
                        <a:buFont typeface="Arial" panose="020B0604020202020204" pitchFamily="34" charset="0"/>
                        <a:buChar char="•"/>
                      </a:pPr>
                      <a:r>
                        <a:rPr lang="zh-CN" altLang="en-US" sz="1200" b="1" dirty="0">
                          <a:latin typeface="微软雅黑" panose="020B0503020204020204" charset="-122"/>
                          <a:ea typeface="微软雅黑" panose="020B0503020204020204" charset="-122"/>
                          <a:cs typeface="微软雅黑" panose="020B0503020204020204" charset="-122"/>
                        </a:rPr>
                        <a:t>增加电力建设工程质量管理、一次设备图实不一致等较大事故隐患标准，结合电杆“排雷”行动要求增加混凝土电杆等较大事故隐患情况。</a:t>
                      </a:r>
                      <a:endParaRPr lang="zh-CN" altLang="en-US" sz="1200" b="1" dirty="0">
                        <a:latin typeface="微软雅黑" panose="020B0503020204020204" charset="-122"/>
                        <a:ea typeface="微软雅黑" panose="020B0503020204020204" charset="-122"/>
                        <a:cs typeface="微软雅黑" panose="020B0503020204020204" charset="-122"/>
                      </a:endParaRPr>
                    </a:p>
                    <a:p>
                      <a:pPr marL="171450" indent="-171450" algn="l">
                        <a:buFont typeface="Arial" panose="020B0604020202020204" pitchFamily="34" charset="0"/>
                        <a:buChar char="•"/>
                      </a:pPr>
                      <a:r>
                        <a:rPr lang="zh-CN" altLang="en-US" sz="1200" dirty="0">
                          <a:latin typeface="微软雅黑" panose="020B0503020204020204" charset="-122"/>
                          <a:ea typeface="微软雅黑" panose="020B0503020204020204" charset="-122"/>
                          <a:cs typeface="微软雅黑" panose="020B0503020204020204" charset="-122"/>
                        </a:rPr>
                        <a:t>修改并细化部分条款，引入阈值标准、参数范围等量化指标，合并了部分相似的判定要素。</a:t>
                      </a:r>
                      <a:endParaRPr lang="zh-CN" altLang="en-US" sz="1200" dirty="0">
                        <a:latin typeface="微软雅黑" panose="020B0503020204020204" charset="-122"/>
                        <a:ea typeface="微软雅黑" panose="020B0503020204020204" charset="-122"/>
                        <a:cs typeface="微软雅黑" panose="020B0503020204020204" charset="-122"/>
                      </a:endParaRPr>
                    </a:p>
                  </a:txBody>
                  <a:tcPr anchor="ctr">
                    <a:solidFill>
                      <a:srgbClr val="0070C0">
                        <a:alpha val="10000"/>
                      </a:srgbClr>
                    </a:solidFill>
                  </a:tcPr>
                </a:tc>
              </a:tr>
            </a:tbl>
          </a:graphicData>
        </a:graphic>
      </p:graphicFrame>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4294967295"/>
          </p:nvPr>
        </p:nvSpPr>
        <p:spPr>
          <a:xfrm>
            <a:off x="9997440" y="6499860"/>
            <a:ext cx="2133600" cy="365125"/>
          </a:xfrm>
        </p:spPr>
        <p:txBody>
          <a:bodyPr/>
          <a:lstStyle/>
          <a:p>
            <a:fld id="{A10E9369-8E4E-4DE7-B129-F0280ABC27D7}" type="slidenum">
              <a:rPr lang="zh-CN" altLang="en-US" smtClean="0"/>
            </a:fld>
            <a:endParaRPr lang="zh-CN" altLang="en-US" dirty="0"/>
          </a:p>
        </p:txBody>
      </p:sp>
      <p:sp>
        <p:nvSpPr>
          <p:cNvPr id="4" name="文本框 3"/>
          <p:cNvSpPr txBox="1"/>
          <p:nvPr/>
        </p:nvSpPr>
        <p:spPr>
          <a:xfrm>
            <a:off x="249644" y="1484630"/>
            <a:ext cx="11362055" cy="5000625"/>
          </a:xfrm>
          <a:prstGeom prst="rect">
            <a:avLst/>
          </a:prstGeom>
          <a:noFill/>
        </p:spPr>
        <p:txBody>
          <a:bodyPr wrap="square" rtlCol="0" anchor="t">
            <a:noAutofit/>
          </a:bodyPr>
          <a:lstStyle/>
          <a:p>
            <a:pPr indent="0" fontAlgn="auto">
              <a:lnSpc>
                <a:spcPct val="150000"/>
              </a:lnSpc>
              <a:spcBef>
                <a:spcPts val="0"/>
              </a:spcBef>
              <a:spcAft>
                <a:spcPts val="0"/>
              </a:spcAft>
              <a:buFont typeface="Wingdings" panose="05000000000000000000" charset="0"/>
              <a:buNone/>
            </a:pPr>
            <a:endParaRPr lang="zh-CN" altLang="en-US" sz="1400" kern="0" dirty="0">
              <a:latin typeface="微软雅黑" panose="020B0503020204020204" charset="-122"/>
              <a:ea typeface="微软雅黑" panose="020B0503020204020204" charset="-122"/>
              <a:cs typeface="微软雅黑" panose="020B0503020204020204" charset="-122"/>
              <a:sym typeface="+mn-ea"/>
            </a:endParaRPr>
          </a:p>
          <a:p>
            <a:pPr indent="0" fontAlgn="auto">
              <a:lnSpc>
                <a:spcPct val="150000"/>
              </a:lnSpc>
              <a:spcBef>
                <a:spcPts val="0"/>
              </a:spcBef>
              <a:spcAft>
                <a:spcPts val="0"/>
              </a:spcAft>
              <a:buFont typeface="Wingdings" panose="05000000000000000000" charset="0"/>
              <a:buNone/>
            </a:pPr>
            <a:endParaRPr lang="zh-CN" altLang="en-US" sz="1400" kern="0" dirty="0">
              <a:latin typeface="微软雅黑" panose="020B0503020204020204" charset="-122"/>
              <a:ea typeface="微软雅黑" panose="020B0503020204020204" charset="-122"/>
              <a:cs typeface="微软雅黑" panose="020B0503020204020204" charset="-122"/>
              <a:sym typeface="+mn-ea"/>
            </a:endParaRPr>
          </a:p>
          <a:p>
            <a:pPr indent="0" fontAlgn="auto">
              <a:lnSpc>
                <a:spcPct val="150000"/>
              </a:lnSpc>
              <a:spcBef>
                <a:spcPts val="0"/>
              </a:spcBef>
              <a:spcAft>
                <a:spcPts val="0"/>
              </a:spcAft>
              <a:buFont typeface="Wingdings" panose="05000000000000000000" charset="0"/>
              <a:buNone/>
            </a:pPr>
            <a:endParaRPr lang="zh-CN" altLang="en-US" sz="1400" kern="0" dirty="0">
              <a:latin typeface="微软雅黑" panose="020B0503020204020204" charset="-122"/>
              <a:ea typeface="微软雅黑" panose="020B0503020204020204" charset="-122"/>
              <a:cs typeface="微软雅黑" panose="020B0503020204020204" charset="-122"/>
              <a:sym typeface="+mn-ea"/>
            </a:endParaRPr>
          </a:p>
          <a:p>
            <a:pPr indent="0" fontAlgn="auto">
              <a:lnSpc>
                <a:spcPct val="150000"/>
              </a:lnSpc>
              <a:spcBef>
                <a:spcPts val="0"/>
              </a:spcBef>
              <a:spcAft>
                <a:spcPts val="0"/>
              </a:spcAft>
              <a:buFont typeface="Wingdings" panose="05000000000000000000" charset="0"/>
              <a:buNone/>
            </a:pPr>
            <a:endParaRPr lang="zh-CN" altLang="en-US" sz="1400" kern="0" dirty="0">
              <a:latin typeface="微软雅黑" panose="020B0503020204020204" charset="-122"/>
              <a:ea typeface="微软雅黑" panose="020B0503020204020204" charset="-122"/>
              <a:cs typeface="微软雅黑" panose="020B0503020204020204" charset="-122"/>
              <a:sym typeface="+mn-ea"/>
            </a:endParaRPr>
          </a:p>
          <a:p>
            <a:pPr indent="0" fontAlgn="auto">
              <a:lnSpc>
                <a:spcPct val="150000"/>
              </a:lnSpc>
              <a:spcBef>
                <a:spcPts val="0"/>
              </a:spcBef>
              <a:spcAft>
                <a:spcPts val="0"/>
              </a:spcAft>
              <a:buFont typeface="Wingdings" panose="05000000000000000000" charset="0"/>
              <a:buNone/>
            </a:pPr>
            <a:endParaRPr lang="zh-CN" altLang="en-US" sz="1400" b="1" kern="0" dirty="0">
              <a:solidFill>
                <a:schemeClr val="tx1"/>
              </a:solidFill>
              <a:latin typeface="微软雅黑" panose="020B0503020204020204" charset="-122"/>
              <a:ea typeface="微软雅黑" panose="020B0503020204020204" charset="-122"/>
              <a:cs typeface="微软雅黑" panose="020B0503020204020204" charset="-122"/>
              <a:sym typeface="+mn-ea"/>
            </a:endParaRPr>
          </a:p>
          <a:p>
            <a:pPr algn="l" fontAlgn="auto">
              <a:lnSpc>
                <a:spcPct val="150000"/>
              </a:lnSpc>
              <a:spcBef>
                <a:spcPts val="0"/>
              </a:spcBef>
              <a:spcAft>
                <a:spcPts val="0"/>
              </a:spcAft>
              <a:buClrTx/>
              <a:buSzTx/>
              <a:buFont typeface="Wingdings" panose="05000000000000000000" charset="0"/>
              <a:buNone/>
            </a:pPr>
            <a:endParaRPr lang="zh-CN" altLang="en-US" sz="1400" b="1" kern="0" dirty="0">
              <a:solidFill>
                <a:schemeClr val="tx1"/>
              </a:solidFill>
              <a:highlight>
                <a:srgbClr val="C0C0C0"/>
              </a:highlight>
              <a:latin typeface="微软雅黑" panose="020B0503020204020204" charset="-122"/>
              <a:ea typeface="微软雅黑" panose="020B0503020204020204" charset="-122"/>
              <a:cs typeface="微软雅黑" panose="020B0503020204020204" charset="-122"/>
              <a:sym typeface="+mn-ea"/>
            </a:endParaRPr>
          </a:p>
          <a:p>
            <a:pPr>
              <a:lnSpc>
                <a:spcPct val="150000"/>
              </a:lnSpc>
            </a:pPr>
            <a:r>
              <a:rPr lang="zh-CN" altLang="en-US" sz="1600" b="1" kern="0" dirty="0">
                <a:solidFill>
                  <a:schemeClr val="bg1"/>
                </a:solidFill>
                <a:highlight>
                  <a:srgbClr val="0070C0"/>
                </a:highlight>
                <a:latin typeface="+mn-ea"/>
                <a:sym typeface="+mn-ea"/>
              </a:rPr>
              <a:t>【案例警示】</a:t>
            </a:r>
            <a:endParaRPr lang="zh-CN" altLang="en-US" sz="1600" b="1" kern="0" dirty="0">
              <a:solidFill>
                <a:schemeClr val="bg1"/>
              </a:solidFill>
              <a:highlight>
                <a:srgbClr val="0070C0"/>
              </a:highlight>
              <a:latin typeface="+mn-ea"/>
              <a:sym typeface="+mn-ea"/>
            </a:endParaRPr>
          </a:p>
          <a:p>
            <a:pPr indent="0" fontAlgn="auto">
              <a:lnSpc>
                <a:spcPct val="150000"/>
              </a:lnSpc>
              <a:spcBef>
                <a:spcPts val="0"/>
              </a:spcBef>
              <a:spcAft>
                <a:spcPts val="0"/>
              </a:spcAft>
              <a:buFont typeface="Wingdings" panose="05000000000000000000" charset="0"/>
              <a:buNone/>
            </a:pPr>
            <a:endParaRPr lang="zh-CN" altLang="en-US" sz="1400" dirty="0">
              <a:effectLst/>
              <a:latin typeface="微软雅黑" panose="020B0503020204020204" charset="-122"/>
              <a:ea typeface="微软雅黑" panose="020B0503020204020204" charset="-122"/>
              <a:cs typeface="微软雅黑" panose="020B0503020204020204" charset="-122"/>
              <a:sym typeface="+mn-ea"/>
            </a:endParaRPr>
          </a:p>
          <a:p>
            <a:pPr indent="0" fontAlgn="auto">
              <a:lnSpc>
                <a:spcPct val="150000"/>
              </a:lnSpc>
              <a:spcBef>
                <a:spcPts val="0"/>
              </a:spcBef>
              <a:spcAft>
                <a:spcPts val="0"/>
              </a:spcAft>
              <a:buFont typeface="Wingdings" panose="05000000000000000000" charset="0"/>
              <a:buNone/>
            </a:pPr>
            <a:endParaRPr lang="zh-CN" altLang="en-US" sz="1400" b="1" kern="0" dirty="0">
              <a:solidFill>
                <a:srgbClr val="FF0000"/>
              </a:solidFill>
              <a:latin typeface="微软雅黑" panose="020B0503020204020204" charset="-122"/>
              <a:ea typeface="微软雅黑" panose="020B0503020204020204" charset="-122"/>
              <a:cs typeface="微软雅黑" panose="020B0503020204020204" charset="-122"/>
              <a:sym typeface="+mn-ea"/>
            </a:endParaRPr>
          </a:p>
          <a:p>
            <a:pPr indent="0" fontAlgn="auto">
              <a:lnSpc>
                <a:spcPct val="150000"/>
              </a:lnSpc>
              <a:spcBef>
                <a:spcPts val="0"/>
              </a:spcBef>
              <a:spcAft>
                <a:spcPts val="0"/>
              </a:spcAft>
              <a:buFont typeface="Wingdings" panose="05000000000000000000" charset="0"/>
              <a:buNone/>
            </a:pPr>
            <a:endParaRPr lang="zh-CN" altLang="en-US" sz="1400" b="1" kern="0" dirty="0">
              <a:solidFill>
                <a:srgbClr val="FF0000"/>
              </a:solidFill>
              <a:effectLst/>
              <a:latin typeface="微软雅黑" panose="020B0503020204020204" charset="-122"/>
              <a:ea typeface="微软雅黑" panose="020B0503020204020204" charset="-122"/>
              <a:cs typeface="微软雅黑" panose="020B0503020204020204" charset="-122"/>
              <a:sym typeface="+mn-ea"/>
            </a:endParaRPr>
          </a:p>
        </p:txBody>
      </p:sp>
      <p:graphicFrame>
        <p:nvGraphicFramePr>
          <p:cNvPr id="5" name="表格 4"/>
          <p:cNvGraphicFramePr>
            <a:graphicFrameLocks noGrp="1"/>
          </p:cNvGraphicFramePr>
          <p:nvPr>
            <p:custDataLst>
              <p:tags r:id="rId1"/>
            </p:custDataLst>
          </p:nvPr>
        </p:nvGraphicFramePr>
        <p:xfrm>
          <a:off x="334963" y="1628775"/>
          <a:ext cx="11522075" cy="1709817"/>
        </p:xfrm>
        <a:graphic>
          <a:graphicData uri="http://schemas.openxmlformats.org/drawingml/2006/table">
            <a:tbl>
              <a:tblPr>
                <a:tableStyleId>{5C22544A-7EE6-4342-B048-85BDC9FD1C3A}</a:tableStyleId>
              </a:tblPr>
              <a:tblGrid>
                <a:gridCol w="2030928"/>
                <a:gridCol w="9491147"/>
              </a:tblGrid>
              <a:tr h="367427">
                <a:tc>
                  <a:txBody>
                    <a:bodyPr/>
                    <a:lstStyle/>
                    <a:p>
                      <a:pPr algn="ctr">
                        <a:buClrTx/>
                        <a:buSzTx/>
                        <a:buFontTx/>
                        <a:buNone/>
                      </a:pPr>
                      <a:r>
                        <a:rPr lang="zh-CN" altLang="en-US" sz="1400" b="1" dirty="0" err="1">
                          <a:ln w="12700" cmpd="sng">
                            <a:noFill/>
                            <a:prstDash val="solid"/>
                          </a:ln>
                          <a:solidFill>
                            <a:schemeClr val="bg1"/>
                          </a:solidFill>
                          <a:latin typeface="+mn-ea"/>
                          <a:ea typeface="+mn-ea"/>
                          <a:cs typeface="宋体" panose="02010600030101010101" pitchFamily="2" charset="-122"/>
                        </a:rPr>
                        <a:t>条款编码</a:t>
                      </a:r>
                      <a:endParaRPr lang="zh-CN" altLang="en-US" sz="1400" b="1" dirty="0" err="1">
                        <a:ln w="12700" cmpd="sng">
                          <a:noFill/>
                          <a:prstDash val="solid"/>
                        </a:ln>
                        <a:solidFill>
                          <a:schemeClr val="bg1"/>
                        </a:solidFill>
                        <a:latin typeface="+mn-ea"/>
                        <a:ea typeface="+mn-ea"/>
                        <a:cs typeface="宋体" panose="02010600030101010101" pitchFamily="2"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c>
                  <a:txBody>
                    <a:bodyPr/>
                    <a:lstStyle/>
                    <a:p>
                      <a:pPr algn="ctr">
                        <a:buClrTx/>
                        <a:buSzTx/>
                        <a:buFontTx/>
                        <a:buNone/>
                      </a:pPr>
                      <a:r>
                        <a:rPr lang="zh-CN" altLang="en-US" sz="1400" b="1" dirty="0">
                          <a:ln w="12700" cmpd="sng">
                            <a:noFill/>
                            <a:prstDash val="solid"/>
                          </a:ln>
                          <a:solidFill>
                            <a:schemeClr val="bg1"/>
                          </a:solidFill>
                          <a:latin typeface="+mn-ea"/>
                          <a:ea typeface="+mn-ea"/>
                          <a:cs typeface="黑体" panose="02010609060101010101" charset="-122"/>
                        </a:rPr>
                        <a:t>判定标准（</a:t>
                      </a:r>
                      <a:r>
                        <a:rPr lang="en-US" altLang="zh-CN" sz="1400" b="1" dirty="0">
                          <a:ln w="12700" cmpd="sng">
                            <a:noFill/>
                            <a:prstDash val="solid"/>
                          </a:ln>
                          <a:solidFill>
                            <a:schemeClr val="bg1"/>
                          </a:solidFill>
                          <a:latin typeface="+mn-ea"/>
                          <a:ea typeface="+mn-ea"/>
                          <a:cs typeface="黑体" panose="02010609060101010101" charset="-122"/>
                        </a:rPr>
                        <a:t>2026</a:t>
                      </a:r>
                      <a:r>
                        <a:rPr lang="zh-CN" altLang="en-US" sz="1400" b="1" dirty="0">
                          <a:ln w="12700" cmpd="sng">
                            <a:noFill/>
                            <a:prstDash val="solid"/>
                          </a:ln>
                          <a:solidFill>
                            <a:schemeClr val="bg1"/>
                          </a:solidFill>
                          <a:latin typeface="+mn-ea"/>
                          <a:ea typeface="+mn-ea"/>
                          <a:cs typeface="黑体" panose="02010609060101010101" charset="-122"/>
                        </a:rPr>
                        <a:t>）条文</a:t>
                      </a:r>
                      <a:endParaRPr lang="zh-CN" altLang="en-US" sz="1400" b="1" dirty="0">
                        <a:ln w="12700" cmpd="sng">
                          <a:noFill/>
                          <a:prstDash val="solid"/>
                        </a:ln>
                        <a:solidFill>
                          <a:schemeClr val="bg1"/>
                        </a:solidFill>
                        <a:latin typeface="+mn-ea"/>
                        <a:ea typeface="+mn-ea"/>
                        <a:cs typeface="黑体" panose="02010609060101010101"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r>
              <a:tr h="1287091">
                <a:tc>
                  <a:txBody>
                    <a:bodyPr/>
                    <a:lstStyle/>
                    <a:p>
                      <a:pPr marL="0" indent="0" algn="ctr">
                        <a:spcBef>
                          <a:spcPct val="0"/>
                        </a:spcBef>
                        <a:spcAft>
                          <a:spcPct val="0"/>
                        </a:spcAft>
                        <a:buNone/>
                      </a:pPr>
                      <a:r>
                        <a:rPr lang="en-US" altLang="zh-CN" sz="1400" b="1" kern="0" dirty="0">
                          <a:latin typeface="+mn-ea"/>
                          <a:ea typeface="+mn-ea"/>
                          <a:sym typeface="+mn-ea"/>
                        </a:rPr>
                        <a:t>ZD-RS-004</a:t>
                      </a:r>
                      <a:endParaRPr lang="en-US" altLang="zh-CN" sz="1400" dirty="0">
                        <a:solidFill>
                          <a:schemeClr val="tx1"/>
                        </a:solidFill>
                        <a:latin typeface="+mn-ea"/>
                        <a:ea typeface="+mn-ea"/>
                        <a:cs typeface="宋体" panose="02010600030101010101" pitchFamily="2"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a:txBody>
                    <a:bodyPr/>
                    <a:lstStyle/>
                    <a:p>
                      <a:pPr indent="0" fontAlgn="auto">
                        <a:lnSpc>
                          <a:spcPct val="140000"/>
                        </a:lnSpc>
                        <a:spcBef>
                          <a:spcPts val="0"/>
                        </a:spcBef>
                        <a:spcAft>
                          <a:spcPts val="0"/>
                        </a:spcAft>
                        <a:buFont typeface="Wingdings" panose="05000000000000000000" charset="0"/>
                        <a:buNone/>
                      </a:pPr>
                      <a:r>
                        <a:rPr lang="zh-CN" altLang="en-US" sz="1400" kern="0" dirty="0">
                          <a:latin typeface="+mn-ea"/>
                          <a:ea typeface="+mn-ea"/>
                          <a:sym typeface="+mn-ea"/>
                        </a:rPr>
                        <a:t>起重机械及吊装工程有下列情形之一的，应判定为重大事故隐患</a:t>
                      </a:r>
                      <a:r>
                        <a:rPr lang="zh-CN" altLang="en-US" sz="1400" kern="0" dirty="0">
                          <a:latin typeface="+mn-ea"/>
                          <a:ea typeface="+mn-ea"/>
                        </a:rPr>
                        <a:t>：</a:t>
                      </a:r>
                      <a:endParaRPr lang="zh-CN" altLang="en-US" sz="1400" kern="0" dirty="0">
                        <a:latin typeface="+mn-ea"/>
                        <a:ea typeface="+mn-ea"/>
                      </a:endParaRPr>
                    </a:p>
                    <a:p>
                      <a:pPr indent="0" fontAlgn="auto">
                        <a:lnSpc>
                          <a:spcPct val="140000"/>
                        </a:lnSpc>
                        <a:spcBef>
                          <a:spcPts val="0"/>
                        </a:spcBef>
                        <a:spcAft>
                          <a:spcPts val="0"/>
                        </a:spcAft>
                        <a:buFont typeface="Wingdings" panose="05000000000000000000" charset="0"/>
                        <a:buNone/>
                      </a:pPr>
                      <a:r>
                        <a:rPr lang="zh-CN" altLang="en-US" sz="1000" kern="0" dirty="0">
                          <a:solidFill>
                            <a:schemeClr val="tx1"/>
                          </a:solidFill>
                          <a:highlight>
                            <a:srgbClr val="000000">
                              <a:alpha val="0"/>
                            </a:srgbClr>
                          </a:highlight>
                          <a:latin typeface="+mn-ea"/>
                          <a:ea typeface="+mn-ea"/>
                          <a:cs typeface="微软雅黑" panose="020B0503020204020204" charset="-122"/>
                          <a:sym typeface="+mn-ea"/>
                        </a:rPr>
                        <a:t>(1)塔式起重机、施工升降机、物料提升机等起重机械设备未经验收合格即投入使用，或未按规定办理使用登记。</a:t>
                      </a:r>
                      <a:endParaRPr lang="zh-CN" altLang="en-US" sz="1000" kern="0" dirty="0">
                        <a:solidFill>
                          <a:schemeClr val="tx1"/>
                        </a:solidFill>
                        <a:highlight>
                          <a:srgbClr val="000000">
                            <a:alpha val="0"/>
                          </a:srgbClr>
                        </a:highlight>
                        <a:latin typeface="+mn-ea"/>
                        <a:ea typeface="+mn-ea"/>
                        <a:cs typeface="微软雅黑" panose="020B0503020204020204" charset="-122"/>
                        <a:sym typeface="+mn-ea"/>
                      </a:endParaRPr>
                    </a:p>
                    <a:p>
                      <a:pPr indent="0" fontAlgn="auto">
                        <a:lnSpc>
                          <a:spcPct val="140000"/>
                        </a:lnSpc>
                        <a:spcBef>
                          <a:spcPts val="0"/>
                        </a:spcBef>
                        <a:spcAft>
                          <a:spcPts val="0"/>
                        </a:spcAft>
                        <a:buFont typeface="Wingdings" panose="05000000000000000000" charset="0"/>
                        <a:buNone/>
                      </a:pPr>
                      <a:r>
                        <a:rPr lang="zh-CN" altLang="en-US" sz="1000" kern="0" dirty="0">
                          <a:solidFill>
                            <a:schemeClr val="tx1"/>
                          </a:solidFill>
                          <a:highlight>
                            <a:srgbClr val="000000">
                              <a:alpha val="0"/>
                            </a:srgbClr>
                          </a:highlight>
                          <a:latin typeface="+mn-ea"/>
                          <a:ea typeface="+mn-ea"/>
                          <a:cs typeface="微软雅黑" panose="020B0503020204020204" charset="-122"/>
                          <a:sym typeface="+mn-ea"/>
                        </a:rPr>
                        <a:t>(2)起重机械的基础承载力和变形不满足设计要求，或未校核其运行路线及作业位置承载能力。</a:t>
                      </a:r>
                      <a:endParaRPr lang="zh-CN" altLang="en-US" sz="1000" kern="0" dirty="0">
                        <a:solidFill>
                          <a:schemeClr val="tx1"/>
                        </a:solidFill>
                        <a:highlight>
                          <a:srgbClr val="000000">
                            <a:alpha val="0"/>
                          </a:srgbClr>
                        </a:highlight>
                        <a:latin typeface="+mn-ea"/>
                        <a:ea typeface="+mn-ea"/>
                        <a:cs typeface="微软雅黑" panose="020B0503020204020204" charset="-122"/>
                        <a:sym typeface="+mn-ea"/>
                      </a:endParaRPr>
                    </a:p>
                    <a:p>
                      <a:pPr indent="0" fontAlgn="auto">
                        <a:lnSpc>
                          <a:spcPct val="140000"/>
                        </a:lnSpc>
                        <a:spcBef>
                          <a:spcPts val="0"/>
                        </a:spcBef>
                        <a:spcAft>
                          <a:spcPts val="0"/>
                        </a:spcAft>
                        <a:buFont typeface="Wingdings" panose="05000000000000000000" charset="0"/>
                        <a:buNone/>
                      </a:pPr>
                      <a:r>
                        <a:rPr lang="zh-CN" altLang="en-US" sz="1000" kern="0" dirty="0">
                          <a:solidFill>
                            <a:schemeClr val="tx1"/>
                          </a:solidFill>
                          <a:highlight>
                            <a:srgbClr val="000000">
                              <a:alpha val="0"/>
                            </a:srgbClr>
                          </a:highlight>
                          <a:latin typeface="+mn-ea"/>
                          <a:ea typeface="+mn-ea"/>
                          <a:cs typeface="微软雅黑" panose="020B0503020204020204" charset="-122"/>
                          <a:sym typeface="+mn-ea"/>
                        </a:rPr>
                        <a:t>(3)起重机械安装、拆卸、爬升(降)以及附着前未对结构件、爬升装置和附着装置以及高强度螺栓、销轴、定位板等连接件及安全装置进行检查。</a:t>
                      </a:r>
                      <a:endParaRPr lang="zh-CN" altLang="en-US" sz="1000" kern="0" dirty="0">
                        <a:solidFill>
                          <a:schemeClr val="tx1"/>
                        </a:solidFill>
                        <a:highlight>
                          <a:srgbClr val="000000">
                            <a:alpha val="0"/>
                          </a:srgbClr>
                        </a:highlight>
                        <a:latin typeface="+mn-ea"/>
                        <a:ea typeface="+mn-ea"/>
                        <a:cs typeface="微软雅黑" panose="020B0503020204020204" charset="-122"/>
                        <a:sym typeface="+mn-ea"/>
                      </a:endParaRPr>
                    </a:p>
                    <a:p>
                      <a:pPr indent="0" fontAlgn="auto">
                        <a:lnSpc>
                          <a:spcPct val="140000"/>
                        </a:lnSpc>
                        <a:spcBef>
                          <a:spcPts val="0"/>
                        </a:spcBef>
                        <a:spcAft>
                          <a:spcPts val="0"/>
                        </a:spcAft>
                        <a:buFont typeface="Wingdings" panose="05000000000000000000" charset="0"/>
                        <a:buNone/>
                      </a:pPr>
                      <a:r>
                        <a:rPr lang="zh-CN" altLang="en-US" sz="1000" kern="0" dirty="0">
                          <a:solidFill>
                            <a:schemeClr val="tx1"/>
                          </a:solidFill>
                          <a:highlight>
                            <a:srgbClr val="000000">
                              <a:alpha val="0"/>
                            </a:srgbClr>
                          </a:highlight>
                          <a:latin typeface="+mn-ea"/>
                          <a:ea typeface="+mn-ea"/>
                          <a:cs typeface="微软雅黑" panose="020B0503020204020204" charset="-122"/>
                          <a:sym typeface="+mn-ea"/>
                        </a:rPr>
                        <a:t>(4)起重机械的起重量限制器、起重力矩限制器、防坠安全器等安全装置不齐全、失效或者被违规拆除、破坏。</a:t>
                      </a:r>
                      <a:endParaRPr lang="zh-CN" altLang="en-US" sz="1000" kern="0" dirty="0">
                        <a:solidFill>
                          <a:schemeClr val="tx1"/>
                        </a:solidFill>
                        <a:highlight>
                          <a:srgbClr val="000000">
                            <a:alpha val="0"/>
                          </a:srgbClr>
                        </a:highlight>
                        <a:latin typeface="+mn-ea"/>
                        <a:ea typeface="+mn-ea"/>
                        <a:cs typeface="微软雅黑" panose="020B0503020204020204" charset="-122"/>
                        <a:sym typeface="+mn-ea"/>
                      </a:endParaRPr>
                    </a:p>
                    <a:p>
                      <a:pPr indent="0" fontAlgn="auto">
                        <a:lnSpc>
                          <a:spcPct val="140000"/>
                        </a:lnSpc>
                        <a:spcBef>
                          <a:spcPts val="0"/>
                        </a:spcBef>
                        <a:spcAft>
                          <a:spcPts val="0"/>
                        </a:spcAft>
                        <a:buFont typeface="Wingdings" panose="05000000000000000000" charset="0"/>
                        <a:buNone/>
                      </a:pPr>
                      <a:r>
                        <a:rPr lang="zh-CN" altLang="en-US" sz="1000" kern="0" dirty="0">
                          <a:solidFill>
                            <a:schemeClr val="tx1"/>
                          </a:solidFill>
                          <a:highlight>
                            <a:srgbClr val="000000">
                              <a:alpha val="0"/>
                            </a:srgbClr>
                          </a:highlight>
                          <a:latin typeface="+mn-ea"/>
                          <a:ea typeface="+mn-ea"/>
                          <a:cs typeface="微软雅黑" panose="020B0503020204020204" charset="-122"/>
                          <a:sym typeface="+mn-ea"/>
                        </a:rPr>
                        <a:t>(5)起重机械主要受力构件有可见裂纹、严重锈蚀(断面腐蚀达设计厚度10%以上)、塑性变形、开焊，或其连接螺栓、销轴缺失或失效。</a:t>
                      </a:r>
                      <a:endParaRPr lang="zh-CN" altLang="en-US" sz="1000" kern="0" dirty="0">
                        <a:solidFill>
                          <a:schemeClr val="tx1"/>
                        </a:solidFill>
                        <a:highlight>
                          <a:srgbClr val="000000">
                            <a:alpha val="0"/>
                          </a:srgbClr>
                        </a:highlight>
                        <a:latin typeface="+mn-ea"/>
                        <a:ea typeface="+mn-ea"/>
                        <a:cs typeface="微软雅黑" panose="020B0503020204020204" charset="-122"/>
                        <a:sym typeface="+mn-ea"/>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r>
            </a:tbl>
          </a:graphicData>
        </a:graphic>
      </p:graphicFrame>
      <p:grpSp>
        <p:nvGrpSpPr>
          <p:cNvPr id="14" name="组合 13" descr="7b0a202020202274657874626f78223a2022220a7d0a"/>
          <p:cNvGrpSpPr/>
          <p:nvPr>
            <p:custDataLst>
              <p:tags r:id="rId2"/>
            </p:custDataLst>
          </p:nvPr>
        </p:nvGrpSpPr>
        <p:grpSpPr>
          <a:xfrm>
            <a:off x="328037" y="3722842"/>
            <a:ext cx="6055995" cy="1434350"/>
            <a:chOff x="5703" y="3101"/>
            <a:chExt cx="8104" cy="4418"/>
          </a:xfrm>
        </p:grpSpPr>
        <p:sp>
          <p:nvSpPr>
            <p:cNvPr id="44" name="矩形 43"/>
            <p:cNvSpPr/>
            <p:nvPr/>
          </p:nvSpPr>
          <p:spPr>
            <a:xfrm>
              <a:off x="5703" y="3621"/>
              <a:ext cx="8104" cy="3767"/>
            </a:xfrm>
            <a:prstGeom prst="rect">
              <a:avLst/>
            </a:prstGeom>
            <a:noFill/>
            <a:ln w="19050">
              <a:solidFill>
                <a:srgbClr val="508EEA"/>
              </a:solidFill>
            </a:ln>
            <a:extLst>
              <a:ext uri="{909E8E84-426E-40DD-AFC4-6F175D3DCCD1}">
                <a14:hiddenFill xmlns:a14="http://schemas.microsoft.com/office/drawing/2010/main">
                  <a:solidFill>
                    <a:srgbClr val="FFFDF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normAutofit/>
            </a:bodyPr>
            <a:lstStyle/>
            <a:p>
              <a:pPr algn="ctr"/>
              <a:endParaRPr lang="zh-CN" altLang="en-US" dirty="0">
                <a:latin typeface="微软雅黑" panose="020B0503020204020204" charset="-122"/>
              </a:endParaRPr>
            </a:p>
          </p:txBody>
        </p:sp>
        <p:sp>
          <p:nvSpPr>
            <p:cNvPr id="131" name="矩形 130"/>
            <p:cNvSpPr/>
            <p:nvPr/>
          </p:nvSpPr>
          <p:spPr>
            <a:xfrm>
              <a:off x="11714" y="7259"/>
              <a:ext cx="1825" cy="26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dist"/>
              <a:r>
                <a:rPr lang="en-US" altLang="zh-CN" sz="1200" b="1" dirty="0">
                  <a:solidFill>
                    <a:srgbClr val="508EEA"/>
                  </a:solidFill>
                  <a:latin typeface="微软雅黑" panose="020B0503020204020204" charset="-122"/>
                </a:rPr>
                <a:t>+++++</a:t>
              </a:r>
              <a:endParaRPr lang="en-US" altLang="zh-CN" sz="1200" b="1" dirty="0">
                <a:solidFill>
                  <a:srgbClr val="508EEA"/>
                </a:solidFill>
                <a:latin typeface="微软雅黑" panose="020B0503020204020204" charset="-122"/>
              </a:endParaRPr>
            </a:p>
          </p:txBody>
        </p:sp>
        <p:sp>
          <p:nvSpPr>
            <p:cNvPr id="15" name="文本框 14"/>
            <p:cNvSpPr txBox="1"/>
            <p:nvPr>
              <p:custDataLst>
                <p:tags r:id="rId3"/>
              </p:custDataLst>
            </p:nvPr>
          </p:nvSpPr>
          <p:spPr>
            <a:xfrm>
              <a:off x="5795" y="3101"/>
              <a:ext cx="7897" cy="3864"/>
            </a:xfrm>
            <a:prstGeom prst="rect">
              <a:avLst/>
            </a:prstGeom>
            <a:noFill/>
          </p:spPr>
          <p:txBody>
            <a:bodyPr wrap="square" rtlCol="0" anchor="ctr" anchorCtr="0"/>
            <a:lstStyle/>
            <a:p>
              <a:pPr fontAlgn="auto">
                <a:lnSpc>
                  <a:spcPct val="150000"/>
                </a:lnSpc>
                <a:spcBef>
                  <a:spcPts val="0"/>
                </a:spcBef>
                <a:spcAft>
                  <a:spcPts val="0"/>
                </a:spcAft>
                <a:buClrTx/>
                <a:buSzTx/>
                <a:buFont typeface="Wingdings" panose="05000000000000000000" charset="0"/>
                <a:buNone/>
              </a:pPr>
              <a:endParaRPr lang="zh-CN" altLang="en-US" sz="1200" kern="0" dirty="0">
                <a:latin typeface="微软雅黑" panose="020B0503020204020204" charset="-122"/>
                <a:ea typeface="微软雅黑" panose="020B0503020204020204" charset="-122"/>
                <a:cs typeface="微软雅黑" panose="020B0503020204020204" charset="-122"/>
                <a:sym typeface="+mn-ea"/>
              </a:endParaRPr>
            </a:p>
            <a:p>
              <a:pPr fontAlgn="auto">
                <a:lnSpc>
                  <a:spcPct val="150000"/>
                </a:lnSpc>
                <a:spcBef>
                  <a:spcPts val="0"/>
                </a:spcBef>
                <a:spcAft>
                  <a:spcPts val="0"/>
                </a:spcAft>
                <a:buClrTx/>
                <a:buSzTx/>
                <a:buFont typeface="Wingdings" panose="05000000000000000000" charset="0"/>
                <a:buNone/>
              </a:pPr>
              <a:r>
                <a:rPr lang="zh-CN" altLang="en-US" sz="1200" kern="0" dirty="0">
                  <a:latin typeface="微软雅黑" panose="020B0503020204020204" charset="-122"/>
                  <a:ea typeface="微软雅黑" panose="020B0503020204020204" charset="-122"/>
                  <a:cs typeface="微软雅黑" panose="020B0503020204020204" charset="-122"/>
                  <a:sym typeface="+mn-ea"/>
                </a:rPr>
                <a:t>（左图）塔吊倾覆事故，某工地塔吊标准节焊缝开裂，导致整机折断倾覆，司机死亡。</a:t>
              </a:r>
              <a:endParaRPr lang="zh-CN" altLang="en-US" sz="1200" kern="0" dirty="0">
                <a:latin typeface="微软雅黑" panose="020B0503020204020204" charset="-122"/>
                <a:ea typeface="微软雅黑" panose="020B0503020204020204" charset="-122"/>
                <a:cs typeface="微软雅黑" panose="020B0503020204020204" charset="-122"/>
                <a:sym typeface="+mn-ea"/>
              </a:endParaRPr>
            </a:p>
            <a:p>
              <a:pPr fontAlgn="auto">
                <a:lnSpc>
                  <a:spcPct val="150000"/>
                </a:lnSpc>
                <a:spcBef>
                  <a:spcPts val="0"/>
                </a:spcBef>
                <a:spcAft>
                  <a:spcPts val="0"/>
                </a:spcAft>
                <a:buClrTx/>
                <a:buSzTx/>
                <a:buFont typeface="Wingdings" panose="05000000000000000000" charset="0"/>
                <a:buNone/>
              </a:pPr>
              <a:r>
                <a:rPr lang="zh-CN" altLang="en-US" sz="1200" dirty="0">
                  <a:solidFill>
                    <a:schemeClr val="tx1"/>
                  </a:solidFill>
                  <a:latin typeface="微软雅黑" panose="020B0503020204020204" charset="-122"/>
                  <a:ea typeface="微软雅黑" panose="020B0503020204020204" charset="-122"/>
                  <a:sym typeface="+mn-ea"/>
                </a:rPr>
                <a:t>（右图）</a:t>
              </a:r>
              <a:r>
                <a:rPr lang="zh-CN" altLang="en-US" sz="1200" kern="0" dirty="0">
                  <a:latin typeface="微软雅黑" panose="020B0503020204020204" charset="-122"/>
                  <a:ea typeface="微软雅黑" panose="020B0503020204020204" charset="-122"/>
                  <a:cs typeface="微软雅黑" panose="020B0503020204020204" charset="-122"/>
                  <a:sym typeface="+mn-ea"/>
                </a:rPr>
                <a:t>施工升降机坠笼事故（6人死亡）， 标准节连接螺栓缺失，未安装有效的上限位装置，导致吊笼冒顶后侧翻坠落。</a:t>
              </a:r>
              <a:endParaRPr lang="zh-CN" altLang="en-US" sz="1400" b="1" kern="0" dirty="0">
                <a:solidFill>
                  <a:schemeClr val="tx1"/>
                </a:solidFill>
                <a:effectLst>
                  <a:outerShdw blurRad="38100" dist="38100" dir="2700000" algn="tl">
                    <a:srgbClr val="000000">
                      <a:alpha val="43137"/>
                    </a:srgbClr>
                  </a:outerShdw>
                </a:effectLst>
                <a:highlight>
                  <a:srgbClr val="FFFF00"/>
                </a:highlight>
                <a:latin typeface="微软雅黑" panose="020B0503020204020204" charset="-122"/>
                <a:ea typeface="微软雅黑" panose="020B0503020204020204" charset="-122"/>
                <a:cs typeface="微软雅黑" panose="020B0503020204020204" charset="-122"/>
                <a:sym typeface="+mn-ea"/>
              </a:endParaRPr>
            </a:p>
          </p:txBody>
        </p:sp>
      </p:grpSp>
      <p:pic>
        <p:nvPicPr>
          <p:cNvPr id="10" name="图片 9"/>
          <p:cNvPicPr>
            <a:picLocks noChangeAspect="1"/>
          </p:cNvPicPr>
          <p:nvPr>
            <p:custDataLst>
              <p:tags r:id="rId4"/>
            </p:custDataLst>
          </p:nvPr>
        </p:nvPicPr>
        <p:blipFill>
          <a:blip r:embed="rId5"/>
          <a:stretch>
            <a:fillRect/>
          </a:stretch>
        </p:blipFill>
        <p:spPr>
          <a:xfrm>
            <a:off x="6605990" y="3719562"/>
            <a:ext cx="2425700" cy="1580294"/>
          </a:xfrm>
          <a:prstGeom prst="rect">
            <a:avLst/>
          </a:prstGeom>
        </p:spPr>
      </p:pic>
      <p:pic>
        <p:nvPicPr>
          <p:cNvPr id="11" name="图片 10"/>
          <p:cNvPicPr>
            <a:picLocks noChangeAspect="1"/>
          </p:cNvPicPr>
          <p:nvPr>
            <p:custDataLst>
              <p:tags r:id="rId6"/>
            </p:custDataLst>
          </p:nvPr>
        </p:nvPicPr>
        <p:blipFill>
          <a:blip r:embed="rId7"/>
          <a:stretch>
            <a:fillRect/>
          </a:stretch>
        </p:blipFill>
        <p:spPr>
          <a:xfrm>
            <a:off x="9278705" y="3722300"/>
            <a:ext cx="2385060" cy="1631557"/>
          </a:xfrm>
          <a:prstGeom prst="rect">
            <a:avLst/>
          </a:prstGeom>
        </p:spPr>
      </p:pic>
      <p:sp>
        <p:nvSpPr>
          <p:cNvPr id="7" name="TextBox 8"/>
          <p:cNvSpPr txBox="1"/>
          <p:nvPr/>
        </p:nvSpPr>
        <p:spPr>
          <a:xfrm>
            <a:off x="168335" y="271329"/>
            <a:ext cx="7002524" cy="52197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charset="-122"/>
                <a:ea typeface="微软雅黑" panose="020B0503020204020204" charset="-122"/>
              </a:rPr>
              <a:t>二、</a:t>
            </a:r>
            <a:r>
              <a:rPr lang="zh-CN" altLang="en-US" sz="2800" b="1" dirty="0">
                <a:latin typeface="微软雅黑" panose="020B0503020204020204" charset="-122"/>
                <a:ea typeface="微软雅黑" panose="020B0503020204020204" charset="-122"/>
                <a:sym typeface="+mn-ea"/>
              </a:rPr>
              <a:t>网公司事故隐患判定标准宣贯学习</a:t>
            </a:r>
            <a:endParaRPr lang="zh-CN" altLang="en-US" sz="2800" b="1" dirty="0">
              <a:latin typeface="微软雅黑" panose="020B0503020204020204" charset="-122"/>
              <a:ea typeface="微软雅黑" panose="020B0503020204020204" charset="-122"/>
            </a:endParaRPr>
          </a:p>
        </p:txBody>
      </p:sp>
      <p:sp>
        <p:nvSpPr>
          <p:cNvPr id="9" name="文本框 8"/>
          <p:cNvSpPr txBox="1"/>
          <p:nvPr/>
        </p:nvSpPr>
        <p:spPr>
          <a:xfrm>
            <a:off x="335280" y="5123816"/>
            <a:ext cx="11663680" cy="78504"/>
          </a:xfrm>
          <a:prstGeom prst="rect">
            <a:avLst/>
          </a:prstGeom>
          <a:noFill/>
        </p:spPr>
        <p:txBody>
          <a:bodyPr wrap="square" rtlCol="0" anchor="t">
            <a:noAutofit/>
          </a:bodyPr>
          <a:lstStyle/>
          <a:p>
            <a:pPr fontAlgn="auto">
              <a:lnSpc>
                <a:spcPct val="150000"/>
              </a:lnSpc>
              <a:spcBef>
                <a:spcPts val="0"/>
              </a:spcBef>
              <a:spcAft>
                <a:spcPts val="0"/>
              </a:spcAft>
            </a:pPr>
            <a:endParaRPr lang="zh-CN" altLang="en-US" sz="1600" dirty="0">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sym typeface="+mn-ea"/>
            </a:endParaRPr>
          </a:p>
          <a:p>
            <a:pPr indent="0" fontAlgn="auto">
              <a:lnSpc>
                <a:spcPct val="150000"/>
              </a:lnSpc>
              <a:spcBef>
                <a:spcPts val="0"/>
              </a:spcBef>
              <a:spcAft>
                <a:spcPts val="0"/>
              </a:spcAft>
              <a:buFont typeface="Arial" panose="020B0604020202020204" pitchFamily="34" charset="0"/>
              <a:buNone/>
            </a:pPr>
            <a:endParaRPr lang="zh-CN" altLang="en-US" sz="1600" dirty="0">
              <a:solidFill>
                <a:schemeClr val="tx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3" name="文本框 2"/>
          <p:cNvSpPr txBox="1"/>
          <p:nvPr/>
        </p:nvSpPr>
        <p:spPr>
          <a:xfrm>
            <a:off x="-24680" y="969010"/>
            <a:ext cx="5040000" cy="448945"/>
          </a:xfrm>
          <a:prstGeom prst="rect">
            <a:avLst/>
          </a:prstGeom>
          <a:gradFill>
            <a:gsLst>
              <a:gs pos="66000">
                <a:srgbClr val="054CA4"/>
              </a:gs>
              <a:gs pos="100000">
                <a:srgbClr val="0070C0">
                  <a:alpha val="0"/>
                </a:srgbClr>
              </a:gs>
            </a:gsLst>
            <a:lin ang="0" scaled="0"/>
          </a:gradFill>
          <a:ln w="12700" cap="flat" cmpd="sng" algn="ctr">
            <a:noFill/>
            <a:prstDash val="solid"/>
            <a:miter lim="800000"/>
          </a:ln>
          <a:effectLst/>
        </p:spPr>
        <p:txBody>
          <a:bodyPr rtlCol="0" anchor="ctr"/>
          <a:lstStyle>
            <a:defPPr>
              <a:defRPr lang="zh-CN"/>
            </a:defPPr>
            <a:lvl1pPr>
              <a:defRPr sz="2000" b="1"/>
            </a:lvl1pPr>
            <a:lvl2pPr>
              <a:defRPr>
                <a:solidFill>
                  <a:sysClr val="window" lastClr="FFFFFF"/>
                </a:solidFill>
              </a:defRPr>
            </a:lvl2pPr>
            <a:lvl3pPr>
              <a:defRPr>
                <a:solidFill>
                  <a:sysClr val="window" lastClr="FFFFFF"/>
                </a:solidFill>
              </a:defRPr>
            </a:lvl3pPr>
            <a:lvl4pPr>
              <a:defRPr>
                <a:solidFill>
                  <a:sysClr val="window" lastClr="FFFFFF"/>
                </a:solidFill>
              </a:defRPr>
            </a:lvl4pPr>
            <a:lvl5pPr>
              <a:defRPr>
                <a:solidFill>
                  <a:sysClr val="window" lastClr="FFFFFF"/>
                </a:solidFill>
              </a:defRPr>
            </a:lvl5pPr>
            <a:lvl6pPr>
              <a:defRPr>
                <a:solidFill>
                  <a:sysClr val="window" lastClr="FFFFFF"/>
                </a:solidFill>
              </a:defRPr>
            </a:lvl6pPr>
            <a:lvl7pPr>
              <a:defRPr>
                <a:solidFill>
                  <a:sysClr val="window" lastClr="FFFFFF"/>
                </a:solidFill>
              </a:defRPr>
            </a:lvl7pPr>
            <a:lvl8pPr>
              <a:defRPr>
                <a:solidFill>
                  <a:sysClr val="window" lastClr="FFFFFF"/>
                </a:solidFill>
              </a:defRPr>
            </a:lvl8pPr>
            <a:lvl9pPr>
              <a:defRPr>
                <a:solidFill>
                  <a:sysClr val="window" lastClr="FFFFFF"/>
                </a:solidFill>
              </a:defRPr>
            </a:lvl9pPr>
          </a:lstStyle>
          <a:p>
            <a:pPr algn="l" fontAlgn="auto">
              <a:buClrTx/>
              <a:buSzTx/>
              <a:buFontTx/>
              <a:defRPr/>
            </a:pPr>
            <a:r>
              <a:rPr lang="zh-CN" altLang="en-US" dirty="0">
                <a:solidFill>
                  <a:schemeClr val="bg1"/>
                </a:solidFill>
                <a:latin typeface="微软雅黑" panose="020B0503020204020204" charset="-122"/>
                <a:ea typeface="微软雅黑" panose="020B0503020204020204" charset="-122"/>
                <a:sym typeface="+mn-ea"/>
              </a:rPr>
              <a:t> （一）人身安全隐患</a:t>
            </a:r>
            <a:endParaRPr lang="zh-CN" altLang="en-US" dirty="0">
              <a:solidFill>
                <a:schemeClr val="bg1"/>
              </a:solidFill>
              <a:latin typeface="微软雅黑" panose="020B0503020204020204" charset="-122"/>
              <a:ea typeface="微软雅黑" panose="020B0503020204020204" charset="-122"/>
              <a:sym typeface="+mn-ea"/>
            </a:endParaRPr>
          </a:p>
        </p:txBody>
      </p:sp>
      <p:sp>
        <p:nvSpPr>
          <p:cNvPr id="13" name="文本框 12"/>
          <p:cNvSpPr txBox="1"/>
          <p:nvPr/>
        </p:nvSpPr>
        <p:spPr>
          <a:xfrm>
            <a:off x="307089" y="5216585"/>
            <a:ext cx="11521232" cy="1326517"/>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600" b="1" i="0" u="none" strike="noStrike" kern="0" cap="none" spc="0" normalizeH="0" baseline="0" noProof="0" dirty="0">
                <a:ln>
                  <a:noFill/>
                </a:ln>
                <a:solidFill>
                  <a:prstClr val="white"/>
                </a:solidFill>
                <a:highlight>
                  <a:srgbClr val="0070C0"/>
                </a:highlight>
                <a:uLnTx/>
                <a:uFillTx/>
                <a:latin typeface="微软雅黑" panose="020B0503020204020204" charset="-122"/>
                <a:ea typeface="微软雅黑" panose="020B0503020204020204" charset="-122"/>
                <a:cs typeface="+mn-cs"/>
                <a:sym typeface="+mn-ea"/>
              </a:rPr>
              <a:t> 工作指导 </a:t>
            </a:r>
            <a:r>
              <a:rPr kumimoji="0" lang="en-US" altLang="zh-CN" sz="1600" b="1" i="0" u="none" strike="noStrike" kern="0" cap="none" spc="0" normalizeH="0" baseline="0" noProof="0" dirty="0">
                <a:ln>
                  <a:noFill/>
                </a:ln>
                <a:solidFill>
                  <a:prstClr val="white"/>
                </a:solidFill>
                <a:highlight>
                  <a:srgbClr val="0070C0"/>
                </a:highlight>
                <a:uLnTx/>
                <a:uFillTx/>
                <a:latin typeface="微软雅黑" panose="020B0503020204020204" charset="-122"/>
                <a:ea typeface="微软雅黑" panose="020B0503020204020204" charset="-122"/>
                <a:cs typeface="+mn-cs"/>
                <a:sym typeface="+mn-ea"/>
              </a:rPr>
              <a:t>:</a:t>
            </a:r>
            <a:endParaRPr kumimoji="0" lang="en-US" altLang="zh-CN" sz="1600" b="1" i="0" u="none" strike="noStrike" kern="0" cap="none" spc="0" normalizeH="0" baseline="0" noProof="0" dirty="0">
              <a:ln>
                <a:noFill/>
              </a:ln>
              <a:solidFill>
                <a:prstClr val="white"/>
              </a:solidFill>
              <a:highlight>
                <a:srgbClr val="0070C0"/>
              </a:highlight>
              <a:uLnTx/>
              <a:uFillTx/>
              <a:latin typeface="微软雅黑" panose="020B0503020204020204" charset="-122"/>
              <a:ea typeface="微软雅黑" panose="020B0503020204020204" charset="-122"/>
              <a:cs typeface="+mn-cs"/>
              <a:sym typeface="+mn-ea"/>
            </a:endParaRP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defRPr/>
            </a:pPr>
            <a:r>
              <a:rPr kumimoji="0" lang="zh-CN" altLang="en-US" sz="1300" b="0" i="0" strike="noStrike" kern="1200" cap="none" spc="0" normalizeH="0" baseline="0" noProof="0" dirty="0">
                <a:ln>
                  <a:noFill/>
                </a:ln>
                <a:solidFill>
                  <a:prstClr val="black"/>
                </a:solidFill>
                <a:uLnTx/>
                <a:uFillTx/>
                <a:latin typeface="微软雅黑" panose="020B0503020204020204" charset="-122"/>
                <a:ea typeface="微软雅黑" panose="020B0503020204020204" charset="-122"/>
                <a:cs typeface="微软雅黑" panose="020B0503020204020204" charset="-122"/>
                <a:sym typeface="+mn-ea"/>
              </a:rPr>
              <a:t>明确主要受力构件的检查方式与报废标准，为现场设备安全检查提供清晰依据，筑牢起重机械安全防线。</a:t>
            </a:r>
            <a:endParaRPr kumimoji="0" lang="zh-CN" altLang="en-US" sz="1300" b="0" i="0" strike="noStrike" kern="1200" cap="none" spc="0" normalizeH="0" baseline="0" noProof="0" dirty="0">
              <a:ln>
                <a:noFill/>
              </a:ln>
              <a:solidFill>
                <a:prstClr val="black"/>
              </a:solidFill>
              <a:uLnTx/>
              <a:uFillTx/>
              <a:latin typeface="微软雅黑" panose="020B0503020204020204" charset="-122"/>
              <a:ea typeface="微软雅黑" panose="020B0503020204020204" charset="-122"/>
              <a:cs typeface="微软雅黑" panose="020B0503020204020204" charset="-122"/>
              <a:sym typeface="+mn-ea"/>
            </a:endParaRP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defRPr/>
            </a:pPr>
            <a:r>
              <a:rPr kumimoji="0" lang="zh-CN" altLang="en-US" sz="1300" b="0" i="0" strike="noStrike" kern="1200" cap="none" spc="0" normalizeH="0" baseline="0" noProof="0" dirty="0">
                <a:ln>
                  <a:noFill/>
                </a:ln>
                <a:solidFill>
                  <a:prstClr val="black"/>
                </a:solidFill>
                <a:uLnTx/>
                <a:uFillTx/>
                <a:latin typeface="微软雅黑" panose="020B0503020204020204" charset="-122"/>
                <a:ea typeface="微软雅黑" panose="020B0503020204020204" charset="-122"/>
                <a:cs typeface="微软雅黑" panose="020B0503020204020204" charset="-122"/>
                <a:sym typeface="+mn-ea"/>
              </a:rPr>
              <a:t>防范塔机碰撞。安全距离不足或防碰撞措施缺失，极易引发剐蹭、碰撞甚至倾覆事故。必须严格执行安全距离规定，保障群塔作业安全。</a:t>
            </a:r>
            <a:endParaRPr kumimoji="0" lang="zh-CN" altLang="en-US" sz="1300" b="0" i="0" strike="noStrike" kern="1200" cap="none" spc="0" normalizeH="0" baseline="0" noProof="0" dirty="0">
              <a:ln>
                <a:noFill/>
              </a:ln>
              <a:solidFill>
                <a:prstClr val="black"/>
              </a:solidFill>
              <a:uLnTx/>
              <a:uFillTx/>
              <a:latin typeface="微软雅黑" panose="020B0503020204020204" charset="-122"/>
              <a:ea typeface="微软雅黑" panose="020B0503020204020204" charset="-122"/>
              <a:cs typeface="微软雅黑" panose="020B0503020204020204" charset="-122"/>
              <a:sym typeface="+mn-ea"/>
            </a:endParaRP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defRPr/>
            </a:pPr>
            <a:r>
              <a:rPr kumimoji="0" lang="zh-CN" altLang="en-US" sz="1300" b="0" i="0" strike="noStrike" kern="1200" cap="none" spc="0" normalizeH="0" baseline="0" noProof="0" dirty="0">
                <a:ln>
                  <a:noFill/>
                </a:ln>
                <a:solidFill>
                  <a:prstClr val="black"/>
                </a:solidFill>
                <a:uLnTx/>
                <a:uFillTx/>
                <a:latin typeface="微软雅黑" panose="020B0503020204020204" charset="-122"/>
                <a:ea typeface="微软雅黑" panose="020B0503020204020204" charset="-122"/>
                <a:cs typeface="微软雅黑" panose="020B0503020204020204" charset="-122"/>
                <a:sym typeface="+mn-ea"/>
              </a:rPr>
              <a:t>压实特种设备安全使用责任。严禁使用报废设备，确保安全装置齐全有效，从源头防范起重、提升类重大安全事故。</a:t>
            </a:r>
            <a:endParaRPr kumimoji="0" lang="zh-CN" altLang="en-US" sz="1300" b="0" i="0" strike="noStrike" kern="1200" cap="none" spc="0" normalizeH="0" baseline="0" noProof="0" dirty="0">
              <a:ln>
                <a:noFill/>
              </a:ln>
              <a:solidFill>
                <a:prstClr val="black"/>
              </a:solidFill>
              <a:uLnTx/>
              <a:uFillTx/>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4294967295"/>
          </p:nvPr>
        </p:nvSpPr>
        <p:spPr>
          <a:xfrm>
            <a:off x="9997440" y="6499860"/>
            <a:ext cx="2133600" cy="365125"/>
          </a:xfrm>
        </p:spPr>
        <p:txBody>
          <a:bodyPr/>
          <a:lstStyle/>
          <a:p>
            <a:fld id="{A10E9369-8E4E-4DE7-B129-F0280ABC27D7}" type="slidenum">
              <a:rPr lang="zh-CN" altLang="en-US" smtClean="0"/>
            </a:fld>
            <a:endParaRPr lang="zh-CN" altLang="en-US" dirty="0"/>
          </a:p>
        </p:txBody>
      </p:sp>
      <p:sp>
        <p:nvSpPr>
          <p:cNvPr id="4" name="文本框 3"/>
          <p:cNvSpPr txBox="1"/>
          <p:nvPr/>
        </p:nvSpPr>
        <p:spPr>
          <a:xfrm>
            <a:off x="237723" y="1475105"/>
            <a:ext cx="11362055" cy="5000625"/>
          </a:xfrm>
          <a:prstGeom prst="rect">
            <a:avLst/>
          </a:prstGeom>
          <a:noFill/>
        </p:spPr>
        <p:txBody>
          <a:bodyPr wrap="square" rtlCol="0" anchor="t">
            <a:noAutofit/>
          </a:bodyPr>
          <a:lstStyle/>
          <a:p>
            <a:pPr indent="0" fontAlgn="auto">
              <a:lnSpc>
                <a:spcPct val="150000"/>
              </a:lnSpc>
              <a:spcBef>
                <a:spcPts val="0"/>
              </a:spcBef>
              <a:spcAft>
                <a:spcPts val="0"/>
              </a:spcAft>
              <a:buFont typeface="Wingdings" panose="05000000000000000000" charset="0"/>
              <a:buNone/>
            </a:pPr>
            <a:endParaRPr lang="zh-CN" altLang="en-US" sz="1400" kern="0" dirty="0">
              <a:latin typeface="微软雅黑" panose="020B0503020204020204" charset="-122"/>
              <a:ea typeface="微软雅黑" panose="020B0503020204020204" charset="-122"/>
              <a:cs typeface="微软雅黑" panose="020B0503020204020204" charset="-122"/>
              <a:sym typeface="+mn-ea"/>
            </a:endParaRPr>
          </a:p>
          <a:p>
            <a:pPr indent="0" fontAlgn="auto">
              <a:lnSpc>
                <a:spcPct val="150000"/>
              </a:lnSpc>
              <a:spcBef>
                <a:spcPts val="0"/>
              </a:spcBef>
              <a:spcAft>
                <a:spcPts val="0"/>
              </a:spcAft>
              <a:buFont typeface="Wingdings" panose="05000000000000000000" charset="0"/>
              <a:buNone/>
            </a:pPr>
            <a:endParaRPr lang="zh-CN" altLang="en-US" sz="1400" kern="0" dirty="0">
              <a:latin typeface="微软雅黑" panose="020B0503020204020204" charset="-122"/>
              <a:ea typeface="微软雅黑" panose="020B0503020204020204" charset="-122"/>
              <a:cs typeface="微软雅黑" panose="020B0503020204020204" charset="-122"/>
              <a:sym typeface="+mn-ea"/>
            </a:endParaRPr>
          </a:p>
          <a:p>
            <a:pPr indent="0" fontAlgn="auto">
              <a:lnSpc>
                <a:spcPct val="150000"/>
              </a:lnSpc>
              <a:spcBef>
                <a:spcPts val="0"/>
              </a:spcBef>
              <a:spcAft>
                <a:spcPts val="0"/>
              </a:spcAft>
              <a:buFont typeface="Wingdings" panose="05000000000000000000" charset="0"/>
              <a:buNone/>
            </a:pPr>
            <a:endParaRPr lang="zh-CN" altLang="en-US" sz="1400" kern="0" dirty="0">
              <a:latin typeface="微软雅黑" panose="020B0503020204020204" charset="-122"/>
              <a:ea typeface="微软雅黑" panose="020B0503020204020204" charset="-122"/>
              <a:cs typeface="微软雅黑" panose="020B0503020204020204" charset="-122"/>
              <a:sym typeface="+mn-ea"/>
            </a:endParaRPr>
          </a:p>
          <a:p>
            <a:pPr indent="0" fontAlgn="auto">
              <a:lnSpc>
                <a:spcPct val="150000"/>
              </a:lnSpc>
              <a:spcBef>
                <a:spcPts val="0"/>
              </a:spcBef>
              <a:spcAft>
                <a:spcPts val="0"/>
              </a:spcAft>
              <a:buFont typeface="Wingdings" panose="05000000000000000000" charset="0"/>
              <a:buNone/>
            </a:pPr>
            <a:endParaRPr lang="zh-CN" altLang="en-US" sz="1400" kern="0" dirty="0">
              <a:latin typeface="微软雅黑" panose="020B0503020204020204" charset="-122"/>
              <a:ea typeface="微软雅黑" panose="020B0503020204020204" charset="-122"/>
              <a:cs typeface="微软雅黑" panose="020B0503020204020204" charset="-122"/>
              <a:sym typeface="+mn-ea"/>
            </a:endParaRPr>
          </a:p>
          <a:p>
            <a:pPr indent="0" fontAlgn="auto">
              <a:lnSpc>
                <a:spcPct val="150000"/>
              </a:lnSpc>
              <a:spcBef>
                <a:spcPts val="0"/>
              </a:spcBef>
              <a:spcAft>
                <a:spcPts val="0"/>
              </a:spcAft>
              <a:buFont typeface="Wingdings" panose="05000000000000000000" charset="0"/>
              <a:buNone/>
            </a:pPr>
            <a:endParaRPr lang="zh-CN" altLang="en-US" sz="1400" b="1" kern="0" dirty="0">
              <a:solidFill>
                <a:schemeClr val="tx1"/>
              </a:solidFill>
              <a:highlight>
                <a:srgbClr val="C0C0C0"/>
              </a:highlight>
              <a:latin typeface="微软雅黑" panose="020B0503020204020204" charset="-122"/>
              <a:ea typeface="微软雅黑" panose="020B0503020204020204" charset="-122"/>
              <a:cs typeface="微软雅黑" panose="020B0503020204020204" charset="-122"/>
              <a:sym typeface="+mn-ea"/>
            </a:endParaRPr>
          </a:p>
          <a:p>
            <a:pPr fontAlgn="auto">
              <a:lnSpc>
                <a:spcPct val="150000"/>
              </a:lnSpc>
              <a:spcBef>
                <a:spcPts val="800"/>
              </a:spcBef>
              <a:spcAft>
                <a:spcPts val="0"/>
              </a:spcAft>
              <a:buClrTx/>
              <a:buSzTx/>
              <a:buFont typeface="Wingdings" panose="05000000000000000000" charset="0"/>
              <a:buNone/>
            </a:pPr>
            <a:r>
              <a:rPr lang="zh-CN" altLang="en-US" sz="1600" b="1" kern="0" dirty="0">
                <a:solidFill>
                  <a:schemeClr val="bg1"/>
                </a:solidFill>
                <a:highlight>
                  <a:srgbClr val="0070C0"/>
                </a:highlight>
                <a:latin typeface="+mn-ea"/>
                <a:sym typeface="+mn-ea"/>
              </a:rPr>
              <a:t>【案例警示】</a:t>
            </a:r>
            <a:endParaRPr lang="zh-CN" altLang="en-US" sz="1600" b="1" kern="0" dirty="0">
              <a:solidFill>
                <a:schemeClr val="bg1"/>
              </a:solidFill>
              <a:highlight>
                <a:srgbClr val="0070C0"/>
              </a:highlight>
              <a:latin typeface="+mn-ea"/>
              <a:sym typeface="+mn-ea"/>
            </a:endParaRPr>
          </a:p>
          <a:p>
            <a:pPr indent="0" fontAlgn="auto">
              <a:lnSpc>
                <a:spcPct val="150000"/>
              </a:lnSpc>
              <a:spcBef>
                <a:spcPts val="0"/>
              </a:spcBef>
              <a:spcAft>
                <a:spcPts val="0"/>
              </a:spcAft>
              <a:buFont typeface="Wingdings" panose="05000000000000000000" charset="0"/>
              <a:buNone/>
            </a:pPr>
            <a:endParaRPr lang="zh-CN" altLang="en-US" sz="1400" dirty="0">
              <a:effectLst/>
              <a:latin typeface="微软雅黑" panose="020B0503020204020204" charset="-122"/>
              <a:ea typeface="微软雅黑" panose="020B0503020204020204" charset="-122"/>
              <a:cs typeface="微软雅黑" panose="020B0503020204020204" charset="-122"/>
              <a:sym typeface="+mn-ea"/>
            </a:endParaRPr>
          </a:p>
          <a:p>
            <a:pPr indent="0" fontAlgn="auto">
              <a:lnSpc>
                <a:spcPct val="150000"/>
              </a:lnSpc>
              <a:spcBef>
                <a:spcPts val="0"/>
              </a:spcBef>
              <a:spcAft>
                <a:spcPts val="0"/>
              </a:spcAft>
              <a:buFont typeface="Wingdings" panose="05000000000000000000" charset="0"/>
              <a:buNone/>
            </a:pPr>
            <a:endParaRPr lang="zh-CN" altLang="en-US" sz="1400" b="1" kern="0" dirty="0">
              <a:solidFill>
                <a:srgbClr val="FF0000"/>
              </a:solidFill>
              <a:latin typeface="微软雅黑" panose="020B0503020204020204" charset="-122"/>
              <a:ea typeface="微软雅黑" panose="020B0503020204020204" charset="-122"/>
              <a:cs typeface="微软雅黑" panose="020B0503020204020204" charset="-122"/>
              <a:sym typeface="+mn-ea"/>
            </a:endParaRPr>
          </a:p>
          <a:p>
            <a:pPr indent="0" fontAlgn="auto">
              <a:lnSpc>
                <a:spcPct val="150000"/>
              </a:lnSpc>
              <a:spcBef>
                <a:spcPts val="0"/>
              </a:spcBef>
              <a:spcAft>
                <a:spcPts val="0"/>
              </a:spcAft>
              <a:buFont typeface="Wingdings" panose="05000000000000000000" charset="0"/>
              <a:buNone/>
            </a:pPr>
            <a:endParaRPr lang="zh-CN" altLang="en-US" sz="1400" b="1" kern="0" dirty="0">
              <a:solidFill>
                <a:srgbClr val="FF0000"/>
              </a:solidFill>
              <a:effectLst/>
              <a:latin typeface="微软雅黑" panose="020B0503020204020204" charset="-122"/>
              <a:ea typeface="微软雅黑" panose="020B0503020204020204" charset="-122"/>
              <a:cs typeface="微软雅黑" panose="020B0503020204020204" charset="-122"/>
              <a:sym typeface="+mn-ea"/>
            </a:endParaRPr>
          </a:p>
        </p:txBody>
      </p:sp>
      <p:graphicFrame>
        <p:nvGraphicFramePr>
          <p:cNvPr id="5" name="表格 4"/>
          <p:cNvGraphicFramePr>
            <a:graphicFrameLocks noGrp="1"/>
          </p:cNvGraphicFramePr>
          <p:nvPr>
            <p:custDataLst>
              <p:tags r:id="rId1"/>
            </p:custDataLst>
          </p:nvPr>
        </p:nvGraphicFramePr>
        <p:xfrm>
          <a:off x="335360" y="1655149"/>
          <a:ext cx="11521678" cy="1506679"/>
        </p:xfrm>
        <a:graphic>
          <a:graphicData uri="http://schemas.openxmlformats.org/drawingml/2006/table">
            <a:tbl>
              <a:tblPr>
                <a:tableStyleId>{5C22544A-7EE6-4342-B048-85BDC9FD1C3A}</a:tableStyleId>
              </a:tblPr>
              <a:tblGrid>
                <a:gridCol w="2030858"/>
                <a:gridCol w="9490820"/>
              </a:tblGrid>
              <a:tr h="396000">
                <a:tc>
                  <a:txBody>
                    <a:bodyPr/>
                    <a:lstStyle/>
                    <a:p>
                      <a:pPr algn="ctr">
                        <a:buClrTx/>
                        <a:buSzTx/>
                        <a:buFontTx/>
                        <a:buNone/>
                      </a:pPr>
                      <a:r>
                        <a:rPr lang="zh-CN" altLang="en-US" sz="1400" b="1" dirty="0" err="1">
                          <a:ln w="12700" cmpd="sng">
                            <a:noFill/>
                            <a:prstDash val="solid"/>
                          </a:ln>
                          <a:solidFill>
                            <a:schemeClr val="bg1"/>
                          </a:solidFill>
                          <a:latin typeface="+mn-ea"/>
                          <a:ea typeface="+mn-ea"/>
                          <a:cs typeface="宋体" panose="02010600030101010101" pitchFamily="2" charset="-122"/>
                        </a:rPr>
                        <a:t>条款编码</a:t>
                      </a:r>
                      <a:endParaRPr lang="zh-CN" altLang="en-US" sz="1400" b="1" dirty="0" err="1">
                        <a:ln w="12700" cmpd="sng">
                          <a:noFill/>
                          <a:prstDash val="solid"/>
                        </a:ln>
                        <a:solidFill>
                          <a:schemeClr val="bg1"/>
                        </a:solidFill>
                        <a:latin typeface="+mn-ea"/>
                        <a:ea typeface="+mn-ea"/>
                        <a:cs typeface="宋体" panose="02010600030101010101" pitchFamily="2"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c>
                  <a:txBody>
                    <a:bodyPr/>
                    <a:lstStyle/>
                    <a:p>
                      <a:pPr algn="ctr">
                        <a:buClrTx/>
                        <a:buSzTx/>
                        <a:buFontTx/>
                        <a:buNone/>
                      </a:pPr>
                      <a:r>
                        <a:rPr lang="zh-CN" altLang="en-US" sz="1400" b="1" dirty="0">
                          <a:ln w="12700" cmpd="sng">
                            <a:noFill/>
                            <a:prstDash val="solid"/>
                          </a:ln>
                          <a:solidFill>
                            <a:schemeClr val="bg1"/>
                          </a:solidFill>
                          <a:latin typeface="+mn-ea"/>
                          <a:ea typeface="+mn-ea"/>
                          <a:cs typeface="黑体" panose="02010609060101010101" charset="-122"/>
                        </a:rPr>
                        <a:t>判定标准（</a:t>
                      </a:r>
                      <a:r>
                        <a:rPr lang="en-US" altLang="zh-CN" sz="1400" b="1" dirty="0">
                          <a:ln w="12700" cmpd="sng">
                            <a:noFill/>
                            <a:prstDash val="solid"/>
                          </a:ln>
                          <a:solidFill>
                            <a:schemeClr val="bg1"/>
                          </a:solidFill>
                          <a:latin typeface="+mn-ea"/>
                          <a:ea typeface="+mn-ea"/>
                          <a:cs typeface="黑体" panose="02010609060101010101" charset="-122"/>
                        </a:rPr>
                        <a:t>2026</a:t>
                      </a:r>
                      <a:r>
                        <a:rPr lang="zh-CN" altLang="en-US" sz="1400" b="1" dirty="0">
                          <a:ln w="12700" cmpd="sng">
                            <a:noFill/>
                            <a:prstDash val="solid"/>
                          </a:ln>
                          <a:solidFill>
                            <a:schemeClr val="bg1"/>
                          </a:solidFill>
                          <a:latin typeface="+mn-ea"/>
                          <a:ea typeface="+mn-ea"/>
                          <a:cs typeface="黑体" panose="02010609060101010101" charset="-122"/>
                        </a:rPr>
                        <a:t>）条文</a:t>
                      </a:r>
                      <a:endParaRPr lang="zh-CN" altLang="en-US" sz="1400" b="1" dirty="0">
                        <a:ln w="12700" cmpd="sng">
                          <a:noFill/>
                          <a:prstDash val="solid"/>
                        </a:ln>
                        <a:solidFill>
                          <a:schemeClr val="bg1"/>
                        </a:solidFill>
                        <a:latin typeface="+mn-ea"/>
                        <a:ea typeface="+mn-ea"/>
                        <a:cs typeface="黑体" panose="02010609060101010101"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r>
              <a:tr h="902335">
                <a:tc>
                  <a:txBody>
                    <a:bodyPr/>
                    <a:lstStyle/>
                    <a:p>
                      <a:pPr marL="0" indent="0" algn="ctr">
                        <a:spcBef>
                          <a:spcPct val="0"/>
                        </a:spcBef>
                        <a:spcAft>
                          <a:spcPct val="0"/>
                        </a:spcAft>
                        <a:buNone/>
                      </a:pPr>
                      <a:r>
                        <a:rPr lang="en-US" altLang="zh-CN" sz="1400" b="1" kern="0" dirty="0">
                          <a:latin typeface="+mn-ea"/>
                          <a:ea typeface="+mn-ea"/>
                          <a:sym typeface="+mn-ea"/>
                        </a:rPr>
                        <a:t>ZD-RS-007</a:t>
                      </a:r>
                      <a:endParaRPr lang="en-US" altLang="zh-CN" sz="1400" dirty="0">
                        <a:solidFill>
                          <a:schemeClr val="tx1"/>
                        </a:solidFill>
                        <a:latin typeface="+mn-ea"/>
                        <a:ea typeface="+mn-ea"/>
                        <a:cs typeface="宋体" panose="02010600030101010101" pitchFamily="2"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a:txBody>
                    <a:bodyPr/>
                    <a:lstStyle/>
                    <a:p>
                      <a:pPr indent="0" fontAlgn="auto">
                        <a:lnSpc>
                          <a:spcPct val="150000"/>
                        </a:lnSpc>
                        <a:spcBef>
                          <a:spcPts val="0"/>
                        </a:spcBef>
                        <a:spcAft>
                          <a:spcPts val="0"/>
                        </a:spcAft>
                        <a:buFont typeface="Wingdings" panose="05000000000000000000" charset="0"/>
                        <a:buNone/>
                      </a:pPr>
                      <a:r>
                        <a:rPr lang="zh-CN" altLang="en-US" sz="1400" kern="0" dirty="0">
                          <a:latin typeface="+mn-ea"/>
                          <a:ea typeface="+mn-ea"/>
                          <a:sym typeface="+mn-ea"/>
                        </a:rPr>
                        <a:t>高处作业有下列情形之一的，应判定为重大事故隐患</a:t>
                      </a:r>
                      <a:r>
                        <a:rPr lang="zh-CN" altLang="en-US" sz="1400" kern="0" dirty="0">
                          <a:latin typeface="+mn-ea"/>
                          <a:ea typeface="+mn-ea"/>
                        </a:rPr>
                        <a:t>：</a:t>
                      </a:r>
                      <a:endParaRPr lang="zh-CN" altLang="en-US" sz="1400" kern="0" dirty="0">
                        <a:latin typeface="+mn-ea"/>
                        <a:ea typeface="+mn-ea"/>
                      </a:endParaRPr>
                    </a:p>
                    <a:p>
                      <a:pPr indent="0" fontAlgn="auto">
                        <a:lnSpc>
                          <a:spcPct val="150000"/>
                        </a:lnSpc>
                        <a:spcBef>
                          <a:spcPts val="0"/>
                        </a:spcBef>
                        <a:spcAft>
                          <a:spcPts val="0"/>
                        </a:spcAft>
                        <a:buFont typeface="Wingdings" panose="05000000000000000000" charset="0"/>
                        <a:buNone/>
                      </a:pPr>
                      <a:r>
                        <a:rPr lang="zh-CN" altLang="en-US" sz="1200" kern="0" dirty="0">
                          <a:solidFill>
                            <a:schemeClr val="tx1"/>
                          </a:solidFill>
                          <a:highlight>
                            <a:srgbClr val="000000">
                              <a:alpha val="0"/>
                            </a:srgbClr>
                          </a:highlight>
                          <a:latin typeface="+mn-ea"/>
                          <a:ea typeface="+mn-ea"/>
                          <a:cs typeface="微软雅黑" panose="020B0503020204020204" charset="-122"/>
                          <a:sym typeface="+mn-ea"/>
                        </a:rPr>
                        <a:t>1)悬挑式卸料平台的搁置点、拉结点、支撑点未设置在稳定的主体结构上，且未做可靠连接。</a:t>
                      </a:r>
                      <a:endParaRPr lang="zh-CN" altLang="en-US" sz="1200" kern="0" dirty="0">
                        <a:solidFill>
                          <a:schemeClr val="tx1"/>
                        </a:solidFill>
                        <a:highlight>
                          <a:srgbClr val="000000">
                            <a:alpha val="0"/>
                          </a:srgbClr>
                        </a:highlight>
                        <a:latin typeface="+mn-ea"/>
                        <a:ea typeface="+mn-ea"/>
                        <a:cs typeface="微软雅黑" panose="020B0503020204020204" charset="-122"/>
                        <a:sym typeface="+mn-ea"/>
                      </a:endParaRPr>
                    </a:p>
                    <a:p>
                      <a:pPr indent="0" fontAlgn="auto">
                        <a:lnSpc>
                          <a:spcPct val="150000"/>
                        </a:lnSpc>
                        <a:spcBef>
                          <a:spcPts val="0"/>
                        </a:spcBef>
                        <a:spcAft>
                          <a:spcPts val="0"/>
                        </a:spcAft>
                        <a:buFont typeface="Wingdings" panose="05000000000000000000" charset="0"/>
                        <a:buNone/>
                      </a:pPr>
                      <a:r>
                        <a:rPr lang="zh-CN" altLang="en-US" sz="1200" kern="0" dirty="0">
                          <a:solidFill>
                            <a:schemeClr val="tx1"/>
                          </a:solidFill>
                          <a:highlight>
                            <a:srgbClr val="000000">
                              <a:alpha val="0"/>
                            </a:srgbClr>
                          </a:highlight>
                          <a:latin typeface="+mn-ea"/>
                          <a:ea typeface="+mn-ea"/>
                          <a:cs typeface="微软雅黑" panose="020B0503020204020204" charset="-122"/>
                          <a:sym typeface="+mn-ea"/>
                        </a:rPr>
                        <a:t>2)脚手架与结构外表面之间贯通未采取水平防护措施，或电梯井道内贯通未采取水平防护措施且电梯井口未设置防护门。</a:t>
                      </a:r>
                      <a:endParaRPr lang="zh-CN" altLang="en-US" sz="1200" kern="0" dirty="0">
                        <a:solidFill>
                          <a:schemeClr val="tx1"/>
                        </a:solidFill>
                        <a:highlight>
                          <a:srgbClr val="000000">
                            <a:alpha val="0"/>
                          </a:srgbClr>
                        </a:highlight>
                        <a:latin typeface="+mn-ea"/>
                        <a:ea typeface="+mn-ea"/>
                        <a:cs typeface="微软雅黑" panose="020B0503020204020204" charset="-122"/>
                        <a:sym typeface="+mn-ea"/>
                      </a:endParaRPr>
                    </a:p>
                    <a:p>
                      <a:pPr indent="0" fontAlgn="auto">
                        <a:lnSpc>
                          <a:spcPct val="150000"/>
                        </a:lnSpc>
                        <a:spcBef>
                          <a:spcPts val="0"/>
                        </a:spcBef>
                        <a:spcAft>
                          <a:spcPts val="0"/>
                        </a:spcAft>
                        <a:buFont typeface="Wingdings" panose="05000000000000000000" charset="0"/>
                        <a:buNone/>
                      </a:pPr>
                      <a:r>
                        <a:rPr lang="zh-CN" altLang="en-US" sz="1200" kern="0" dirty="0">
                          <a:solidFill>
                            <a:schemeClr val="tx1"/>
                          </a:solidFill>
                          <a:highlight>
                            <a:srgbClr val="000000">
                              <a:alpha val="0"/>
                            </a:srgbClr>
                          </a:highlight>
                          <a:latin typeface="+mn-ea"/>
                          <a:ea typeface="+mn-ea"/>
                          <a:cs typeface="微软雅黑" panose="020B0503020204020204" charset="-122"/>
                          <a:sym typeface="+mn-ea"/>
                        </a:rPr>
                        <a:t>3)高处作业吊篮超载使用，或安全锁失效、安全绳(用于挂设安全带)未独立悬挂。</a:t>
                      </a:r>
                      <a:endParaRPr lang="zh-CN" altLang="en-US" sz="1200" kern="0" dirty="0">
                        <a:solidFill>
                          <a:schemeClr val="tx1"/>
                        </a:solidFill>
                        <a:highlight>
                          <a:srgbClr val="000000">
                            <a:alpha val="0"/>
                          </a:srgbClr>
                        </a:highlight>
                        <a:latin typeface="+mn-ea"/>
                        <a:ea typeface="+mn-ea"/>
                        <a:cs typeface="微软雅黑" panose="020B0503020204020204" charset="-122"/>
                        <a:sym typeface="+mn-ea"/>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r>
            </a:tbl>
          </a:graphicData>
        </a:graphic>
      </p:graphicFrame>
      <p:grpSp>
        <p:nvGrpSpPr>
          <p:cNvPr id="14" name="组合 13" descr="7b0a202020202274657874626f78223a2022220a7d0a"/>
          <p:cNvGrpSpPr/>
          <p:nvPr>
            <p:custDataLst>
              <p:tags r:id="rId2"/>
            </p:custDataLst>
          </p:nvPr>
        </p:nvGrpSpPr>
        <p:grpSpPr>
          <a:xfrm>
            <a:off x="334010" y="3640834"/>
            <a:ext cx="5229225" cy="1758315"/>
            <a:chOff x="5703" y="3351"/>
            <a:chExt cx="8104" cy="4168"/>
          </a:xfrm>
        </p:grpSpPr>
        <p:sp>
          <p:nvSpPr>
            <p:cNvPr id="44" name="矩形 43"/>
            <p:cNvSpPr/>
            <p:nvPr/>
          </p:nvSpPr>
          <p:spPr>
            <a:xfrm>
              <a:off x="5703" y="3621"/>
              <a:ext cx="8104" cy="3767"/>
            </a:xfrm>
            <a:prstGeom prst="rect">
              <a:avLst/>
            </a:prstGeom>
            <a:noFill/>
            <a:ln w="19050">
              <a:solidFill>
                <a:srgbClr val="508EEA"/>
              </a:solidFill>
            </a:ln>
            <a:extLst>
              <a:ext uri="{909E8E84-426E-40DD-AFC4-6F175D3DCCD1}">
                <a14:hiddenFill xmlns:a14="http://schemas.microsoft.com/office/drawing/2010/main">
                  <a:solidFill>
                    <a:srgbClr val="FFFDF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normAutofit/>
            </a:bodyPr>
            <a:lstStyle/>
            <a:p>
              <a:pPr algn="ctr"/>
              <a:endParaRPr lang="zh-CN" altLang="en-US" dirty="0">
                <a:latin typeface="微软雅黑" panose="020B0503020204020204" charset="-122"/>
              </a:endParaRPr>
            </a:p>
          </p:txBody>
        </p:sp>
        <p:sp>
          <p:nvSpPr>
            <p:cNvPr id="131" name="矩形 130"/>
            <p:cNvSpPr/>
            <p:nvPr/>
          </p:nvSpPr>
          <p:spPr>
            <a:xfrm>
              <a:off x="11714" y="7259"/>
              <a:ext cx="1825" cy="26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dist"/>
              <a:r>
                <a:rPr lang="en-US" altLang="zh-CN" sz="1200" b="1" dirty="0">
                  <a:solidFill>
                    <a:srgbClr val="508EEA"/>
                  </a:solidFill>
                  <a:latin typeface="微软雅黑" panose="020B0503020204020204" charset="-122"/>
                </a:rPr>
                <a:t>+++++</a:t>
              </a:r>
              <a:endParaRPr lang="en-US" altLang="zh-CN" sz="1200" b="1" dirty="0">
                <a:solidFill>
                  <a:srgbClr val="508EEA"/>
                </a:solidFill>
                <a:latin typeface="微软雅黑" panose="020B0503020204020204" charset="-122"/>
              </a:endParaRPr>
            </a:p>
          </p:txBody>
        </p:sp>
        <p:sp>
          <p:nvSpPr>
            <p:cNvPr id="15" name="文本框 14"/>
            <p:cNvSpPr txBox="1"/>
            <p:nvPr>
              <p:custDataLst>
                <p:tags r:id="rId3"/>
              </p:custDataLst>
            </p:nvPr>
          </p:nvSpPr>
          <p:spPr>
            <a:xfrm>
              <a:off x="5795" y="3351"/>
              <a:ext cx="7897" cy="3864"/>
            </a:xfrm>
            <a:prstGeom prst="rect">
              <a:avLst/>
            </a:prstGeom>
            <a:noFill/>
          </p:spPr>
          <p:txBody>
            <a:bodyPr wrap="square" rtlCol="0" anchor="ctr" anchorCtr="0"/>
            <a:lstStyle/>
            <a:p>
              <a:pPr fontAlgn="auto">
                <a:lnSpc>
                  <a:spcPct val="150000"/>
                </a:lnSpc>
                <a:spcBef>
                  <a:spcPts val="0"/>
                </a:spcBef>
                <a:spcAft>
                  <a:spcPts val="0"/>
                </a:spcAft>
                <a:buClrTx/>
                <a:buSzTx/>
                <a:buFont typeface="Wingdings" panose="05000000000000000000" charset="0"/>
                <a:buNone/>
              </a:pPr>
              <a:r>
                <a:rPr lang="zh-CN" altLang="en-US" sz="1200" kern="0" dirty="0">
                  <a:latin typeface="微软雅黑" panose="020B0503020204020204" charset="-122"/>
                  <a:ea typeface="微软雅黑" panose="020B0503020204020204" charset="-122"/>
                  <a:cs typeface="微软雅黑" panose="020B0503020204020204" charset="-122"/>
                  <a:sym typeface="+mn-ea"/>
                </a:rPr>
                <a:t>（左图）“8.15”吊篮倾覆事故（5人死亡）： 工作钢丝绳严重锈蚀断裂，安全锁未能有效锁住，超员搭乘且均未佩戴安全带。</a:t>
              </a:r>
              <a:endParaRPr lang="zh-CN" altLang="en-US" sz="1200" kern="0" dirty="0">
                <a:latin typeface="微软雅黑" panose="020B0503020204020204" charset="-122"/>
                <a:ea typeface="微软雅黑" panose="020B0503020204020204" charset="-122"/>
                <a:cs typeface="微软雅黑" panose="020B0503020204020204" charset="-122"/>
                <a:sym typeface="+mn-ea"/>
              </a:endParaRPr>
            </a:p>
            <a:p>
              <a:pPr fontAlgn="auto">
                <a:lnSpc>
                  <a:spcPct val="150000"/>
                </a:lnSpc>
                <a:spcBef>
                  <a:spcPts val="0"/>
                </a:spcBef>
                <a:spcAft>
                  <a:spcPts val="0"/>
                </a:spcAft>
                <a:buClrTx/>
                <a:buSzTx/>
                <a:buFont typeface="Wingdings" panose="05000000000000000000" charset="0"/>
                <a:buNone/>
              </a:pPr>
              <a:endParaRPr lang="zh-CN" altLang="en-US" sz="1200" kern="0" dirty="0">
                <a:latin typeface="微软雅黑" panose="020B0503020204020204" charset="-122"/>
                <a:ea typeface="微软雅黑" panose="020B0503020204020204" charset="-122"/>
                <a:cs typeface="微软雅黑" panose="020B0503020204020204" charset="-122"/>
                <a:sym typeface="+mn-ea"/>
              </a:endParaRPr>
            </a:p>
            <a:p>
              <a:pPr fontAlgn="auto">
                <a:lnSpc>
                  <a:spcPct val="150000"/>
                </a:lnSpc>
                <a:spcBef>
                  <a:spcPts val="0"/>
                </a:spcBef>
                <a:spcAft>
                  <a:spcPts val="0"/>
                </a:spcAft>
                <a:buClrTx/>
                <a:buSzTx/>
                <a:buFont typeface="Wingdings" panose="05000000000000000000" charset="0"/>
                <a:buNone/>
              </a:pPr>
              <a:r>
                <a:rPr lang="zh-CN" altLang="en-US" sz="1200" kern="0" dirty="0">
                  <a:latin typeface="微软雅黑" panose="020B0503020204020204" charset="-122"/>
                  <a:ea typeface="微软雅黑" panose="020B0503020204020204" charset="-122"/>
                  <a:cs typeface="微软雅黑" panose="020B0503020204020204" charset="-122"/>
                  <a:sym typeface="+mn-ea"/>
                </a:rPr>
                <a:t>（右图）</a:t>
              </a:r>
              <a:r>
                <a:rPr lang="zh-CN" altLang="en-US" sz="1200" kern="0" dirty="0">
                  <a:solidFill>
                    <a:schemeClr val="tx1"/>
                  </a:solidFill>
                  <a:latin typeface="微软雅黑" panose="020B0503020204020204" charset="-122"/>
                  <a:ea typeface="微软雅黑" panose="020B0503020204020204" charset="-122"/>
                  <a:cs typeface="微软雅黑" panose="020B0503020204020204" charset="-122"/>
                  <a:sym typeface="+mn-ea"/>
                </a:rPr>
                <a:t>某公司“9·30”吊篮坠落事故（5人死亡）： 未按规范设置安全绳，上限位器失效，吊篮严重超员。</a:t>
              </a:r>
              <a:endParaRPr lang="zh-CN" altLang="en-US" sz="1200" kern="0" dirty="0">
                <a:solidFill>
                  <a:schemeClr val="tx1"/>
                </a:solidFill>
                <a:latin typeface="微软雅黑" panose="020B0503020204020204" charset="-122"/>
                <a:ea typeface="微软雅黑" panose="020B0503020204020204" charset="-122"/>
                <a:cs typeface="微软雅黑" panose="020B0503020204020204" charset="-122"/>
                <a:sym typeface="+mn-ea"/>
              </a:endParaRPr>
            </a:p>
          </p:txBody>
        </p:sp>
      </p:grpSp>
      <p:pic>
        <p:nvPicPr>
          <p:cNvPr id="10" name="图片 9"/>
          <p:cNvPicPr/>
          <p:nvPr/>
        </p:nvPicPr>
        <p:blipFill>
          <a:blip r:embed="rId4"/>
          <a:stretch>
            <a:fillRect/>
          </a:stretch>
        </p:blipFill>
        <p:spPr>
          <a:xfrm>
            <a:off x="5880100" y="3625771"/>
            <a:ext cx="2821940" cy="1833861"/>
          </a:xfrm>
          <a:prstGeom prst="rect">
            <a:avLst/>
          </a:prstGeom>
        </p:spPr>
      </p:pic>
      <p:pic>
        <p:nvPicPr>
          <p:cNvPr id="11" name="图片 10"/>
          <p:cNvPicPr/>
          <p:nvPr/>
        </p:nvPicPr>
        <p:blipFill>
          <a:blip r:embed="rId5"/>
          <a:stretch>
            <a:fillRect/>
          </a:stretch>
        </p:blipFill>
        <p:spPr>
          <a:xfrm>
            <a:off x="8909236" y="3625770"/>
            <a:ext cx="2821940" cy="1833861"/>
          </a:xfrm>
          <a:prstGeom prst="rect">
            <a:avLst/>
          </a:prstGeom>
        </p:spPr>
      </p:pic>
      <p:sp>
        <p:nvSpPr>
          <p:cNvPr id="7" name="TextBox 8"/>
          <p:cNvSpPr txBox="1"/>
          <p:nvPr/>
        </p:nvSpPr>
        <p:spPr>
          <a:xfrm>
            <a:off x="168335" y="271329"/>
            <a:ext cx="7002524" cy="52197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charset="-122"/>
                <a:ea typeface="微软雅黑" panose="020B0503020204020204" charset="-122"/>
              </a:rPr>
              <a:t>二、</a:t>
            </a:r>
            <a:r>
              <a:rPr lang="zh-CN" altLang="en-US" sz="2800" b="1" dirty="0">
                <a:latin typeface="微软雅黑" panose="020B0503020204020204" charset="-122"/>
                <a:ea typeface="微软雅黑" panose="020B0503020204020204" charset="-122"/>
                <a:sym typeface="+mn-ea"/>
              </a:rPr>
              <a:t>网公司事故隐患判定标准宣贯学习</a:t>
            </a:r>
            <a:endParaRPr lang="zh-CN" altLang="en-US" sz="2800" b="1" dirty="0">
              <a:latin typeface="微软雅黑" panose="020B0503020204020204" charset="-122"/>
              <a:ea typeface="微软雅黑" panose="020B0503020204020204" charset="-122"/>
            </a:endParaRPr>
          </a:p>
        </p:txBody>
      </p:sp>
      <p:sp>
        <p:nvSpPr>
          <p:cNvPr id="9" name="文本框 8"/>
          <p:cNvSpPr txBox="1"/>
          <p:nvPr/>
        </p:nvSpPr>
        <p:spPr>
          <a:xfrm>
            <a:off x="269819" y="5438461"/>
            <a:ext cx="11663680" cy="974725"/>
          </a:xfrm>
          <a:prstGeom prst="rect">
            <a:avLst/>
          </a:prstGeom>
          <a:noFill/>
        </p:spPr>
        <p:txBody>
          <a:bodyPr wrap="square" rtlCol="0" anchor="t">
            <a:noAutofit/>
          </a:bodyPr>
          <a:lstStyle/>
          <a:p>
            <a:pPr indent="0" fontAlgn="auto">
              <a:lnSpc>
                <a:spcPct val="150000"/>
              </a:lnSpc>
              <a:spcBef>
                <a:spcPts val="0"/>
              </a:spcBef>
              <a:spcAft>
                <a:spcPts val="0"/>
              </a:spcAft>
              <a:buFont typeface="Wingdings" panose="05000000000000000000" charset="0"/>
              <a:buNone/>
            </a:pPr>
            <a:r>
              <a:rPr lang="zh-CN" altLang="en-US" sz="1600" b="1" kern="0" dirty="0">
                <a:solidFill>
                  <a:schemeClr val="bg1"/>
                </a:solidFill>
                <a:highlight>
                  <a:srgbClr val="0070C0"/>
                </a:highlight>
                <a:latin typeface="+mn-ea"/>
                <a:sym typeface="+mn-ea"/>
              </a:rPr>
              <a:t> 工作指导 </a:t>
            </a:r>
            <a:r>
              <a:rPr lang="en-US" altLang="zh-CN" sz="1600" b="1" kern="0" dirty="0">
                <a:solidFill>
                  <a:schemeClr val="bg1"/>
                </a:solidFill>
                <a:highlight>
                  <a:srgbClr val="0070C0"/>
                </a:highlight>
                <a:latin typeface="+mn-ea"/>
                <a:sym typeface="+mn-ea"/>
              </a:rPr>
              <a:t>:</a:t>
            </a:r>
            <a:endParaRPr lang="en-US" altLang="zh-CN" sz="1600" b="1" kern="0" dirty="0">
              <a:solidFill>
                <a:schemeClr val="bg1"/>
              </a:solidFill>
              <a:highlight>
                <a:srgbClr val="0070C0"/>
              </a:highlight>
              <a:latin typeface="+mn-ea"/>
              <a:sym typeface="+mn-ea"/>
            </a:endParaRPr>
          </a:p>
          <a:p>
            <a:pPr marL="285750" indent="-285750" fontAlgn="auto">
              <a:lnSpc>
                <a:spcPct val="150000"/>
              </a:lnSpc>
              <a:spcBef>
                <a:spcPts val="0"/>
              </a:spcBef>
              <a:spcAft>
                <a:spcPts val="0"/>
              </a:spcAft>
              <a:buFont typeface="Arial" panose="020B0604020202020204" pitchFamily="34" charset="0"/>
              <a:buChar char="•"/>
            </a:pPr>
            <a:r>
              <a:rPr lang="zh-CN" altLang="en-US" sz="1400" dirty="0">
                <a:latin typeface="微软雅黑" panose="020B0503020204020204" charset="-122"/>
                <a:ea typeface="微软雅黑" panose="020B0503020204020204" charset="-122"/>
                <a:cs typeface="微软雅黑" panose="020B0503020204020204" charset="-122"/>
                <a:sym typeface="+mn-ea"/>
              </a:rPr>
              <a:t>高处坠落是建筑施工“第一杀手”（占事故55.4%）。临边洞口防护不到位是通病，提级管理旨在大力压减事故总量，保护作业人员安全。</a:t>
            </a:r>
            <a:endParaRPr lang="zh-CN" altLang="en-US" sz="1400" dirty="0">
              <a:latin typeface="微软雅黑" panose="020B0503020204020204" charset="-122"/>
              <a:ea typeface="微软雅黑" panose="020B0503020204020204" charset="-122"/>
              <a:cs typeface="微软雅黑" panose="020B0503020204020204" charset="-122"/>
              <a:sym typeface="+mn-ea"/>
            </a:endParaRPr>
          </a:p>
          <a:p>
            <a:pPr marL="285750" indent="-285750" fontAlgn="auto">
              <a:lnSpc>
                <a:spcPct val="150000"/>
              </a:lnSpc>
              <a:spcBef>
                <a:spcPts val="0"/>
              </a:spcBef>
              <a:spcAft>
                <a:spcPts val="0"/>
              </a:spcAft>
              <a:buFont typeface="Arial" panose="020B0604020202020204" pitchFamily="34" charset="0"/>
              <a:buChar char="•"/>
            </a:pPr>
            <a:r>
              <a:rPr lang="zh-CN" altLang="en-US" sz="1400" dirty="0">
                <a:latin typeface="微软雅黑" panose="020B0503020204020204" charset="-122"/>
                <a:ea typeface="微软雅黑" panose="020B0503020204020204" charset="-122"/>
                <a:cs typeface="微软雅黑" panose="020B0503020204020204" charset="-122"/>
                <a:sym typeface="+mn-ea"/>
              </a:rPr>
              <a:t>针对吊篮作业高频、高风险的隐患（超载、安全锁失效、安全绳违规连接）进行提级管理，核心在于压降高坠事故总量。</a:t>
            </a:r>
            <a:endParaRPr lang="zh-CN" altLang="en-US" sz="1400" dirty="0">
              <a:latin typeface="微软雅黑" panose="020B0503020204020204" charset="-122"/>
              <a:ea typeface="微软雅黑" panose="020B0503020204020204" charset="-122"/>
              <a:cs typeface="微软雅黑" panose="020B0503020204020204" charset="-122"/>
              <a:sym typeface="+mn-ea"/>
            </a:endParaRPr>
          </a:p>
          <a:p>
            <a:pPr marL="285750" indent="-285750" fontAlgn="auto">
              <a:lnSpc>
                <a:spcPct val="150000"/>
              </a:lnSpc>
              <a:spcBef>
                <a:spcPts val="0"/>
              </a:spcBef>
              <a:spcAft>
                <a:spcPts val="0"/>
              </a:spcAft>
              <a:buFont typeface="Arial" panose="020B0604020202020204" pitchFamily="34" charset="0"/>
              <a:buChar char="•"/>
            </a:pPr>
            <a:endParaRPr lang="zh-CN" altLang="en-US" sz="1600" dirty="0">
              <a:latin typeface="微软雅黑" panose="020B0503020204020204" charset="-122"/>
              <a:ea typeface="微软雅黑" panose="020B0503020204020204" charset="-122"/>
              <a:cs typeface="微软雅黑" panose="020B0503020204020204" charset="-122"/>
              <a:sym typeface="+mn-ea"/>
            </a:endParaRPr>
          </a:p>
          <a:p>
            <a:pPr indent="0" fontAlgn="auto">
              <a:lnSpc>
                <a:spcPct val="150000"/>
              </a:lnSpc>
              <a:spcBef>
                <a:spcPts val="0"/>
              </a:spcBef>
              <a:spcAft>
                <a:spcPts val="0"/>
              </a:spcAft>
              <a:buFont typeface="Arial" panose="020B0604020202020204" pitchFamily="34" charset="0"/>
              <a:buNone/>
            </a:pPr>
            <a:endParaRPr lang="zh-CN" altLang="en-US" sz="1600" dirty="0">
              <a:solidFill>
                <a:schemeClr val="tx1"/>
              </a:solidFill>
              <a:latin typeface="微软雅黑" panose="020B0503020204020204" charset="-122"/>
              <a:ea typeface="微软雅黑" panose="020B0503020204020204" charset="-122"/>
              <a:cs typeface="微软雅黑" panose="020B0503020204020204" charset="-122"/>
              <a:sym typeface="+mn-ea"/>
            </a:endParaRPr>
          </a:p>
        </p:txBody>
      </p:sp>
      <p:sp>
        <p:nvSpPr>
          <p:cNvPr id="3" name="文本框 2"/>
          <p:cNvSpPr txBox="1"/>
          <p:nvPr/>
        </p:nvSpPr>
        <p:spPr>
          <a:xfrm>
            <a:off x="-24680" y="969010"/>
            <a:ext cx="5040000" cy="448945"/>
          </a:xfrm>
          <a:prstGeom prst="rect">
            <a:avLst/>
          </a:prstGeom>
          <a:gradFill>
            <a:gsLst>
              <a:gs pos="66000">
                <a:srgbClr val="054CA4"/>
              </a:gs>
              <a:gs pos="100000">
                <a:srgbClr val="0070C0">
                  <a:alpha val="0"/>
                </a:srgbClr>
              </a:gs>
            </a:gsLst>
            <a:lin ang="0" scaled="0"/>
          </a:gradFill>
          <a:ln w="12700" cap="flat" cmpd="sng" algn="ctr">
            <a:noFill/>
            <a:prstDash val="solid"/>
            <a:miter lim="800000"/>
          </a:ln>
          <a:effectLst/>
        </p:spPr>
        <p:txBody>
          <a:bodyPr rtlCol="0" anchor="ctr"/>
          <a:lstStyle>
            <a:defPPr>
              <a:defRPr lang="zh-CN"/>
            </a:defPPr>
            <a:lvl1pPr>
              <a:defRPr sz="2000" b="1"/>
            </a:lvl1pPr>
            <a:lvl2pPr>
              <a:defRPr>
                <a:solidFill>
                  <a:sysClr val="window" lastClr="FFFFFF"/>
                </a:solidFill>
              </a:defRPr>
            </a:lvl2pPr>
            <a:lvl3pPr>
              <a:defRPr>
                <a:solidFill>
                  <a:sysClr val="window" lastClr="FFFFFF"/>
                </a:solidFill>
              </a:defRPr>
            </a:lvl3pPr>
            <a:lvl4pPr>
              <a:defRPr>
                <a:solidFill>
                  <a:sysClr val="window" lastClr="FFFFFF"/>
                </a:solidFill>
              </a:defRPr>
            </a:lvl4pPr>
            <a:lvl5pPr>
              <a:defRPr>
                <a:solidFill>
                  <a:sysClr val="window" lastClr="FFFFFF"/>
                </a:solidFill>
              </a:defRPr>
            </a:lvl5pPr>
            <a:lvl6pPr>
              <a:defRPr>
                <a:solidFill>
                  <a:sysClr val="window" lastClr="FFFFFF"/>
                </a:solidFill>
              </a:defRPr>
            </a:lvl6pPr>
            <a:lvl7pPr>
              <a:defRPr>
                <a:solidFill>
                  <a:sysClr val="window" lastClr="FFFFFF"/>
                </a:solidFill>
              </a:defRPr>
            </a:lvl7pPr>
            <a:lvl8pPr>
              <a:defRPr>
                <a:solidFill>
                  <a:sysClr val="window" lastClr="FFFFFF"/>
                </a:solidFill>
              </a:defRPr>
            </a:lvl8pPr>
            <a:lvl9pPr>
              <a:defRPr>
                <a:solidFill>
                  <a:sysClr val="window" lastClr="FFFFFF"/>
                </a:solidFill>
              </a:defRPr>
            </a:lvl9pPr>
          </a:lstStyle>
          <a:p>
            <a:pPr algn="l" fontAlgn="auto">
              <a:buClrTx/>
              <a:buSzTx/>
              <a:buFontTx/>
              <a:defRPr/>
            </a:pPr>
            <a:r>
              <a:rPr lang="zh-CN" altLang="en-US" dirty="0">
                <a:solidFill>
                  <a:schemeClr val="bg1"/>
                </a:solidFill>
                <a:latin typeface="微软雅黑" panose="020B0503020204020204" charset="-122"/>
                <a:ea typeface="微软雅黑" panose="020B0503020204020204" charset="-122"/>
                <a:sym typeface="+mn-ea"/>
              </a:rPr>
              <a:t> （一）人身安全隐患</a:t>
            </a:r>
            <a:endParaRPr lang="zh-CN" altLang="en-US" dirty="0">
              <a:solidFill>
                <a:schemeClr val="bg1"/>
              </a:solidFill>
              <a:latin typeface="微软雅黑" panose="020B0503020204020204" charset="-122"/>
              <a:ea typeface="微软雅黑" panose="020B0503020204020204" charset="-122"/>
              <a:sym typeface="+mn-ea"/>
            </a:endParaRP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表格 10"/>
          <p:cNvGraphicFramePr/>
          <p:nvPr>
            <p:custDataLst>
              <p:tags r:id="rId1"/>
            </p:custDataLst>
          </p:nvPr>
        </p:nvGraphicFramePr>
        <p:xfrm>
          <a:off x="334962" y="1628775"/>
          <a:ext cx="11522075" cy="4916798"/>
        </p:xfrm>
        <a:graphic>
          <a:graphicData uri="http://schemas.openxmlformats.org/drawingml/2006/table">
            <a:tbl>
              <a:tblPr firstRow="1">
                <a:effectLst/>
                <a:tableStyleId>{5940675A-B579-460E-94D1-54222C63F5DA}</a:tableStyleId>
              </a:tblPr>
              <a:tblGrid>
                <a:gridCol w="1311041"/>
                <a:gridCol w="10211034"/>
              </a:tblGrid>
              <a:tr h="504000">
                <a:tc>
                  <a:txBody>
                    <a:bodyPr/>
                    <a:lstStyle/>
                    <a:p>
                      <a:pPr algn="ctr" fontAlgn="ctr">
                        <a:lnSpc>
                          <a:spcPct val="110000"/>
                        </a:lnSpc>
                        <a:buNone/>
                      </a:pPr>
                      <a:r>
                        <a:rPr lang="zh-CN" altLang="en-US" sz="1400" b="1" dirty="0">
                          <a:solidFill>
                            <a:sysClr val="window" lastClr="FFFFFF"/>
                          </a:solidFill>
                          <a:latin typeface="微软雅黑" panose="020B0503020204020204" charset="-122"/>
                          <a:ea typeface="微软雅黑" panose="020B0503020204020204" charset="-122"/>
                          <a:sym typeface="宋体" panose="02010600030101010101" pitchFamily="2" charset="-122"/>
                        </a:rPr>
                        <a:t>条款编码</a:t>
                      </a:r>
                      <a:endParaRPr lang="zh-CN" altLang="en-US" sz="1400" b="1" dirty="0">
                        <a:solidFill>
                          <a:sysClr val="window" lastClr="FFFFFF"/>
                        </a:solidFill>
                        <a:latin typeface="微软雅黑" panose="020B0503020204020204" charset="-122"/>
                        <a:ea typeface="微软雅黑" panose="020B0503020204020204" charset="-122"/>
                        <a:sym typeface="宋体" panose="02010600030101010101" pitchFamily="2" charset="-122"/>
                      </a:endParaRPr>
                    </a:p>
                  </a:txBody>
                  <a:tcPr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c>
                  <a:txBody>
                    <a:bodyPr/>
                    <a:lstStyle/>
                    <a:p>
                      <a:pPr algn="ctr" fontAlgn="ctr">
                        <a:lnSpc>
                          <a:spcPct val="110000"/>
                        </a:lnSpc>
                        <a:buNone/>
                      </a:pPr>
                      <a:r>
                        <a:rPr lang="zh-CN" altLang="en-US" sz="1400" b="1" dirty="0">
                          <a:solidFill>
                            <a:sysClr val="window" lastClr="FFFFFF"/>
                          </a:solidFill>
                          <a:latin typeface="微软雅黑" panose="020B0503020204020204" charset="-122"/>
                          <a:ea typeface="微软雅黑" panose="020B0503020204020204" charset="-122"/>
                        </a:rPr>
                        <a:t>条款内容</a:t>
                      </a:r>
                      <a:endParaRPr lang="zh-CN" altLang="en-US" sz="1400" b="1" dirty="0">
                        <a:solidFill>
                          <a:sysClr val="window" lastClr="FFFFFF"/>
                        </a:solidFill>
                        <a:latin typeface="微软雅黑" panose="020B0503020204020204" charset="-122"/>
                        <a:ea typeface="微软雅黑" panose="020B0503020204020204" charset="-122"/>
                      </a:endParaRPr>
                    </a:p>
                  </a:txBody>
                  <a:tcPr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r>
              <a:tr h="3357249">
                <a:tc>
                  <a:txBody>
                    <a:bodyPr/>
                    <a:lstStyle/>
                    <a:p>
                      <a:pPr indent="0" algn="ctr">
                        <a:buNone/>
                      </a:pPr>
                      <a:r>
                        <a:rPr lang="en-US" altLang="zh-CN" sz="1400" b="1" dirty="0">
                          <a:latin typeface="微软雅黑" panose="020B0503020204020204" charset="-122"/>
                          <a:ea typeface="微软雅黑" panose="020B0503020204020204" charset="-122"/>
                          <a:cs typeface="仿宋_GB2312" panose="02010609030101010101" charset="-122"/>
                        </a:rPr>
                        <a:t>ZD-SB-005</a:t>
                      </a:r>
                      <a:endParaRPr lang="en-US" altLang="zh-CN" sz="1400" b="1" dirty="0">
                        <a:latin typeface="微软雅黑" panose="020B0503020204020204" charset="-122"/>
                        <a:ea typeface="微软雅黑" panose="020B0503020204020204" charset="-122"/>
                        <a:cs typeface="仿宋_GB2312" panose="02010609030101010101" charset="-122"/>
                      </a:endParaRPr>
                    </a:p>
                  </a:txBody>
                  <a:tcPr marL="7620" marR="7620" marT="7620" marB="9525"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a:txBody>
                    <a:bodyPr/>
                    <a:lstStyle/>
                    <a:p>
                      <a:pPr indent="0" fontAlgn="auto">
                        <a:lnSpc>
                          <a:spcPct val="110000"/>
                        </a:lnSpc>
                        <a:buNone/>
                      </a:pPr>
                      <a:r>
                        <a:rPr lang="zh-CN" altLang="en-US" sz="1400" b="1" dirty="0">
                          <a:latin typeface="微软雅黑" panose="020B0503020204020204" charset="-122"/>
                          <a:ea typeface="微软雅黑" panose="020B0503020204020204" charset="-122"/>
                          <a:cs typeface="微软雅黑" panose="020B0503020204020204" charset="-122"/>
                        </a:rPr>
                        <a:t>特种设备有下列情形之一的，应判定为重大事故隐患：</a:t>
                      </a:r>
                      <a:r>
                        <a:rPr lang="zh-CN" altLang="en-US" sz="1400" b="0" dirty="0">
                          <a:latin typeface="微软雅黑" panose="020B0503020204020204" charset="-122"/>
                          <a:ea typeface="微软雅黑" panose="020B0503020204020204" charset="-122"/>
                          <a:cs typeface="微软雅黑" panose="020B0503020204020204" charset="-122"/>
                        </a:rPr>
                        <a:t>（</a:t>
                      </a:r>
                      <a:r>
                        <a:rPr lang="en-US" altLang="zh-CN" sz="1400" b="0" dirty="0">
                          <a:latin typeface="微软雅黑" panose="020B0503020204020204" charset="-122"/>
                          <a:ea typeface="微软雅黑" panose="020B0503020204020204" charset="-122"/>
                          <a:cs typeface="微软雅黑" panose="020B0503020204020204" charset="-122"/>
                        </a:rPr>
                        <a:t>1</a:t>
                      </a:r>
                      <a:r>
                        <a:rPr lang="zh-CN" altLang="en-US" sz="1400" b="0" dirty="0">
                          <a:latin typeface="微软雅黑" panose="020B0503020204020204" charset="-122"/>
                          <a:ea typeface="微软雅黑" panose="020B0503020204020204" charset="-122"/>
                          <a:cs typeface="微软雅黑" panose="020B0503020204020204" charset="-122"/>
                        </a:rPr>
                        <a:t>）未取得许可生产、因安全问题国家明令淘汰、已经报废或者达到报废条件。（</a:t>
                      </a:r>
                      <a:r>
                        <a:rPr lang="en-US" altLang="zh-CN" sz="1400" b="0" dirty="0">
                          <a:latin typeface="微软雅黑" panose="020B0503020204020204" charset="-122"/>
                          <a:ea typeface="微软雅黑" panose="020B0503020204020204" charset="-122"/>
                          <a:cs typeface="微软雅黑" panose="020B0503020204020204" charset="-122"/>
                        </a:rPr>
                        <a:t>2</a:t>
                      </a:r>
                      <a:r>
                        <a:rPr lang="zh-CN" altLang="en-US" sz="1400" b="0" dirty="0">
                          <a:latin typeface="微软雅黑" panose="020B0503020204020204" charset="-122"/>
                          <a:ea typeface="微软雅黑" panose="020B0503020204020204" charset="-122"/>
                          <a:cs typeface="微软雅黑" panose="020B0503020204020204" charset="-122"/>
                        </a:rPr>
                        <a:t>）</a:t>
                      </a:r>
                      <a:r>
                        <a:rPr lang="zh-CN" altLang="en-US" sz="1400" b="0" dirty="0">
                          <a:solidFill>
                            <a:srgbClr val="0070C0"/>
                          </a:solidFill>
                          <a:latin typeface="微软雅黑" panose="020B0503020204020204" charset="-122"/>
                          <a:ea typeface="微软雅黑" panose="020B0503020204020204" charset="-122"/>
                          <a:cs typeface="微软雅黑" panose="020B0503020204020204" charset="-122"/>
                        </a:rPr>
                        <a:t>特种设备发生过事故，未对其进行全面检查、消除事故隐患。</a:t>
                      </a:r>
                      <a:r>
                        <a:rPr lang="zh-CN" altLang="en-US" sz="1400" b="0" dirty="0">
                          <a:latin typeface="微软雅黑" panose="020B0503020204020204" charset="-122"/>
                          <a:ea typeface="微软雅黑" panose="020B0503020204020204" charset="-122"/>
                          <a:cs typeface="微软雅黑" panose="020B0503020204020204" charset="-122"/>
                        </a:rPr>
                        <a:t>（</a:t>
                      </a:r>
                      <a:r>
                        <a:rPr lang="en-US" altLang="zh-CN" sz="1400" b="0" dirty="0">
                          <a:latin typeface="微软雅黑" panose="020B0503020204020204" charset="-122"/>
                          <a:ea typeface="微软雅黑" panose="020B0503020204020204" charset="-122"/>
                          <a:cs typeface="微软雅黑" panose="020B0503020204020204" charset="-122"/>
                        </a:rPr>
                        <a:t>3</a:t>
                      </a:r>
                      <a:r>
                        <a:rPr lang="zh-CN" altLang="en-US" sz="1400" b="0" dirty="0">
                          <a:latin typeface="微软雅黑" panose="020B0503020204020204" charset="-122"/>
                          <a:ea typeface="微软雅黑" panose="020B0503020204020204" charset="-122"/>
                          <a:cs typeface="微软雅黑" panose="020B0503020204020204" charset="-122"/>
                        </a:rPr>
                        <a:t>）特种设备未按规定进行检验（含监督检验、定期检验）或者检验不合格。（</a:t>
                      </a:r>
                      <a:r>
                        <a:rPr lang="en-US" altLang="zh-CN" sz="1400" b="0" dirty="0">
                          <a:latin typeface="微软雅黑" panose="020B0503020204020204" charset="-122"/>
                          <a:ea typeface="微软雅黑" panose="020B0503020204020204" charset="-122"/>
                          <a:cs typeface="微软雅黑" panose="020B0503020204020204" charset="-122"/>
                        </a:rPr>
                        <a:t>4</a:t>
                      </a:r>
                      <a:r>
                        <a:rPr lang="zh-CN" altLang="en-US" sz="1400" b="0" dirty="0">
                          <a:latin typeface="微软雅黑" panose="020B0503020204020204" charset="-122"/>
                          <a:ea typeface="微软雅黑" panose="020B0503020204020204" charset="-122"/>
                          <a:cs typeface="微软雅黑" panose="020B0503020204020204" charset="-122"/>
                        </a:rPr>
                        <a:t>）有</a:t>
                      </a:r>
                      <a:r>
                        <a:rPr lang="en-US" altLang="zh-CN" sz="1400" b="0" dirty="0">
                          <a:latin typeface="微软雅黑" panose="020B0503020204020204" charset="-122"/>
                          <a:ea typeface="微软雅黑" panose="020B0503020204020204" charset="-122"/>
                          <a:cs typeface="微软雅黑" panose="020B0503020204020204" charset="-122"/>
                        </a:rPr>
                        <a:t>4.1-4.6</a:t>
                      </a:r>
                      <a:r>
                        <a:rPr lang="zh-CN" altLang="en-US" sz="1400" b="0" dirty="0">
                          <a:latin typeface="微软雅黑" panose="020B0503020204020204" charset="-122"/>
                          <a:ea typeface="微软雅黑" panose="020B0503020204020204" charset="-122"/>
                          <a:cs typeface="微软雅黑" panose="020B0503020204020204" charset="-122"/>
                        </a:rPr>
                        <a:t>中规定的超过规定参数、使用范围的情形。</a:t>
                      </a:r>
                      <a:endParaRPr lang="zh-CN" altLang="en-US" sz="1400" b="0" dirty="0">
                        <a:latin typeface="微软雅黑" panose="020B0503020204020204" charset="-122"/>
                        <a:ea typeface="微软雅黑" panose="020B0503020204020204" charset="-122"/>
                        <a:cs typeface="微软雅黑" panose="020B0503020204020204" charset="-122"/>
                      </a:endParaRPr>
                    </a:p>
                    <a:p>
                      <a:pPr indent="0" fontAlgn="auto">
                        <a:lnSpc>
                          <a:spcPct val="110000"/>
                        </a:lnSpc>
                        <a:buNone/>
                      </a:pPr>
                      <a:r>
                        <a:rPr lang="en-US" altLang="zh-CN" sz="1400" b="0" dirty="0">
                          <a:latin typeface="微软雅黑" panose="020B0503020204020204" charset="-122"/>
                          <a:ea typeface="微软雅黑" panose="020B0503020204020204" charset="-122"/>
                          <a:cs typeface="微软雅黑" panose="020B0503020204020204" charset="-122"/>
                        </a:rPr>
                        <a:t>4.1</a:t>
                      </a:r>
                      <a:r>
                        <a:rPr lang="zh-CN" altLang="en-US" sz="1400" b="0" dirty="0">
                          <a:latin typeface="微软雅黑" panose="020B0503020204020204" charset="-122"/>
                          <a:ea typeface="微软雅黑" panose="020B0503020204020204" charset="-122"/>
                          <a:cs typeface="微软雅黑" panose="020B0503020204020204" charset="-122"/>
                        </a:rPr>
                        <a:t>锅炉（不涉及）</a:t>
                      </a:r>
                      <a:endParaRPr lang="zh-CN" altLang="en-US" sz="1400" b="0" dirty="0">
                        <a:latin typeface="微软雅黑" panose="020B0503020204020204" charset="-122"/>
                        <a:ea typeface="微软雅黑" panose="020B0503020204020204" charset="-122"/>
                        <a:cs typeface="微软雅黑" panose="020B0503020204020204" charset="-122"/>
                      </a:endParaRPr>
                    </a:p>
                    <a:p>
                      <a:pPr indent="0" fontAlgn="auto">
                        <a:lnSpc>
                          <a:spcPct val="110000"/>
                        </a:lnSpc>
                        <a:buNone/>
                      </a:pPr>
                      <a:r>
                        <a:rPr lang="en-US" altLang="zh-CN" sz="1400" b="0" dirty="0">
                          <a:latin typeface="微软雅黑" panose="020B0503020204020204" charset="-122"/>
                          <a:ea typeface="微软雅黑" panose="020B0503020204020204" charset="-122"/>
                          <a:cs typeface="微软雅黑" panose="020B0503020204020204" charset="-122"/>
                        </a:rPr>
                        <a:t>4.2</a:t>
                      </a:r>
                      <a:r>
                        <a:rPr lang="zh-CN" altLang="en-US" sz="1400" b="0" dirty="0">
                          <a:latin typeface="微软雅黑" panose="020B0503020204020204" charset="-122"/>
                          <a:ea typeface="微软雅黑" panose="020B0503020204020204" charset="-122"/>
                          <a:cs typeface="微软雅黑" panose="020B0503020204020204" charset="-122"/>
                        </a:rPr>
                        <a:t>压力容器有下列情形之一仍继续使用的：</a:t>
                      </a:r>
                      <a:endParaRPr lang="zh-CN" altLang="en-US" sz="1400" b="0" dirty="0">
                        <a:latin typeface="微软雅黑" panose="020B0503020204020204" charset="-122"/>
                        <a:ea typeface="微软雅黑" panose="020B0503020204020204" charset="-122"/>
                        <a:cs typeface="微软雅黑" panose="020B0503020204020204" charset="-122"/>
                      </a:endParaRPr>
                    </a:p>
                    <a:p>
                      <a:pPr indent="0" fontAlgn="auto">
                        <a:lnSpc>
                          <a:spcPct val="110000"/>
                        </a:lnSpc>
                        <a:buNone/>
                      </a:pPr>
                      <a:r>
                        <a:rPr lang="zh-CN" altLang="en-US" sz="1400" b="0" dirty="0">
                          <a:latin typeface="微软雅黑" panose="020B0503020204020204" charset="-122"/>
                          <a:ea typeface="微软雅黑" panose="020B0503020204020204" charset="-122"/>
                          <a:cs typeface="微软雅黑" panose="020B0503020204020204" charset="-122"/>
                        </a:rPr>
                        <a:t>（</a:t>
                      </a:r>
                      <a:r>
                        <a:rPr lang="en-US" altLang="zh-CN" sz="1400" b="0" dirty="0">
                          <a:latin typeface="微软雅黑" panose="020B0503020204020204" charset="-122"/>
                          <a:ea typeface="微软雅黑" panose="020B0503020204020204" charset="-122"/>
                          <a:cs typeface="微软雅黑" panose="020B0503020204020204" charset="-122"/>
                        </a:rPr>
                        <a:t>a</a:t>
                      </a:r>
                      <a:r>
                        <a:rPr lang="zh-CN" altLang="en-US" sz="1400" b="0" dirty="0">
                          <a:latin typeface="微软雅黑" panose="020B0503020204020204" charset="-122"/>
                          <a:ea typeface="微软雅黑" panose="020B0503020204020204" charset="-122"/>
                          <a:cs typeface="微软雅黑" panose="020B0503020204020204" charset="-122"/>
                        </a:rPr>
                        <a:t>）固定式压力容器改做移动式压力容器使用。</a:t>
                      </a:r>
                      <a:endParaRPr lang="zh-CN" altLang="en-US" sz="1400" b="0" dirty="0">
                        <a:latin typeface="微软雅黑" panose="020B0503020204020204" charset="-122"/>
                        <a:ea typeface="微软雅黑" panose="020B0503020204020204" charset="-122"/>
                        <a:cs typeface="微软雅黑" panose="020B0503020204020204" charset="-122"/>
                      </a:endParaRPr>
                    </a:p>
                    <a:p>
                      <a:pPr indent="0" fontAlgn="auto">
                        <a:lnSpc>
                          <a:spcPct val="110000"/>
                        </a:lnSpc>
                        <a:buNone/>
                      </a:pPr>
                      <a:r>
                        <a:rPr lang="zh-CN" altLang="en-US" sz="1400" b="0" dirty="0">
                          <a:latin typeface="微软雅黑" panose="020B0503020204020204" charset="-122"/>
                          <a:ea typeface="微软雅黑" panose="020B0503020204020204" charset="-122"/>
                          <a:cs typeface="微软雅黑" panose="020B0503020204020204" charset="-122"/>
                        </a:rPr>
                        <a:t>（</a:t>
                      </a:r>
                      <a:r>
                        <a:rPr lang="en-US" altLang="zh-CN" sz="1400" b="0" dirty="0">
                          <a:latin typeface="微软雅黑" panose="020B0503020204020204" charset="-122"/>
                          <a:ea typeface="微软雅黑" panose="020B0503020204020204" charset="-122"/>
                          <a:cs typeface="微软雅黑" panose="020B0503020204020204" charset="-122"/>
                        </a:rPr>
                        <a:t>b</a:t>
                      </a:r>
                      <a:r>
                        <a:rPr lang="zh-CN" altLang="en-US" sz="1400" b="0" dirty="0">
                          <a:latin typeface="微软雅黑" panose="020B0503020204020204" charset="-122"/>
                          <a:ea typeface="微软雅黑" panose="020B0503020204020204" charset="-122"/>
                          <a:cs typeface="微软雅黑" panose="020B0503020204020204" charset="-122"/>
                        </a:rPr>
                        <a:t>）固定式压力容器、移动式压力容器的安全阀、爆破片装置、紧急切断装置缺失或失效。</a:t>
                      </a:r>
                      <a:endParaRPr lang="zh-CN" altLang="en-US" sz="1400" b="0" dirty="0">
                        <a:latin typeface="微软雅黑" panose="020B0503020204020204" charset="-122"/>
                        <a:ea typeface="微软雅黑" panose="020B0503020204020204" charset="-122"/>
                        <a:cs typeface="微软雅黑" panose="020B0503020204020204" charset="-122"/>
                      </a:endParaRPr>
                    </a:p>
                    <a:p>
                      <a:pPr indent="0" fontAlgn="auto">
                        <a:lnSpc>
                          <a:spcPct val="110000"/>
                        </a:lnSpc>
                        <a:buNone/>
                      </a:pPr>
                      <a:r>
                        <a:rPr lang="zh-CN" altLang="en-US" sz="1400" b="0" dirty="0">
                          <a:latin typeface="微软雅黑" panose="020B0503020204020204" charset="-122"/>
                          <a:ea typeface="微软雅黑" panose="020B0503020204020204" charset="-122"/>
                          <a:cs typeface="微软雅黑" panose="020B0503020204020204" charset="-122"/>
                        </a:rPr>
                        <a:t>（</a:t>
                      </a:r>
                      <a:r>
                        <a:rPr lang="en-US" altLang="zh-CN" sz="1400" b="0" dirty="0">
                          <a:latin typeface="微软雅黑" panose="020B0503020204020204" charset="-122"/>
                          <a:ea typeface="微软雅黑" panose="020B0503020204020204" charset="-122"/>
                          <a:cs typeface="微软雅黑" panose="020B0503020204020204" charset="-122"/>
                        </a:rPr>
                        <a:t>c</a:t>
                      </a:r>
                      <a:r>
                        <a:rPr lang="zh-CN" altLang="en-US" sz="1400" b="0" dirty="0">
                          <a:latin typeface="微软雅黑" panose="020B0503020204020204" charset="-122"/>
                          <a:ea typeface="微软雅黑" panose="020B0503020204020204" charset="-122"/>
                          <a:cs typeface="微软雅黑" panose="020B0503020204020204" charset="-122"/>
                        </a:rPr>
                        <a:t>）快开门式压力容器的快开安全保护联锁装置缺失或失效。</a:t>
                      </a:r>
                      <a:endParaRPr lang="zh-CN" altLang="en-US" sz="1400" b="0" dirty="0">
                        <a:latin typeface="微软雅黑" panose="020B0503020204020204" charset="-122"/>
                        <a:ea typeface="微软雅黑" panose="020B0503020204020204" charset="-122"/>
                        <a:cs typeface="微软雅黑" panose="020B0503020204020204" charset="-122"/>
                      </a:endParaRPr>
                    </a:p>
                    <a:p>
                      <a:pPr indent="0" fontAlgn="auto">
                        <a:lnSpc>
                          <a:spcPct val="110000"/>
                        </a:lnSpc>
                        <a:buNone/>
                      </a:pPr>
                      <a:r>
                        <a:rPr lang="en-US" altLang="zh-CN" sz="1400" b="0" dirty="0">
                          <a:latin typeface="微软雅黑" panose="020B0503020204020204" charset="-122"/>
                          <a:ea typeface="微软雅黑" panose="020B0503020204020204" charset="-122"/>
                          <a:cs typeface="微软雅黑" panose="020B0503020204020204" charset="-122"/>
                        </a:rPr>
                        <a:t>4.3</a:t>
                      </a:r>
                      <a:r>
                        <a:rPr lang="zh-CN" altLang="en-US" sz="1400" b="0" dirty="0">
                          <a:latin typeface="微软雅黑" panose="020B0503020204020204" charset="-122"/>
                          <a:ea typeface="微软雅黑" panose="020B0503020204020204" charset="-122"/>
                          <a:cs typeface="微软雅黑" panose="020B0503020204020204" charset="-122"/>
                        </a:rPr>
                        <a:t>压力管道</a:t>
                      </a:r>
                      <a:r>
                        <a:rPr lang="zh-CN" sz="1400" b="0" dirty="0">
                          <a:latin typeface="微软雅黑" panose="020B0503020204020204" charset="-122"/>
                          <a:ea typeface="微软雅黑" panose="020B0503020204020204" charset="-122"/>
                          <a:cs typeface="微软雅黑" panose="020B0503020204020204" charset="-122"/>
                        </a:rPr>
                        <a:t>（不涉及）</a:t>
                      </a:r>
                      <a:r>
                        <a:rPr lang="zh-CN" altLang="en-US" sz="1400" b="0" dirty="0">
                          <a:latin typeface="微软雅黑" panose="020B0503020204020204" charset="-122"/>
                          <a:ea typeface="微软雅黑" panose="020B0503020204020204" charset="-122"/>
                          <a:cs typeface="微软雅黑" panose="020B0503020204020204" charset="-122"/>
                        </a:rPr>
                        <a:t>。</a:t>
                      </a:r>
                      <a:endParaRPr lang="zh-CN" altLang="en-US" sz="1400" b="0" dirty="0">
                        <a:latin typeface="微软雅黑" panose="020B0503020204020204" charset="-122"/>
                        <a:ea typeface="微软雅黑" panose="020B0503020204020204" charset="-122"/>
                        <a:cs typeface="微软雅黑" panose="020B0503020204020204" charset="-122"/>
                      </a:endParaRPr>
                    </a:p>
                    <a:p>
                      <a:pPr indent="0" fontAlgn="auto">
                        <a:lnSpc>
                          <a:spcPct val="110000"/>
                        </a:lnSpc>
                        <a:buNone/>
                      </a:pPr>
                      <a:r>
                        <a:rPr lang="en-US" altLang="zh-CN" sz="1400" b="0" dirty="0">
                          <a:latin typeface="微软雅黑" panose="020B0503020204020204" charset="-122"/>
                          <a:ea typeface="微软雅黑" panose="020B0503020204020204" charset="-122"/>
                          <a:cs typeface="微软雅黑" panose="020B0503020204020204" charset="-122"/>
                        </a:rPr>
                        <a:t>4.4</a:t>
                      </a:r>
                      <a:r>
                        <a:rPr lang="zh-CN" altLang="en-US" sz="1400" b="0" dirty="0">
                          <a:latin typeface="微软雅黑" panose="020B0503020204020204" charset="-122"/>
                          <a:ea typeface="微软雅黑" panose="020B0503020204020204" charset="-122"/>
                          <a:cs typeface="微软雅黑" panose="020B0503020204020204" charset="-122"/>
                        </a:rPr>
                        <a:t>移动式压力容器或者气瓶充装</a:t>
                      </a:r>
                      <a:r>
                        <a:rPr lang="zh-CN" sz="1400" b="0" dirty="0">
                          <a:latin typeface="微软雅黑" panose="020B0503020204020204" charset="-122"/>
                          <a:ea typeface="微软雅黑" panose="020B0503020204020204" charset="-122"/>
                          <a:cs typeface="微软雅黑" panose="020B0503020204020204" charset="-122"/>
                        </a:rPr>
                        <a:t>（不涉及）</a:t>
                      </a:r>
                      <a:endParaRPr lang="zh-CN" altLang="en-US" sz="1400" b="0" dirty="0">
                        <a:latin typeface="微软雅黑" panose="020B0503020204020204" charset="-122"/>
                        <a:ea typeface="微软雅黑" panose="020B0503020204020204" charset="-122"/>
                        <a:cs typeface="微软雅黑" panose="020B0503020204020204" charset="-122"/>
                      </a:endParaRPr>
                    </a:p>
                    <a:p>
                      <a:pPr indent="0" fontAlgn="auto">
                        <a:lnSpc>
                          <a:spcPct val="110000"/>
                        </a:lnSpc>
                        <a:buNone/>
                      </a:pPr>
                      <a:r>
                        <a:rPr lang="en-US" altLang="zh-CN" sz="1400" b="0" dirty="0">
                          <a:latin typeface="微软雅黑" panose="020B0503020204020204" charset="-122"/>
                          <a:ea typeface="微软雅黑" panose="020B0503020204020204" charset="-122"/>
                          <a:cs typeface="微软雅黑" panose="020B0503020204020204" charset="-122"/>
                        </a:rPr>
                        <a:t>4.5</a:t>
                      </a:r>
                      <a:r>
                        <a:rPr lang="zh-CN" altLang="en-US" sz="1400" b="0" dirty="0">
                          <a:latin typeface="微软雅黑" panose="020B0503020204020204" charset="-122"/>
                          <a:ea typeface="微软雅黑" panose="020B0503020204020204" charset="-122"/>
                          <a:cs typeface="微软雅黑" panose="020B0503020204020204" charset="-122"/>
                        </a:rPr>
                        <a:t>电梯有下列情形之一仍继续使用的：</a:t>
                      </a:r>
                      <a:endParaRPr lang="zh-CN" altLang="en-US" sz="1400" b="0" dirty="0">
                        <a:latin typeface="微软雅黑" panose="020B0503020204020204" charset="-122"/>
                        <a:ea typeface="微软雅黑" panose="020B0503020204020204" charset="-122"/>
                        <a:cs typeface="微软雅黑" panose="020B0503020204020204" charset="-122"/>
                      </a:endParaRPr>
                    </a:p>
                    <a:p>
                      <a:pPr indent="0" fontAlgn="auto">
                        <a:lnSpc>
                          <a:spcPct val="110000"/>
                        </a:lnSpc>
                        <a:buNone/>
                      </a:pPr>
                      <a:r>
                        <a:rPr lang="zh-CN" altLang="en-US" sz="1400" b="0" dirty="0">
                          <a:latin typeface="微软雅黑" panose="020B0503020204020204" charset="-122"/>
                          <a:ea typeface="微软雅黑" panose="020B0503020204020204" charset="-122"/>
                          <a:cs typeface="微软雅黑" panose="020B0503020204020204" charset="-122"/>
                        </a:rPr>
                        <a:t>（</a:t>
                      </a:r>
                      <a:r>
                        <a:rPr lang="en-US" altLang="zh-CN" sz="1400" b="0" dirty="0">
                          <a:latin typeface="微软雅黑" panose="020B0503020204020204" charset="-122"/>
                          <a:ea typeface="微软雅黑" panose="020B0503020204020204" charset="-122"/>
                          <a:cs typeface="微软雅黑" panose="020B0503020204020204" charset="-122"/>
                        </a:rPr>
                        <a:t>a</a:t>
                      </a:r>
                      <a:r>
                        <a:rPr lang="zh-CN" altLang="en-US" sz="1400" b="0" dirty="0">
                          <a:latin typeface="微软雅黑" panose="020B0503020204020204" charset="-122"/>
                          <a:ea typeface="微软雅黑" panose="020B0503020204020204" charset="-122"/>
                          <a:cs typeface="微软雅黑" panose="020B0503020204020204" charset="-122"/>
                        </a:rPr>
                        <a:t>）乘客与载货电梯门锁安全回路被短接。</a:t>
                      </a:r>
                      <a:endParaRPr lang="zh-CN" altLang="en-US" sz="1400" b="0" dirty="0">
                        <a:latin typeface="微软雅黑" panose="020B0503020204020204" charset="-122"/>
                        <a:ea typeface="微软雅黑" panose="020B0503020204020204" charset="-122"/>
                        <a:cs typeface="微软雅黑" panose="020B0503020204020204" charset="-122"/>
                      </a:endParaRPr>
                    </a:p>
                    <a:p>
                      <a:pPr indent="0" fontAlgn="auto">
                        <a:lnSpc>
                          <a:spcPct val="110000"/>
                        </a:lnSpc>
                        <a:buNone/>
                      </a:pPr>
                      <a:r>
                        <a:rPr lang="zh-CN" altLang="en-US" sz="1400" b="0" dirty="0">
                          <a:latin typeface="微软雅黑" panose="020B0503020204020204" charset="-122"/>
                          <a:ea typeface="微软雅黑" panose="020B0503020204020204" charset="-122"/>
                          <a:cs typeface="微软雅黑" panose="020B0503020204020204" charset="-122"/>
                        </a:rPr>
                        <a:t>（</a:t>
                      </a:r>
                      <a:r>
                        <a:rPr lang="en-US" altLang="zh-CN" sz="1400" b="0" dirty="0">
                          <a:latin typeface="微软雅黑" panose="020B0503020204020204" charset="-122"/>
                          <a:ea typeface="微软雅黑" panose="020B0503020204020204" charset="-122"/>
                          <a:cs typeface="微软雅黑" panose="020B0503020204020204" charset="-122"/>
                        </a:rPr>
                        <a:t>b</a:t>
                      </a:r>
                      <a:r>
                        <a:rPr lang="zh-CN" altLang="en-US" sz="1400" b="0" dirty="0">
                          <a:latin typeface="微软雅黑" panose="020B0503020204020204" charset="-122"/>
                          <a:ea typeface="微软雅黑" panose="020B0503020204020204" charset="-122"/>
                          <a:cs typeface="微软雅黑" panose="020B0503020204020204" charset="-122"/>
                        </a:rPr>
                        <a:t>）限速器</a:t>
                      </a:r>
                      <a:r>
                        <a:rPr lang="en-US" altLang="zh-CN" sz="1400" b="0" dirty="0">
                          <a:latin typeface="微软雅黑" panose="020B0503020204020204" charset="-122"/>
                          <a:ea typeface="微软雅黑" panose="020B0503020204020204" charset="-122"/>
                          <a:cs typeface="微软雅黑" panose="020B0503020204020204" charset="-122"/>
                        </a:rPr>
                        <a:t>-</a:t>
                      </a:r>
                      <a:r>
                        <a:rPr lang="zh-CN" altLang="en-US" sz="1400" b="0" dirty="0">
                          <a:latin typeface="微软雅黑" panose="020B0503020204020204" charset="-122"/>
                          <a:ea typeface="微软雅黑" panose="020B0503020204020204" charset="-122"/>
                          <a:cs typeface="微软雅黑" panose="020B0503020204020204" charset="-122"/>
                        </a:rPr>
                        <a:t>安全钳联动试验失效。</a:t>
                      </a:r>
                      <a:endParaRPr lang="zh-CN" altLang="en-US" sz="1400" b="0" dirty="0">
                        <a:latin typeface="微软雅黑" panose="020B0503020204020204" charset="-122"/>
                        <a:ea typeface="微软雅黑" panose="020B0503020204020204" charset="-122"/>
                        <a:cs typeface="微软雅黑" panose="020B0503020204020204" charset="-122"/>
                      </a:endParaRPr>
                    </a:p>
                    <a:p>
                      <a:pPr indent="0" fontAlgn="auto">
                        <a:lnSpc>
                          <a:spcPct val="110000"/>
                        </a:lnSpc>
                        <a:buNone/>
                      </a:pPr>
                      <a:r>
                        <a:rPr lang="en-US" altLang="zh-CN" sz="1400" b="0" dirty="0">
                          <a:latin typeface="微软雅黑" panose="020B0503020204020204" charset="-122"/>
                          <a:ea typeface="微软雅黑" panose="020B0503020204020204" charset="-122"/>
                          <a:cs typeface="微软雅黑" panose="020B0503020204020204" charset="-122"/>
                        </a:rPr>
                        <a:t>4.6</a:t>
                      </a:r>
                      <a:r>
                        <a:rPr lang="zh-CN" altLang="en-US" sz="1400" b="0" dirty="0">
                          <a:latin typeface="微软雅黑" panose="020B0503020204020204" charset="-122"/>
                          <a:ea typeface="微软雅黑" panose="020B0503020204020204" charset="-122"/>
                          <a:cs typeface="微软雅黑" panose="020B0503020204020204" charset="-122"/>
                        </a:rPr>
                        <a:t>场（厂）内专用机动车辆</a:t>
                      </a:r>
                      <a:r>
                        <a:rPr lang="zh-CN" sz="1400" b="0" dirty="0">
                          <a:latin typeface="微软雅黑" panose="020B0503020204020204" charset="-122"/>
                          <a:ea typeface="微软雅黑" panose="020B0503020204020204" charset="-122"/>
                          <a:cs typeface="微软雅黑" panose="020B0503020204020204" charset="-122"/>
                        </a:rPr>
                        <a:t>（不涉及）</a:t>
                      </a:r>
                      <a:r>
                        <a:rPr lang="zh-CN" altLang="en-US" sz="1400" b="0" dirty="0">
                          <a:latin typeface="微软雅黑" panose="020B0503020204020204" charset="-122"/>
                          <a:ea typeface="微软雅黑" panose="020B0503020204020204" charset="-122"/>
                          <a:cs typeface="微软雅黑" panose="020B0503020204020204" charset="-122"/>
                        </a:rPr>
                        <a:t>。</a:t>
                      </a:r>
                      <a:endParaRPr lang="zh-CN" altLang="en-US" sz="1400" b="0" dirty="0">
                        <a:latin typeface="微软雅黑" panose="020B0503020204020204" charset="-122"/>
                        <a:ea typeface="微软雅黑" panose="020B0503020204020204" charset="-122"/>
                        <a:cs typeface="微软雅黑" panose="020B0503020204020204" charset="-122"/>
                      </a:endParaRPr>
                    </a:p>
                  </a:txBody>
                  <a:tcPr marL="7620" marR="7620" marT="7620" marB="9525"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r>
              <a:tr h="1055549">
                <a:tc>
                  <a:txBody>
                    <a:bodyPr/>
                    <a:lstStyle/>
                    <a:p>
                      <a:pPr indent="0" algn="ctr">
                        <a:buNone/>
                      </a:pPr>
                      <a:r>
                        <a:rPr lang="en-US" altLang="zh-CN" sz="1400" b="1" dirty="0">
                          <a:latin typeface="微软雅黑" panose="020B0503020204020204" charset="-122"/>
                          <a:ea typeface="微软雅黑" panose="020B0503020204020204" charset="-122"/>
                          <a:cs typeface="仿宋_GB2312" panose="02010609030101010101" charset="-122"/>
                        </a:rPr>
                        <a:t>JD1-SB-002</a:t>
                      </a:r>
                      <a:endParaRPr lang="en-US" altLang="zh-CN" sz="1400" b="1" dirty="0">
                        <a:latin typeface="微软雅黑" panose="020B0503020204020204" charset="-122"/>
                        <a:ea typeface="微软雅黑" panose="020B0503020204020204" charset="-122"/>
                        <a:cs typeface="仿宋_GB2312" panose="02010609030101010101" charset="-122"/>
                      </a:endParaRPr>
                    </a:p>
                  </a:txBody>
                  <a:tcPr marL="7620" marR="7620" marT="7620" marB="9525"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E5F0F9"/>
                    </a:solidFill>
                  </a:tcPr>
                </a:tc>
                <a:tc>
                  <a:txBody>
                    <a:bodyPr/>
                    <a:lstStyle/>
                    <a:p>
                      <a:pPr indent="0" fontAlgn="auto">
                        <a:lnSpc>
                          <a:spcPct val="110000"/>
                        </a:lnSpc>
                        <a:buNone/>
                      </a:pPr>
                      <a:r>
                        <a:rPr lang="zh-CN" altLang="en-US" sz="1400" b="0" dirty="0">
                          <a:latin typeface="微软雅黑" panose="020B0503020204020204" charset="-122"/>
                          <a:ea typeface="微软雅黑" panose="020B0503020204020204" charset="-122"/>
                          <a:cs typeface="微软雅黑" panose="020B0503020204020204" charset="-122"/>
                        </a:rPr>
                        <a:t>特种设备有下列情形之一的，应判定为</a:t>
                      </a:r>
                      <a:r>
                        <a:rPr lang="en-US" altLang="en-US" sz="1400" b="0" dirty="0">
                          <a:latin typeface="微软雅黑" panose="020B0503020204020204" charset="-122"/>
                          <a:ea typeface="微软雅黑" panose="020B0503020204020204" charset="-122"/>
                          <a:cs typeface="微软雅黑" panose="020B0503020204020204" charset="-122"/>
                        </a:rPr>
                        <a:t>Ⅰ</a:t>
                      </a:r>
                      <a:r>
                        <a:rPr lang="zh-CN" altLang="en-US" sz="1400" b="0" dirty="0">
                          <a:latin typeface="微软雅黑" panose="020B0503020204020204" charset="-122"/>
                          <a:ea typeface="微软雅黑" panose="020B0503020204020204" charset="-122"/>
                          <a:cs typeface="微软雅黑" panose="020B0503020204020204" charset="-122"/>
                        </a:rPr>
                        <a:t>级较大事故隐患：</a:t>
                      </a:r>
                      <a:endParaRPr lang="zh-CN" altLang="en-US" sz="1400" b="0" dirty="0">
                        <a:latin typeface="微软雅黑" panose="020B0503020204020204" charset="-122"/>
                        <a:ea typeface="微软雅黑" panose="020B0503020204020204" charset="-122"/>
                        <a:cs typeface="微软雅黑" panose="020B0503020204020204" charset="-122"/>
                      </a:endParaRPr>
                    </a:p>
                    <a:p>
                      <a:pPr indent="0" fontAlgn="auto">
                        <a:lnSpc>
                          <a:spcPct val="110000"/>
                        </a:lnSpc>
                        <a:buNone/>
                      </a:pPr>
                      <a:r>
                        <a:rPr lang="zh-CN" altLang="en-US" sz="1400" b="0" dirty="0">
                          <a:latin typeface="微软雅黑" panose="020B0503020204020204" charset="-122"/>
                          <a:ea typeface="微软雅黑" panose="020B0503020204020204" charset="-122"/>
                          <a:cs typeface="微软雅黑" panose="020B0503020204020204" charset="-122"/>
                        </a:rPr>
                        <a:t>（</a:t>
                      </a:r>
                      <a:r>
                        <a:rPr lang="en-US" altLang="zh-CN" sz="1400" b="0" dirty="0">
                          <a:latin typeface="微软雅黑" panose="020B0503020204020204" charset="-122"/>
                          <a:ea typeface="微软雅黑" panose="020B0503020204020204" charset="-122"/>
                          <a:cs typeface="微软雅黑" panose="020B0503020204020204" charset="-122"/>
                        </a:rPr>
                        <a:t>1</a:t>
                      </a:r>
                      <a:r>
                        <a:rPr lang="zh-CN" altLang="en-US" sz="1400" b="0" dirty="0">
                          <a:latin typeface="微软雅黑" panose="020B0503020204020204" charset="-122"/>
                          <a:ea typeface="微软雅黑" panose="020B0503020204020204" charset="-122"/>
                          <a:cs typeface="微软雅黑" panose="020B0503020204020204" charset="-122"/>
                        </a:rPr>
                        <a:t>）未按照安全技术规范的要求对特种设备进行周期性维护保养和自行检查。</a:t>
                      </a:r>
                      <a:endParaRPr lang="zh-CN" altLang="en-US" sz="1400" b="0" dirty="0">
                        <a:latin typeface="微软雅黑" panose="020B0503020204020204" charset="-122"/>
                        <a:ea typeface="微软雅黑" panose="020B0503020204020204" charset="-122"/>
                        <a:cs typeface="微软雅黑" panose="020B0503020204020204" charset="-122"/>
                      </a:endParaRPr>
                    </a:p>
                    <a:p>
                      <a:pPr indent="0" fontAlgn="auto">
                        <a:lnSpc>
                          <a:spcPct val="110000"/>
                        </a:lnSpc>
                        <a:buNone/>
                      </a:pPr>
                      <a:r>
                        <a:rPr lang="zh-CN" altLang="en-US" sz="1400" b="0" dirty="0">
                          <a:solidFill>
                            <a:srgbClr val="0070C0"/>
                          </a:solidFill>
                          <a:latin typeface="微软雅黑" panose="020B0503020204020204" charset="-122"/>
                          <a:ea typeface="微软雅黑" panose="020B0503020204020204" charset="-122"/>
                          <a:cs typeface="微软雅黑" panose="020B0503020204020204" charset="-122"/>
                        </a:rPr>
                        <a:t>（</a:t>
                      </a:r>
                      <a:r>
                        <a:rPr lang="en-US" altLang="zh-CN" sz="1400" b="0" dirty="0">
                          <a:solidFill>
                            <a:srgbClr val="0070C0"/>
                          </a:solidFill>
                          <a:latin typeface="微软雅黑" panose="020B0503020204020204" charset="-122"/>
                          <a:ea typeface="微软雅黑" panose="020B0503020204020204" charset="-122"/>
                          <a:cs typeface="微软雅黑" panose="020B0503020204020204" charset="-122"/>
                        </a:rPr>
                        <a:t>2</a:t>
                      </a:r>
                      <a:r>
                        <a:rPr lang="zh-CN" altLang="en-US" sz="1400" b="0" dirty="0">
                          <a:solidFill>
                            <a:srgbClr val="0070C0"/>
                          </a:solidFill>
                          <a:latin typeface="微软雅黑" panose="020B0503020204020204" charset="-122"/>
                          <a:ea typeface="微软雅黑" panose="020B0503020204020204" charset="-122"/>
                          <a:cs typeface="微软雅黑" panose="020B0503020204020204" charset="-122"/>
                        </a:rPr>
                        <a:t>）锅炉、压力容器、压力管道投入使用的安全阀未经校验，或校验超期。</a:t>
                      </a:r>
                      <a:endParaRPr lang="zh-CN" altLang="en-US" sz="1400" b="0" dirty="0">
                        <a:solidFill>
                          <a:srgbClr val="0070C0"/>
                        </a:solidFill>
                        <a:latin typeface="微软雅黑" panose="020B0503020204020204" charset="-122"/>
                        <a:ea typeface="微软雅黑" panose="020B0503020204020204" charset="-122"/>
                        <a:cs typeface="微软雅黑" panose="020B0503020204020204" charset="-122"/>
                      </a:endParaRPr>
                    </a:p>
                    <a:p>
                      <a:pPr indent="0" fontAlgn="auto">
                        <a:lnSpc>
                          <a:spcPct val="110000"/>
                        </a:lnSpc>
                        <a:buNone/>
                      </a:pPr>
                      <a:r>
                        <a:rPr lang="zh-CN" altLang="en-US" sz="1400" b="0" dirty="0">
                          <a:solidFill>
                            <a:srgbClr val="0070C0"/>
                          </a:solidFill>
                          <a:latin typeface="微软雅黑" panose="020B0503020204020204" charset="-122"/>
                          <a:ea typeface="微软雅黑" panose="020B0503020204020204" charset="-122"/>
                          <a:cs typeface="微软雅黑" panose="020B0503020204020204" charset="-122"/>
                        </a:rPr>
                        <a:t>（</a:t>
                      </a:r>
                      <a:r>
                        <a:rPr lang="en-US" altLang="zh-CN" sz="1400" b="0" dirty="0">
                          <a:solidFill>
                            <a:srgbClr val="0070C0"/>
                          </a:solidFill>
                          <a:latin typeface="微软雅黑" panose="020B0503020204020204" charset="-122"/>
                          <a:ea typeface="微软雅黑" panose="020B0503020204020204" charset="-122"/>
                          <a:cs typeface="微软雅黑" panose="020B0503020204020204" charset="-122"/>
                        </a:rPr>
                        <a:t>3</a:t>
                      </a:r>
                      <a:r>
                        <a:rPr lang="zh-CN" altLang="en-US" sz="1400" b="0" dirty="0">
                          <a:solidFill>
                            <a:srgbClr val="0070C0"/>
                          </a:solidFill>
                          <a:latin typeface="微软雅黑" panose="020B0503020204020204" charset="-122"/>
                          <a:ea typeface="微软雅黑" panose="020B0503020204020204" charset="-122"/>
                          <a:cs typeface="微软雅黑" panose="020B0503020204020204" charset="-122"/>
                        </a:rPr>
                        <a:t>）装设安全阀、疏水阀、防空阀、阻火器等存在堵塞未采取措施继续使用的。</a:t>
                      </a:r>
                      <a:endParaRPr lang="zh-CN" altLang="en-US" sz="1400" b="0" dirty="0">
                        <a:solidFill>
                          <a:srgbClr val="0070C0"/>
                        </a:solidFill>
                        <a:latin typeface="微软雅黑" panose="020B0503020204020204" charset="-122"/>
                        <a:ea typeface="微软雅黑" panose="020B0503020204020204" charset="-122"/>
                        <a:cs typeface="微软雅黑" panose="020B0503020204020204" charset="-122"/>
                      </a:endParaRPr>
                    </a:p>
                  </a:txBody>
                  <a:tcPr marL="7620" marR="7620" marT="7620" marB="9525"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E5F0F9"/>
                    </a:solidFill>
                  </a:tcPr>
                </a:tc>
              </a:tr>
            </a:tbl>
          </a:graphicData>
        </a:graphic>
      </p:graphicFrame>
      <p:sp>
        <p:nvSpPr>
          <p:cNvPr id="6" name="灯片编号占位符 5"/>
          <p:cNvSpPr>
            <a:spLocks noGrp="1"/>
          </p:cNvSpPr>
          <p:nvPr>
            <p:ph type="sldNum" sz="quarter" idx="4294967295"/>
          </p:nvPr>
        </p:nvSpPr>
        <p:spPr>
          <a:xfrm>
            <a:off x="9997440" y="6499860"/>
            <a:ext cx="2133600" cy="365125"/>
          </a:xfrm>
        </p:spPr>
        <p:txBody>
          <a:bodyPr/>
          <a:lstStyle/>
          <a:p>
            <a:fld id="{A10E9369-8E4E-4DE7-B129-F0280ABC27D7}" type="slidenum">
              <a:rPr lang="zh-CN" altLang="en-US" smtClean="0"/>
            </a:fld>
            <a:endParaRPr lang="zh-CN" altLang="en-US" dirty="0"/>
          </a:p>
        </p:txBody>
      </p:sp>
      <p:sp>
        <p:nvSpPr>
          <p:cNvPr id="8" name="文本框 7"/>
          <p:cNvSpPr txBox="1"/>
          <p:nvPr/>
        </p:nvSpPr>
        <p:spPr>
          <a:xfrm>
            <a:off x="-24680" y="969010"/>
            <a:ext cx="5040000" cy="448945"/>
          </a:xfrm>
          <a:prstGeom prst="rect">
            <a:avLst/>
          </a:prstGeom>
          <a:gradFill>
            <a:gsLst>
              <a:gs pos="66000">
                <a:srgbClr val="054CA4"/>
              </a:gs>
              <a:gs pos="100000">
                <a:srgbClr val="0070C0">
                  <a:alpha val="0"/>
                </a:srgbClr>
              </a:gs>
            </a:gsLst>
            <a:lin ang="0" scaled="0"/>
          </a:gradFill>
          <a:ln w="12700" cap="flat" cmpd="sng" algn="ctr">
            <a:noFill/>
            <a:prstDash val="solid"/>
            <a:miter lim="800000"/>
          </a:ln>
          <a:effectLst/>
        </p:spPr>
        <p:txBody>
          <a:bodyPr rtlCol="0" anchor="ctr"/>
          <a:lstStyle>
            <a:defPPr>
              <a:defRPr lang="zh-CN"/>
            </a:defPPr>
            <a:lvl1pPr>
              <a:defRPr sz="2000" b="1"/>
            </a:lvl1pPr>
            <a:lvl2pPr>
              <a:defRPr>
                <a:solidFill>
                  <a:sysClr val="window" lastClr="FFFFFF"/>
                </a:solidFill>
              </a:defRPr>
            </a:lvl2pPr>
            <a:lvl3pPr>
              <a:defRPr>
                <a:solidFill>
                  <a:sysClr val="window" lastClr="FFFFFF"/>
                </a:solidFill>
              </a:defRPr>
            </a:lvl3pPr>
            <a:lvl4pPr>
              <a:defRPr>
                <a:solidFill>
                  <a:sysClr val="window" lastClr="FFFFFF"/>
                </a:solidFill>
              </a:defRPr>
            </a:lvl4pPr>
            <a:lvl5pPr>
              <a:defRPr>
                <a:solidFill>
                  <a:sysClr val="window" lastClr="FFFFFF"/>
                </a:solidFill>
              </a:defRPr>
            </a:lvl5pPr>
            <a:lvl6pPr>
              <a:defRPr>
                <a:solidFill>
                  <a:sysClr val="window" lastClr="FFFFFF"/>
                </a:solidFill>
              </a:defRPr>
            </a:lvl6pPr>
            <a:lvl7pPr>
              <a:defRPr>
                <a:solidFill>
                  <a:sysClr val="window" lastClr="FFFFFF"/>
                </a:solidFill>
              </a:defRPr>
            </a:lvl7pPr>
            <a:lvl8pPr>
              <a:defRPr>
                <a:solidFill>
                  <a:sysClr val="window" lastClr="FFFFFF"/>
                </a:solidFill>
              </a:defRPr>
            </a:lvl8pPr>
            <a:lvl9pPr>
              <a:defRPr>
                <a:solidFill>
                  <a:sysClr val="window" lastClr="FFFFFF"/>
                </a:solidFill>
              </a:defRPr>
            </a:lvl9pPr>
          </a:lstStyle>
          <a:p>
            <a:pPr algn="l" fontAlgn="auto">
              <a:buClrTx/>
              <a:buSzTx/>
              <a:buFontTx/>
              <a:defRPr/>
            </a:pPr>
            <a:r>
              <a:rPr lang="zh-CN" altLang="en-US" dirty="0">
                <a:solidFill>
                  <a:schemeClr val="bg1"/>
                </a:solidFill>
                <a:latin typeface="微软雅黑" panose="020B0503020204020204" charset="-122"/>
                <a:ea typeface="微软雅黑" panose="020B0503020204020204" charset="-122"/>
                <a:sym typeface="+mn-ea"/>
              </a:rPr>
              <a:t> （三）设备设施隐患</a:t>
            </a:r>
            <a:endParaRPr lang="zh-CN" altLang="en-US" dirty="0">
              <a:solidFill>
                <a:schemeClr val="bg1"/>
              </a:solidFill>
              <a:latin typeface="微软雅黑" panose="020B0503020204020204" charset="-122"/>
              <a:ea typeface="微软雅黑" panose="020B0503020204020204" charset="-122"/>
              <a:sym typeface="+mn-ea"/>
            </a:endParaRPr>
          </a:p>
        </p:txBody>
      </p:sp>
      <p:sp>
        <p:nvSpPr>
          <p:cNvPr id="4" name="TextBox 8"/>
          <p:cNvSpPr txBox="1"/>
          <p:nvPr/>
        </p:nvSpPr>
        <p:spPr>
          <a:xfrm>
            <a:off x="168335" y="271329"/>
            <a:ext cx="7002524" cy="52197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charset="-122"/>
                <a:ea typeface="微软雅黑" panose="020B0503020204020204" charset="-122"/>
              </a:rPr>
              <a:t>二、</a:t>
            </a:r>
            <a:r>
              <a:rPr lang="zh-CN" altLang="en-US" sz="2800" b="1" dirty="0">
                <a:latin typeface="微软雅黑" panose="020B0503020204020204" charset="-122"/>
                <a:ea typeface="微软雅黑" panose="020B0503020204020204" charset="-122"/>
                <a:sym typeface="+mn-ea"/>
              </a:rPr>
              <a:t>网公司事故隐患判定标准宣贯学习</a:t>
            </a:r>
            <a:endParaRPr lang="zh-CN" altLang="en-US" sz="2800" b="1" dirty="0">
              <a:latin typeface="微软雅黑" panose="020B0503020204020204" charset="-122"/>
              <a:ea typeface="微软雅黑" panose="020B0503020204020204" charset="-122"/>
            </a:endParaRP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4294967295"/>
          </p:nvPr>
        </p:nvSpPr>
        <p:spPr>
          <a:xfrm>
            <a:off x="9997440" y="6499860"/>
            <a:ext cx="2133600" cy="365125"/>
          </a:xfrm>
        </p:spPr>
        <p:txBody>
          <a:bodyPr/>
          <a:lstStyle/>
          <a:p>
            <a:fld id="{A10E9369-8E4E-4DE7-B129-F0280ABC27D7}" type="slidenum">
              <a:rPr lang="zh-CN" altLang="en-US" smtClean="0"/>
            </a:fld>
            <a:endParaRPr lang="zh-CN" altLang="en-US" dirty="0"/>
          </a:p>
        </p:txBody>
      </p:sp>
      <p:sp>
        <p:nvSpPr>
          <p:cNvPr id="8" name="文本框 7"/>
          <p:cNvSpPr txBox="1"/>
          <p:nvPr/>
        </p:nvSpPr>
        <p:spPr>
          <a:xfrm>
            <a:off x="-24680" y="969010"/>
            <a:ext cx="5040000" cy="448945"/>
          </a:xfrm>
          <a:prstGeom prst="rect">
            <a:avLst/>
          </a:prstGeom>
          <a:gradFill>
            <a:gsLst>
              <a:gs pos="66000">
                <a:srgbClr val="054CA4"/>
              </a:gs>
              <a:gs pos="100000">
                <a:srgbClr val="0070C0">
                  <a:alpha val="0"/>
                </a:srgbClr>
              </a:gs>
            </a:gsLst>
            <a:lin ang="0" scaled="0"/>
          </a:gradFill>
          <a:ln w="12700" cap="flat" cmpd="sng" algn="ctr">
            <a:noFill/>
            <a:prstDash val="solid"/>
            <a:miter lim="800000"/>
          </a:ln>
          <a:effectLst/>
        </p:spPr>
        <p:txBody>
          <a:bodyPr rtlCol="0" anchor="ctr"/>
          <a:lstStyle>
            <a:defPPr>
              <a:defRPr lang="zh-CN"/>
            </a:defPPr>
            <a:lvl1pPr>
              <a:defRPr sz="2000" b="1"/>
            </a:lvl1pPr>
            <a:lvl2pPr>
              <a:defRPr>
                <a:solidFill>
                  <a:sysClr val="window" lastClr="FFFFFF"/>
                </a:solidFill>
              </a:defRPr>
            </a:lvl2pPr>
            <a:lvl3pPr>
              <a:defRPr>
                <a:solidFill>
                  <a:sysClr val="window" lastClr="FFFFFF"/>
                </a:solidFill>
              </a:defRPr>
            </a:lvl3pPr>
            <a:lvl4pPr>
              <a:defRPr>
                <a:solidFill>
                  <a:sysClr val="window" lastClr="FFFFFF"/>
                </a:solidFill>
              </a:defRPr>
            </a:lvl4pPr>
            <a:lvl5pPr>
              <a:defRPr>
                <a:solidFill>
                  <a:sysClr val="window" lastClr="FFFFFF"/>
                </a:solidFill>
              </a:defRPr>
            </a:lvl5pPr>
            <a:lvl6pPr>
              <a:defRPr>
                <a:solidFill>
                  <a:sysClr val="window" lastClr="FFFFFF"/>
                </a:solidFill>
              </a:defRPr>
            </a:lvl6pPr>
            <a:lvl7pPr>
              <a:defRPr>
                <a:solidFill>
                  <a:sysClr val="window" lastClr="FFFFFF"/>
                </a:solidFill>
              </a:defRPr>
            </a:lvl7pPr>
            <a:lvl8pPr>
              <a:defRPr>
                <a:solidFill>
                  <a:sysClr val="window" lastClr="FFFFFF"/>
                </a:solidFill>
              </a:defRPr>
            </a:lvl8pPr>
            <a:lvl9pPr>
              <a:defRPr>
                <a:solidFill>
                  <a:sysClr val="window" lastClr="FFFFFF"/>
                </a:solidFill>
              </a:defRPr>
            </a:lvl9pPr>
          </a:lstStyle>
          <a:p>
            <a:pPr algn="l" fontAlgn="auto">
              <a:buClrTx/>
              <a:buSzTx/>
              <a:buFontTx/>
              <a:defRPr/>
            </a:pPr>
            <a:r>
              <a:rPr lang="zh-CN" altLang="en-US" dirty="0">
                <a:solidFill>
                  <a:schemeClr val="bg1"/>
                </a:solidFill>
                <a:latin typeface="微软雅黑" panose="020B0503020204020204" charset="-122"/>
                <a:ea typeface="微软雅黑" panose="020B0503020204020204" charset="-122"/>
                <a:sym typeface="+mn-ea"/>
              </a:rPr>
              <a:t> （三）设备设施隐患</a:t>
            </a:r>
            <a:endParaRPr lang="zh-CN" altLang="en-US" dirty="0">
              <a:solidFill>
                <a:schemeClr val="bg1"/>
              </a:solidFill>
              <a:latin typeface="微软雅黑" panose="020B0503020204020204" charset="-122"/>
              <a:ea typeface="微软雅黑" panose="020B0503020204020204" charset="-122"/>
              <a:sym typeface="+mn-ea"/>
            </a:endParaRPr>
          </a:p>
        </p:txBody>
      </p:sp>
      <p:sp>
        <p:nvSpPr>
          <p:cNvPr id="13" name="文本框 12"/>
          <p:cNvSpPr txBox="1"/>
          <p:nvPr/>
        </p:nvSpPr>
        <p:spPr>
          <a:xfrm>
            <a:off x="228600" y="1557020"/>
            <a:ext cx="11484024" cy="1588135"/>
          </a:xfrm>
          <a:prstGeom prst="rect">
            <a:avLst/>
          </a:prstGeom>
          <a:noFill/>
          <a:ln w="15875" cmpd="sng">
            <a:noFill/>
            <a:prstDash val="sysDash"/>
          </a:ln>
        </p:spPr>
        <p:txBody>
          <a:bodyPr wrap="square" rtlCol="0">
            <a:noAutofit/>
          </a:bodyPr>
          <a:lstStyle/>
          <a:p>
            <a:pPr indent="0" algn="just" fontAlgn="auto">
              <a:lnSpc>
                <a:spcPct val="150000"/>
              </a:lnSpc>
              <a:spcBef>
                <a:spcPts val="0"/>
              </a:spcBef>
              <a:spcAft>
                <a:spcPts val="0"/>
              </a:spcAft>
              <a:buFont typeface="Wingdings" panose="05000000000000000000" charset="0"/>
              <a:buNone/>
            </a:pPr>
            <a:r>
              <a:rPr lang="zh-CN" altLang="en-US" sz="1600" b="1" kern="0" dirty="0">
                <a:solidFill>
                  <a:schemeClr val="tx1"/>
                </a:solidFill>
                <a:latin typeface="微软雅黑" panose="020B0503020204020204" charset="-122"/>
                <a:ea typeface="微软雅黑" panose="020B0503020204020204" charset="-122"/>
                <a:cs typeface="微软雅黑" panose="020B0503020204020204" charset="-122"/>
                <a:sym typeface="+mn-ea"/>
              </a:rPr>
              <a:t>【解读】</a:t>
            </a:r>
            <a:r>
              <a:rPr sz="1600" kern="0" dirty="0" err="1">
                <a:solidFill>
                  <a:sysClr val="windowText" lastClr="000000"/>
                </a:solidFill>
                <a:latin typeface="微软雅黑" panose="020B0503020204020204" charset="-122"/>
                <a:ea typeface="微软雅黑" panose="020B0503020204020204" charset="-122"/>
                <a:cs typeface="微软雅黑" panose="020B0503020204020204" charset="-122"/>
                <a:sym typeface="+mn-ea"/>
              </a:rPr>
              <a:t>条款主要参考《特种设备</a:t>
            </a:r>
            <a:r>
              <a:rPr lang="zh-CN" sz="1600" kern="0" dirty="0" err="1">
                <a:solidFill>
                  <a:sysClr val="windowText" lastClr="000000"/>
                </a:solidFill>
                <a:latin typeface="微软雅黑" panose="020B0503020204020204" charset="-122"/>
                <a:ea typeface="微软雅黑" panose="020B0503020204020204" charset="-122"/>
                <a:cs typeface="微软雅黑" panose="020B0503020204020204" charset="-122"/>
                <a:sym typeface="+mn-ea"/>
              </a:rPr>
              <a:t>重大</a:t>
            </a:r>
            <a:r>
              <a:rPr sz="1600" kern="0" dirty="0" err="1">
                <a:solidFill>
                  <a:sysClr val="windowText" lastClr="000000"/>
                </a:solidFill>
                <a:latin typeface="微软雅黑" panose="020B0503020204020204" charset="-122"/>
                <a:ea typeface="微软雅黑" panose="020B0503020204020204" charset="-122"/>
                <a:cs typeface="微软雅黑" panose="020B0503020204020204" charset="-122"/>
                <a:sym typeface="+mn-ea"/>
              </a:rPr>
              <a:t>事故隐患</a:t>
            </a:r>
            <a:r>
              <a:rPr lang="zh-CN" sz="1600" kern="0" dirty="0" err="1">
                <a:solidFill>
                  <a:sysClr val="windowText" lastClr="000000"/>
                </a:solidFill>
                <a:latin typeface="微软雅黑" panose="020B0503020204020204" charset="-122"/>
                <a:ea typeface="微软雅黑" panose="020B0503020204020204" charset="-122"/>
                <a:cs typeface="微软雅黑" panose="020B0503020204020204" charset="-122"/>
                <a:sym typeface="+mn-ea"/>
              </a:rPr>
              <a:t>判定准则》</a:t>
            </a:r>
            <a:r>
              <a:rPr sz="1600" kern="0" dirty="0" err="1">
                <a:solidFill>
                  <a:sysClr val="windowText" lastClr="000000"/>
                </a:solidFill>
                <a:latin typeface="微软雅黑" panose="020B0503020204020204" charset="-122"/>
                <a:ea typeface="微软雅黑" panose="020B0503020204020204" charset="-122"/>
                <a:cs typeface="微软雅黑" panose="020B0503020204020204" charset="-122"/>
                <a:sym typeface="+mn-ea"/>
              </a:rPr>
              <a:t>（</a:t>
            </a:r>
            <a:r>
              <a:rPr lang="en-US" sz="1600" kern="0" dirty="0" err="1">
                <a:solidFill>
                  <a:sysClr val="windowText" lastClr="000000"/>
                </a:solidFill>
                <a:latin typeface="微软雅黑" panose="020B0503020204020204" charset="-122"/>
                <a:ea typeface="微软雅黑" panose="020B0503020204020204" charset="-122"/>
                <a:cs typeface="微软雅黑" panose="020B0503020204020204" charset="-122"/>
                <a:sym typeface="+mn-ea"/>
              </a:rPr>
              <a:t>GB45067-2024</a:t>
            </a:r>
            <a:r>
              <a:rPr sz="1600" kern="0" dirty="0">
                <a:solidFill>
                  <a:sysClr val="windowText" lastClr="000000"/>
                </a:solidFill>
                <a:latin typeface="微软雅黑" panose="020B0503020204020204" charset="-122"/>
                <a:ea typeface="微软雅黑" panose="020B0503020204020204" charset="-122"/>
                <a:cs typeface="微软雅黑" panose="020B0503020204020204" charset="-122"/>
                <a:sym typeface="+mn-ea"/>
              </a:rPr>
              <a:t>）</a:t>
            </a:r>
            <a:r>
              <a:rPr lang="zh-CN" sz="1600" kern="0" dirty="0">
                <a:solidFill>
                  <a:sysClr val="windowText" lastClr="000000"/>
                </a:solidFill>
                <a:latin typeface="微软雅黑" panose="020B0503020204020204" charset="-122"/>
                <a:ea typeface="微软雅黑" panose="020B0503020204020204" charset="-122"/>
                <a:cs typeface="微软雅黑" panose="020B0503020204020204" charset="-122"/>
                <a:sym typeface="+mn-ea"/>
              </a:rPr>
              <a:t>，特种</a:t>
            </a:r>
            <a:r>
              <a:rPr lang="zh-CN" altLang="en-US" sz="1600" kern="0" dirty="0">
                <a:solidFill>
                  <a:sysClr val="windowText" lastClr="000000"/>
                </a:solidFill>
                <a:latin typeface="微软雅黑" panose="020B0503020204020204" charset="-122"/>
                <a:ea typeface="微软雅黑" panose="020B0503020204020204" charset="-122"/>
                <a:cs typeface="微软雅黑" panose="020B0503020204020204" charset="-122"/>
                <a:sym typeface="+mn-ea"/>
              </a:rPr>
              <a:t>设备事故隐患判定标准分为通用判定准则（四种）和各类特种设备的专项判定准则。</a:t>
            </a:r>
            <a:r>
              <a:rPr lang="zh-CN" sz="1600" kern="0" dirty="0">
                <a:solidFill>
                  <a:sysClr val="windowText" lastClr="000000"/>
                </a:solidFill>
                <a:latin typeface="微软雅黑" panose="020B0503020204020204" charset="-122"/>
                <a:ea typeface="微软雅黑" panose="020B0503020204020204" charset="-122"/>
                <a:cs typeface="微软雅黑" panose="020B0503020204020204" charset="-122"/>
                <a:sym typeface="+mn-ea"/>
              </a:rPr>
              <a:t>涉及变电站的主要是压力容器、电梯和起重机械等。</a:t>
            </a:r>
            <a:r>
              <a:rPr lang="zh-CN" altLang="en-US" sz="1600" kern="0" dirty="0">
                <a:solidFill>
                  <a:sysClr val="windowText" lastClr="000000"/>
                </a:solidFill>
                <a:effectLst/>
                <a:latin typeface="微软雅黑" panose="020B0503020204020204" charset="-122"/>
                <a:ea typeface="微软雅黑" panose="020B0503020204020204" charset="-122"/>
                <a:cs typeface="微软雅黑" panose="020B0503020204020204" charset="-122"/>
                <a:sym typeface="+mn-ea"/>
              </a:rPr>
              <a:t>当前厂站内特种设备均按要求开展规范管理，但可能存在部分隐蔽特种设备（如</a:t>
            </a:r>
            <a:r>
              <a:rPr lang="en-US" altLang="zh-CN" sz="1600" kern="0" dirty="0">
                <a:solidFill>
                  <a:sysClr val="windowText" lastClr="000000"/>
                </a:solidFill>
                <a:effectLst/>
                <a:latin typeface="微软雅黑" panose="020B0503020204020204" charset="-122"/>
                <a:ea typeface="微软雅黑" panose="020B0503020204020204" charset="-122"/>
                <a:cs typeface="微软雅黑" panose="020B0503020204020204" charset="-122"/>
                <a:sym typeface="+mn-ea"/>
              </a:rPr>
              <a:t>500kV</a:t>
            </a:r>
            <a:r>
              <a:rPr lang="zh-CN" altLang="en-US" sz="1600" kern="0" dirty="0">
                <a:solidFill>
                  <a:sysClr val="windowText" lastClr="000000"/>
                </a:solidFill>
                <a:effectLst/>
                <a:latin typeface="微软雅黑" panose="020B0503020204020204" charset="-122"/>
                <a:ea typeface="微软雅黑" panose="020B0503020204020204" charset="-122"/>
                <a:cs typeface="微软雅黑" panose="020B0503020204020204" charset="-122"/>
                <a:sym typeface="+mn-ea"/>
              </a:rPr>
              <a:t>鹏城站</a:t>
            </a:r>
            <a:r>
              <a:rPr lang="en-US" altLang="zh-CN" sz="1600" kern="0" dirty="0">
                <a:solidFill>
                  <a:sysClr val="windowText" lastClr="000000"/>
                </a:solidFill>
                <a:effectLst/>
                <a:latin typeface="微软雅黑" panose="020B0503020204020204" charset="-122"/>
                <a:ea typeface="微软雅黑" panose="020B0503020204020204" charset="-122"/>
                <a:cs typeface="微软雅黑" panose="020B0503020204020204" charset="-122"/>
                <a:sym typeface="+mn-ea"/>
              </a:rPr>
              <a:t>STATCOM</a:t>
            </a:r>
            <a:r>
              <a:rPr lang="zh-CN" altLang="en-US" sz="1600" kern="0" dirty="0">
                <a:solidFill>
                  <a:sysClr val="windowText" lastClr="000000"/>
                </a:solidFill>
                <a:effectLst/>
                <a:latin typeface="微软雅黑" panose="020B0503020204020204" charset="-122"/>
                <a:ea typeface="微软雅黑" panose="020B0503020204020204" charset="-122"/>
                <a:cs typeface="微软雅黑" panose="020B0503020204020204" charset="-122"/>
                <a:sym typeface="+mn-ea"/>
              </a:rPr>
              <a:t>设备集装箱内冷却装置氮气瓶）一开始未被正确识别导致管理真空的情况。</a:t>
            </a:r>
            <a:endParaRPr lang="zh-CN" altLang="en-US" sz="1600" kern="0" dirty="0">
              <a:solidFill>
                <a:sysClr val="windowText" lastClr="000000"/>
              </a:solidFill>
              <a:effectLst/>
              <a:latin typeface="微软雅黑" panose="020B0503020204020204" charset="-122"/>
              <a:ea typeface="微软雅黑" panose="020B0503020204020204" charset="-122"/>
              <a:cs typeface="微软雅黑" panose="020B0503020204020204" charset="-122"/>
              <a:sym typeface="+mn-ea"/>
            </a:endParaRPr>
          </a:p>
        </p:txBody>
      </p:sp>
      <p:sp>
        <p:nvSpPr>
          <p:cNvPr id="7" name="文本框 6"/>
          <p:cNvSpPr txBox="1"/>
          <p:nvPr/>
        </p:nvSpPr>
        <p:spPr>
          <a:xfrm>
            <a:off x="298890" y="3140968"/>
            <a:ext cx="7100570" cy="2205990"/>
          </a:xfrm>
          <a:prstGeom prst="rect">
            <a:avLst/>
          </a:prstGeom>
          <a:noFill/>
          <a:ln w="15875" cmpd="sng">
            <a:noFill/>
            <a:prstDash val="dash"/>
          </a:ln>
        </p:spPr>
        <p:txBody>
          <a:bodyPr wrap="square" rtlCol="0">
            <a:noAutofit/>
          </a:bodyPr>
          <a:lstStyle/>
          <a:p>
            <a:pPr indent="0" fontAlgn="auto">
              <a:lnSpc>
                <a:spcPct val="140000"/>
              </a:lnSpc>
              <a:spcBef>
                <a:spcPts val="0"/>
              </a:spcBef>
              <a:spcAft>
                <a:spcPts val="0"/>
              </a:spcAft>
              <a:buClrTx/>
              <a:buSzTx/>
              <a:buFont typeface="Wingdings" panose="05000000000000000000" charset="0"/>
              <a:buNone/>
            </a:pPr>
            <a:r>
              <a:rPr lang="zh-CN" altLang="en-US" sz="1600" b="1" kern="0" dirty="0">
                <a:latin typeface="微软雅黑" panose="020B0503020204020204" charset="-122"/>
              </a:rPr>
              <a:t>【案例</a:t>
            </a:r>
            <a:r>
              <a:rPr lang="en-US" altLang="zh-CN" sz="1600" b="1" kern="0" dirty="0">
                <a:latin typeface="微软雅黑" panose="020B0503020204020204" charset="-122"/>
              </a:rPr>
              <a:t>1</a:t>
            </a:r>
            <a:r>
              <a:rPr lang="zh-CN" altLang="en-US" sz="1600" b="1" kern="0" dirty="0">
                <a:latin typeface="微软雅黑" panose="020B0503020204020204" charset="-122"/>
              </a:rPr>
              <a:t>】</a:t>
            </a:r>
            <a:r>
              <a:rPr lang="zh-CN" altLang="en-US" sz="1600" b="1" kern="0" dirty="0">
                <a:solidFill>
                  <a:srgbClr val="0070C0"/>
                </a:solidFill>
                <a:latin typeface="微软雅黑" panose="020B0503020204020204" charset="-122"/>
              </a:rPr>
              <a:t>广州市“5·16”一般起重机械坠落事故</a:t>
            </a:r>
            <a:r>
              <a:rPr lang="zh-CN" altLang="en-US" sz="1600" kern="0" dirty="0">
                <a:solidFill>
                  <a:srgbClr val="0070C0"/>
                </a:solidFill>
                <a:latin typeface="微软雅黑" panose="020B0503020204020204" charset="-122"/>
              </a:rPr>
              <a:t>。</a:t>
            </a:r>
            <a:r>
              <a:rPr lang="zh-CN" altLang="en-US" sz="1600" kern="0" dirty="0">
                <a:latin typeface="微软雅黑" panose="020B0503020204020204" charset="-122"/>
              </a:rPr>
              <a:t>2024年5月16日下午14：40左右，鞍钢联众（广州）不锈钢有限公司热轧厂发生一起一般起重机械吊钩坠落事故，造成一人死亡，直接经济损失199.66万元。</a:t>
            </a:r>
            <a:endParaRPr lang="zh-CN" altLang="en-US" sz="1600" kern="0" dirty="0">
              <a:latin typeface="微软雅黑" panose="020B0503020204020204" charset="-122"/>
            </a:endParaRPr>
          </a:p>
          <a:p>
            <a:pPr indent="0" fontAlgn="auto">
              <a:lnSpc>
                <a:spcPct val="140000"/>
              </a:lnSpc>
              <a:spcBef>
                <a:spcPts val="0"/>
              </a:spcBef>
              <a:spcAft>
                <a:spcPts val="0"/>
              </a:spcAft>
              <a:buClrTx/>
              <a:buSzTx/>
              <a:buFont typeface="Wingdings" panose="05000000000000000000" charset="0"/>
              <a:buNone/>
            </a:pPr>
            <a:r>
              <a:rPr lang="zh-CN" altLang="en-US" sz="1600" kern="0" dirty="0">
                <a:latin typeface="微软雅黑" panose="020B0503020204020204" charset="-122"/>
              </a:rPr>
              <a:t>事故的主要原因是：株洲天桥重型起重机工程有限公司</a:t>
            </a:r>
            <a:r>
              <a:rPr lang="zh-CN" altLang="en-US" sz="1600" b="1" kern="0" dirty="0">
                <a:solidFill>
                  <a:srgbClr val="0070C0"/>
                </a:solidFill>
                <a:latin typeface="微软雅黑" panose="020B0503020204020204" charset="-122"/>
              </a:rPr>
              <a:t>未按规定开展维护保养和检查工作</a:t>
            </a:r>
            <a:r>
              <a:rPr lang="zh-CN" altLang="en-US" sz="1600" kern="0" dirty="0">
                <a:latin typeface="微软雅黑" panose="020B0503020204020204" charset="-122"/>
              </a:rPr>
              <a:t>，长期漏检作为重要安全保护装置的起升高度限位器，未能及时发现并修复其缺陷，致使事故起重机带病运行。</a:t>
            </a:r>
            <a:endParaRPr lang="zh-CN" altLang="en-US" sz="1600" kern="0" dirty="0">
              <a:latin typeface="微软雅黑" panose="020B0503020204020204" charset="-122"/>
            </a:endParaRPr>
          </a:p>
          <a:p>
            <a:pPr indent="0" fontAlgn="auto">
              <a:lnSpc>
                <a:spcPct val="130000"/>
              </a:lnSpc>
              <a:spcBef>
                <a:spcPts val="0"/>
              </a:spcBef>
              <a:spcAft>
                <a:spcPts val="0"/>
              </a:spcAft>
              <a:buClrTx/>
              <a:buSzTx/>
              <a:buFont typeface="Wingdings" panose="05000000000000000000" charset="0"/>
              <a:buNone/>
            </a:pPr>
            <a:endParaRPr lang="zh-CN" altLang="en-US" sz="1600" kern="0" dirty="0">
              <a:latin typeface="微软雅黑" panose="020B0503020204020204" charset="-122"/>
            </a:endParaRPr>
          </a:p>
        </p:txBody>
      </p:sp>
      <p:pic>
        <p:nvPicPr>
          <p:cNvPr id="11" name="图片 10"/>
          <p:cNvPicPr>
            <a:picLocks noChangeAspect="1"/>
          </p:cNvPicPr>
          <p:nvPr/>
        </p:nvPicPr>
        <p:blipFill>
          <a:blip r:embed="rId1"/>
          <a:stretch>
            <a:fillRect/>
          </a:stretch>
        </p:blipFill>
        <p:spPr>
          <a:xfrm>
            <a:off x="7806740" y="3218713"/>
            <a:ext cx="3779518" cy="2059390"/>
          </a:xfrm>
          <a:prstGeom prst="rect">
            <a:avLst/>
          </a:prstGeom>
          <a:ln w="12700" cmpd="sng">
            <a:solidFill>
              <a:schemeClr val="accent1">
                <a:shade val="50000"/>
              </a:schemeClr>
            </a:solidFill>
            <a:prstDash val="solid"/>
          </a:ln>
        </p:spPr>
      </p:pic>
      <p:sp>
        <p:nvSpPr>
          <p:cNvPr id="14" name="文本框 13"/>
          <p:cNvSpPr txBox="1"/>
          <p:nvPr/>
        </p:nvSpPr>
        <p:spPr>
          <a:xfrm>
            <a:off x="319707" y="5445224"/>
            <a:ext cx="11392917" cy="1050925"/>
          </a:xfrm>
          <a:prstGeom prst="rect">
            <a:avLst/>
          </a:prstGeom>
          <a:noFill/>
          <a:ln w="15875" cmpd="sng">
            <a:noFill/>
            <a:prstDash val="dash"/>
          </a:ln>
        </p:spPr>
        <p:txBody>
          <a:bodyPr wrap="square" rtlCol="0" anchor="t">
            <a:noAutofit/>
          </a:bodyPr>
          <a:lstStyle/>
          <a:p>
            <a:pPr lvl="0" algn="just">
              <a:lnSpc>
                <a:spcPct val="130000"/>
              </a:lnSpc>
              <a:spcBef>
                <a:spcPts val="0"/>
              </a:spcBef>
              <a:spcAft>
                <a:spcPts val="0"/>
              </a:spcAft>
              <a:buClrTx/>
              <a:buSzTx/>
              <a:buFont typeface="Wingdings" panose="05000000000000000000" charset="0"/>
            </a:pPr>
            <a:r>
              <a:rPr lang="zh-CN" altLang="en-US" sz="1600" b="1" kern="0" dirty="0">
                <a:latin typeface="微软雅黑" panose="020B0503020204020204" charset="-122"/>
                <a:sym typeface="+mn-ea"/>
              </a:rPr>
              <a:t>【案例</a:t>
            </a:r>
            <a:r>
              <a:rPr lang="en-US" altLang="zh-CN" sz="1600" b="1" kern="0" dirty="0">
                <a:latin typeface="微软雅黑" panose="020B0503020204020204" charset="-122"/>
                <a:sym typeface="+mn-ea"/>
              </a:rPr>
              <a:t>2</a:t>
            </a:r>
            <a:r>
              <a:rPr lang="zh-CN" altLang="en-US" sz="1600" b="1" kern="0" dirty="0">
                <a:latin typeface="微软雅黑" panose="020B0503020204020204" charset="-122"/>
                <a:sym typeface="+mn-ea"/>
              </a:rPr>
              <a:t>】</a:t>
            </a:r>
            <a:r>
              <a:rPr lang="zh-CN" altLang="en-US" sz="1600" b="1" kern="0" dirty="0">
                <a:solidFill>
                  <a:srgbClr val="0070C0"/>
                </a:solidFill>
                <a:latin typeface="微软雅黑" panose="020B0503020204020204" charset="-122"/>
                <a:sym typeface="+mn-ea"/>
              </a:rPr>
              <a:t>新洲大楼货梯抱闸失效重大隐患</a:t>
            </a:r>
            <a:r>
              <a:rPr lang="zh-CN" altLang="en-US" sz="1600" b="1" kern="0" dirty="0">
                <a:latin typeface="微软雅黑" panose="020B0503020204020204" charset="-122"/>
                <a:sym typeface="+mn-ea"/>
              </a:rPr>
              <a:t>。</a:t>
            </a:r>
            <a:r>
              <a:rPr lang="zh-CN" altLang="en-US" sz="1600" kern="0" dirty="0">
                <a:latin typeface="微软雅黑" panose="020B0503020204020204" charset="-122"/>
                <a:sym typeface="+mn-ea"/>
              </a:rPr>
              <a:t>2023年新洲电力调度大厦消防货运电梯出现16次抱闸故障，2024年出现10次以上抱闸故障，存在较大安全隐患。消防货运电梯为上海三菱电梯有限公司制造，主要配件出厂时间为2010年，至今使用14年，该梯抱闸属已停产产品，同时市面无其他替代配件。</a:t>
            </a:r>
            <a:endParaRPr lang="zh-CN" altLang="en-US" sz="1600" kern="0" dirty="0">
              <a:latin typeface="微软雅黑" panose="020B0503020204020204" charset="-122"/>
              <a:sym typeface="+mn-ea"/>
            </a:endParaRPr>
          </a:p>
        </p:txBody>
      </p:sp>
      <p:sp>
        <p:nvSpPr>
          <p:cNvPr id="4" name="TextBox 8"/>
          <p:cNvSpPr txBox="1"/>
          <p:nvPr/>
        </p:nvSpPr>
        <p:spPr>
          <a:xfrm>
            <a:off x="168335" y="271329"/>
            <a:ext cx="7002524" cy="52197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charset="-122"/>
                <a:ea typeface="微软雅黑" panose="020B0503020204020204" charset="-122"/>
              </a:rPr>
              <a:t>二、</a:t>
            </a:r>
            <a:r>
              <a:rPr lang="zh-CN" altLang="en-US" sz="2800" b="1" dirty="0">
                <a:latin typeface="微软雅黑" panose="020B0503020204020204" charset="-122"/>
                <a:ea typeface="微软雅黑" panose="020B0503020204020204" charset="-122"/>
                <a:sym typeface="+mn-ea"/>
              </a:rPr>
              <a:t>网公司事故隐患判定标准宣贯学习</a:t>
            </a:r>
            <a:endParaRPr lang="zh-CN" altLang="en-US" sz="2800" b="1" dirty="0">
              <a:latin typeface="微软雅黑" panose="020B0503020204020204" charset="-122"/>
              <a:ea typeface="微软雅黑" panose="020B0503020204020204" charset="-122"/>
            </a:endParaRPr>
          </a:p>
        </p:txBody>
      </p:sp>
      <p:cxnSp>
        <p:nvCxnSpPr>
          <p:cNvPr id="3" name="直接连接符 2"/>
          <p:cNvCxnSpPr/>
          <p:nvPr/>
        </p:nvCxnSpPr>
        <p:spPr>
          <a:xfrm>
            <a:off x="288664" y="3072745"/>
            <a:ext cx="11522075" cy="0"/>
          </a:xfrm>
          <a:prstGeom prst="line">
            <a:avLst/>
          </a:prstGeom>
          <a:ln w="12700">
            <a:solidFill>
              <a:srgbClr val="0070C0"/>
            </a:solidFill>
            <a:prstDash val="dash"/>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a:xfrm>
            <a:off x="288664" y="5387682"/>
            <a:ext cx="11522075" cy="0"/>
          </a:xfrm>
          <a:prstGeom prst="line">
            <a:avLst/>
          </a:prstGeom>
          <a:ln w="12700">
            <a:solidFill>
              <a:srgbClr val="0070C0"/>
            </a:solidFill>
            <a:prstDash val="dash"/>
          </a:ln>
        </p:spPr>
        <p:style>
          <a:lnRef idx="1">
            <a:schemeClr val="accent1"/>
          </a:lnRef>
          <a:fillRef idx="0">
            <a:schemeClr val="accent1"/>
          </a:fillRef>
          <a:effectRef idx="0">
            <a:schemeClr val="accent1"/>
          </a:effectRef>
          <a:fontRef idx="minor">
            <a:schemeClr val="tx1"/>
          </a:fontRef>
        </p:style>
      </p:cxn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表格 10"/>
          <p:cNvGraphicFramePr/>
          <p:nvPr>
            <p:custDataLst>
              <p:tags r:id="rId1"/>
            </p:custDataLst>
          </p:nvPr>
        </p:nvGraphicFramePr>
        <p:xfrm>
          <a:off x="334962" y="1628773"/>
          <a:ext cx="11522076" cy="4895851"/>
        </p:xfrm>
        <a:graphic>
          <a:graphicData uri="http://schemas.openxmlformats.org/drawingml/2006/table">
            <a:tbl>
              <a:tblPr firstRow="1">
                <a:effectLst/>
                <a:tableStyleId>{5940675A-B579-460E-94D1-54222C63F5DA}</a:tableStyleId>
              </a:tblPr>
              <a:tblGrid>
                <a:gridCol w="1311041"/>
                <a:gridCol w="10211035"/>
              </a:tblGrid>
              <a:tr h="513564">
                <a:tc>
                  <a:txBody>
                    <a:bodyPr/>
                    <a:lstStyle/>
                    <a:p>
                      <a:pPr algn="ctr" fontAlgn="ctr">
                        <a:lnSpc>
                          <a:spcPct val="110000"/>
                        </a:lnSpc>
                        <a:buNone/>
                      </a:pPr>
                      <a:r>
                        <a:rPr lang="zh-CN" altLang="en-US" sz="1400" b="1" dirty="0">
                          <a:solidFill>
                            <a:sysClr val="window" lastClr="FFFFFF"/>
                          </a:solidFill>
                          <a:latin typeface="微软雅黑" panose="020B0503020204020204" charset="-122"/>
                          <a:ea typeface="微软雅黑" panose="020B0503020204020204" charset="-122"/>
                          <a:sym typeface="宋体" panose="02010600030101010101" pitchFamily="2" charset="-122"/>
                        </a:rPr>
                        <a:t>条款编码</a:t>
                      </a:r>
                      <a:endParaRPr lang="zh-CN" altLang="en-US" sz="1400" b="1" dirty="0">
                        <a:solidFill>
                          <a:sysClr val="window" lastClr="FFFFFF"/>
                        </a:solidFill>
                        <a:latin typeface="微软雅黑" panose="020B0503020204020204" charset="-122"/>
                        <a:ea typeface="微软雅黑" panose="020B0503020204020204" charset="-122"/>
                        <a:sym typeface="宋体" panose="02010600030101010101" pitchFamily="2" charset="-122"/>
                      </a:endParaRPr>
                    </a:p>
                  </a:txBody>
                  <a:tcPr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c>
                  <a:txBody>
                    <a:bodyPr/>
                    <a:lstStyle/>
                    <a:p>
                      <a:pPr algn="ctr" fontAlgn="ctr">
                        <a:lnSpc>
                          <a:spcPct val="110000"/>
                        </a:lnSpc>
                        <a:buNone/>
                      </a:pPr>
                      <a:r>
                        <a:rPr lang="zh-CN" altLang="en-US" sz="1400" b="1" dirty="0">
                          <a:solidFill>
                            <a:sysClr val="window" lastClr="FFFFFF"/>
                          </a:solidFill>
                          <a:latin typeface="微软雅黑" panose="020B0503020204020204" charset="-122"/>
                          <a:ea typeface="微软雅黑" panose="020B0503020204020204" charset="-122"/>
                        </a:rPr>
                        <a:t>条款内容</a:t>
                      </a:r>
                      <a:endParaRPr lang="zh-CN" altLang="en-US" sz="1400" b="1" dirty="0">
                        <a:solidFill>
                          <a:sysClr val="window" lastClr="FFFFFF"/>
                        </a:solidFill>
                        <a:latin typeface="微软雅黑" panose="020B0503020204020204" charset="-122"/>
                        <a:ea typeface="微软雅黑" panose="020B0503020204020204" charset="-122"/>
                      </a:endParaRPr>
                    </a:p>
                  </a:txBody>
                  <a:tcPr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r>
              <a:tr h="1954324">
                <a:tc>
                  <a:txBody>
                    <a:bodyPr/>
                    <a:lstStyle/>
                    <a:p>
                      <a:pPr indent="0" algn="ctr">
                        <a:buNone/>
                      </a:pPr>
                      <a:r>
                        <a:rPr lang="en-US" altLang="zh-CN" sz="1400" b="1" dirty="0">
                          <a:latin typeface="微软雅黑" panose="020B0503020204020204" charset="-122"/>
                          <a:ea typeface="微软雅黑" panose="020B0503020204020204" charset="-122"/>
                          <a:cs typeface="仿宋_GB2312" panose="02010609030101010101" charset="-122"/>
                        </a:rPr>
                        <a:t>ZD-XF-001</a:t>
                      </a:r>
                      <a:endParaRPr lang="en-US" altLang="zh-CN" sz="1400" b="1" dirty="0">
                        <a:latin typeface="微软雅黑" panose="020B0503020204020204" charset="-122"/>
                        <a:ea typeface="微软雅黑" panose="020B0503020204020204" charset="-122"/>
                        <a:cs typeface="仿宋_GB2312" panose="02010609030101010101" charset="-122"/>
                      </a:endParaRPr>
                    </a:p>
                  </a:txBody>
                  <a:tcPr marL="7620" marR="7620" marT="7620" marB="9525"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a:txBody>
                    <a:bodyPr/>
                    <a:lstStyle/>
                    <a:p>
                      <a:pPr indent="0" fontAlgn="auto">
                        <a:lnSpc>
                          <a:spcPct val="110000"/>
                        </a:lnSpc>
                        <a:buNone/>
                      </a:pPr>
                      <a:r>
                        <a:rPr lang="zh-CN" sz="1400" b="1" kern="0" dirty="0">
                          <a:latin typeface="微软雅黑" panose="020B0503020204020204" charset="-122"/>
                          <a:ea typeface="微软雅黑" panose="020B0503020204020204" charset="-122"/>
                          <a:sym typeface="+mn-ea"/>
                        </a:rPr>
                        <a:t>建筑物或场所有下列情形之一的，应直接判定为重大事故隐患：</a:t>
                      </a:r>
                      <a:r>
                        <a:rPr lang="zh-CN" sz="1000" kern="0" dirty="0">
                          <a:latin typeface="微软雅黑" panose="020B0503020204020204" charset="-122"/>
                          <a:ea typeface="微软雅黑" panose="020B0503020204020204" charset="-122"/>
                          <a:sym typeface="+mn-ea"/>
                        </a:rPr>
                        <a:t>（1）除特殊工艺要求外，甲、乙类生产场所和仓库（甲醇、乙醇、液化石油气、氧气、煤油等）设置在建筑的地下室或半地下室。</a:t>
                      </a:r>
                      <a:r>
                        <a:rPr lang="zh-CN" altLang="en-US" sz="1000" b="0" dirty="0">
                          <a:solidFill>
                            <a:srgbClr val="0070C0"/>
                          </a:solidFill>
                          <a:latin typeface="微软雅黑" panose="020B0503020204020204" charset="-122"/>
                          <a:ea typeface="微软雅黑" panose="020B0503020204020204" charset="-122"/>
                          <a:cs typeface="微软雅黑" panose="020B0503020204020204" charset="-122"/>
                        </a:rPr>
                        <a:t>（</a:t>
                      </a:r>
                      <a:r>
                        <a:rPr lang="en-US" altLang="zh-CN" sz="1000" b="0" dirty="0">
                          <a:solidFill>
                            <a:srgbClr val="0070C0"/>
                          </a:solidFill>
                          <a:latin typeface="微软雅黑" panose="020B0503020204020204" charset="-122"/>
                          <a:ea typeface="微软雅黑" panose="020B0503020204020204" charset="-122"/>
                          <a:cs typeface="微软雅黑" panose="020B0503020204020204" charset="-122"/>
                        </a:rPr>
                        <a:t>2</a:t>
                      </a:r>
                      <a:r>
                        <a:rPr lang="zh-CN" altLang="en-US" sz="1000" b="0" dirty="0">
                          <a:solidFill>
                            <a:srgbClr val="0070C0"/>
                          </a:solidFill>
                          <a:latin typeface="微软雅黑" panose="020B0503020204020204" charset="-122"/>
                          <a:ea typeface="微软雅黑" panose="020B0503020204020204" charset="-122"/>
                          <a:cs typeface="微软雅黑" panose="020B0503020204020204" charset="-122"/>
                        </a:rPr>
                        <a:t>）住宅建筑公共疏散楼梯间的地下与地上部分未进行防火分隔。</a:t>
                      </a:r>
                      <a:r>
                        <a:rPr lang="zh-CN" altLang="en-US" sz="1000" b="0" dirty="0">
                          <a:latin typeface="微软雅黑" panose="020B0503020204020204" charset="-122"/>
                          <a:ea typeface="微软雅黑" panose="020B0503020204020204" charset="-122"/>
                          <a:cs typeface="微软雅黑" panose="020B0503020204020204" charset="-122"/>
                        </a:rPr>
                        <a:t>（</a:t>
                      </a:r>
                      <a:r>
                        <a:rPr lang="en-US" altLang="zh-CN" sz="1000" b="0" dirty="0">
                          <a:latin typeface="微软雅黑" panose="020B0503020204020204" charset="-122"/>
                          <a:ea typeface="微软雅黑" panose="020B0503020204020204" charset="-122"/>
                          <a:cs typeface="微软雅黑" panose="020B0503020204020204" charset="-122"/>
                        </a:rPr>
                        <a:t>3</a:t>
                      </a:r>
                      <a:r>
                        <a:rPr lang="zh-CN" altLang="en-US" sz="1000" b="0" dirty="0">
                          <a:latin typeface="微软雅黑" panose="020B0503020204020204" charset="-122"/>
                          <a:ea typeface="微软雅黑" panose="020B0503020204020204" charset="-122"/>
                          <a:cs typeface="微软雅黑" panose="020B0503020204020204" charset="-122"/>
                        </a:rPr>
                        <a:t>）人员密集场所（营业厅、员工集体宿舍、培训教学楼、可供</a:t>
                      </a:r>
                      <a:r>
                        <a:rPr lang="en-US" altLang="zh-CN" sz="1000" b="0" dirty="0">
                          <a:latin typeface="微软雅黑" panose="020B0503020204020204" charset="-122"/>
                          <a:ea typeface="微软雅黑" panose="020B0503020204020204" charset="-122"/>
                          <a:cs typeface="微软雅黑" panose="020B0503020204020204" charset="-122"/>
                        </a:rPr>
                        <a:t>50</a:t>
                      </a:r>
                      <a:r>
                        <a:rPr lang="zh-CN" altLang="en-US" sz="1000" b="0" dirty="0">
                          <a:latin typeface="微软雅黑" panose="020B0503020204020204" charset="-122"/>
                          <a:ea typeface="微软雅黑" panose="020B0503020204020204" charset="-122"/>
                          <a:cs typeface="微软雅黑" panose="020B0503020204020204" charset="-122"/>
                        </a:rPr>
                        <a:t>人以上同时用餐食堂、展馆展厅、大型会场礼堂等）的疏散走道、楼梯间、疏散门或安全出口设置影响疏散的栅栏、卷帘门。（</a:t>
                      </a:r>
                      <a:r>
                        <a:rPr lang="en-US" altLang="zh-CN" sz="1000" b="0" dirty="0">
                          <a:latin typeface="微软雅黑" panose="020B0503020204020204" charset="-122"/>
                          <a:ea typeface="微软雅黑" panose="020B0503020204020204" charset="-122"/>
                          <a:cs typeface="微软雅黑" panose="020B0503020204020204" charset="-122"/>
                        </a:rPr>
                        <a:t>4</a:t>
                      </a:r>
                      <a:r>
                        <a:rPr lang="zh-CN" altLang="en-US" sz="1000" b="0" dirty="0">
                          <a:latin typeface="微软雅黑" panose="020B0503020204020204" charset="-122"/>
                          <a:ea typeface="微软雅黑" panose="020B0503020204020204" charset="-122"/>
                          <a:cs typeface="微软雅黑" panose="020B0503020204020204" charset="-122"/>
                        </a:rPr>
                        <a:t>）高层建筑、地下人员密集场所安全出口的数量不符合《建筑防火通用规范</a:t>
                      </a:r>
                      <a:r>
                        <a:rPr lang="en-US" altLang="zh-CN" sz="1000" b="0" dirty="0">
                          <a:latin typeface="微软雅黑" panose="020B0503020204020204" charset="-122"/>
                          <a:ea typeface="微软雅黑" panose="020B0503020204020204" charset="-122"/>
                          <a:cs typeface="微软雅黑" panose="020B0503020204020204" charset="-122"/>
                        </a:rPr>
                        <a:t>GB55037</a:t>
                      </a:r>
                      <a:r>
                        <a:rPr lang="zh-CN" altLang="en-US" sz="1000" b="0" dirty="0">
                          <a:latin typeface="微软雅黑" panose="020B0503020204020204" charset="-122"/>
                          <a:ea typeface="微软雅黑" panose="020B0503020204020204" charset="-122"/>
                          <a:cs typeface="微软雅黑" panose="020B0503020204020204" charset="-122"/>
                        </a:rPr>
                        <a:t>》、《建筑设计防火规范</a:t>
                      </a:r>
                      <a:r>
                        <a:rPr lang="en-US" altLang="zh-CN" sz="1000" b="0" dirty="0">
                          <a:latin typeface="微软雅黑" panose="020B0503020204020204" charset="-122"/>
                          <a:ea typeface="微软雅黑" panose="020B0503020204020204" charset="-122"/>
                          <a:cs typeface="微软雅黑" panose="020B0503020204020204" charset="-122"/>
                        </a:rPr>
                        <a:t>GB50016</a:t>
                      </a:r>
                      <a:r>
                        <a:rPr lang="zh-CN" altLang="en-US" sz="1000" b="0" dirty="0">
                          <a:latin typeface="微软雅黑" panose="020B0503020204020204" charset="-122"/>
                          <a:ea typeface="微软雅黑" panose="020B0503020204020204" charset="-122"/>
                          <a:cs typeface="微软雅黑" panose="020B0503020204020204" charset="-122"/>
                        </a:rPr>
                        <a:t>》的规定，或安全出口被完全占用、堵塞、封闭。（</a:t>
                      </a:r>
                      <a:r>
                        <a:rPr lang="en-US" altLang="zh-CN" sz="1000" b="0" dirty="0">
                          <a:latin typeface="微软雅黑" panose="020B0503020204020204" charset="-122"/>
                          <a:ea typeface="微软雅黑" panose="020B0503020204020204" charset="-122"/>
                          <a:cs typeface="微软雅黑" panose="020B0503020204020204" charset="-122"/>
                        </a:rPr>
                        <a:t>5</a:t>
                      </a:r>
                      <a:r>
                        <a:rPr lang="zh-CN" altLang="en-US" sz="1000" b="0" dirty="0">
                          <a:latin typeface="微软雅黑" panose="020B0503020204020204" charset="-122"/>
                          <a:ea typeface="微软雅黑" panose="020B0503020204020204" charset="-122"/>
                          <a:cs typeface="微软雅黑" panose="020B0503020204020204" charset="-122"/>
                        </a:rPr>
                        <a:t>）高层建筑未按《建筑防火通用规范</a:t>
                      </a:r>
                      <a:r>
                        <a:rPr lang="en-US" altLang="zh-CN" sz="1000" b="0" dirty="0">
                          <a:latin typeface="微软雅黑" panose="020B0503020204020204" charset="-122"/>
                          <a:ea typeface="微软雅黑" panose="020B0503020204020204" charset="-122"/>
                          <a:cs typeface="微软雅黑" panose="020B0503020204020204" charset="-122"/>
                        </a:rPr>
                        <a:t>GB55037</a:t>
                      </a:r>
                      <a:r>
                        <a:rPr lang="zh-CN" altLang="en-US" sz="1000" b="0" dirty="0">
                          <a:latin typeface="微软雅黑" panose="020B0503020204020204" charset="-122"/>
                          <a:ea typeface="微软雅黑" panose="020B0503020204020204" charset="-122"/>
                          <a:cs typeface="微软雅黑" panose="020B0503020204020204" charset="-122"/>
                        </a:rPr>
                        <a:t>》的规定设置火灾自动报警系统或固定灭火设施，或已设置的火灾自动报警系统和固定灭火设施不能正常运行。（</a:t>
                      </a:r>
                      <a:r>
                        <a:rPr lang="en-US" altLang="zh-CN" sz="1000" b="0" dirty="0">
                          <a:latin typeface="微软雅黑" panose="020B0503020204020204" charset="-122"/>
                          <a:ea typeface="微软雅黑" panose="020B0503020204020204" charset="-122"/>
                          <a:cs typeface="微软雅黑" panose="020B0503020204020204" charset="-122"/>
                        </a:rPr>
                        <a:t>6</a:t>
                      </a:r>
                      <a:r>
                        <a:rPr lang="zh-CN" altLang="en-US" sz="1000" b="0" dirty="0">
                          <a:latin typeface="微软雅黑" panose="020B0503020204020204" charset="-122"/>
                          <a:ea typeface="微软雅黑" panose="020B0503020204020204" charset="-122"/>
                          <a:cs typeface="微软雅黑" panose="020B0503020204020204" charset="-122"/>
                        </a:rPr>
                        <a:t>）单幢居住超过</a:t>
                      </a:r>
                      <a:r>
                        <a:rPr lang="en-US" altLang="zh-CN" sz="1000" b="0" dirty="0">
                          <a:latin typeface="微软雅黑" panose="020B0503020204020204" charset="-122"/>
                          <a:ea typeface="微软雅黑" panose="020B0503020204020204" charset="-122"/>
                          <a:cs typeface="微软雅黑" panose="020B0503020204020204" charset="-122"/>
                        </a:rPr>
                        <a:t>10</a:t>
                      </a:r>
                      <a:r>
                        <a:rPr lang="zh-CN" altLang="en-US" sz="1000" b="0" dirty="0">
                          <a:latin typeface="微软雅黑" panose="020B0503020204020204" charset="-122"/>
                          <a:ea typeface="微软雅黑" panose="020B0503020204020204" charset="-122"/>
                          <a:cs typeface="微软雅黑" panose="020B0503020204020204" charset="-122"/>
                        </a:rPr>
                        <a:t>人的施工驻地、人员密集场所采用彩钢夹芯板搭建，且彩钢夹芯板芯材的燃烧性能等级低于《建筑材料及制品燃烧性能分级</a:t>
                      </a:r>
                      <a:r>
                        <a:rPr lang="en-US" altLang="zh-CN" sz="1000" b="0" dirty="0">
                          <a:latin typeface="微软雅黑" panose="020B0503020204020204" charset="-122"/>
                          <a:ea typeface="微软雅黑" panose="020B0503020204020204" charset="-122"/>
                          <a:cs typeface="微软雅黑" panose="020B0503020204020204" charset="-122"/>
                        </a:rPr>
                        <a:t>GB8624</a:t>
                      </a:r>
                      <a:r>
                        <a:rPr lang="zh-CN" altLang="en-US" sz="1000" b="0" dirty="0">
                          <a:latin typeface="微软雅黑" panose="020B0503020204020204" charset="-122"/>
                          <a:ea typeface="微软雅黑" panose="020B0503020204020204" charset="-122"/>
                          <a:cs typeface="微软雅黑" panose="020B0503020204020204" charset="-122"/>
                        </a:rPr>
                        <a:t>》规定的</a:t>
                      </a:r>
                      <a:r>
                        <a:rPr lang="en-US" altLang="zh-CN" sz="1000" b="0" dirty="0">
                          <a:latin typeface="微软雅黑" panose="020B0503020204020204" charset="-122"/>
                          <a:ea typeface="微软雅黑" panose="020B0503020204020204" charset="-122"/>
                          <a:cs typeface="微软雅黑" panose="020B0503020204020204" charset="-122"/>
                        </a:rPr>
                        <a:t>A</a:t>
                      </a:r>
                      <a:r>
                        <a:rPr lang="zh-CN" altLang="en-US" sz="1000" b="0" dirty="0">
                          <a:latin typeface="微软雅黑" panose="020B0503020204020204" charset="-122"/>
                          <a:ea typeface="微软雅黑" panose="020B0503020204020204" charset="-122"/>
                          <a:cs typeface="微软雅黑" panose="020B0503020204020204" charset="-122"/>
                        </a:rPr>
                        <a:t>级（不燃材料）。（</a:t>
                      </a:r>
                      <a:r>
                        <a:rPr lang="en-US" altLang="zh-CN" sz="1000" b="0" dirty="0">
                          <a:latin typeface="微软雅黑" panose="020B0503020204020204" charset="-122"/>
                          <a:ea typeface="微软雅黑" panose="020B0503020204020204" charset="-122"/>
                          <a:cs typeface="微软雅黑" panose="020B0503020204020204" charset="-122"/>
                        </a:rPr>
                        <a:t>7</a:t>
                      </a:r>
                      <a:r>
                        <a:rPr lang="zh-CN" altLang="en-US" sz="1000" b="0" dirty="0">
                          <a:latin typeface="微软雅黑" panose="020B0503020204020204" charset="-122"/>
                          <a:ea typeface="微软雅黑" panose="020B0503020204020204" charset="-122"/>
                          <a:cs typeface="微软雅黑" panose="020B0503020204020204" charset="-122"/>
                        </a:rPr>
                        <a:t>）地下人员密集场所内部装修、装饰材料的燃烧性能等级不符合《建筑内部装修设计防火规范</a:t>
                      </a:r>
                      <a:r>
                        <a:rPr lang="en-US" altLang="zh-CN" sz="1000" b="0" dirty="0">
                          <a:latin typeface="微软雅黑" panose="020B0503020204020204" charset="-122"/>
                          <a:ea typeface="微软雅黑" panose="020B0503020204020204" charset="-122"/>
                          <a:cs typeface="微软雅黑" panose="020B0503020204020204" charset="-122"/>
                        </a:rPr>
                        <a:t>GB50222</a:t>
                      </a:r>
                      <a:r>
                        <a:rPr lang="zh-CN" altLang="en-US" sz="1000" b="0" dirty="0">
                          <a:latin typeface="微软雅黑" panose="020B0503020204020204" charset="-122"/>
                          <a:ea typeface="微软雅黑" panose="020B0503020204020204" charset="-122"/>
                          <a:cs typeface="微软雅黑" panose="020B0503020204020204" charset="-122"/>
                        </a:rPr>
                        <a:t>》的规定。</a:t>
                      </a:r>
                      <a:r>
                        <a:rPr lang="zh-CN" altLang="en-US" sz="1000" b="0" dirty="0">
                          <a:solidFill>
                            <a:srgbClr val="0070C0"/>
                          </a:solidFill>
                          <a:latin typeface="微软雅黑" panose="020B0503020204020204" charset="-122"/>
                          <a:ea typeface="微软雅黑" panose="020B0503020204020204" charset="-122"/>
                          <a:cs typeface="微软雅黑" panose="020B0503020204020204" charset="-122"/>
                        </a:rPr>
                        <a:t>（</a:t>
                      </a:r>
                      <a:r>
                        <a:rPr lang="en-US" altLang="zh-CN" sz="1000" b="0" dirty="0">
                          <a:solidFill>
                            <a:srgbClr val="0070C0"/>
                          </a:solidFill>
                          <a:latin typeface="微软雅黑" panose="020B0503020204020204" charset="-122"/>
                          <a:ea typeface="微软雅黑" panose="020B0503020204020204" charset="-122"/>
                          <a:cs typeface="微软雅黑" panose="020B0503020204020204" charset="-122"/>
                        </a:rPr>
                        <a:t>8</a:t>
                      </a:r>
                      <a:r>
                        <a:rPr lang="zh-CN" altLang="en-US" sz="1000" b="0" dirty="0">
                          <a:solidFill>
                            <a:srgbClr val="0070C0"/>
                          </a:solidFill>
                          <a:latin typeface="微软雅黑" panose="020B0503020204020204" charset="-122"/>
                          <a:ea typeface="微软雅黑" panose="020B0503020204020204" charset="-122"/>
                          <a:cs typeface="微软雅黑" panose="020B0503020204020204" charset="-122"/>
                        </a:rPr>
                        <a:t>）多产权建筑，具有多个使用方的甲、乙、丙类厂房或仓库，多业态混合生产经营场所未明确消防安全管理职责，未对共用的疏散通道、安全出口、建筑消防设施和消防车通道明确统一管理单位或管理人。</a:t>
                      </a:r>
                      <a:r>
                        <a:rPr lang="zh-CN" altLang="en-US" sz="1000" b="0" dirty="0">
                          <a:latin typeface="微软雅黑" panose="020B0503020204020204" charset="-122"/>
                          <a:ea typeface="微软雅黑" panose="020B0503020204020204" charset="-122"/>
                          <a:cs typeface="微软雅黑" panose="020B0503020204020204" charset="-122"/>
                        </a:rPr>
                        <a:t>（</a:t>
                      </a:r>
                      <a:r>
                        <a:rPr lang="en-US" altLang="zh-CN" sz="1000" b="0" dirty="0">
                          <a:latin typeface="微软雅黑" panose="020B0503020204020204" charset="-122"/>
                          <a:ea typeface="微软雅黑" panose="020B0503020204020204" charset="-122"/>
                          <a:cs typeface="微软雅黑" panose="020B0503020204020204" charset="-122"/>
                        </a:rPr>
                        <a:t>9</a:t>
                      </a:r>
                      <a:r>
                        <a:rPr lang="zh-CN" altLang="en-US" sz="1000" b="0" dirty="0">
                          <a:latin typeface="微软雅黑" panose="020B0503020204020204" charset="-122"/>
                          <a:ea typeface="微软雅黑" panose="020B0503020204020204" charset="-122"/>
                          <a:cs typeface="微软雅黑" panose="020B0503020204020204" charset="-122"/>
                        </a:rPr>
                        <a:t>）易燃易爆危险品场所与民用建筑设置在同一建筑内。（</a:t>
                      </a:r>
                      <a:r>
                        <a:rPr lang="en-US" altLang="zh-CN" sz="1000" b="0" dirty="0">
                          <a:latin typeface="微软雅黑" panose="020B0503020204020204" charset="-122"/>
                          <a:ea typeface="微软雅黑" panose="020B0503020204020204" charset="-122"/>
                          <a:cs typeface="微软雅黑" panose="020B0503020204020204" charset="-122"/>
                        </a:rPr>
                        <a:t>10</a:t>
                      </a:r>
                      <a:r>
                        <a:rPr lang="zh-CN" altLang="en-US" sz="1000" b="0" dirty="0">
                          <a:latin typeface="微软雅黑" panose="020B0503020204020204" charset="-122"/>
                          <a:ea typeface="微软雅黑" panose="020B0503020204020204" charset="-122"/>
                          <a:cs typeface="微软雅黑" panose="020B0503020204020204" charset="-122"/>
                        </a:rPr>
                        <a:t>）易燃易爆危险品场所与人员密集场所、居住场所的防火间距小于消防技术标准的规定值。（</a:t>
                      </a:r>
                      <a:r>
                        <a:rPr lang="en-US" altLang="zh-CN" sz="1000" b="0" dirty="0">
                          <a:latin typeface="微软雅黑" panose="020B0503020204020204" charset="-122"/>
                          <a:ea typeface="微软雅黑" panose="020B0503020204020204" charset="-122"/>
                          <a:cs typeface="微软雅黑" panose="020B0503020204020204" charset="-122"/>
                        </a:rPr>
                        <a:t>11</a:t>
                      </a:r>
                      <a:r>
                        <a:rPr lang="zh-CN" altLang="en-US" sz="1000" b="0" dirty="0">
                          <a:latin typeface="微软雅黑" panose="020B0503020204020204" charset="-122"/>
                          <a:ea typeface="微软雅黑" panose="020B0503020204020204" charset="-122"/>
                          <a:cs typeface="微软雅黑" panose="020B0503020204020204" charset="-122"/>
                        </a:rPr>
                        <a:t>）易燃易爆危险品场所与明火和散发火花地点之间的防火间距小于消防技术标准的规定值。（</a:t>
                      </a:r>
                      <a:r>
                        <a:rPr lang="en-US" altLang="zh-CN" sz="1000" b="0" dirty="0">
                          <a:latin typeface="微软雅黑" panose="020B0503020204020204" charset="-122"/>
                          <a:ea typeface="微软雅黑" panose="020B0503020204020204" charset="-122"/>
                          <a:cs typeface="微软雅黑" panose="020B0503020204020204" charset="-122"/>
                        </a:rPr>
                        <a:t>12</a:t>
                      </a:r>
                      <a:r>
                        <a:rPr lang="zh-CN" altLang="en-US" sz="1000" b="0" dirty="0">
                          <a:latin typeface="微软雅黑" panose="020B0503020204020204" charset="-122"/>
                          <a:ea typeface="微软雅黑" panose="020B0503020204020204" charset="-122"/>
                          <a:cs typeface="微软雅黑" panose="020B0503020204020204" charset="-122"/>
                        </a:rPr>
                        <a:t>）在地下建筑、建筑的地下室、人员密集场所、居住场所内违规使用、储存或销售易燃易爆危险品。</a:t>
                      </a:r>
                      <a:endParaRPr lang="zh-CN" altLang="en-US" sz="1000" b="0" dirty="0">
                        <a:latin typeface="微软雅黑" panose="020B0503020204020204" charset="-122"/>
                        <a:ea typeface="微软雅黑" panose="020B0503020204020204" charset="-122"/>
                        <a:cs typeface="微软雅黑" panose="020B0503020204020204" charset="-122"/>
                      </a:endParaRPr>
                    </a:p>
                  </a:txBody>
                  <a:tcPr marL="7620" marR="7620" marT="7620" marB="9525"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r>
              <a:tr h="1213007">
                <a:tc>
                  <a:txBody>
                    <a:bodyPr/>
                    <a:lstStyle/>
                    <a:p>
                      <a:pPr indent="0" algn="ctr">
                        <a:buNone/>
                      </a:pPr>
                      <a:r>
                        <a:rPr lang="zh-CN" sz="1400" b="1" kern="0" dirty="0">
                          <a:latin typeface="微软雅黑" panose="020B0503020204020204" charset="-122"/>
                          <a:ea typeface="微软雅黑" panose="020B0503020204020204" charset="-122"/>
                          <a:sym typeface="+mn-ea"/>
                        </a:rPr>
                        <a:t>ZD-XF-002</a:t>
                      </a:r>
                      <a:endParaRPr lang="en-US" altLang="zh-CN" sz="1400" b="1" dirty="0">
                        <a:latin typeface="微软雅黑" panose="020B0503020204020204" charset="-122"/>
                        <a:ea typeface="微软雅黑" panose="020B0503020204020204" charset="-122"/>
                        <a:cs typeface="仿宋_GB2312" panose="02010609030101010101" charset="-122"/>
                      </a:endParaRPr>
                    </a:p>
                  </a:txBody>
                  <a:tcPr marL="7620" marR="7620" marT="7620" marB="9525"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E5F0F9"/>
                    </a:solidFill>
                  </a:tcPr>
                </a:tc>
                <a:tc>
                  <a:txBody>
                    <a:bodyPr/>
                    <a:lstStyle/>
                    <a:p>
                      <a:pPr indent="0" fontAlgn="auto">
                        <a:lnSpc>
                          <a:spcPct val="110000"/>
                        </a:lnSpc>
                        <a:buNone/>
                      </a:pPr>
                      <a:r>
                        <a:rPr lang="zh-CN" sz="1400" b="1" kern="0" dirty="0">
                          <a:latin typeface="微软雅黑" panose="020B0503020204020204" charset="-122"/>
                          <a:ea typeface="微软雅黑" panose="020B0503020204020204" charset="-122"/>
                          <a:sym typeface="+mn-ea"/>
                        </a:rPr>
                        <a:t>建筑物或场所存在</a:t>
                      </a:r>
                      <a:r>
                        <a:rPr lang="zh-CN" sz="1400" b="1" kern="0" dirty="0">
                          <a:solidFill>
                            <a:srgbClr val="FF0000"/>
                          </a:solidFill>
                          <a:latin typeface="微软雅黑" panose="020B0503020204020204" charset="-122"/>
                          <a:ea typeface="微软雅黑" panose="020B0503020204020204" charset="-122"/>
                          <a:sym typeface="+mn-ea"/>
                        </a:rPr>
                        <a:t>6项</a:t>
                      </a:r>
                      <a:r>
                        <a:rPr lang="zh-CN" sz="1400" b="1" kern="0" dirty="0">
                          <a:latin typeface="微软雅黑" panose="020B0503020204020204" charset="-122"/>
                          <a:ea typeface="微软雅黑" panose="020B0503020204020204" charset="-122"/>
                          <a:sym typeface="+mn-ea"/>
                        </a:rPr>
                        <a:t>及以上综合判定要素的，应判定为重大事故隐患：</a:t>
                      </a:r>
                      <a:r>
                        <a:rPr lang="zh-CN" altLang="en-US" sz="1000" b="0" dirty="0">
                          <a:solidFill>
                            <a:srgbClr val="3333CC"/>
                          </a:solidFill>
                          <a:latin typeface="微软雅黑" panose="020B0503020204020204" charset="-122"/>
                          <a:ea typeface="微软雅黑" panose="020B0503020204020204" charset="-122"/>
                          <a:cs typeface="微软雅黑" panose="020B0503020204020204" charset="-122"/>
                        </a:rPr>
                        <a:t>（</a:t>
                      </a:r>
                      <a:r>
                        <a:rPr lang="en-US" altLang="zh-CN" sz="1000" b="0" dirty="0">
                          <a:solidFill>
                            <a:schemeClr val="tx1"/>
                          </a:solidFill>
                          <a:latin typeface="微软雅黑" panose="020B0503020204020204" charset="-122"/>
                          <a:ea typeface="微软雅黑" panose="020B0503020204020204" charset="-122"/>
                          <a:cs typeface="微软雅黑" panose="020B0503020204020204" charset="-122"/>
                        </a:rPr>
                        <a:t>1</a:t>
                      </a:r>
                      <a:r>
                        <a:rPr lang="zh-CN" altLang="en-US" sz="1000" b="0" dirty="0">
                          <a:solidFill>
                            <a:schemeClr val="tx1"/>
                          </a:solidFill>
                          <a:latin typeface="微软雅黑" panose="020B0503020204020204" charset="-122"/>
                          <a:ea typeface="微软雅黑" panose="020B0503020204020204" charset="-122"/>
                          <a:cs typeface="微软雅黑" panose="020B0503020204020204" charset="-122"/>
                        </a:rPr>
                        <a:t>）未按消防技术标准的规定设置消防车道、消防车登高操作场地，或消防车道、消防车登高操作场地被堵塞、占用。（</a:t>
                      </a:r>
                      <a:r>
                        <a:rPr lang="en-US" altLang="zh-CN" sz="1000" b="0" dirty="0">
                          <a:solidFill>
                            <a:schemeClr val="tx1"/>
                          </a:solidFill>
                          <a:latin typeface="微软雅黑" panose="020B0503020204020204" charset="-122"/>
                          <a:ea typeface="微软雅黑" panose="020B0503020204020204" charset="-122"/>
                          <a:cs typeface="微软雅黑" panose="020B0503020204020204" charset="-122"/>
                        </a:rPr>
                        <a:t>2</a:t>
                      </a:r>
                      <a:r>
                        <a:rPr lang="zh-CN" altLang="en-US" sz="1000" b="0" dirty="0">
                          <a:solidFill>
                            <a:schemeClr val="tx1"/>
                          </a:solidFill>
                          <a:latin typeface="微软雅黑" panose="020B0503020204020204" charset="-122"/>
                          <a:ea typeface="微软雅黑" panose="020B0503020204020204" charset="-122"/>
                          <a:cs typeface="微软雅黑" panose="020B0503020204020204" charset="-122"/>
                        </a:rPr>
                        <a:t>）建筑之间的防火间距小于消防技术标准的规定值。（</a:t>
                      </a:r>
                      <a:r>
                        <a:rPr lang="en-US" altLang="zh-CN" sz="1000" b="0" dirty="0">
                          <a:solidFill>
                            <a:schemeClr val="tx1"/>
                          </a:solidFill>
                          <a:latin typeface="微软雅黑" panose="020B0503020204020204" charset="-122"/>
                          <a:ea typeface="微软雅黑" panose="020B0503020204020204" charset="-122"/>
                          <a:cs typeface="微软雅黑" panose="020B0503020204020204" charset="-122"/>
                        </a:rPr>
                        <a:t>3</a:t>
                      </a:r>
                      <a:r>
                        <a:rPr lang="zh-CN" altLang="en-US" sz="1000" b="0" dirty="0">
                          <a:solidFill>
                            <a:schemeClr val="tx1"/>
                          </a:solidFill>
                          <a:latin typeface="微软雅黑" panose="020B0503020204020204" charset="-122"/>
                          <a:ea typeface="微软雅黑" panose="020B0503020204020204" charset="-122"/>
                          <a:cs typeface="微软雅黑" panose="020B0503020204020204" charset="-122"/>
                        </a:rPr>
                        <a:t>）消防控制室的设置不符合消防技术标准的规定。（</a:t>
                      </a:r>
                      <a:r>
                        <a:rPr lang="en-US" altLang="zh-CN" sz="1000" b="0" dirty="0">
                          <a:solidFill>
                            <a:schemeClr val="tx1"/>
                          </a:solidFill>
                          <a:latin typeface="微软雅黑" panose="020B0503020204020204" charset="-122"/>
                          <a:ea typeface="微软雅黑" panose="020B0503020204020204" charset="-122"/>
                          <a:cs typeface="微软雅黑" panose="020B0503020204020204" charset="-122"/>
                        </a:rPr>
                        <a:t>4</a:t>
                      </a:r>
                      <a:r>
                        <a:rPr lang="zh-CN" altLang="en-US" sz="1000" b="0" dirty="0">
                          <a:solidFill>
                            <a:schemeClr val="tx1"/>
                          </a:solidFill>
                          <a:latin typeface="微软雅黑" panose="020B0503020204020204" charset="-122"/>
                          <a:ea typeface="微软雅黑" panose="020B0503020204020204" charset="-122"/>
                          <a:cs typeface="微软雅黑" panose="020B0503020204020204" charset="-122"/>
                        </a:rPr>
                        <a:t>）厂房、仓库的建筑耐火等级、防火分隔措施与其生产、储存物品的火灾危险性类别不匹配。（</a:t>
                      </a:r>
                      <a:r>
                        <a:rPr lang="en-US" altLang="zh-CN" sz="1000" b="0" dirty="0">
                          <a:solidFill>
                            <a:schemeClr val="tx1"/>
                          </a:solidFill>
                          <a:latin typeface="微软雅黑" panose="020B0503020204020204" charset="-122"/>
                          <a:ea typeface="微软雅黑" panose="020B0503020204020204" charset="-122"/>
                          <a:cs typeface="微软雅黑" panose="020B0503020204020204" charset="-122"/>
                        </a:rPr>
                        <a:t>5</a:t>
                      </a:r>
                      <a:r>
                        <a:rPr lang="zh-CN" altLang="en-US" sz="1000" b="0" dirty="0">
                          <a:solidFill>
                            <a:schemeClr val="tx1"/>
                          </a:solidFill>
                          <a:latin typeface="微软雅黑" panose="020B0503020204020204" charset="-122"/>
                          <a:ea typeface="微软雅黑" panose="020B0503020204020204" charset="-122"/>
                          <a:cs typeface="微软雅黑" panose="020B0503020204020204" charset="-122"/>
                        </a:rPr>
                        <a:t>）原有防火分区面积被改变，且大于消防技术标准的规定值。（</a:t>
                      </a:r>
                      <a:r>
                        <a:rPr lang="en-US" altLang="zh-CN" sz="1000" b="0" dirty="0">
                          <a:solidFill>
                            <a:schemeClr val="tx1"/>
                          </a:solidFill>
                          <a:latin typeface="微软雅黑" panose="020B0503020204020204" charset="-122"/>
                          <a:ea typeface="微软雅黑" panose="020B0503020204020204" charset="-122"/>
                          <a:cs typeface="微软雅黑" panose="020B0503020204020204" charset="-122"/>
                        </a:rPr>
                        <a:t>6</a:t>
                      </a:r>
                      <a:r>
                        <a:rPr lang="zh-CN" altLang="en-US" sz="1000" b="0" dirty="0">
                          <a:solidFill>
                            <a:schemeClr val="tx1"/>
                          </a:solidFill>
                          <a:latin typeface="微软雅黑" panose="020B0503020204020204" charset="-122"/>
                          <a:ea typeface="微软雅黑" panose="020B0503020204020204" charset="-122"/>
                          <a:cs typeface="微软雅黑" panose="020B0503020204020204" charset="-122"/>
                        </a:rPr>
                        <a:t>）设置在住宅建筑架空层的电动自行车集中停放或充电场所与建筑的采光通风井、公共门厅、疏散走道、楼梯间、安全出口未采取防火分隔措施。（</a:t>
                      </a:r>
                      <a:r>
                        <a:rPr lang="en-US" altLang="zh-CN" sz="1000" b="0" dirty="0">
                          <a:solidFill>
                            <a:schemeClr val="tx1"/>
                          </a:solidFill>
                          <a:latin typeface="微软雅黑" panose="020B0503020204020204" charset="-122"/>
                          <a:ea typeface="微软雅黑" panose="020B0503020204020204" charset="-122"/>
                          <a:cs typeface="微软雅黑" panose="020B0503020204020204" charset="-122"/>
                        </a:rPr>
                        <a:t>7</a:t>
                      </a:r>
                      <a:r>
                        <a:rPr lang="zh-CN" altLang="en-US" sz="1000" b="0" dirty="0">
                          <a:solidFill>
                            <a:schemeClr val="tx1"/>
                          </a:solidFill>
                          <a:latin typeface="微软雅黑" panose="020B0503020204020204" charset="-122"/>
                          <a:ea typeface="微软雅黑" panose="020B0503020204020204" charset="-122"/>
                          <a:cs typeface="微软雅黑" panose="020B0503020204020204" charset="-122"/>
                        </a:rPr>
                        <a:t>）用于分隔防火分区的防火门、防火卷帘损坏。（</a:t>
                      </a:r>
                      <a:r>
                        <a:rPr lang="en-US" altLang="zh-CN" sz="1000" b="0" dirty="0">
                          <a:solidFill>
                            <a:schemeClr val="tx1"/>
                          </a:solidFill>
                          <a:latin typeface="微软雅黑" panose="020B0503020204020204" charset="-122"/>
                          <a:ea typeface="微软雅黑" panose="020B0503020204020204" charset="-122"/>
                          <a:cs typeface="微软雅黑" panose="020B0503020204020204" charset="-122"/>
                        </a:rPr>
                        <a:t>8</a:t>
                      </a:r>
                      <a:r>
                        <a:rPr lang="zh-CN" altLang="en-US" sz="1000" b="0" dirty="0">
                          <a:solidFill>
                            <a:schemeClr val="tx1"/>
                          </a:solidFill>
                          <a:latin typeface="微软雅黑" panose="020B0503020204020204" charset="-122"/>
                          <a:ea typeface="微软雅黑" panose="020B0503020204020204" charset="-122"/>
                          <a:cs typeface="微软雅黑" panose="020B0503020204020204" charset="-122"/>
                        </a:rPr>
                        <a:t>）高层建筑幕墙未在楼板处采取防火封堵措施。（</a:t>
                      </a:r>
                      <a:r>
                        <a:rPr lang="en-US" altLang="zh-CN" sz="1000" b="0" dirty="0">
                          <a:solidFill>
                            <a:schemeClr val="tx1"/>
                          </a:solidFill>
                          <a:latin typeface="微软雅黑" panose="020B0503020204020204" charset="-122"/>
                          <a:ea typeface="微软雅黑" panose="020B0503020204020204" charset="-122"/>
                          <a:cs typeface="微软雅黑" panose="020B0503020204020204" charset="-122"/>
                        </a:rPr>
                        <a:t>9</a:t>
                      </a:r>
                      <a:r>
                        <a:rPr lang="zh-CN" altLang="en-US" sz="1000" b="0" dirty="0">
                          <a:solidFill>
                            <a:schemeClr val="tx1"/>
                          </a:solidFill>
                          <a:latin typeface="微软雅黑" panose="020B0503020204020204" charset="-122"/>
                          <a:ea typeface="微软雅黑" panose="020B0503020204020204" charset="-122"/>
                          <a:cs typeface="微软雅黑" panose="020B0503020204020204" charset="-122"/>
                        </a:rPr>
                        <a:t>）高层建筑电缆竖井未在楼板处采取防火封堵措施。（</a:t>
                      </a:r>
                      <a:r>
                        <a:rPr lang="en-US" altLang="zh-CN" sz="1000" b="0" dirty="0">
                          <a:solidFill>
                            <a:schemeClr val="tx1"/>
                          </a:solidFill>
                          <a:latin typeface="微软雅黑" panose="020B0503020204020204" charset="-122"/>
                          <a:ea typeface="微软雅黑" panose="020B0503020204020204" charset="-122"/>
                          <a:cs typeface="微软雅黑" panose="020B0503020204020204" charset="-122"/>
                        </a:rPr>
                        <a:t>10</a:t>
                      </a:r>
                      <a:r>
                        <a:rPr lang="zh-CN" altLang="en-US" sz="1000" b="0" dirty="0">
                          <a:solidFill>
                            <a:schemeClr val="tx1"/>
                          </a:solidFill>
                          <a:latin typeface="微软雅黑" panose="020B0503020204020204" charset="-122"/>
                          <a:ea typeface="微软雅黑" panose="020B0503020204020204" charset="-122"/>
                          <a:cs typeface="微软雅黑" panose="020B0503020204020204" charset="-122"/>
                        </a:rPr>
                        <a:t>）</a:t>
                      </a:r>
                      <a:r>
                        <a:rPr lang="en-US" sz="1000" b="0" dirty="0">
                          <a:solidFill>
                            <a:schemeClr val="tx1"/>
                          </a:solidFill>
                          <a:latin typeface="微软雅黑" panose="020B0503020204020204" charset="-122"/>
                          <a:ea typeface="微软雅黑" panose="020B0503020204020204" charset="-122"/>
                          <a:cs typeface="微软雅黑" panose="020B0503020204020204" charset="-122"/>
                        </a:rPr>
                        <a:t>……</a:t>
                      </a:r>
                      <a:r>
                        <a:rPr lang="zh-CN" altLang="en-US" sz="1000" b="0" dirty="0">
                          <a:solidFill>
                            <a:srgbClr val="3333CC"/>
                          </a:solidFill>
                          <a:latin typeface="微软雅黑" panose="020B0503020204020204" charset="-122"/>
                          <a:ea typeface="微软雅黑" panose="020B0503020204020204" charset="-122"/>
                          <a:cs typeface="微软雅黑" panose="020B0503020204020204" charset="-122"/>
                        </a:rPr>
                        <a:t>。</a:t>
                      </a:r>
                      <a:r>
                        <a:rPr lang="zh-CN" altLang="en-US" sz="1400" b="1" dirty="0">
                          <a:solidFill>
                            <a:srgbClr val="0070C0"/>
                          </a:solidFill>
                          <a:latin typeface="微软雅黑" panose="020B0503020204020204" charset="-122"/>
                          <a:ea typeface="微软雅黑" panose="020B0503020204020204" charset="-122"/>
                          <a:cs typeface="微软雅黑" panose="020B0503020204020204" charset="-122"/>
                        </a:rPr>
                        <a:t>共</a:t>
                      </a:r>
                      <a:r>
                        <a:rPr lang="en-US" altLang="zh-CN" sz="1400" b="1" dirty="0">
                          <a:solidFill>
                            <a:srgbClr val="0070C0"/>
                          </a:solidFill>
                          <a:latin typeface="微软雅黑" panose="020B0503020204020204" charset="-122"/>
                          <a:ea typeface="微软雅黑" panose="020B0503020204020204" charset="-122"/>
                          <a:cs typeface="微软雅黑" panose="020B0503020204020204" charset="-122"/>
                        </a:rPr>
                        <a:t>35</a:t>
                      </a:r>
                      <a:r>
                        <a:rPr lang="zh-CN" altLang="en-US" sz="1400" b="1" dirty="0">
                          <a:solidFill>
                            <a:srgbClr val="0070C0"/>
                          </a:solidFill>
                          <a:latin typeface="微软雅黑" panose="020B0503020204020204" charset="-122"/>
                          <a:ea typeface="微软雅黑" panose="020B0503020204020204" charset="-122"/>
                          <a:cs typeface="微软雅黑" panose="020B0503020204020204" charset="-122"/>
                        </a:rPr>
                        <a:t>项</a:t>
                      </a:r>
                      <a:endParaRPr lang="zh-CN" altLang="en-US" sz="1400" b="1" dirty="0">
                        <a:solidFill>
                          <a:srgbClr val="0070C0"/>
                        </a:solidFill>
                        <a:latin typeface="微软雅黑" panose="020B0503020204020204" charset="-122"/>
                        <a:ea typeface="微软雅黑" panose="020B0503020204020204" charset="-122"/>
                        <a:cs typeface="微软雅黑" panose="020B0503020204020204" charset="-122"/>
                      </a:endParaRPr>
                    </a:p>
                  </a:txBody>
                  <a:tcPr marL="7620" marR="7620" marT="7620" marB="9525"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E5F0F9"/>
                    </a:solidFill>
                  </a:tcPr>
                </a:tc>
              </a:tr>
              <a:tr h="607478">
                <a:tc>
                  <a:txBody>
                    <a:bodyPr/>
                    <a:lstStyle/>
                    <a:p>
                      <a:pPr algn="ctr" fontAlgn="ctr"/>
                      <a:r>
                        <a:rPr lang="zh-CN" sz="1400" b="1" i="0" kern="0" dirty="0">
                          <a:latin typeface="微软雅黑" panose="020B0503020204020204" charset="-122"/>
                          <a:ea typeface="微软雅黑" panose="020B0503020204020204" charset="-122"/>
                        </a:rPr>
                        <a:t>JD1-XF-001</a:t>
                      </a:r>
                      <a:endParaRPr lang="en-US" altLang="zh-CN" sz="1200" b="1" i="0" dirty="0">
                        <a:solidFill>
                          <a:srgbClr val="000000"/>
                        </a:solidFill>
                        <a:latin typeface="微软雅黑" panose="020B0503020204020204" charset="-122"/>
                        <a:ea typeface="微软雅黑" panose="020B0503020204020204" charset="-122"/>
                      </a:endParaRPr>
                    </a:p>
                  </a:txBody>
                  <a:tcPr marL="7937" marR="7937" marT="7937"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a:txBody>
                    <a:bodyPr/>
                    <a:lstStyle/>
                    <a:p>
                      <a:pPr algn="l" fontAlgn="ctr"/>
                      <a:r>
                        <a:rPr lang="zh-CN" sz="1400" b="1" i="0" kern="0" dirty="0">
                          <a:latin typeface="微软雅黑" panose="020B0503020204020204" charset="-122"/>
                          <a:ea typeface="微软雅黑" panose="020B0503020204020204" charset="-122"/>
                        </a:rPr>
                        <a:t>建筑物或场所在总平面布置、耐火等级与防火分隔、安全疏散、消防设施、电气、消防安全管理等方面存在</a:t>
                      </a:r>
                      <a:r>
                        <a:rPr lang="zh-CN" sz="1400" b="1" i="0" kern="0" dirty="0">
                          <a:solidFill>
                            <a:srgbClr val="FF0000"/>
                          </a:solidFill>
                          <a:latin typeface="微软雅黑" panose="020B0503020204020204" charset="-122"/>
                          <a:ea typeface="微软雅黑" panose="020B0503020204020204" charset="-122"/>
                        </a:rPr>
                        <a:t>5项</a:t>
                      </a:r>
                      <a:r>
                        <a:rPr lang="zh-CN" sz="1400" b="1" i="0" kern="0" dirty="0">
                          <a:latin typeface="微软雅黑" panose="020B0503020204020204" charset="-122"/>
                          <a:ea typeface="微软雅黑" panose="020B0503020204020204" charset="-122"/>
                        </a:rPr>
                        <a:t>符合《重大火灾隐患判定规则（GB35181）》的综合判定要素，应判定为Ⅰ级较大事故隐患。</a:t>
                      </a:r>
                      <a:endParaRPr lang="zh-CN" sz="1400" b="1" i="0" kern="0" dirty="0">
                        <a:latin typeface="微软雅黑" panose="020B0503020204020204" charset="-122"/>
                        <a:ea typeface="微软雅黑" panose="020B0503020204020204" charset="-122"/>
                      </a:endParaRPr>
                    </a:p>
                  </a:txBody>
                  <a:tcPr marL="7937" marR="7937" marT="7937"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r>
              <a:tr h="607478">
                <a:tc>
                  <a:txBody>
                    <a:bodyPr/>
                    <a:lstStyle/>
                    <a:p>
                      <a:pPr algn="ctr" fontAlgn="ctr"/>
                      <a:r>
                        <a:rPr lang="en-US" altLang="zh-CN" sz="1400" b="1" i="0" dirty="0">
                          <a:solidFill>
                            <a:schemeClr val="tx1"/>
                          </a:solidFill>
                          <a:latin typeface="微软雅黑" panose="020B0503020204020204" charset="-122"/>
                          <a:ea typeface="微软雅黑" panose="020B0503020204020204" charset="-122"/>
                        </a:rPr>
                        <a:t>JD2-XF-001</a:t>
                      </a:r>
                      <a:endParaRPr lang="en-US" altLang="zh-CN" sz="1400" b="1" i="0" dirty="0">
                        <a:solidFill>
                          <a:schemeClr val="tx1"/>
                        </a:solidFill>
                        <a:latin typeface="微软雅黑" panose="020B0503020204020204" charset="-122"/>
                        <a:ea typeface="微软雅黑" panose="020B0503020204020204" charset="-122"/>
                      </a:endParaRPr>
                    </a:p>
                  </a:txBody>
                  <a:tcPr marL="7937" marR="7937" marT="7937"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E5F0F9"/>
                    </a:solidFill>
                  </a:tcPr>
                </a:tc>
                <a:tc>
                  <a:txBody>
                    <a:bodyPr/>
                    <a:lstStyle/>
                    <a:p>
                      <a:pPr algn="l" fontAlgn="ctr"/>
                      <a:r>
                        <a:rPr lang="zh-CN" altLang="en-US" sz="1400" b="1" i="0" dirty="0">
                          <a:solidFill>
                            <a:schemeClr val="tx1"/>
                          </a:solidFill>
                          <a:latin typeface="微软雅黑" panose="020B0503020204020204" charset="-122"/>
                          <a:ea typeface="微软雅黑" panose="020B0503020204020204" charset="-122"/>
                          <a:cs typeface="微软雅黑" panose="020B0503020204020204" charset="-122"/>
                        </a:rPr>
                        <a:t>建筑物或场所在总平面布置、耐火等级与防火分隔、安全疏散、消防设施、电气、消防安全管理等方面存在</a:t>
                      </a:r>
                      <a:r>
                        <a:rPr lang="en-US" altLang="zh-CN" sz="1400" b="1" i="0" dirty="0">
                          <a:solidFill>
                            <a:srgbClr val="FF0000"/>
                          </a:solidFill>
                          <a:latin typeface="微软雅黑" panose="020B0503020204020204" charset="-122"/>
                          <a:ea typeface="微软雅黑" panose="020B0503020204020204" charset="-122"/>
                          <a:cs typeface="微软雅黑" panose="020B0503020204020204" charset="-122"/>
                        </a:rPr>
                        <a:t>4</a:t>
                      </a:r>
                      <a:r>
                        <a:rPr lang="zh-CN" altLang="en-US" sz="1400" b="1" i="0" dirty="0">
                          <a:solidFill>
                            <a:srgbClr val="FF0000"/>
                          </a:solidFill>
                          <a:latin typeface="微软雅黑" panose="020B0503020204020204" charset="-122"/>
                          <a:ea typeface="微软雅黑" panose="020B0503020204020204" charset="-122"/>
                          <a:cs typeface="微软雅黑" panose="020B0503020204020204" charset="-122"/>
                        </a:rPr>
                        <a:t>项</a:t>
                      </a:r>
                      <a:r>
                        <a:rPr lang="zh-CN" altLang="en-US" sz="1400" b="1" i="0" dirty="0">
                          <a:solidFill>
                            <a:schemeClr val="tx1"/>
                          </a:solidFill>
                          <a:latin typeface="微软雅黑" panose="020B0503020204020204" charset="-122"/>
                          <a:ea typeface="微软雅黑" panose="020B0503020204020204" charset="-122"/>
                          <a:cs typeface="微软雅黑" panose="020B0503020204020204" charset="-122"/>
                        </a:rPr>
                        <a:t>符合</a:t>
                      </a:r>
                      <a:r>
                        <a:rPr lang="en-US" altLang="zh-CN" sz="1400" b="1" i="0" dirty="0">
                          <a:solidFill>
                            <a:schemeClr val="tx1"/>
                          </a:solidFill>
                          <a:latin typeface="微软雅黑" panose="020B0503020204020204" charset="-122"/>
                          <a:ea typeface="微软雅黑" panose="020B0503020204020204" charset="-122"/>
                          <a:cs typeface="微软雅黑" panose="020B0503020204020204" charset="-122"/>
                        </a:rPr>
                        <a:t>《</a:t>
                      </a:r>
                      <a:r>
                        <a:rPr lang="zh-CN" altLang="en-US" sz="1400" b="1" i="0" dirty="0">
                          <a:solidFill>
                            <a:schemeClr val="tx1"/>
                          </a:solidFill>
                          <a:latin typeface="微软雅黑" panose="020B0503020204020204" charset="-122"/>
                          <a:ea typeface="微软雅黑" panose="020B0503020204020204" charset="-122"/>
                          <a:cs typeface="微软雅黑" panose="020B0503020204020204" charset="-122"/>
                        </a:rPr>
                        <a:t>重大火灾隐患判定规则（</a:t>
                      </a:r>
                      <a:r>
                        <a:rPr lang="en-US" altLang="zh-CN" sz="1400" b="1" i="0" dirty="0">
                          <a:solidFill>
                            <a:schemeClr val="tx1"/>
                          </a:solidFill>
                          <a:latin typeface="微软雅黑" panose="020B0503020204020204" charset="-122"/>
                          <a:ea typeface="微软雅黑" panose="020B0503020204020204" charset="-122"/>
                          <a:cs typeface="微软雅黑" panose="020B0503020204020204" charset="-122"/>
                        </a:rPr>
                        <a:t>GB35181</a:t>
                      </a:r>
                      <a:r>
                        <a:rPr lang="zh-CN" altLang="en-US" sz="1400" b="1" i="0" dirty="0">
                          <a:solidFill>
                            <a:schemeClr val="tx1"/>
                          </a:solidFill>
                          <a:latin typeface="微软雅黑" panose="020B0503020204020204" charset="-122"/>
                          <a:ea typeface="微软雅黑" panose="020B0503020204020204" charset="-122"/>
                          <a:cs typeface="微软雅黑" panose="020B0503020204020204" charset="-122"/>
                        </a:rPr>
                        <a:t>）</a:t>
                      </a:r>
                      <a:r>
                        <a:rPr lang="en-US" altLang="zh-CN" sz="1400" b="1" i="0" dirty="0">
                          <a:solidFill>
                            <a:schemeClr val="tx1"/>
                          </a:solidFill>
                          <a:latin typeface="微软雅黑" panose="020B0503020204020204" charset="-122"/>
                          <a:ea typeface="微软雅黑" panose="020B0503020204020204" charset="-122"/>
                          <a:cs typeface="微软雅黑" panose="020B0503020204020204" charset="-122"/>
                        </a:rPr>
                        <a:t>》</a:t>
                      </a:r>
                      <a:r>
                        <a:rPr lang="zh-CN" altLang="en-US" sz="1400" b="1" i="0" dirty="0">
                          <a:solidFill>
                            <a:schemeClr val="tx1"/>
                          </a:solidFill>
                          <a:latin typeface="微软雅黑" panose="020B0503020204020204" charset="-122"/>
                          <a:ea typeface="微软雅黑" panose="020B0503020204020204" charset="-122"/>
                          <a:cs typeface="微软雅黑" panose="020B0503020204020204" charset="-122"/>
                        </a:rPr>
                        <a:t>的综合判定要素，应判定为</a:t>
                      </a:r>
                      <a:r>
                        <a:rPr lang="en-US" altLang="zh-CN" sz="1400" b="1" i="0" dirty="0">
                          <a:solidFill>
                            <a:schemeClr val="tx1"/>
                          </a:solidFill>
                          <a:latin typeface="微软雅黑" panose="020B0503020204020204" charset="-122"/>
                          <a:ea typeface="微软雅黑" panose="020B0503020204020204" charset="-122"/>
                          <a:cs typeface="微软雅黑" panose="020B0503020204020204" charset="-122"/>
                        </a:rPr>
                        <a:t>Ⅱ</a:t>
                      </a:r>
                      <a:r>
                        <a:rPr lang="zh-CN" altLang="en-US" sz="1400" b="1" i="0" dirty="0">
                          <a:solidFill>
                            <a:schemeClr val="tx1"/>
                          </a:solidFill>
                          <a:latin typeface="微软雅黑" panose="020B0503020204020204" charset="-122"/>
                          <a:ea typeface="微软雅黑" panose="020B0503020204020204" charset="-122"/>
                          <a:cs typeface="微软雅黑" panose="020B0503020204020204" charset="-122"/>
                        </a:rPr>
                        <a:t>级较大事故隐患。</a:t>
                      </a:r>
                      <a:endParaRPr lang="zh-CN" altLang="en-US" sz="1400" b="1" i="0" dirty="0">
                        <a:solidFill>
                          <a:schemeClr val="tx1"/>
                        </a:solidFill>
                        <a:latin typeface="微软雅黑" panose="020B0503020204020204" charset="-122"/>
                        <a:ea typeface="微软雅黑" panose="020B0503020204020204" charset="-122"/>
                        <a:cs typeface="微软雅黑" panose="020B0503020204020204" charset="-122"/>
                      </a:endParaRPr>
                    </a:p>
                  </a:txBody>
                  <a:tcPr marL="7937" marR="7937" marT="7937"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E5F0F9"/>
                    </a:solidFill>
                  </a:tcPr>
                </a:tc>
              </a:tr>
            </a:tbl>
          </a:graphicData>
        </a:graphic>
      </p:graphicFrame>
      <p:sp>
        <p:nvSpPr>
          <p:cNvPr id="6" name="灯片编号占位符 5"/>
          <p:cNvSpPr>
            <a:spLocks noGrp="1"/>
          </p:cNvSpPr>
          <p:nvPr>
            <p:ph type="sldNum" sz="quarter" idx="4294967295"/>
          </p:nvPr>
        </p:nvSpPr>
        <p:spPr>
          <a:xfrm>
            <a:off x="9997440" y="6499860"/>
            <a:ext cx="2133600" cy="365125"/>
          </a:xfrm>
        </p:spPr>
        <p:txBody>
          <a:bodyPr/>
          <a:lstStyle/>
          <a:p>
            <a:fld id="{A10E9369-8E4E-4DE7-B129-F0280ABC27D7}" type="slidenum">
              <a:rPr lang="zh-CN" altLang="en-US" smtClean="0"/>
            </a:fld>
            <a:endParaRPr lang="zh-CN" altLang="en-US" dirty="0"/>
          </a:p>
        </p:txBody>
      </p:sp>
      <p:sp>
        <p:nvSpPr>
          <p:cNvPr id="8" name="文本框 7"/>
          <p:cNvSpPr txBox="1"/>
          <p:nvPr/>
        </p:nvSpPr>
        <p:spPr>
          <a:xfrm>
            <a:off x="-24680" y="969010"/>
            <a:ext cx="5040000" cy="448945"/>
          </a:xfrm>
          <a:prstGeom prst="rect">
            <a:avLst/>
          </a:prstGeom>
          <a:gradFill>
            <a:gsLst>
              <a:gs pos="66000">
                <a:srgbClr val="054CA4"/>
              </a:gs>
              <a:gs pos="100000">
                <a:srgbClr val="0070C0">
                  <a:alpha val="0"/>
                </a:srgbClr>
              </a:gs>
            </a:gsLst>
            <a:lin ang="0" scaled="0"/>
          </a:gradFill>
          <a:ln w="12700" cap="flat" cmpd="sng" algn="ctr">
            <a:noFill/>
            <a:prstDash val="solid"/>
            <a:miter lim="800000"/>
          </a:ln>
          <a:effectLst/>
        </p:spPr>
        <p:txBody>
          <a:bodyPr rtlCol="0" anchor="ctr"/>
          <a:lstStyle>
            <a:defPPr>
              <a:defRPr lang="zh-CN"/>
            </a:defPPr>
            <a:lvl1pPr>
              <a:defRPr sz="2000" b="1"/>
            </a:lvl1pPr>
            <a:lvl2pPr>
              <a:defRPr>
                <a:solidFill>
                  <a:sysClr val="window" lastClr="FFFFFF"/>
                </a:solidFill>
              </a:defRPr>
            </a:lvl2pPr>
            <a:lvl3pPr>
              <a:defRPr>
                <a:solidFill>
                  <a:sysClr val="window" lastClr="FFFFFF"/>
                </a:solidFill>
              </a:defRPr>
            </a:lvl3pPr>
            <a:lvl4pPr>
              <a:defRPr>
                <a:solidFill>
                  <a:sysClr val="window" lastClr="FFFFFF"/>
                </a:solidFill>
              </a:defRPr>
            </a:lvl4pPr>
            <a:lvl5pPr>
              <a:defRPr>
                <a:solidFill>
                  <a:sysClr val="window" lastClr="FFFFFF"/>
                </a:solidFill>
              </a:defRPr>
            </a:lvl5pPr>
            <a:lvl6pPr>
              <a:defRPr>
                <a:solidFill>
                  <a:sysClr val="window" lastClr="FFFFFF"/>
                </a:solidFill>
              </a:defRPr>
            </a:lvl6pPr>
            <a:lvl7pPr>
              <a:defRPr>
                <a:solidFill>
                  <a:sysClr val="window" lastClr="FFFFFF"/>
                </a:solidFill>
              </a:defRPr>
            </a:lvl7pPr>
            <a:lvl8pPr>
              <a:defRPr>
                <a:solidFill>
                  <a:sysClr val="window" lastClr="FFFFFF"/>
                </a:solidFill>
              </a:defRPr>
            </a:lvl8pPr>
            <a:lvl9pPr>
              <a:defRPr>
                <a:solidFill>
                  <a:sysClr val="window" lastClr="FFFFFF"/>
                </a:solidFill>
              </a:defRPr>
            </a:lvl9pPr>
          </a:lstStyle>
          <a:p>
            <a:pPr algn="l" fontAlgn="auto">
              <a:buClrTx/>
              <a:buSzTx/>
              <a:buFontTx/>
              <a:defRPr/>
            </a:pPr>
            <a:r>
              <a:rPr lang="zh-CN" altLang="en-US" dirty="0">
                <a:solidFill>
                  <a:schemeClr val="bg1"/>
                </a:solidFill>
                <a:latin typeface="微软雅黑" panose="020B0503020204020204" charset="-122"/>
                <a:ea typeface="微软雅黑" panose="020B0503020204020204" charset="-122"/>
                <a:sym typeface="+mn-ea"/>
              </a:rPr>
              <a:t> （三）设备设施隐患</a:t>
            </a:r>
            <a:endParaRPr lang="zh-CN" altLang="en-US" dirty="0">
              <a:solidFill>
                <a:schemeClr val="bg1"/>
              </a:solidFill>
              <a:latin typeface="微软雅黑" panose="020B0503020204020204" charset="-122"/>
              <a:ea typeface="微软雅黑" panose="020B0503020204020204" charset="-122"/>
              <a:sym typeface="+mn-ea"/>
            </a:endParaRPr>
          </a:p>
        </p:txBody>
      </p:sp>
      <p:sp>
        <p:nvSpPr>
          <p:cNvPr id="4" name="TextBox 8"/>
          <p:cNvSpPr txBox="1"/>
          <p:nvPr/>
        </p:nvSpPr>
        <p:spPr>
          <a:xfrm>
            <a:off x="168335" y="271329"/>
            <a:ext cx="7002524" cy="52197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charset="-122"/>
                <a:ea typeface="微软雅黑" panose="020B0503020204020204" charset="-122"/>
              </a:rPr>
              <a:t>二、</a:t>
            </a:r>
            <a:r>
              <a:rPr lang="zh-CN" altLang="en-US" sz="2800" b="1" dirty="0">
                <a:latin typeface="微软雅黑" panose="020B0503020204020204" charset="-122"/>
                <a:ea typeface="微软雅黑" panose="020B0503020204020204" charset="-122"/>
                <a:sym typeface="+mn-ea"/>
              </a:rPr>
              <a:t>网公司事故隐患判定标准宣贯学习</a:t>
            </a:r>
            <a:endParaRPr lang="zh-CN" altLang="en-US" sz="2800" b="1" dirty="0">
              <a:latin typeface="微软雅黑" panose="020B0503020204020204" charset="-122"/>
              <a:ea typeface="微软雅黑" panose="020B0503020204020204" charset="-122"/>
            </a:endParaRP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4294967295"/>
          </p:nvPr>
        </p:nvSpPr>
        <p:spPr>
          <a:xfrm>
            <a:off x="9997440" y="6499860"/>
            <a:ext cx="2133600" cy="365125"/>
          </a:xfrm>
        </p:spPr>
        <p:txBody>
          <a:bodyPr/>
          <a:lstStyle/>
          <a:p>
            <a:fld id="{A10E9369-8E4E-4DE7-B129-F0280ABC27D7}" type="slidenum">
              <a:rPr lang="zh-CN" altLang="en-US" smtClean="0">
                <a:latin typeface="+mn-ea"/>
              </a:rPr>
            </a:fld>
            <a:endParaRPr lang="zh-CN" altLang="en-US" dirty="0">
              <a:latin typeface="+mn-ea"/>
            </a:endParaRPr>
          </a:p>
        </p:txBody>
      </p:sp>
      <p:sp>
        <p:nvSpPr>
          <p:cNvPr id="8" name="文本框 7"/>
          <p:cNvSpPr txBox="1"/>
          <p:nvPr/>
        </p:nvSpPr>
        <p:spPr>
          <a:xfrm>
            <a:off x="-24680" y="969010"/>
            <a:ext cx="5040000" cy="448945"/>
          </a:xfrm>
          <a:prstGeom prst="rect">
            <a:avLst/>
          </a:prstGeom>
          <a:gradFill>
            <a:gsLst>
              <a:gs pos="66000">
                <a:srgbClr val="054CA4"/>
              </a:gs>
              <a:gs pos="100000">
                <a:srgbClr val="0070C0">
                  <a:alpha val="0"/>
                </a:srgbClr>
              </a:gs>
            </a:gsLst>
            <a:lin ang="0" scaled="0"/>
          </a:gradFill>
          <a:ln w="12700" cap="flat" cmpd="sng" algn="ctr">
            <a:noFill/>
            <a:prstDash val="solid"/>
            <a:miter lim="800000"/>
          </a:ln>
          <a:effectLst/>
        </p:spPr>
        <p:txBody>
          <a:bodyPr rtlCol="0" anchor="ctr"/>
          <a:lstStyle>
            <a:defPPr>
              <a:defRPr lang="zh-CN"/>
            </a:defPPr>
            <a:lvl1pPr>
              <a:defRPr sz="2000" b="1"/>
            </a:lvl1pPr>
            <a:lvl2pPr>
              <a:defRPr>
                <a:solidFill>
                  <a:sysClr val="window" lastClr="FFFFFF"/>
                </a:solidFill>
              </a:defRPr>
            </a:lvl2pPr>
            <a:lvl3pPr>
              <a:defRPr>
                <a:solidFill>
                  <a:sysClr val="window" lastClr="FFFFFF"/>
                </a:solidFill>
              </a:defRPr>
            </a:lvl3pPr>
            <a:lvl4pPr>
              <a:defRPr>
                <a:solidFill>
                  <a:sysClr val="window" lastClr="FFFFFF"/>
                </a:solidFill>
              </a:defRPr>
            </a:lvl4pPr>
            <a:lvl5pPr>
              <a:defRPr>
                <a:solidFill>
                  <a:sysClr val="window" lastClr="FFFFFF"/>
                </a:solidFill>
              </a:defRPr>
            </a:lvl5pPr>
            <a:lvl6pPr>
              <a:defRPr>
                <a:solidFill>
                  <a:sysClr val="window" lastClr="FFFFFF"/>
                </a:solidFill>
              </a:defRPr>
            </a:lvl6pPr>
            <a:lvl7pPr>
              <a:defRPr>
                <a:solidFill>
                  <a:sysClr val="window" lastClr="FFFFFF"/>
                </a:solidFill>
              </a:defRPr>
            </a:lvl7pPr>
            <a:lvl8pPr>
              <a:defRPr>
                <a:solidFill>
                  <a:sysClr val="window" lastClr="FFFFFF"/>
                </a:solidFill>
              </a:defRPr>
            </a:lvl8pPr>
            <a:lvl9pPr>
              <a:defRPr>
                <a:solidFill>
                  <a:sysClr val="window" lastClr="FFFFFF"/>
                </a:solidFill>
              </a:defRPr>
            </a:lvl9pPr>
          </a:lstStyle>
          <a:p>
            <a:pPr algn="l" fontAlgn="auto">
              <a:buClrTx/>
              <a:buSzTx/>
              <a:buFontTx/>
              <a:defRPr/>
            </a:pPr>
            <a:r>
              <a:rPr lang="zh-CN" altLang="en-US" dirty="0">
                <a:solidFill>
                  <a:schemeClr val="bg1"/>
                </a:solidFill>
                <a:latin typeface="微软雅黑" panose="020B0503020204020204" charset="-122"/>
                <a:ea typeface="微软雅黑" panose="020B0503020204020204" charset="-122"/>
                <a:sym typeface="+mn-ea"/>
              </a:rPr>
              <a:t> （三）设备设施隐患</a:t>
            </a:r>
            <a:endParaRPr lang="zh-CN" altLang="en-US" dirty="0">
              <a:solidFill>
                <a:schemeClr val="bg1"/>
              </a:solidFill>
              <a:latin typeface="微软雅黑" panose="020B0503020204020204" charset="-122"/>
              <a:ea typeface="微软雅黑" panose="020B0503020204020204" charset="-122"/>
              <a:sym typeface="+mn-ea"/>
            </a:endParaRPr>
          </a:p>
        </p:txBody>
      </p:sp>
      <p:sp>
        <p:nvSpPr>
          <p:cNvPr id="13" name="文本框 12"/>
          <p:cNvSpPr txBox="1"/>
          <p:nvPr/>
        </p:nvSpPr>
        <p:spPr>
          <a:xfrm>
            <a:off x="304800" y="1598930"/>
            <a:ext cx="11407775" cy="1146810"/>
          </a:xfrm>
          <a:prstGeom prst="rect">
            <a:avLst/>
          </a:prstGeom>
          <a:noFill/>
          <a:ln w="15875" cmpd="sng">
            <a:noFill/>
            <a:prstDash val="sysDash"/>
          </a:ln>
        </p:spPr>
        <p:txBody>
          <a:bodyPr wrap="square" rtlCol="0">
            <a:noAutofit/>
          </a:bodyPr>
          <a:lstStyle/>
          <a:p>
            <a:pPr indent="0" algn="just" fontAlgn="auto">
              <a:lnSpc>
                <a:spcPct val="140000"/>
              </a:lnSpc>
              <a:spcBef>
                <a:spcPts val="0"/>
              </a:spcBef>
              <a:spcAft>
                <a:spcPts val="0"/>
              </a:spcAft>
              <a:buFont typeface="Wingdings" panose="05000000000000000000" charset="0"/>
              <a:buNone/>
            </a:pPr>
            <a:r>
              <a:rPr lang="zh-CN" altLang="en-US" sz="1600" b="1" kern="0" dirty="0">
                <a:latin typeface="微软雅黑" panose="020B0503020204020204" charset="-122"/>
                <a:ea typeface="微软雅黑" panose="020B0503020204020204" charset="-122"/>
                <a:cs typeface="微软雅黑" panose="020B0503020204020204" charset="-122"/>
                <a:sym typeface="+mn-ea"/>
              </a:rPr>
              <a:t>【解读】</a:t>
            </a:r>
            <a:r>
              <a:rPr lang="zh-CN" altLang="en-US" sz="1600" kern="0" dirty="0">
                <a:latin typeface="微软雅黑" panose="020B0503020204020204" charset="-122"/>
                <a:ea typeface="微软雅黑" panose="020B0503020204020204" charset="-122"/>
                <a:cs typeface="微软雅黑" panose="020B0503020204020204" charset="-122"/>
                <a:sym typeface="+mn-ea"/>
              </a:rPr>
              <a:t>条款主要参考《重大火灾隐患判定规则》（</a:t>
            </a:r>
            <a:r>
              <a:rPr lang="en-US" altLang="zh-CN" sz="1600" kern="0" dirty="0">
                <a:latin typeface="微软雅黑" panose="020B0503020204020204" charset="-122"/>
                <a:ea typeface="微软雅黑" panose="020B0503020204020204" charset="-122"/>
                <a:cs typeface="微软雅黑" panose="020B0503020204020204" charset="-122"/>
                <a:sym typeface="+mn-ea"/>
              </a:rPr>
              <a:t>GB 35181-2025</a:t>
            </a:r>
            <a:r>
              <a:rPr lang="zh-CN" altLang="en-US" sz="1600" kern="0" dirty="0">
                <a:latin typeface="微软雅黑" panose="020B0503020204020204" charset="-122"/>
                <a:ea typeface="微软雅黑" panose="020B0503020204020204" charset="-122"/>
                <a:cs typeface="微软雅黑" panose="020B0503020204020204" charset="-122"/>
                <a:sym typeface="+mn-ea"/>
              </a:rPr>
              <a:t>）。</a:t>
            </a:r>
            <a:r>
              <a:rPr sz="1600" kern="0" dirty="0">
                <a:solidFill>
                  <a:sysClr val="windowText" lastClr="000000"/>
                </a:solidFill>
                <a:latin typeface="微软雅黑" panose="020B0503020204020204" charset="-122"/>
                <a:ea typeface="微软雅黑" panose="020B0503020204020204" charset="-122"/>
                <a:cs typeface="微软雅黑" panose="020B0503020204020204" charset="-122"/>
                <a:sym typeface="+mn-ea"/>
              </a:rPr>
              <a:t>条款ZD-XF-001规定</a:t>
            </a:r>
            <a:r>
              <a:rPr lang="en-US" sz="1600" kern="0" dirty="0">
                <a:solidFill>
                  <a:sysClr val="windowText" lastClr="000000"/>
                </a:solidFill>
                <a:latin typeface="微软雅黑" panose="020B0503020204020204" charset="-122"/>
                <a:ea typeface="微软雅黑" panose="020B0503020204020204" charset="-122"/>
                <a:cs typeface="微软雅黑" panose="020B0503020204020204" charset="-122"/>
                <a:sym typeface="+mn-ea"/>
              </a:rPr>
              <a:t>12</a:t>
            </a:r>
            <a:r>
              <a:rPr sz="1600" kern="0" dirty="0">
                <a:solidFill>
                  <a:sysClr val="windowText" lastClr="000000"/>
                </a:solidFill>
                <a:latin typeface="微软雅黑" panose="020B0503020204020204" charset="-122"/>
                <a:ea typeface="微软雅黑" panose="020B0503020204020204" charset="-122"/>
                <a:cs typeface="微软雅黑" panose="020B0503020204020204" charset="-122"/>
                <a:sym typeface="+mn-ea"/>
              </a:rPr>
              <a:t>项直接判定要素，条款ZD-XF-002规定3</a:t>
            </a:r>
            <a:r>
              <a:rPr lang="en-US" sz="1600" kern="0" dirty="0">
                <a:solidFill>
                  <a:sysClr val="windowText" lastClr="000000"/>
                </a:solidFill>
                <a:latin typeface="微软雅黑" panose="020B0503020204020204" charset="-122"/>
                <a:ea typeface="微软雅黑" panose="020B0503020204020204" charset="-122"/>
                <a:cs typeface="微软雅黑" panose="020B0503020204020204" charset="-122"/>
                <a:sym typeface="+mn-ea"/>
              </a:rPr>
              <a:t>5</a:t>
            </a:r>
            <a:r>
              <a:rPr sz="1600" kern="0" dirty="0">
                <a:solidFill>
                  <a:sysClr val="windowText" lastClr="000000"/>
                </a:solidFill>
                <a:latin typeface="微软雅黑" panose="020B0503020204020204" charset="-122"/>
                <a:ea typeface="微软雅黑" panose="020B0503020204020204" charset="-122"/>
                <a:cs typeface="微软雅黑" panose="020B0503020204020204" charset="-122"/>
                <a:sym typeface="+mn-ea"/>
              </a:rPr>
              <a:t>项综合判定要素。直接判定要素和综合判定要素均应为不能立即改正的火灾隐患要素。对于</a:t>
            </a:r>
            <a:r>
              <a:rPr lang="zh-CN" sz="1600" kern="0" dirty="0">
                <a:solidFill>
                  <a:sysClr val="windowText" lastClr="000000"/>
                </a:solidFill>
                <a:latin typeface="微软雅黑" panose="020B0503020204020204" charset="-122"/>
                <a:ea typeface="微软雅黑" panose="020B0503020204020204" charset="-122"/>
                <a:cs typeface="微软雅黑" panose="020B0503020204020204" charset="-122"/>
                <a:sym typeface="+mn-ea"/>
              </a:rPr>
              <a:t>由</a:t>
            </a:r>
            <a:r>
              <a:rPr sz="1600" kern="0" dirty="0">
                <a:solidFill>
                  <a:sysClr val="windowText" lastClr="000000"/>
                </a:solidFill>
                <a:latin typeface="微软雅黑" panose="020B0503020204020204" charset="-122"/>
                <a:ea typeface="微软雅黑" panose="020B0503020204020204" charset="-122"/>
                <a:cs typeface="微软雅黑" panose="020B0503020204020204" charset="-122"/>
                <a:sym typeface="+mn-ea"/>
              </a:rPr>
              <a:t>消防技术标准修订引起，但法律法规有明确规定的，或者</a:t>
            </a:r>
            <a:r>
              <a:rPr lang="zh-CN" sz="1600" kern="0" dirty="0">
                <a:solidFill>
                  <a:sysClr val="windowText" lastClr="000000"/>
                </a:solidFill>
                <a:latin typeface="微软雅黑" panose="020B0503020204020204" charset="-122"/>
                <a:ea typeface="微软雅黑" panose="020B0503020204020204" charset="-122"/>
                <a:cs typeface="微软雅黑" panose="020B0503020204020204" charset="-122"/>
                <a:sym typeface="+mn-ea"/>
              </a:rPr>
              <a:t>建筑</a:t>
            </a:r>
            <a:r>
              <a:rPr sz="1600" kern="0" dirty="0">
                <a:solidFill>
                  <a:sysClr val="windowText" lastClr="000000"/>
                </a:solidFill>
                <a:latin typeface="微软雅黑" panose="020B0503020204020204" charset="-122"/>
                <a:ea typeface="微软雅黑" panose="020B0503020204020204" charset="-122"/>
                <a:cs typeface="微软雅黑" panose="020B0503020204020204" charset="-122"/>
                <a:sym typeface="+mn-ea"/>
              </a:rPr>
              <a:t>、场所已停产停业或停止使用</a:t>
            </a:r>
            <a:r>
              <a:rPr lang="zh-CN" sz="1600" kern="0" dirty="0">
                <a:solidFill>
                  <a:sysClr val="windowText" lastClr="000000"/>
                </a:solidFill>
                <a:latin typeface="微软雅黑" panose="020B0503020204020204" charset="-122"/>
                <a:ea typeface="微软雅黑" panose="020B0503020204020204" charset="-122"/>
                <a:cs typeface="微软雅黑" panose="020B0503020204020204" charset="-122"/>
                <a:sym typeface="+mn-ea"/>
              </a:rPr>
              <a:t>且经现场检查确认无现实火灾风险</a:t>
            </a:r>
            <a:r>
              <a:rPr sz="1600" kern="0" dirty="0">
                <a:solidFill>
                  <a:sysClr val="windowText" lastClr="000000"/>
                </a:solidFill>
                <a:latin typeface="微软雅黑" panose="020B0503020204020204" charset="-122"/>
                <a:ea typeface="微软雅黑" panose="020B0503020204020204" charset="-122"/>
                <a:cs typeface="微软雅黑" panose="020B0503020204020204" charset="-122"/>
                <a:sym typeface="+mn-ea"/>
              </a:rPr>
              <a:t>的情形不应判为重大隐患。</a:t>
            </a:r>
            <a:endParaRPr lang="zh-CN" altLang="en-US" sz="1600" kern="0" dirty="0">
              <a:solidFill>
                <a:sysClr val="windowText" lastClr="000000"/>
              </a:solidFill>
              <a:latin typeface="微软雅黑" panose="020B0503020204020204" charset="-122"/>
              <a:ea typeface="微软雅黑" panose="020B0503020204020204" charset="-122"/>
              <a:cs typeface="微软雅黑" panose="020B0503020204020204" charset="-122"/>
              <a:sym typeface="+mn-ea"/>
            </a:endParaRPr>
          </a:p>
        </p:txBody>
      </p:sp>
      <p:sp>
        <p:nvSpPr>
          <p:cNvPr id="5" name="文本框 4"/>
          <p:cNvSpPr txBox="1"/>
          <p:nvPr/>
        </p:nvSpPr>
        <p:spPr>
          <a:xfrm>
            <a:off x="770265" y="4156467"/>
            <a:ext cx="2604819" cy="810886"/>
          </a:xfrm>
          <a:prstGeom prst="roundRect">
            <a:avLst/>
          </a:prstGeom>
          <a:solidFill>
            <a:srgbClr val="0070C0"/>
          </a:solidFill>
          <a:ln>
            <a:noFill/>
          </a:ln>
        </p:spPr>
        <p:txBody>
          <a:bodyPr wrap="square" rtlCol="0" anchor="ctr">
            <a:noAutofit/>
          </a:bodyPr>
          <a:lstStyle/>
          <a:p>
            <a:r>
              <a:rPr lang="zh-CN" altLang="en-US" sz="1600" b="1" dirty="0">
                <a:solidFill>
                  <a:schemeClr val="bg1"/>
                </a:solidFill>
                <a:latin typeface="+mn-ea"/>
                <a:cs typeface="微软雅黑" panose="020B0503020204020204" charset="-122"/>
              </a:rPr>
              <a:t>重大、较大（</a:t>
            </a:r>
            <a:r>
              <a:rPr lang="en-US" altLang="zh-CN" sz="1600" b="1" dirty="0">
                <a:solidFill>
                  <a:schemeClr val="bg1"/>
                </a:solidFill>
                <a:latin typeface="+mn-ea"/>
                <a:cs typeface="微软雅黑" panose="020B0503020204020204" charset="-122"/>
              </a:rPr>
              <a:t>Ⅰ</a:t>
            </a:r>
            <a:r>
              <a:rPr lang="zh-CN" altLang="en-US" sz="1600" b="1" dirty="0">
                <a:solidFill>
                  <a:schemeClr val="bg1"/>
                </a:solidFill>
                <a:latin typeface="+mn-ea"/>
                <a:cs typeface="微软雅黑" panose="020B0503020204020204" charset="-122"/>
              </a:rPr>
              <a:t>级、</a:t>
            </a:r>
            <a:r>
              <a:rPr lang="en-US" altLang="zh-CN" sz="1600" b="1" dirty="0">
                <a:solidFill>
                  <a:schemeClr val="bg1"/>
                </a:solidFill>
                <a:latin typeface="+mn-ea"/>
                <a:cs typeface="微软雅黑" panose="020B0503020204020204" charset="-122"/>
              </a:rPr>
              <a:t>Ⅱ</a:t>
            </a:r>
            <a:r>
              <a:rPr lang="zh-CN" altLang="en-US" sz="1600" b="1" dirty="0">
                <a:solidFill>
                  <a:schemeClr val="bg1"/>
                </a:solidFill>
                <a:latin typeface="+mn-ea"/>
                <a:cs typeface="微软雅黑" panose="020B0503020204020204" charset="-122"/>
              </a:rPr>
              <a:t>级）火灾隐患排查及判定指引</a:t>
            </a:r>
            <a:endParaRPr lang="zh-CN" altLang="en-US" sz="1600" b="1" dirty="0">
              <a:solidFill>
                <a:schemeClr val="bg1"/>
              </a:solidFill>
              <a:latin typeface="+mn-ea"/>
              <a:cs typeface="微软雅黑" panose="020B0503020204020204" charset="-122"/>
            </a:endParaRPr>
          </a:p>
        </p:txBody>
      </p:sp>
      <p:sp>
        <p:nvSpPr>
          <p:cNvPr id="9" name="左大括号 8"/>
          <p:cNvSpPr/>
          <p:nvPr/>
        </p:nvSpPr>
        <p:spPr>
          <a:xfrm>
            <a:off x="3506529" y="3694177"/>
            <a:ext cx="575945" cy="2016130"/>
          </a:xfrm>
          <a:prstGeom prst="leftBrace">
            <a:avLst>
              <a:gd name="adj1" fmla="val 10538"/>
              <a:gd name="adj2" fmla="val 50000"/>
            </a:avLst>
          </a:prstGeom>
          <a:ln>
            <a:solidFill>
              <a:srgbClr val="0070C0"/>
            </a:solidFill>
          </a:ln>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latin typeface="+mn-ea"/>
            </a:endParaRPr>
          </a:p>
        </p:txBody>
      </p:sp>
      <p:sp>
        <p:nvSpPr>
          <p:cNvPr id="11" name="文本框 10"/>
          <p:cNvSpPr txBox="1"/>
          <p:nvPr/>
        </p:nvSpPr>
        <p:spPr>
          <a:xfrm>
            <a:off x="4245669" y="3284984"/>
            <a:ext cx="2936875" cy="810886"/>
          </a:xfrm>
          <a:prstGeom prst="roundRect">
            <a:avLst/>
          </a:prstGeom>
          <a:solidFill>
            <a:srgbClr val="00B0F0"/>
          </a:solidFill>
          <a:ln>
            <a:noFill/>
          </a:ln>
        </p:spPr>
        <p:txBody>
          <a:bodyPr wrap="square" rtlCol="0" anchor="ctr">
            <a:noAutofit/>
          </a:bodyPr>
          <a:lstStyle/>
          <a:p>
            <a:pPr lvl="0" algn="l">
              <a:buClrTx/>
              <a:buSzTx/>
              <a:buFontTx/>
            </a:pPr>
            <a:r>
              <a:rPr lang="zh-CN" altLang="en-US" sz="1600" b="1" dirty="0">
                <a:solidFill>
                  <a:schemeClr val="bg1"/>
                </a:solidFill>
                <a:latin typeface="+mn-ea"/>
                <a:cs typeface="微软雅黑" panose="020B0503020204020204" charset="-122"/>
                <a:sym typeface="+mn-ea"/>
              </a:rPr>
              <a:t>直接判定（满足1项要素即直接定为相应等级隐患）</a:t>
            </a:r>
            <a:endParaRPr lang="zh-CN" altLang="en-US" sz="1600" b="1" dirty="0">
              <a:solidFill>
                <a:schemeClr val="bg1"/>
              </a:solidFill>
              <a:latin typeface="+mn-ea"/>
              <a:cs typeface="微软雅黑" panose="020B0503020204020204" charset="-122"/>
              <a:sym typeface="+mn-ea"/>
            </a:endParaRPr>
          </a:p>
        </p:txBody>
      </p:sp>
      <p:sp>
        <p:nvSpPr>
          <p:cNvPr id="12" name="文本框 11"/>
          <p:cNvSpPr txBox="1"/>
          <p:nvPr/>
        </p:nvSpPr>
        <p:spPr>
          <a:xfrm>
            <a:off x="4242494" y="5241151"/>
            <a:ext cx="2947035" cy="810886"/>
          </a:xfrm>
          <a:prstGeom prst="roundRect">
            <a:avLst/>
          </a:prstGeom>
          <a:solidFill>
            <a:srgbClr val="00B0F0"/>
          </a:solidFill>
          <a:ln>
            <a:noFill/>
          </a:ln>
        </p:spPr>
        <p:txBody>
          <a:bodyPr wrap="square" rtlCol="0" anchor="ctr">
            <a:noAutofit/>
          </a:bodyPr>
          <a:lstStyle/>
          <a:p>
            <a:pPr lvl="0" algn="l">
              <a:buClrTx/>
              <a:buSzTx/>
              <a:buFontTx/>
            </a:pPr>
            <a:r>
              <a:rPr lang="zh-CN" altLang="en-US" sz="1600" b="1">
                <a:solidFill>
                  <a:schemeClr val="bg1"/>
                </a:solidFill>
                <a:latin typeface="+mn-ea"/>
                <a:cs typeface="微软雅黑" panose="020B0503020204020204" charset="-122"/>
                <a:sym typeface="+mn-ea"/>
              </a:rPr>
              <a:t>综合判定（满足一定数量的要素则综合判定为相应等级隐患）</a:t>
            </a:r>
            <a:endParaRPr lang="zh-CN" altLang="en-US" sz="1600" b="1">
              <a:solidFill>
                <a:schemeClr val="bg1"/>
              </a:solidFill>
              <a:latin typeface="+mn-ea"/>
              <a:cs typeface="微软雅黑" panose="020B0503020204020204" charset="-122"/>
              <a:sym typeface="+mn-ea"/>
            </a:endParaRPr>
          </a:p>
        </p:txBody>
      </p:sp>
      <p:sp>
        <p:nvSpPr>
          <p:cNvPr id="29" name="文本框 28"/>
          <p:cNvSpPr txBox="1"/>
          <p:nvPr/>
        </p:nvSpPr>
        <p:spPr>
          <a:xfrm>
            <a:off x="4606349" y="4862999"/>
            <a:ext cx="2284095" cy="337185"/>
          </a:xfrm>
          <a:prstGeom prst="rect">
            <a:avLst/>
          </a:prstGeom>
          <a:noFill/>
        </p:spPr>
        <p:txBody>
          <a:bodyPr wrap="square" rtlCol="0">
            <a:spAutoFit/>
          </a:bodyPr>
          <a:lstStyle/>
          <a:p>
            <a:pPr algn="ctr"/>
            <a:r>
              <a:rPr lang="en-US" altLang="zh-CN" sz="1600" b="1" dirty="0">
                <a:solidFill>
                  <a:srgbClr val="C00000"/>
                </a:solidFill>
                <a:latin typeface="+mn-ea"/>
                <a:cs typeface="黑体" panose="02010609060101010101" charset="-122"/>
              </a:rPr>
              <a:t>35</a:t>
            </a:r>
            <a:r>
              <a:rPr lang="zh-CN" altLang="en-US" sz="1600" b="1" dirty="0">
                <a:solidFill>
                  <a:srgbClr val="C00000"/>
                </a:solidFill>
                <a:latin typeface="+mn-ea"/>
                <a:cs typeface="黑体" panose="02010609060101010101" charset="-122"/>
              </a:rPr>
              <a:t>项综合判定要素</a:t>
            </a:r>
            <a:endParaRPr lang="zh-CN" altLang="en-US" sz="1600" b="1" dirty="0">
              <a:solidFill>
                <a:srgbClr val="C00000"/>
              </a:solidFill>
              <a:latin typeface="+mn-ea"/>
              <a:cs typeface="黑体" panose="02010609060101010101" charset="-122"/>
            </a:endParaRPr>
          </a:p>
        </p:txBody>
      </p:sp>
      <p:sp>
        <p:nvSpPr>
          <p:cNvPr id="4" name="TextBox 8"/>
          <p:cNvSpPr txBox="1"/>
          <p:nvPr/>
        </p:nvSpPr>
        <p:spPr>
          <a:xfrm>
            <a:off x="168335" y="271329"/>
            <a:ext cx="7002524" cy="52197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charset="-122"/>
                <a:ea typeface="微软雅黑" panose="020B0503020204020204" charset="-122"/>
              </a:rPr>
              <a:t>二、</a:t>
            </a:r>
            <a:r>
              <a:rPr lang="zh-CN" altLang="en-US" sz="2800" b="1" dirty="0">
                <a:latin typeface="微软雅黑" panose="020B0503020204020204" charset="-122"/>
                <a:ea typeface="微软雅黑" panose="020B0503020204020204" charset="-122"/>
                <a:sym typeface="+mn-ea"/>
              </a:rPr>
              <a:t>网公司事故隐患判定标准宣贯学习</a:t>
            </a:r>
            <a:endParaRPr lang="zh-CN" altLang="en-US" sz="2800" b="1" dirty="0">
              <a:latin typeface="微软雅黑" panose="020B0503020204020204" charset="-122"/>
              <a:ea typeface="微软雅黑" panose="020B0503020204020204" charset="-122"/>
            </a:endParaRPr>
          </a:p>
        </p:txBody>
      </p:sp>
      <p:grpSp>
        <p:nvGrpSpPr>
          <p:cNvPr id="3" name="组合 2"/>
          <p:cNvGrpSpPr/>
          <p:nvPr/>
        </p:nvGrpSpPr>
        <p:grpSpPr>
          <a:xfrm>
            <a:off x="7320136" y="2924944"/>
            <a:ext cx="3819281" cy="3482682"/>
            <a:chOff x="7029247" y="2924944"/>
            <a:chExt cx="3819281" cy="3482682"/>
          </a:xfrm>
        </p:grpSpPr>
        <p:grpSp>
          <p:nvGrpSpPr>
            <p:cNvPr id="15" name="组合 14"/>
            <p:cNvGrpSpPr/>
            <p:nvPr/>
          </p:nvGrpSpPr>
          <p:grpSpPr>
            <a:xfrm>
              <a:off x="7029247" y="2924944"/>
              <a:ext cx="3819281" cy="1538858"/>
              <a:chOff x="7029247" y="3019807"/>
              <a:chExt cx="3819281" cy="1538858"/>
            </a:xfrm>
          </p:grpSpPr>
          <p:sp>
            <p:nvSpPr>
              <p:cNvPr id="19" name="左大括号 18"/>
              <p:cNvSpPr/>
              <p:nvPr/>
            </p:nvSpPr>
            <p:spPr>
              <a:xfrm>
                <a:off x="7029247" y="3051236"/>
                <a:ext cx="215900" cy="1476000"/>
              </a:xfrm>
              <a:prstGeom prst="leftBrace">
                <a:avLst/>
              </a:prstGeom>
              <a:ln>
                <a:solidFill>
                  <a:srgbClr val="00B0F0"/>
                </a:solidFill>
              </a:ln>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latin typeface="+mn-ea"/>
                </a:endParaRPr>
              </a:p>
            </p:txBody>
          </p:sp>
          <p:sp>
            <p:nvSpPr>
              <p:cNvPr id="20" name="文本框 19"/>
              <p:cNvSpPr txBox="1"/>
              <p:nvPr/>
            </p:nvSpPr>
            <p:spPr>
              <a:xfrm>
                <a:off x="7356528" y="3019807"/>
                <a:ext cx="3492000" cy="337185"/>
              </a:xfrm>
              <a:prstGeom prst="rect">
                <a:avLst/>
              </a:prstGeom>
              <a:solidFill>
                <a:srgbClr val="E5F0F9"/>
              </a:solidFill>
              <a:ln>
                <a:noFill/>
              </a:ln>
            </p:spPr>
            <p:txBody>
              <a:bodyPr wrap="square" rtlCol="0">
                <a:spAutoFit/>
              </a:bodyPr>
              <a:lstStyle/>
              <a:p>
                <a:r>
                  <a:rPr lang="zh-CN" altLang="en-US" sz="1600" dirty="0">
                    <a:latin typeface="+mn-ea"/>
                    <a:cs typeface="微软雅黑" panose="020B0503020204020204" charset="-122"/>
                  </a:rPr>
                  <a:t>重大</a:t>
                </a:r>
                <a:r>
                  <a:rPr lang="en-US" altLang="zh-CN" sz="1600" dirty="0">
                    <a:latin typeface="+mn-ea"/>
                    <a:cs typeface="微软雅黑" panose="020B0503020204020204" charset="-122"/>
                  </a:rPr>
                  <a:t>   </a:t>
                </a:r>
                <a:r>
                  <a:rPr lang="en-US" altLang="zh-CN" sz="1600" dirty="0">
                    <a:solidFill>
                      <a:srgbClr val="FF0000"/>
                    </a:solidFill>
                    <a:latin typeface="+mn-ea"/>
                    <a:cs typeface="微软雅黑" panose="020B0503020204020204" charset="-122"/>
                  </a:rPr>
                  <a:t> </a:t>
                </a:r>
                <a:r>
                  <a:rPr lang="en-US" altLang="zh-CN" sz="1600" dirty="0">
                    <a:solidFill>
                      <a:srgbClr val="C00000"/>
                    </a:solidFill>
                    <a:latin typeface="+mn-ea"/>
                    <a:cs typeface="微软雅黑" panose="020B0503020204020204" charset="-122"/>
                  </a:rPr>
                  <a:t>12</a:t>
                </a:r>
                <a:r>
                  <a:rPr lang="zh-CN" altLang="en-US" sz="1600" dirty="0">
                    <a:solidFill>
                      <a:srgbClr val="C00000"/>
                    </a:solidFill>
                    <a:latin typeface="+mn-ea"/>
                    <a:cs typeface="微软雅黑" panose="020B0503020204020204" charset="-122"/>
                  </a:rPr>
                  <a:t>项直接判定要求</a:t>
                </a:r>
                <a:endParaRPr lang="zh-CN" altLang="en-US" sz="1600" dirty="0">
                  <a:solidFill>
                    <a:srgbClr val="C00000"/>
                  </a:solidFill>
                  <a:latin typeface="+mn-ea"/>
                  <a:cs typeface="微软雅黑" panose="020B0503020204020204" charset="-122"/>
                </a:endParaRPr>
              </a:p>
            </p:txBody>
          </p:sp>
          <p:sp>
            <p:nvSpPr>
              <p:cNvPr id="21" name="文本框 20"/>
              <p:cNvSpPr txBox="1"/>
              <p:nvPr/>
            </p:nvSpPr>
            <p:spPr>
              <a:xfrm>
                <a:off x="7356528" y="3620644"/>
                <a:ext cx="3492000" cy="337185"/>
              </a:xfrm>
              <a:prstGeom prst="rect">
                <a:avLst/>
              </a:prstGeom>
              <a:solidFill>
                <a:srgbClr val="E5F0F9"/>
              </a:solidFill>
              <a:ln>
                <a:noFill/>
              </a:ln>
            </p:spPr>
            <p:txBody>
              <a:bodyPr wrap="square" rtlCol="0">
                <a:spAutoFit/>
              </a:bodyPr>
              <a:lstStyle/>
              <a:p>
                <a:r>
                  <a:rPr lang="en-US" altLang="zh-CN" sz="1600" dirty="0">
                    <a:latin typeface="+mn-ea"/>
                    <a:cs typeface="微软雅黑" panose="020B0503020204020204" charset="-122"/>
                  </a:rPr>
                  <a:t>Ⅰ</a:t>
                </a:r>
                <a:r>
                  <a:rPr lang="zh-CN" altLang="en-US" sz="1600" dirty="0">
                    <a:latin typeface="+mn-ea"/>
                    <a:cs typeface="微软雅黑" panose="020B0503020204020204" charset="-122"/>
                  </a:rPr>
                  <a:t>级较大</a:t>
                </a:r>
                <a:r>
                  <a:rPr lang="en-US" altLang="zh-CN" sz="1600" dirty="0">
                    <a:latin typeface="+mn-ea"/>
                    <a:cs typeface="微软雅黑" panose="020B0503020204020204" charset="-122"/>
                  </a:rPr>
                  <a:t>   </a:t>
                </a:r>
                <a:r>
                  <a:rPr lang="en-US" altLang="zh-CN" sz="1600" dirty="0">
                    <a:solidFill>
                      <a:srgbClr val="FF0000"/>
                    </a:solidFill>
                    <a:latin typeface="+mn-ea"/>
                    <a:cs typeface="微软雅黑" panose="020B0503020204020204" charset="-122"/>
                  </a:rPr>
                  <a:t> </a:t>
                </a:r>
                <a:r>
                  <a:rPr lang="zh-CN" sz="1600" dirty="0">
                    <a:solidFill>
                      <a:srgbClr val="C00000"/>
                    </a:solidFill>
                    <a:latin typeface="+mn-ea"/>
                    <a:cs typeface="微软雅黑" panose="020B0503020204020204" charset="-122"/>
                  </a:rPr>
                  <a:t>无</a:t>
                </a:r>
                <a:endParaRPr lang="zh-CN" sz="1600" dirty="0">
                  <a:solidFill>
                    <a:srgbClr val="C00000"/>
                  </a:solidFill>
                  <a:latin typeface="+mn-ea"/>
                  <a:cs typeface="微软雅黑" panose="020B0503020204020204" charset="-122"/>
                </a:endParaRPr>
              </a:p>
            </p:txBody>
          </p:sp>
          <p:sp>
            <p:nvSpPr>
              <p:cNvPr id="22" name="文本框 21"/>
              <p:cNvSpPr txBox="1"/>
              <p:nvPr/>
            </p:nvSpPr>
            <p:spPr>
              <a:xfrm>
                <a:off x="7356528" y="4221480"/>
                <a:ext cx="3492000" cy="337185"/>
              </a:xfrm>
              <a:prstGeom prst="rect">
                <a:avLst/>
              </a:prstGeom>
              <a:solidFill>
                <a:srgbClr val="E5F0F9"/>
              </a:solidFill>
              <a:ln>
                <a:noFill/>
              </a:ln>
            </p:spPr>
            <p:txBody>
              <a:bodyPr wrap="square" rtlCol="0">
                <a:spAutoFit/>
              </a:bodyPr>
              <a:lstStyle/>
              <a:p>
                <a:r>
                  <a:rPr lang="en-US" altLang="zh-CN" sz="1600" dirty="0">
                    <a:latin typeface="+mn-ea"/>
                    <a:cs typeface="微软雅黑" panose="020B0503020204020204" charset="-122"/>
                  </a:rPr>
                  <a:t>Ⅱ</a:t>
                </a:r>
                <a:r>
                  <a:rPr lang="zh-CN" altLang="en-US" sz="1600" dirty="0">
                    <a:latin typeface="+mn-ea"/>
                    <a:cs typeface="微软雅黑" panose="020B0503020204020204" charset="-122"/>
                  </a:rPr>
                  <a:t>级较大</a:t>
                </a:r>
                <a:r>
                  <a:rPr lang="en-US" altLang="zh-CN" sz="1600" dirty="0">
                    <a:latin typeface="+mn-ea"/>
                    <a:cs typeface="微软雅黑" panose="020B0503020204020204" charset="-122"/>
                  </a:rPr>
                  <a:t>   </a:t>
                </a:r>
                <a:r>
                  <a:rPr lang="en-US" altLang="zh-CN" sz="1600" dirty="0">
                    <a:solidFill>
                      <a:srgbClr val="FF0000"/>
                    </a:solidFill>
                    <a:latin typeface="+mn-ea"/>
                    <a:cs typeface="微软雅黑" panose="020B0503020204020204" charset="-122"/>
                  </a:rPr>
                  <a:t> </a:t>
                </a:r>
                <a:r>
                  <a:rPr lang="zh-CN" altLang="en-US" sz="1600" dirty="0">
                    <a:solidFill>
                      <a:srgbClr val="C00000"/>
                    </a:solidFill>
                    <a:latin typeface="+mn-ea"/>
                    <a:cs typeface="微软雅黑" panose="020B0503020204020204" charset="-122"/>
                  </a:rPr>
                  <a:t>无</a:t>
                </a:r>
                <a:endParaRPr lang="zh-CN" altLang="en-US" sz="1600" dirty="0">
                  <a:solidFill>
                    <a:srgbClr val="C00000"/>
                  </a:solidFill>
                  <a:latin typeface="+mn-ea"/>
                  <a:cs typeface="微软雅黑" panose="020B0503020204020204" charset="-122"/>
                </a:endParaRPr>
              </a:p>
            </p:txBody>
          </p:sp>
        </p:grpSp>
        <p:grpSp>
          <p:nvGrpSpPr>
            <p:cNvPr id="16" name="组合 15"/>
            <p:cNvGrpSpPr/>
            <p:nvPr/>
          </p:nvGrpSpPr>
          <p:grpSpPr>
            <a:xfrm>
              <a:off x="7029247" y="4842262"/>
              <a:ext cx="3758129" cy="1565364"/>
              <a:chOff x="7029247" y="4937125"/>
              <a:chExt cx="3758129" cy="1565364"/>
            </a:xfrm>
          </p:grpSpPr>
          <p:sp>
            <p:nvSpPr>
              <p:cNvPr id="26" name="文本框 25"/>
              <p:cNvSpPr txBox="1"/>
              <p:nvPr/>
            </p:nvSpPr>
            <p:spPr>
              <a:xfrm>
                <a:off x="7295376" y="4937125"/>
                <a:ext cx="3492000" cy="337185"/>
              </a:xfrm>
              <a:prstGeom prst="rect">
                <a:avLst/>
              </a:prstGeom>
              <a:solidFill>
                <a:srgbClr val="E5F0F9"/>
              </a:solidFill>
              <a:ln>
                <a:noFill/>
              </a:ln>
            </p:spPr>
            <p:txBody>
              <a:bodyPr wrap="square" rtlCol="0">
                <a:spAutoFit/>
              </a:bodyPr>
              <a:lstStyle/>
              <a:p>
                <a:r>
                  <a:rPr lang="zh-CN" altLang="en-US" sz="1600" dirty="0">
                    <a:latin typeface="+mn-ea"/>
                    <a:cs typeface="微软雅黑" panose="020B0503020204020204" charset="-122"/>
                  </a:rPr>
                  <a:t>重大</a:t>
                </a:r>
                <a:r>
                  <a:rPr lang="en-US" altLang="zh-CN" sz="1600" dirty="0">
                    <a:latin typeface="+mn-ea"/>
                    <a:cs typeface="微软雅黑" panose="020B0503020204020204" charset="-122"/>
                  </a:rPr>
                  <a:t>   </a:t>
                </a:r>
                <a:r>
                  <a:rPr lang="en-US" altLang="zh-CN" sz="1600" dirty="0">
                    <a:solidFill>
                      <a:srgbClr val="FF0000"/>
                    </a:solidFill>
                    <a:latin typeface="+mn-ea"/>
                    <a:cs typeface="微软雅黑" panose="020B0503020204020204" charset="-122"/>
                  </a:rPr>
                  <a:t> </a:t>
                </a:r>
                <a:r>
                  <a:rPr lang="zh-CN" sz="1600" dirty="0">
                    <a:solidFill>
                      <a:srgbClr val="C00000"/>
                    </a:solidFill>
                    <a:latin typeface="+mn-ea"/>
                    <a:cs typeface="微软雅黑" panose="020B0503020204020204" charset="-122"/>
                  </a:rPr>
                  <a:t>符合综合判定要素</a:t>
                </a:r>
                <a:r>
                  <a:rPr lang="en-US" altLang="zh-CN" sz="1600" dirty="0">
                    <a:solidFill>
                      <a:srgbClr val="C00000"/>
                    </a:solidFill>
                    <a:latin typeface="+mn-ea"/>
                    <a:cs typeface="微软雅黑" panose="020B0503020204020204" charset="-122"/>
                  </a:rPr>
                  <a:t>6</a:t>
                </a:r>
                <a:r>
                  <a:rPr lang="zh-CN" altLang="en-US" sz="1600" dirty="0">
                    <a:solidFill>
                      <a:srgbClr val="C00000"/>
                    </a:solidFill>
                    <a:latin typeface="+mn-ea"/>
                    <a:cs typeface="微软雅黑" panose="020B0503020204020204" charset="-122"/>
                  </a:rPr>
                  <a:t>条及以上</a:t>
                </a:r>
                <a:endParaRPr lang="zh-CN" altLang="en-US" sz="1600" dirty="0">
                  <a:solidFill>
                    <a:srgbClr val="C00000"/>
                  </a:solidFill>
                  <a:latin typeface="+mn-ea"/>
                  <a:cs typeface="微软雅黑" panose="020B0503020204020204" charset="-122"/>
                </a:endParaRPr>
              </a:p>
            </p:txBody>
          </p:sp>
          <p:sp>
            <p:nvSpPr>
              <p:cNvPr id="27" name="文本框 26"/>
              <p:cNvSpPr txBox="1"/>
              <p:nvPr/>
            </p:nvSpPr>
            <p:spPr>
              <a:xfrm>
                <a:off x="7295375" y="5551214"/>
                <a:ext cx="3492000" cy="337185"/>
              </a:xfrm>
              <a:prstGeom prst="rect">
                <a:avLst/>
              </a:prstGeom>
              <a:solidFill>
                <a:srgbClr val="E5F0F9"/>
              </a:solidFill>
              <a:ln>
                <a:noFill/>
              </a:ln>
            </p:spPr>
            <p:txBody>
              <a:bodyPr wrap="square" rtlCol="0">
                <a:spAutoFit/>
              </a:bodyPr>
              <a:lstStyle/>
              <a:p>
                <a:r>
                  <a:rPr lang="en-US" altLang="zh-CN" sz="1600" dirty="0">
                    <a:latin typeface="+mn-ea"/>
                    <a:cs typeface="微软雅黑" panose="020B0503020204020204" charset="-122"/>
                  </a:rPr>
                  <a:t>Ⅰ</a:t>
                </a:r>
                <a:r>
                  <a:rPr lang="zh-CN" altLang="en-US" sz="1600" dirty="0">
                    <a:latin typeface="+mn-ea"/>
                    <a:cs typeface="微软雅黑" panose="020B0503020204020204" charset="-122"/>
                  </a:rPr>
                  <a:t>级较大</a:t>
                </a:r>
                <a:r>
                  <a:rPr lang="en-US" altLang="zh-CN" sz="1600" dirty="0">
                    <a:latin typeface="+mn-ea"/>
                    <a:cs typeface="微软雅黑" panose="020B0503020204020204" charset="-122"/>
                  </a:rPr>
                  <a:t>   </a:t>
                </a:r>
                <a:r>
                  <a:rPr lang="en-US" altLang="zh-CN" sz="1600" dirty="0">
                    <a:solidFill>
                      <a:srgbClr val="FF0000"/>
                    </a:solidFill>
                    <a:latin typeface="+mn-ea"/>
                    <a:cs typeface="微软雅黑" panose="020B0503020204020204" charset="-122"/>
                  </a:rPr>
                  <a:t> </a:t>
                </a:r>
                <a:r>
                  <a:rPr lang="zh-CN" sz="1600" dirty="0">
                    <a:solidFill>
                      <a:srgbClr val="C00000"/>
                    </a:solidFill>
                    <a:latin typeface="+mn-ea"/>
                    <a:cs typeface="微软雅黑" panose="020B0503020204020204" charset="-122"/>
                    <a:sym typeface="+mn-ea"/>
                  </a:rPr>
                  <a:t>符合综合判定要素</a:t>
                </a:r>
                <a:r>
                  <a:rPr lang="en-US" altLang="zh-CN" sz="1600" dirty="0">
                    <a:solidFill>
                      <a:srgbClr val="C00000"/>
                    </a:solidFill>
                    <a:latin typeface="+mn-ea"/>
                    <a:cs typeface="微软雅黑" panose="020B0503020204020204" charset="-122"/>
                    <a:sym typeface="+mn-ea"/>
                  </a:rPr>
                  <a:t>5</a:t>
                </a:r>
                <a:r>
                  <a:rPr lang="zh-CN" altLang="en-US" sz="1600" dirty="0">
                    <a:solidFill>
                      <a:srgbClr val="C00000"/>
                    </a:solidFill>
                    <a:latin typeface="+mn-ea"/>
                    <a:cs typeface="微软雅黑" panose="020B0503020204020204" charset="-122"/>
                    <a:sym typeface="+mn-ea"/>
                  </a:rPr>
                  <a:t>条</a:t>
                </a:r>
                <a:endParaRPr lang="zh-CN" sz="1600" dirty="0">
                  <a:solidFill>
                    <a:srgbClr val="C00000"/>
                  </a:solidFill>
                  <a:latin typeface="+mn-ea"/>
                  <a:cs typeface="微软雅黑" panose="020B0503020204020204" charset="-122"/>
                </a:endParaRPr>
              </a:p>
            </p:txBody>
          </p:sp>
          <p:sp>
            <p:nvSpPr>
              <p:cNvPr id="28" name="文本框 27"/>
              <p:cNvSpPr txBox="1"/>
              <p:nvPr/>
            </p:nvSpPr>
            <p:spPr>
              <a:xfrm>
                <a:off x="7295375" y="6165304"/>
                <a:ext cx="3492000" cy="337185"/>
              </a:xfrm>
              <a:prstGeom prst="rect">
                <a:avLst/>
              </a:prstGeom>
              <a:solidFill>
                <a:srgbClr val="E5F0F9"/>
              </a:solidFill>
              <a:ln>
                <a:noFill/>
              </a:ln>
            </p:spPr>
            <p:txBody>
              <a:bodyPr wrap="square" rtlCol="0">
                <a:spAutoFit/>
              </a:bodyPr>
              <a:lstStyle/>
              <a:p>
                <a:r>
                  <a:rPr lang="en-US" altLang="zh-CN" sz="1600" dirty="0">
                    <a:latin typeface="+mn-ea"/>
                    <a:cs typeface="微软雅黑" panose="020B0503020204020204" charset="-122"/>
                  </a:rPr>
                  <a:t>Ⅱ</a:t>
                </a:r>
                <a:r>
                  <a:rPr lang="zh-CN" altLang="en-US" sz="1600" dirty="0">
                    <a:latin typeface="+mn-ea"/>
                    <a:cs typeface="微软雅黑" panose="020B0503020204020204" charset="-122"/>
                  </a:rPr>
                  <a:t>级较大</a:t>
                </a:r>
                <a:r>
                  <a:rPr lang="en-US" altLang="zh-CN" sz="1600" dirty="0">
                    <a:latin typeface="+mn-ea"/>
                    <a:cs typeface="微软雅黑" panose="020B0503020204020204" charset="-122"/>
                  </a:rPr>
                  <a:t>   </a:t>
                </a:r>
                <a:r>
                  <a:rPr lang="en-US" altLang="zh-CN" sz="1600" dirty="0">
                    <a:solidFill>
                      <a:srgbClr val="FF0000"/>
                    </a:solidFill>
                    <a:latin typeface="+mn-ea"/>
                    <a:cs typeface="微软雅黑" panose="020B0503020204020204" charset="-122"/>
                  </a:rPr>
                  <a:t> </a:t>
                </a:r>
                <a:r>
                  <a:rPr lang="zh-CN" sz="1600" dirty="0">
                    <a:solidFill>
                      <a:srgbClr val="C00000"/>
                    </a:solidFill>
                    <a:latin typeface="+mn-ea"/>
                    <a:cs typeface="微软雅黑" panose="020B0503020204020204" charset="-122"/>
                    <a:sym typeface="+mn-ea"/>
                  </a:rPr>
                  <a:t>符合综合判定要素</a:t>
                </a:r>
                <a:r>
                  <a:rPr lang="en-US" altLang="zh-CN" sz="1600" dirty="0">
                    <a:solidFill>
                      <a:srgbClr val="C00000"/>
                    </a:solidFill>
                    <a:latin typeface="+mn-ea"/>
                    <a:cs typeface="微软雅黑" panose="020B0503020204020204" charset="-122"/>
                    <a:sym typeface="+mn-ea"/>
                  </a:rPr>
                  <a:t>4</a:t>
                </a:r>
                <a:r>
                  <a:rPr lang="zh-CN" altLang="en-US" sz="1600" dirty="0">
                    <a:solidFill>
                      <a:srgbClr val="C00000"/>
                    </a:solidFill>
                    <a:latin typeface="+mn-ea"/>
                    <a:cs typeface="微软雅黑" panose="020B0503020204020204" charset="-122"/>
                    <a:sym typeface="+mn-ea"/>
                  </a:rPr>
                  <a:t>条</a:t>
                </a:r>
                <a:endParaRPr lang="zh-CN" altLang="en-US" sz="1600" dirty="0">
                  <a:solidFill>
                    <a:srgbClr val="C00000"/>
                  </a:solidFill>
                  <a:latin typeface="+mn-ea"/>
                  <a:cs typeface="微软雅黑" panose="020B0503020204020204" charset="-122"/>
                </a:endParaRPr>
              </a:p>
            </p:txBody>
          </p:sp>
          <p:sp>
            <p:nvSpPr>
              <p:cNvPr id="14" name="左大括号 13"/>
              <p:cNvSpPr/>
              <p:nvPr/>
            </p:nvSpPr>
            <p:spPr>
              <a:xfrm>
                <a:off x="7029247" y="4981806"/>
                <a:ext cx="215900" cy="1476000"/>
              </a:xfrm>
              <a:prstGeom prst="leftBrace">
                <a:avLst/>
              </a:prstGeom>
              <a:ln>
                <a:solidFill>
                  <a:srgbClr val="00B0F0"/>
                </a:solidFill>
              </a:ln>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latin typeface="+mn-ea"/>
                </a:endParaRPr>
              </a:p>
            </p:txBody>
          </p:sp>
        </p:grpSp>
      </p:gr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4294967295"/>
          </p:nvPr>
        </p:nvSpPr>
        <p:spPr>
          <a:xfrm>
            <a:off x="9997440" y="6499860"/>
            <a:ext cx="2133600" cy="365125"/>
          </a:xfrm>
        </p:spPr>
        <p:txBody>
          <a:bodyPr/>
          <a:lstStyle/>
          <a:p>
            <a:fld id="{A10E9369-8E4E-4DE7-B129-F0280ABC27D7}" type="slidenum">
              <a:rPr lang="zh-CN" altLang="en-US" smtClean="0"/>
            </a:fld>
            <a:endParaRPr lang="zh-CN" altLang="en-US" dirty="0"/>
          </a:p>
        </p:txBody>
      </p:sp>
      <p:sp>
        <p:nvSpPr>
          <p:cNvPr id="8" name="文本框 7"/>
          <p:cNvSpPr txBox="1"/>
          <p:nvPr/>
        </p:nvSpPr>
        <p:spPr>
          <a:xfrm>
            <a:off x="-24680" y="969010"/>
            <a:ext cx="5040000" cy="448945"/>
          </a:xfrm>
          <a:prstGeom prst="rect">
            <a:avLst/>
          </a:prstGeom>
          <a:gradFill>
            <a:gsLst>
              <a:gs pos="66000">
                <a:srgbClr val="054CA4"/>
              </a:gs>
              <a:gs pos="100000">
                <a:srgbClr val="0070C0">
                  <a:alpha val="0"/>
                </a:srgbClr>
              </a:gs>
            </a:gsLst>
            <a:lin ang="0" scaled="0"/>
          </a:gradFill>
          <a:ln w="12700" cap="flat" cmpd="sng" algn="ctr">
            <a:noFill/>
            <a:prstDash val="solid"/>
            <a:miter lim="800000"/>
          </a:ln>
          <a:effectLst/>
        </p:spPr>
        <p:txBody>
          <a:bodyPr rtlCol="0" anchor="ctr"/>
          <a:lstStyle>
            <a:defPPr>
              <a:defRPr lang="zh-CN"/>
            </a:defPPr>
            <a:lvl1pPr>
              <a:defRPr sz="2000" b="1"/>
            </a:lvl1pPr>
            <a:lvl2pPr>
              <a:defRPr>
                <a:solidFill>
                  <a:sysClr val="window" lastClr="FFFFFF"/>
                </a:solidFill>
              </a:defRPr>
            </a:lvl2pPr>
            <a:lvl3pPr>
              <a:defRPr>
                <a:solidFill>
                  <a:sysClr val="window" lastClr="FFFFFF"/>
                </a:solidFill>
              </a:defRPr>
            </a:lvl3pPr>
            <a:lvl4pPr>
              <a:defRPr>
                <a:solidFill>
                  <a:sysClr val="window" lastClr="FFFFFF"/>
                </a:solidFill>
              </a:defRPr>
            </a:lvl4pPr>
            <a:lvl5pPr>
              <a:defRPr>
                <a:solidFill>
                  <a:sysClr val="window" lastClr="FFFFFF"/>
                </a:solidFill>
              </a:defRPr>
            </a:lvl5pPr>
            <a:lvl6pPr>
              <a:defRPr>
                <a:solidFill>
                  <a:sysClr val="window" lastClr="FFFFFF"/>
                </a:solidFill>
              </a:defRPr>
            </a:lvl6pPr>
            <a:lvl7pPr>
              <a:defRPr>
                <a:solidFill>
                  <a:sysClr val="window" lastClr="FFFFFF"/>
                </a:solidFill>
              </a:defRPr>
            </a:lvl7pPr>
            <a:lvl8pPr>
              <a:defRPr>
                <a:solidFill>
                  <a:sysClr val="window" lastClr="FFFFFF"/>
                </a:solidFill>
              </a:defRPr>
            </a:lvl8pPr>
            <a:lvl9pPr>
              <a:defRPr>
                <a:solidFill>
                  <a:sysClr val="window" lastClr="FFFFFF"/>
                </a:solidFill>
              </a:defRPr>
            </a:lvl9pPr>
          </a:lstStyle>
          <a:p>
            <a:pPr algn="l" fontAlgn="auto">
              <a:buClrTx/>
              <a:buSzTx/>
              <a:buFontTx/>
              <a:defRPr/>
            </a:pPr>
            <a:r>
              <a:rPr lang="zh-CN" altLang="en-US" dirty="0">
                <a:solidFill>
                  <a:schemeClr val="bg1"/>
                </a:solidFill>
                <a:latin typeface="微软雅黑" panose="020B0503020204020204" charset="-122"/>
                <a:ea typeface="微软雅黑" panose="020B0503020204020204" charset="-122"/>
                <a:sym typeface="+mn-ea"/>
              </a:rPr>
              <a:t> （三）设备设施隐患</a:t>
            </a:r>
            <a:endParaRPr lang="zh-CN" altLang="en-US" dirty="0">
              <a:solidFill>
                <a:schemeClr val="bg1"/>
              </a:solidFill>
              <a:latin typeface="微软雅黑" panose="020B0503020204020204" charset="-122"/>
              <a:ea typeface="微软雅黑" panose="020B0503020204020204" charset="-122"/>
              <a:sym typeface="+mn-ea"/>
            </a:endParaRPr>
          </a:p>
        </p:txBody>
      </p:sp>
      <p:sp>
        <p:nvSpPr>
          <p:cNvPr id="7" name="文本框 6"/>
          <p:cNvSpPr txBox="1"/>
          <p:nvPr/>
        </p:nvSpPr>
        <p:spPr>
          <a:xfrm>
            <a:off x="304800" y="1563370"/>
            <a:ext cx="11400790" cy="1868170"/>
          </a:xfrm>
          <a:prstGeom prst="rect">
            <a:avLst/>
          </a:prstGeom>
          <a:noFill/>
          <a:ln w="15875" cmpd="sng">
            <a:noFill/>
            <a:prstDash val="dash"/>
          </a:ln>
        </p:spPr>
        <p:txBody>
          <a:bodyPr wrap="square" rtlCol="0">
            <a:noAutofit/>
          </a:bodyPr>
          <a:lstStyle/>
          <a:p>
            <a:pPr indent="0" fontAlgn="auto">
              <a:lnSpc>
                <a:spcPct val="140000"/>
              </a:lnSpc>
              <a:spcBef>
                <a:spcPts val="0"/>
              </a:spcBef>
              <a:spcAft>
                <a:spcPts val="0"/>
              </a:spcAft>
              <a:buClrTx/>
              <a:buSzTx/>
              <a:buFont typeface="Wingdings" panose="05000000000000000000" charset="0"/>
              <a:buNone/>
            </a:pPr>
            <a:r>
              <a:rPr lang="zh-CN" altLang="en-US" sz="1600" b="1" kern="0" dirty="0">
                <a:latin typeface="微软雅黑" panose="020B0503020204020204" charset="-122"/>
              </a:rPr>
              <a:t>【案例</a:t>
            </a:r>
            <a:r>
              <a:rPr lang="en-US" altLang="zh-CN" sz="1600" b="1" kern="0" dirty="0">
                <a:latin typeface="微软雅黑" panose="020B0503020204020204" charset="-122"/>
              </a:rPr>
              <a:t>1</a:t>
            </a:r>
            <a:r>
              <a:rPr lang="zh-CN" altLang="en-US" sz="1600" b="1" kern="0" dirty="0">
                <a:latin typeface="微软雅黑" panose="020B0503020204020204" charset="-122"/>
              </a:rPr>
              <a:t>】</a:t>
            </a:r>
            <a:r>
              <a:rPr lang="zh-CN" altLang="en-US" sz="1600" b="1" kern="0" dirty="0">
                <a:solidFill>
                  <a:srgbClr val="0070C0"/>
                </a:solidFill>
                <a:latin typeface="微软雅黑" panose="020B0503020204020204" charset="-122"/>
              </a:rPr>
              <a:t>扬州仪征经济开发区招商局金陵船舶（江苏） 有限公司“8·5”较大火灾事故</a:t>
            </a:r>
            <a:r>
              <a:rPr lang="zh-CN" altLang="en-US" sz="1600" kern="0" dirty="0">
                <a:latin typeface="微软雅黑" panose="020B0503020204020204" charset="-122"/>
              </a:rPr>
              <a:t>。2025 年 8 月 5 日，仪征经济开发区招商局金陵船舶（江 苏）有限公司发生一起火灾事故，造成 3 人死亡，直接经济 损失约 896 万元。</a:t>
            </a:r>
            <a:endParaRPr lang="zh-CN" altLang="en-US" sz="1600" kern="0" dirty="0">
              <a:latin typeface="微软雅黑" panose="020B0503020204020204" charset="-122"/>
            </a:endParaRPr>
          </a:p>
          <a:p>
            <a:pPr indent="0" fontAlgn="auto">
              <a:lnSpc>
                <a:spcPct val="140000"/>
              </a:lnSpc>
              <a:spcBef>
                <a:spcPts val="0"/>
              </a:spcBef>
              <a:spcAft>
                <a:spcPts val="0"/>
              </a:spcAft>
              <a:buClrTx/>
              <a:buSzTx/>
              <a:buFont typeface="Wingdings" panose="05000000000000000000" charset="0"/>
              <a:buNone/>
            </a:pPr>
            <a:r>
              <a:rPr lang="en-US" altLang="zh-CN" sz="1600" kern="0" dirty="0">
                <a:latin typeface="微软雅黑" panose="020B0503020204020204" charset="-122"/>
              </a:rPr>
              <a:t>        </a:t>
            </a:r>
            <a:r>
              <a:rPr lang="zh-CN" altLang="en-US" sz="1600" kern="0" dirty="0">
                <a:latin typeface="微软雅黑" panose="020B0503020204020204" charset="-122"/>
              </a:rPr>
              <a:t>经调查认定，扬州仪征经济开发区招商局金陵船舶（江 苏）有限公司“8·5”火灾事故是一起</a:t>
            </a:r>
            <a:r>
              <a:rPr lang="zh-CN" altLang="en-US" sz="1600" b="1" kern="0" dirty="0">
                <a:solidFill>
                  <a:srgbClr val="C00000"/>
                </a:solidFill>
                <a:latin typeface="微软雅黑" panose="020B0503020204020204" charset="-122"/>
              </a:rPr>
              <a:t>外包单位未经审批违章动火，生产经营单位未充分辨识作业现场安全风险，对安全生 产工作统一协调管理不到位，行业部门安全监管和属地安全管理不严格</a:t>
            </a:r>
            <a:r>
              <a:rPr lang="zh-CN" altLang="en-US" sz="1600" kern="0" dirty="0">
                <a:latin typeface="微软雅黑" panose="020B0503020204020204" charset="-122"/>
              </a:rPr>
              <a:t>，导致的较大生产安全责任事故。</a:t>
            </a:r>
            <a:endParaRPr lang="zh-CN" altLang="en-US" sz="1600" kern="0" dirty="0">
              <a:latin typeface="微软雅黑" panose="020B0503020204020204" charset="-122"/>
            </a:endParaRPr>
          </a:p>
          <a:p>
            <a:pPr indent="0" fontAlgn="auto">
              <a:lnSpc>
                <a:spcPct val="130000"/>
              </a:lnSpc>
              <a:spcBef>
                <a:spcPts val="0"/>
              </a:spcBef>
              <a:spcAft>
                <a:spcPts val="0"/>
              </a:spcAft>
              <a:buClrTx/>
              <a:buSzTx/>
              <a:buFont typeface="Wingdings" panose="05000000000000000000" charset="0"/>
              <a:buNone/>
            </a:pPr>
            <a:endParaRPr lang="zh-CN" altLang="en-US" sz="1600" kern="0" dirty="0">
              <a:latin typeface="微软雅黑" panose="020B0503020204020204" charset="-122"/>
            </a:endParaRPr>
          </a:p>
        </p:txBody>
      </p:sp>
      <p:sp>
        <p:nvSpPr>
          <p:cNvPr id="14" name="文本框 13"/>
          <p:cNvSpPr txBox="1"/>
          <p:nvPr/>
        </p:nvSpPr>
        <p:spPr>
          <a:xfrm>
            <a:off x="304800" y="3571875"/>
            <a:ext cx="11400790" cy="2944495"/>
          </a:xfrm>
          <a:prstGeom prst="rect">
            <a:avLst/>
          </a:prstGeom>
          <a:noFill/>
          <a:ln w="19050" cmpd="sng">
            <a:noFill/>
            <a:prstDash val="dash"/>
          </a:ln>
        </p:spPr>
        <p:txBody>
          <a:bodyPr wrap="square" rtlCol="0" anchor="t">
            <a:noAutofit/>
          </a:bodyPr>
          <a:lstStyle/>
          <a:p>
            <a:pPr lvl="0" algn="l">
              <a:lnSpc>
                <a:spcPct val="130000"/>
              </a:lnSpc>
              <a:spcBef>
                <a:spcPts val="0"/>
              </a:spcBef>
              <a:spcAft>
                <a:spcPts val="0"/>
              </a:spcAft>
              <a:buClrTx/>
              <a:buSzTx/>
              <a:buFont typeface="Wingdings" panose="05000000000000000000" charset="0"/>
            </a:pPr>
            <a:r>
              <a:rPr lang="zh-CN" altLang="en-US" sz="1600" b="1" kern="0" dirty="0">
                <a:latin typeface="微软雅黑" panose="020B0503020204020204" charset="-122"/>
                <a:sym typeface="+mn-ea"/>
              </a:rPr>
              <a:t>【案例</a:t>
            </a:r>
            <a:r>
              <a:rPr lang="en-US" altLang="zh-CN" sz="1600" b="1" kern="0" dirty="0">
                <a:latin typeface="微软雅黑" panose="020B0503020204020204" charset="-122"/>
                <a:sym typeface="+mn-ea"/>
              </a:rPr>
              <a:t>2</a:t>
            </a:r>
            <a:r>
              <a:rPr lang="zh-CN" altLang="en-US" sz="1600" b="1" kern="0" dirty="0">
                <a:latin typeface="微软雅黑" panose="020B0503020204020204" charset="-122"/>
                <a:sym typeface="+mn-ea"/>
              </a:rPr>
              <a:t>】</a:t>
            </a:r>
            <a:r>
              <a:rPr lang="zh-CN" altLang="en-US" sz="1600" b="1" kern="0" dirty="0">
                <a:solidFill>
                  <a:srgbClr val="0070C0"/>
                </a:solidFill>
                <a:latin typeface="微软雅黑" panose="020B0503020204020204" charset="-122"/>
                <a:sym typeface="+mn-ea"/>
              </a:rPr>
              <a:t>南海区“11·20”较大火灾事故</a:t>
            </a:r>
            <a:r>
              <a:rPr lang="zh-CN" altLang="en-US" sz="1600" b="1" kern="0" dirty="0">
                <a:latin typeface="微软雅黑" panose="020B0503020204020204" charset="-122"/>
                <a:sym typeface="+mn-ea"/>
              </a:rPr>
              <a:t>。</a:t>
            </a:r>
            <a:r>
              <a:rPr lang="zh-CN" altLang="en-US" sz="1600" kern="0" dirty="0">
                <a:latin typeface="微软雅黑" panose="020B0503020204020204" charset="-122"/>
                <a:sym typeface="+mn-ea"/>
              </a:rPr>
              <a:t>2017 年 11 月 20 日 8 时 42 分许，位于佛山市南海区大沥镇 联安社区谭约东村 134 号的美梦床上用品仓库（兼顾生产功能， 无营业执照）发 生一起较大火灾事故（以下简称“11·20”较大火灾事故）。事 故造成 6 人死亡，1 人受伤，过火面积约 1600 平方米，直接经 济损失约 707.12 万元。</a:t>
            </a:r>
            <a:endParaRPr lang="zh-CN" altLang="en-US" sz="1600" kern="0" dirty="0">
              <a:latin typeface="微软雅黑" panose="020B0503020204020204" charset="-122"/>
              <a:sym typeface="+mn-ea"/>
            </a:endParaRPr>
          </a:p>
          <a:p>
            <a:pPr marL="285750" lvl="0" indent="-285750" algn="l">
              <a:lnSpc>
                <a:spcPct val="130000"/>
              </a:lnSpc>
              <a:spcBef>
                <a:spcPts val="0"/>
              </a:spcBef>
              <a:spcAft>
                <a:spcPts val="0"/>
              </a:spcAft>
              <a:buClrTx/>
              <a:buSzTx/>
              <a:buFont typeface="Wingdings" panose="05000000000000000000" pitchFamily="2" charset="2"/>
              <a:buChar char="l"/>
            </a:pPr>
            <a:r>
              <a:rPr lang="zh-CN" altLang="en-US" sz="1600" b="1" kern="0" dirty="0">
                <a:solidFill>
                  <a:srgbClr val="0070C0"/>
                </a:solidFill>
                <a:latin typeface="微软雅黑" panose="020B0503020204020204" charset="-122"/>
                <a:sym typeface="+mn-ea"/>
              </a:rPr>
              <a:t>直接原因为：</a:t>
            </a:r>
            <a:r>
              <a:rPr lang="zh-CN" altLang="en-US" sz="1600" kern="0" dirty="0">
                <a:latin typeface="微软雅黑" panose="020B0503020204020204" charset="-122"/>
                <a:sym typeface="+mn-ea"/>
              </a:rPr>
              <a:t>该仓库首层中部距离西墙 10m，距离北墙 9.6m的 2m×2m的 范围内的</a:t>
            </a:r>
            <a:r>
              <a:rPr lang="zh-CN" altLang="en-US" sz="1600" b="1" kern="0" dirty="0">
                <a:solidFill>
                  <a:srgbClr val="C00000"/>
                </a:solidFill>
                <a:latin typeface="微软雅黑" panose="020B0503020204020204" charset="-122"/>
                <a:sym typeface="+mn-ea"/>
              </a:rPr>
              <a:t>电气线路故障短路引燃周边可燃物</a:t>
            </a:r>
            <a:r>
              <a:rPr lang="zh-CN" altLang="en-US" sz="1600" kern="0" dirty="0">
                <a:latin typeface="微软雅黑" panose="020B0503020204020204" charset="-122"/>
                <a:sym typeface="+mn-ea"/>
              </a:rPr>
              <a:t>起火，导致火灾发生。</a:t>
            </a:r>
            <a:endParaRPr lang="zh-CN" altLang="en-US" sz="1600" kern="0" dirty="0">
              <a:latin typeface="微软雅黑" panose="020B0503020204020204" charset="-122"/>
              <a:sym typeface="+mn-ea"/>
            </a:endParaRPr>
          </a:p>
          <a:p>
            <a:pPr marL="285750" lvl="0" indent="-285750" algn="l">
              <a:lnSpc>
                <a:spcPct val="130000"/>
              </a:lnSpc>
              <a:spcBef>
                <a:spcPts val="0"/>
              </a:spcBef>
              <a:spcAft>
                <a:spcPts val="0"/>
              </a:spcAft>
              <a:buClrTx/>
              <a:buSzTx/>
              <a:buFont typeface="Wingdings" panose="05000000000000000000" pitchFamily="2" charset="2"/>
              <a:buChar char="l"/>
            </a:pPr>
            <a:r>
              <a:rPr lang="zh-CN" altLang="en-US" sz="1600" b="1" kern="0" dirty="0">
                <a:solidFill>
                  <a:srgbClr val="0070C0"/>
                </a:solidFill>
                <a:latin typeface="微软雅黑" panose="020B0503020204020204" charset="-122"/>
                <a:sym typeface="+mn-ea"/>
              </a:rPr>
              <a:t>造成火势迅速蔓延和重大人员伤亡的主要原因是：</a:t>
            </a:r>
            <a:r>
              <a:rPr lang="zh-CN" altLang="en-US" sz="1600" kern="0" dirty="0">
                <a:latin typeface="微软雅黑" panose="020B0503020204020204" charset="-122"/>
                <a:sym typeface="+mn-ea"/>
              </a:rPr>
              <a:t>该仓库屋顶使用的泡沫彩钢板和生产区域内阁楼使用木材等</a:t>
            </a:r>
            <a:r>
              <a:rPr lang="zh-CN" altLang="en-US" sz="1600" b="1" kern="0" dirty="0">
                <a:solidFill>
                  <a:srgbClr val="C00000"/>
                </a:solidFill>
                <a:latin typeface="微软雅黑" panose="020B0503020204020204" charset="-122"/>
                <a:sym typeface="+mn-ea"/>
              </a:rPr>
              <a:t>可燃性建筑材料</a:t>
            </a:r>
            <a:r>
              <a:rPr lang="zh-CN" altLang="en-US" sz="1600" kern="0" dirty="0">
                <a:latin typeface="微软雅黑" panose="020B0503020204020204" charset="-122"/>
                <a:sym typeface="+mn-ea"/>
              </a:rPr>
              <a:t>；生产区域内</a:t>
            </a:r>
            <a:r>
              <a:rPr lang="zh-CN" altLang="en-US" sz="1600" b="1" kern="0" dirty="0">
                <a:solidFill>
                  <a:srgbClr val="C00000"/>
                </a:solidFill>
                <a:latin typeface="微软雅黑" panose="020B0503020204020204" charset="-122"/>
                <a:sym typeface="+mn-ea"/>
              </a:rPr>
              <a:t>无序堆放大量生产原料、半成品、成品</a:t>
            </a:r>
            <a:r>
              <a:rPr lang="zh-CN" altLang="en-US" sz="1600" kern="0" dirty="0">
                <a:solidFill>
                  <a:srgbClr val="C00000"/>
                </a:solidFill>
                <a:latin typeface="微软雅黑" panose="020B0503020204020204" charset="-122"/>
                <a:sym typeface="+mn-ea"/>
              </a:rPr>
              <a:t>；</a:t>
            </a:r>
            <a:r>
              <a:rPr lang="zh-CN" altLang="en-US" sz="1600" b="1" kern="0" dirty="0">
                <a:solidFill>
                  <a:srgbClr val="C00000"/>
                </a:solidFill>
                <a:latin typeface="微软雅黑" panose="020B0503020204020204" charset="-122"/>
                <a:sym typeface="+mn-ea"/>
              </a:rPr>
              <a:t>未按照规定设置消防通道</a:t>
            </a:r>
            <a:r>
              <a:rPr lang="zh-CN" altLang="en-US" sz="1600" kern="0" dirty="0">
                <a:latin typeface="微软雅黑" panose="020B0503020204020204" charset="-122"/>
                <a:sym typeface="+mn-ea"/>
              </a:rPr>
              <a:t>；生产区域和住宿区域</a:t>
            </a:r>
            <a:r>
              <a:rPr lang="zh-CN" altLang="en-US" sz="1600" b="1" kern="0" dirty="0">
                <a:solidFill>
                  <a:srgbClr val="C00000"/>
                </a:solidFill>
                <a:latin typeface="微软雅黑" panose="020B0503020204020204" charset="-122"/>
                <a:sym typeface="+mn-ea"/>
              </a:rPr>
              <a:t>未采用合格有效的实体防火墙进行隔离</a:t>
            </a:r>
            <a:r>
              <a:rPr lang="zh-CN" altLang="en-US" sz="1600" kern="0" dirty="0">
                <a:latin typeface="微软雅黑" panose="020B0503020204020204" charset="-122"/>
                <a:sym typeface="+mn-ea"/>
              </a:rPr>
              <a:t>，该厂生产作业未</a:t>
            </a:r>
            <a:r>
              <a:rPr lang="zh-CN" altLang="en-US" sz="1600" b="1" kern="0" dirty="0">
                <a:solidFill>
                  <a:srgbClr val="C00000"/>
                </a:solidFill>
                <a:latin typeface="微软雅黑" panose="020B0503020204020204" charset="-122"/>
                <a:sym typeface="+mn-ea"/>
              </a:rPr>
              <a:t>采取基本有效的消防安全措施</a:t>
            </a:r>
            <a:r>
              <a:rPr lang="zh-CN" altLang="en-US" sz="1600" kern="0" dirty="0">
                <a:latin typeface="微软雅黑" panose="020B0503020204020204" charset="-122"/>
                <a:sym typeface="+mn-ea"/>
              </a:rPr>
              <a:t>，火势迅速蔓延并产生大量高热有 毒有害烟气，在</a:t>
            </a:r>
            <a:r>
              <a:rPr lang="zh-CN" altLang="en-US" sz="1600" b="1" kern="0" dirty="0">
                <a:solidFill>
                  <a:srgbClr val="C00000"/>
                </a:solidFill>
                <a:latin typeface="微软雅黑" panose="020B0503020204020204" charset="-122"/>
                <a:sym typeface="+mn-ea"/>
              </a:rPr>
              <a:t>消防疏散通道被堵塞、消防设施管理维护不善</a:t>
            </a:r>
            <a:r>
              <a:rPr lang="zh-CN" altLang="en-US" sz="1600" kern="0" dirty="0">
                <a:latin typeface="微软雅黑" panose="020B0503020204020204" charset="-122"/>
                <a:sym typeface="+mn-ea"/>
              </a:rPr>
              <a:t>等多种不利因素下，造成了重大人员伤亡。</a:t>
            </a:r>
            <a:endParaRPr lang="zh-CN" altLang="en-US" sz="1600" kern="0" dirty="0">
              <a:latin typeface="微软雅黑" panose="020B0503020204020204" charset="-122"/>
              <a:sym typeface="+mn-ea"/>
            </a:endParaRPr>
          </a:p>
        </p:txBody>
      </p:sp>
      <p:sp>
        <p:nvSpPr>
          <p:cNvPr id="4" name="TextBox 8"/>
          <p:cNvSpPr txBox="1"/>
          <p:nvPr/>
        </p:nvSpPr>
        <p:spPr>
          <a:xfrm>
            <a:off x="168335" y="271329"/>
            <a:ext cx="7002524" cy="52197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charset="-122"/>
                <a:ea typeface="微软雅黑" panose="020B0503020204020204" charset="-122"/>
              </a:rPr>
              <a:t>二、</a:t>
            </a:r>
            <a:r>
              <a:rPr lang="zh-CN" altLang="en-US" sz="2800" b="1" dirty="0">
                <a:latin typeface="微软雅黑" panose="020B0503020204020204" charset="-122"/>
                <a:ea typeface="微软雅黑" panose="020B0503020204020204" charset="-122"/>
                <a:sym typeface="+mn-ea"/>
              </a:rPr>
              <a:t>网公司事故隐患判定标准宣贯学习</a:t>
            </a:r>
            <a:endParaRPr lang="zh-CN" altLang="en-US" sz="2800" b="1" dirty="0">
              <a:latin typeface="微软雅黑" panose="020B0503020204020204" charset="-122"/>
              <a:ea typeface="微软雅黑" panose="020B0503020204020204" charset="-122"/>
            </a:endParaRPr>
          </a:p>
        </p:txBody>
      </p:sp>
      <p:cxnSp>
        <p:nvCxnSpPr>
          <p:cNvPr id="5" name="直接连接符 4"/>
          <p:cNvCxnSpPr/>
          <p:nvPr/>
        </p:nvCxnSpPr>
        <p:spPr>
          <a:xfrm>
            <a:off x="334963" y="3501008"/>
            <a:ext cx="11522075" cy="0"/>
          </a:xfrm>
          <a:prstGeom prst="line">
            <a:avLst/>
          </a:prstGeom>
          <a:ln w="12700">
            <a:solidFill>
              <a:srgbClr val="0070C0"/>
            </a:solidFill>
            <a:prstDash val="dash"/>
          </a:ln>
        </p:spPr>
        <p:style>
          <a:lnRef idx="1">
            <a:schemeClr val="accent1"/>
          </a:lnRef>
          <a:fillRef idx="0">
            <a:schemeClr val="accent1"/>
          </a:fillRef>
          <a:effectRef idx="0">
            <a:schemeClr val="accent1"/>
          </a:effectRef>
          <a:fontRef idx="minor">
            <a:schemeClr val="tx1"/>
          </a:fontRef>
        </p:style>
      </p:cxn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4294967295"/>
          </p:nvPr>
        </p:nvSpPr>
        <p:spPr>
          <a:xfrm>
            <a:off x="9997440" y="6499860"/>
            <a:ext cx="2133600" cy="365125"/>
          </a:xfrm>
        </p:spPr>
        <p:txBody>
          <a:bodyPr/>
          <a:lstStyle/>
          <a:p>
            <a:fld id="{A10E9369-8E4E-4DE7-B129-F0280ABC27D7}" type="slidenum">
              <a:rPr lang="zh-CN" altLang="en-US" smtClean="0"/>
            </a:fld>
            <a:endParaRPr lang="zh-CN" altLang="en-US" dirty="0"/>
          </a:p>
        </p:txBody>
      </p:sp>
      <p:sp>
        <p:nvSpPr>
          <p:cNvPr id="8" name="文本框 7"/>
          <p:cNvSpPr txBox="1"/>
          <p:nvPr/>
        </p:nvSpPr>
        <p:spPr>
          <a:xfrm>
            <a:off x="-24680" y="969010"/>
            <a:ext cx="5040000" cy="448945"/>
          </a:xfrm>
          <a:prstGeom prst="rect">
            <a:avLst/>
          </a:prstGeom>
          <a:gradFill>
            <a:gsLst>
              <a:gs pos="66000">
                <a:srgbClr val="054CA4"/>
              </a:gs>
              <a:gs pos="100000">
                <a:srgbClr val="0070C0">
                  <a:alpha val="0"/>
                </a:srgbClr>
              </a:gs>
            </a:gsLst>
            <a:lin ang="0" scaled="0"/>
          </a:gradFill>
          <a:ln w="12700" cap="flat" cmpd="sng" algn="ctr">
            <a:noFill/>
            <a:prstDash val="solid"/>
            <a:miter lim="800000"/>
          </a:ln>
          <a:effectLst/>
        </p:spPr>
        <p:txBody>
          <a:bodyPr rtlCol="0" anchor="ctr"/>
          <a:lstStyle>
            <a:defPPr>
              <a:defRPr lang="zh-CN"/>
            </a:defPPr>
            <a:lvl1pPr>
              <a:defRPr sz="2000" b="1"/>
            </a:lvl1pPr>
            <a:lvl2pPr>
              <a:defRPr>
                <a:solidFill>
                  <a:sysClr val="window" lastClr="FFFFFF"/>
                </a:solidFill>
              </a:defRPr>
            </a:lvl2pPr>
            <a:lvl3pPr>
              <a:defRPr>
                <a:solidFill>
                  <a:sysClr val="window" lastClr="FFFFFF"/>
                </a:solidFill>
              </a:defRPr>
            </a:lvl3pPr>
            <a:lvl4pPr>
              <a:defRPr>
                <a:solidFill>
                  <a:sysClr val="window" lastClr="FFFFFF"/>
                </a:solidFill>
              </a:defRPr>
            </a:lvl4pPr>
            <a:lvl5pPr>
              <a:defRPr>
                <a:solidFill>
                  <a:sysClr val="window" lastClr="FFFFFF"/>
                </a:solidFill>
              </a:defRPr>
            </a:lvl5pPr>
            <a:lvl6pPr>
              <a:defRPr>
                <a:solidFill>
                  <a:sysClr val="window" lastClr="FFFFFF"/>
                </a:solidFill>
              </a:defRPr>
            </a:lvl6pPr>
            <a:lvl7pPr>
              <a:defRPr>
                <a:solidFill>
                  <a:sysClr val="window" lastClr="FFFFFF"/>
                </a:solidFill>
              </a:defRPr>
            </a:lvl7pPr>
            <a:lvl8pPr>
              <a:defRPr>
                <a:solidFill>
                  <a:sysClr val="window" lastClr="FFFFFF"/>
                </a:solidFill>
              </a:defRPr>
            </a:lvl8pPr>
            <a:lvl9pPr>
              <a:defRPr>
                <a:solidFill>
                  <a:sysClr val="window" lastClr="FFFFFF"/>
                </a:solidFill>
              </a:defRPr>
            </a:lvl9pPr>
          </a:lstStyle>
          <a:p>
            <a:pPr algn="l" fontAlgn="auto">
              <a:buClrTx/>
              <a:buSzTx/>
              <a:buFontTx/>
              <a:defRPr/>
            </a:pPr>
            <a:r>
              <a:rPr lang="zh-CN" altLang="en-US" dirty="0">
                <a:solidFill>
                  <a:schemeClr val="bg1"/>
                </a:solidFill>
                <a:latin typeface="微软雅黑" panose="020B0503020204020204" charset="-122"/>
                <a:ea typeface="微软雅黑" panose="020B0503020204020204" charset="-122"/>
                <a:sym typeface="+mn-ea"/>
              </a:rPr>
              <a:t> （四）安全管理隐患</a:t>
            </a:r>
            <a:endParaRPr lang="zh-CN" altLang="en-US" dirty="0">
              <a:solidFill>
                <a:schemeClr val="bg1"/>
              </a:solidFill>
              <a:latin typeface="微软雅黑" panose="020B0503020204020204" charset="-122"/>
              <a:ea typeface="微软雅黑" panose="020B0503020204020204" charset="-122"/>
              <a:sym typeface="+mn-ea"/>
            </a:endParaRPr>
          </a:p>
        </p:txBody>
      </p:sp>
      <p:graphicFrame>
        <p:nvGraphicFramePr>
          <p:cNvPr id="11" name="表格 10"/>
          <p:cNvGraphicFramePr/>
          <p:nvPr>
            <p:custDataLst>
              <p:tags r:id="rId1"/>
            </p:custDataLst>
          </p:nvPr>
        </p:nvGraphicFramePr>
        <p:xfrm>
          <a:off x="334962" y="1628775"/>
          <a:ext cx="11522075" cy="1714258"/>
        </p:xfrm>
        <a:graphic>
          <a:graphicData uri="http://schemas.openxmlformats.org/drawingml/2006/table">
            <a:tbl>
              <a:tblPr firstRow="1">
                <a:effectLst/>
                <a:tableStyleId>{5940675A-B579-460E-94D1-54222C63F5DA}</a:tableStyleId>
              </a:tblPr>
              <a:tblGrid>
                <a:gridCol w="1530384"/>
                <a:gridCol w="9991691"/>
              </a:tblGrid>
              <a:tr h="504000">
                <a:tc>
                  <a:txBody>
                    <a:bodyPr/>
                    <a:lstStyle/>
                    <a:p>
                      <a:pPr algn="ctr" fontAlgn="ctr">
                        <a:lnSpc>
                          <a:spcPct val="110000"/>
                        </a:lnSpc>
                        <a:buNone/>
                      </a:pPr>
                      <a:r>
                        <a:rPr lang="zh-CN" altLang="en-US" sz="1400" b="1" dirty="0">
                          <a:solidFill>
                            <a:sysClr val="window" lastClr="FFFFFF"/>
                          </a:solidFill>
                          <a:latin typeface="微软雅黑" panose="020B0503020204020204" charset="-122"/>
                          <a:ea typeface="微软雅黑" panose="020B0503020204020204" charset="-122"/>
                          <a:sym typeface="宋体" panose="02010600030101010101" pitchFamily="2" charset="-122"/>
                        </a:rPr>
                        <a:t>条款编码</a:t>
                      </a:r>
                      <a:endParaRPr lang="zh-CN" altLang="en-US" sz="1400" b="1" dirty="0">
                        <a:solidFill>
                          <a:sysClr val="window" lastClr="FFFFFF"/>
                        </a:solidFill>
                        <a:latin typeface="微软雅黑" panose="020B0503020204020204" charset="-122"/>
                        <a:ea typeface="微软雅黑" panose="020B0503020204020204" charset="-122"/>
                        <a:sym typeface="宋体" panose="02010600030101010101" pitchFamily="2" charset="-122"/>
                      </a:endParaRPr>
                    </a:p>
                  </a:txBody>
                  <a:tcPr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c>
                  <a:txBody>
                    <a:bodyPr/>
                    <a:lstStyle/>
                    <a:p>
                      <a:pPr algn="ctr" fontAlgn="ctr">
                        <a:lnSpc>
                          <a:spcPct val="110000"/>
                        </a:lnSpc>
                        <a:buNone/>
                      </a:pPr>
                      <a:r>
                        <a:rPr lang="zh-CN" altLang="en-US" sz="1400" b="1" dirty="0">
                          <a:solidFill>
                            <a:sysClr val="window" lastClr="FFFFFF"/>
                          </a:solidFill>
                          <a:latin typeface="微软雅黑" panose="020B0503020204020204" charset="-122"/>
                          <a:ea typeface="微软雅黑" panose="020B0503020204020204" charset="-122"/>
                        </a:rPr>
                        <a:t>条款内容</a:t>
                      </a:r>
                      <a:endParaRPr lang="zh-CN" altLang="en-US" sz="1400" b="1" dirty="0">
                        <a:solidFill>
                          <a:sysClr val="window" lastClr="FFFFFF"/>
                        </a:solidFill>
                        <a:latin typeface="微软雅黑" panose="020B0503020204020204" charset="-122"/>
                        <a:ea typeface="微软雅黑" panose="020B0503020204020204" charset="-122"/>
                      </a:endParaRPr>
                    </a:p>
                  </a:txBody>
                  <a:tcPr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r>
              <a:tr h="620213">
                <a:tc>
                  <a:txBody>
                    <a:bodyPr/>
                    <a:lstStyle/>
                    <a:p>
                      <a:pPr algn="ctr">
                        <a:buClrTx/>
                        <a:buSzTx/>
                        <a:buFontTx/>
                        <a:buNone/>
                      </a:pPr>
                      <a:r>
                        <a:rPr lang="en-US" altLang="en-US" sz="1400" dirty="0">
                          <a:latin typeface="微软雅黑" panose="020B0503020204020204" charset="-122"/>
                          <a:ea typeface="微软雅黑" panose="020B0503020204020204" charset="-122"/>
                          <a:cs typeface="仿宋_GB2312" panose="02010609030101010101" charset="-122"/>
                        </a:rPr>
                        <a:t>ZD-GL-009</a:t>
                      </a:r>
                      <a:endParaRPr lang="en-US" altLang="en-US" sz="1400" dirty="0">
                        <a:latin typeface="微软雅黑" panose="020B0503020204020204" charset="-122"/>
                        <a:ea typeface="微软雅黑" panose="020B0503020204020204" charset="-122"/>
                        <a:cs typeface="仿宋_GB2312" panose="02010609030101010101" charset="-122"/>
                      </a:endParaRPr>
                    </a:p>
                  </a:txBody>
                  <a:tcPr marL="7620" marR="7620" marT="7620" marB="9525"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a:txBody>
                    <a:bodyPr/>
                    <a:lstStyle/>
                    <a:p>
                      <a:pPr indent="0">
                        <a:buNone/>
                      </a:pPr>
                      <a:r>
                        <a:rPr lang="en-US" altLang="en-US" sz="1400" b="0" dirty="0" err="1">
                          <a:latin typeface="微软雅黑" panose="020B0503020204020204" charset="-122"/>
                          <a:ea typeface="微软雅黑" panose="020B0503020204020204" charset="-122"/>
                          <a:cs typeface="仿宋_GB2312" panose="02010609030101010101" charset="-122"/>
                        </a:rPr>
                        <a:t>存在硫化氢、一氧化碳等中毒风险的有限空间作业，未对有限空间进行辨识、建立安全管理台账，并且未设置明显的安全警示标志的</a:t>
                      </a:r>
                      <a:r>
                        <a:rPr lang="en-US" altLang="en-US" sz="1400" b="0" dirty="0">
                          <a:latin typeface="微软雅黑" panose="020B0503020204020204" charset="-122"/>
                          <a:ea typeface="微软雅黑" panose="020B0503020204020204" charset="-122"/>
                          <a:cs typeface="仿宋_GB2312" panose="02010609030101010101" charset="-122"/>
                        </a:rPr>
                        <a:t>。</a:t>
                      </a:r>
                      <a:endParaRPr lang="en-US" altLang="en-US" sz="1400" b="0" dirty="0">
                        <a:latin typeface="微软雅黑" panose="020B0503020204020204" charset="-122"/>
                        <a:ea typeface="微软雅黑" panose="020B0503020204020204" charset="-122"/>
                        <a:cs typeface="仿宋_GB2312" panose="02010609030101010101" charset="-122"/>
                      </a:endParaRPr>
                    </a:p>
                  </a:txBody>
                  <a:tcPr marL="7620" marR="7620" marT="7620" marB="9525"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r>
              <a:tr h="590045">
                <a:tc>
                  <a:txBody>
                    <a:bodyPr/>
                    <a:lstStyle/>
                    <a:p>
                      <a:pPr algn="ctr">
                        <a:buClrTx/>
                        <a:buSzTx/>
                        <a:buFontTx/>
                        <a:buNone/>
                      </a:pPr>
                      <a:r>
                        <a:rPr lang="en-US" altLang="en-US" sz="1400" dirty="0">
                          <a:latin typeface="微软雅黑" panose="020B0503020204020204" charset="-122"/>
                          <a:ea typeface="微软雅黑" panose="020B0503020204020204" charset="-122"/>
                          <a:cs typeface="仿宋_GB2312" panose="02010609030101010101" charset="-122"/>
                        </a:rPr>
                        <a:t>JD1-GL-004</a:t>
                      </a:r>
                      <a:endParaRPr lang="en-US" altLang="en-US" sz="1400" dirty="0">
                        <a:latin typeface="微软雅黑" panose="020B0503020204020204" charset="-122"/>
                        <a:ea typeface="微软雅黑" panose="020B0503020204020204" charset="-122"/>
                        <a:cs typeface="仿宋_GB2312" panose="02010609030101010101" charset="-122"/>
                      </a:endParaRPr>
                    </a:p>
                  </a:txBody>
                  <a:tcPr marL="7620" marR="7620" marT="7620" marB="9525"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E5F0F9"/>
                    </a:solidFill>
                  </a:tcPr>
                </a:tc>
                <a:tc>
                  <a:txBody>
                    <a:bodyPr/>
                    <a:lstStyle/>
                    <a:p>
                      <a:pPr indent="0">
                        <a:buNone/>
                      </a:pPr>
                      <a:r>
                        <a:rPr lang="en-US" altLang="en-US" sz="1400" b="0" dirty="0" err="1">
                          <a:latin typeface="微软雅黑" panose="020B0503020204020204" charset="-122"/>
                          <a:ea typeface="微软雅黑" panose="020B0503020204020204" charset="-122"/>
                          <a:cs typeface="仿宋_GB2312" panose="02010609030101010101" charset="-122"/>
                        </a:rPr>
                        <a:t>对可能产生有毒物质的有限空间未采取上锁、隔离栏、防护网或者其他物理隔离措施</a:t>
                      </a:r>
                      <a:r>
                        <a:rPr lang="en-US" altLang="en-US" sz="1400" b="0" dirty="0">
                          <a:latin typeface="微软雅黑" panose="020B0503020204020204" charset="-122"/>
                          <a:ea typeface="微软雅黑" panose="020B0503020204020204" charset="-122"/>
                          <a:cs typeface="仿宋_GB2312" panose="02010609030101010101" charset="-122"/>
                        </a:rPr>
                        <a:t>。</a:t>
                      </a:r>
                      <a:endParaRPr lang="en-US" altLang="en-US" sz="1400" b="0" dirty="0">
                        <a:latin typeface="微软雅黑" panose="020B0503020204020204" charset="-122"/>
                        <a:ea typeface="微软雅黑" panose="020B0503020204020204" charset="-122"/>
                        <a:cs typeface="仿宋_GB2312" panose="02010609030101010101" charset="-122"/>
                      </a:endParaRPr>
                    </a:p>
                  </a:txBody>
                  <a:tcPr marL="7620" marR="7620" marT="7620" marB="9525"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E5F0F9"/>
                    </a:solidFill>
                  </a:tcPr>
                </a:tc>
              </a:tr>
            </a:tbl>
          </a:graphicData>
        </a:graphic>
      </p:graphicFrame>
      <p:sp>
        <p:nvSpPr>
          <p:cNvPr id="5" name="文本框 4"/>
          <p:cNvSpPr txBox="1"/>
          <p:nvPr/>
        </p:nvSpPr>
        <p:spPr>
          <a:xfrm>
            <a:off x="250190" y="3429000"/>
            <a:ext cx="11611610" cy="1938020"/>
          </a:xfrm>
          <a:prstGeom prst="rect">
            <a:avLst/>
          </a:prstGeom>
          <a:noFill/>
          <a:ln w="15875" cmpd="sng">
            <a:noFill/>
            <a:prstDash val="sysDash"/>
          </a:ln>
        </p:spPr>
        <p:txBody>
          <a:bodyPr wrap="square" rtlCol="0">
            <a:spAutoFit/>
          </a:bodyPr>
          <a:lstStyle/>
          <a:p>
            <a:pPr indent="0" fontAlgn="auto">
              <a:lnSpc>
                <a:spcPct val="150000"/>
              </a:lnSpc>
              <a:spcBef>
                <a:spcPts val="0"/>
              </a:spcBef>
              <a:spcAft>
                <a:spcPts val="0"/>
              </a:spcAft>
              <a:buFont typeface="Wingdings" panose="05000000000000000000" charset="0"/>
              <a:buNone/>
            </a:pPr>
            <a:r>
              <a:rPr lang="zh-CN" altLang="en-US" sz="1600" b="1" kern="0" dirty="0">
                <a:solidFill>
                  <a:sysClr val="windowText" lastClr="000000"/>
                </a:solidFill>
                <a:latin typeface="微软雅黑" panose="020B0503020204020204" charset="-122"/>
                <a:ea typeface="微软雅黑" panose="020B0503020204020204" charset="-122"/>
                <a:cs typeface="微软雅黑" panose="020B0503020204020204" charset="-122"/>
                <a:sym typeface="+mn-ea"/>
              </a:rPr>
              <a:t>【解读】</a:t>
            </a:r>
            <a:r>
              <a:rPr lang="zh-CN" altLang="en-US" sz="1600" kern="0" dirty="0">
                <a:solidFill>
                  <a:sysClr val="windowText" lastClr="000000"/>
                </a:solidFill>
                <a:latin typeface="微软雅黑" panose="020B0503020204020204" charset="-122"/>
                <a:ea typeface="微软雅黑" panose="020B0503020204020204" charset="-122"/>
                <a:cs typeface="微软雅黑" panose="020B0503020204020204" charset="-122"/>
                <a:sym typeface="+mn-ea"/>
              </a:rPr>
              <a:t>有限空间（如电缆井、地下管沟等）内可能积聚硫化氢、一氧化碳等有毒有害气体，且通风不良，具有隐蔽性强、危险性高、救援困难的特点，极易导致人员中毒窒息，引发群死群伤事故。本条款针对存在此类中毒风险的有限空间作业，从风险前端管控（必须进行作业场所辨识、建立管理台账、设置醒目安全警示标志）和关键隔离措施（对可能产生有毒物质的空间，必须采取上锁、设置隔离栏等物理隔离，防止人员误入）两个递进层面，明确了具体的管理要求，包括重大隐患标准</a:t>
            </a:r>
            <a:r>
              <a:rPr lang="en-US" altLang="zh-CN" sz="1600" kern="0" dirty="0">
                <a:solidFill>
                  <a:sysClr val="windowText" lastClr="000000"/>
                </a:solidFill>
                <a:latin typeface="微软雅黑" panose="020B0503020204020204" charset="-122"/>
                <a:ea typeface="微软雅黑" panose="020B0503020204020204" charset="-122"/>
                <a:cs typeface="微软雅黑" panose="020B0503020204020204" charset="-122"/>
                <a:sym typeface="+mn-ea"/>
              </a:rPr>
              <a:t>1</a:t>
            </a:r>
            <a:r>
              <a:rPr lang="zh-CN" altLang="en-US" sz="1600" kern="0" dirty="0">
                <a:solidFill>
                  <a:sysClr val="windowText" lastClr="000000"/>
                </a:solidFill>
                <a:latin typeface="微软雅黑" panose="020B0503020204020204" charset="-122"/>
                <a:ea typeface="微软雅黑" panose="020B0503020204020204" charset="-122"/>
                <a:cs typeface="微软雅黑" panose="020B0503020204020204" charset="-122"/>
                <a:sym typeface="+mn-ea"/>
              </a:rPr>
              <a:t>条、Ⅰ级较大隐患</a:t>
            </a:r>
            <a:r>
              <a:rPr lang="en-US" altLang="zh-CN" sz="1600" kern="0" dirty="0">
                <a:solidFill>
                  <a:sysClr val="windowText" lastClr="000000"/>
                </a:solidFill>
                <a:latin typeface="微软雅黑" panose="020B0503020204020204" charset="-122"/>
                <a:ea typeface="微软雅黑" panose="020B0503020204020204" charset="-122"/>
                <a:cs typeface="微软雅黑" panose="020B0503020204020204" charset="-122"/>
                <a:sym typeface="+mn-ea"/>
              </a:rPr>
              <a:t>1</a:t>
            </a:r>
            <a:r>
              <a:rPr lang="zh-CN" altLang="en-US" sz="1600" kern="0" dirty="0">
                <a:solidFill>
                  <a:sysClr val="windowText" lastClr="000000"/>
                </a:solidFill>
                <a:latin typeface="微软雅黑" panose="020B0503020204020204" charset="-122"/>
                <a:ea typeface="微软雅黑" panose="020B0503020204020204" charset="-122"/>
                <a:cs typeface="微软雅黑" panose="020B0503020204020204" charset="-122"/>
                <a:sym typeface="+mn-ea"/>
              </a:rPr>
              <a:t>条。</a:t>
            </a:r>
            <a:endParaRPr lang="zh-CN" altLang="en-US" sz="1600" kern="0" dirty="0">
              <a:solidFill>
                <a:sysClr val="windowText" lastClr="000000"/>
              </a:solidFill>
              <a:latin typeface="微软雅黑" panose="020B0503020204020204" charset="-122"/>
              <a:ea typeface="微软雅黑" panose="020B0503020204020204" charset="-122"/>
              <a:cs typeface="微软雅黑" panose="020B0503020204020204" charset="-122"/>
              <a:sym typeface="+mn-ea"/>
            </a:endParaRPr>
          </a:p>
        </p:txBody>
      </p:sp>
      <p:sp>
        <p:nvSpPr>
          <p:cNvPr id="4" name="TextBox 8"/>
          <p:cNvSpPr txBox="1"/>
          <p:nvPr/>
        </p:nvSpPr>
        <p:spPr>
          <a:xfrm>
            <a:off x="168335" y="271329"/>
            <a:ext cx="7002524" cy="52197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charset="-122"/>
                <a:ea typeface="微软雅黑" panose="020B0503020204020204" charset="-122"/>
              </a:rPr>
              <a:t>二、</a:t>
            </a:r>
            <a:r>
              <a:rPr lang="zh-CN" altLang="en-US" sz="2800" b="1" dirty="0">
                <a:latin typeface="微软雅黑" panose="020B0503020204020204" charset="-122"/>
                <a:ea typeface="微软雅黑" panose="020B0503020204020204" charset="-122"/>
                <a:sym typeface="+mn-ea"/>
              </a:rPr>
              <a:t>网公司事故隐患判定标准宣贯学习</a:t>
            </a:r>
            <a:endParaRPr lang="zh-CN" altLang="en-US" sz="2800" b="1" dirty="0">
              <a:latin typeface="微软雅黑" panose="020B0503020204020204" charset="-122"/>
              <a:ea typeface="微软雅黑" panose="020B0503020204020204" charset="-122"/>
            </a:endParaRP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4294967295"/>
          </p:nvPr>
        </p:nvSpPr>
        <p:spPr>
          <a:xfrm>
            <a:off x="9997440" y="6499860"/>
            <a:ext cx="2133600" cy="365125"/>
          </a:xfrm>
        </p:spPr>
        <p:txBody>
          <a:bodyPr/>
          <a:lstStyle/>
          <a:p>
            <a:fld id="{A10E9369-8E4E-4DE7-B129-F0280ABC27D7}" type="slidenum">
              <a:rPr lang="zh-CN" altLang="en-US" smtClean="0"/>
            </a:fld>
            <a:endParaRPr lang="zh-CN" altLang="en-US" dirty="0"/>
          </a:p>
        </p:txBody>
      </p:sp>
      <p:sp>
        <p:nvSpPr>
          <p:cNvPr id="8" name="文本框 7"/>
          <p:cNvSpPr txBox="1"/>
          <p:nvPr/>
        </p:nvSpPr>
        <p:spPr>
          <a:xfrm>
            <a:off x="-24680" y="969010"/>
            <a:ext cx="5040000" cy="448945"/>
          </a:xfrm>
          <a:prstGeom prst="rect">
            <a:avLst/>
          </a:prstGeom>
          <a:gradFill>
            <a:gsLst>
              <a:gs pos="66000">
                <a:srgbClr val="054CA4"/>
              </a:gs>
              <a:gs pos="100000">
                <a:srgbClr val="0070C0">
                  <a:alpha val="0"/>
                </a:srgbClr>
              </a:gs>
            </a:gsLst>
            <a:lin ang="0" scaled="0"/>
          </a:gradFill>
          <a:ln w="12700" cap="flat" cmpd="sng" algn="ctr">
            <a:noFill/>
            <a:prstDash val="solid"/>
            <a:miter lim="800000"/>
          </a:ln>
          <a:effectLst/>
        </p:spPr>
        <p:txBody>
          <a:bodyPr rtlCol="0" anchor="ctr"/>
          <a:lstStyle>
            <a:defPPr>
              <a:defRPr lang="zh-CN"/>
            </a:defPPr>
            <a:lvl1pPr>
              <a:defRPr sz="2000" b="1"/>
            </a:lvl1pPr>
            <a:lvl2pPr>
              <a:defRPr>
                <a:solidFill>
                  <a:sysClr val="window" lastClr="FFFFFF"/>
                </a:solidFill>
              </a:defRPr>
            </a:lvl2pPr>
            <a:lvl3pPr>
              <a:defRPr>
                <a:solidFill>
                  <a:sysClr val="window" lastClr="FFFFFF"/>
                </a:solidFill>
              </a:defRPr>
            </a:lvl3pPr>
            <a:lvl4pPr>
              <a:defRPr>
                <a:solidFill>
                  <a:sysClr val="window" lastClr="FFFFFF"/>
                </a:solidFill>
              </a:defRPr>
            </a:lvl4pPr>
            <a:lvl5pPr>
              <a:defRPr>
                <a:solidFill>
                  <a:sysClr val="window" lastClr="FFFFFF"/>
                </a:solidFill>
              </a:defRPr>
            </a:lvl5pPr>
            <a:lvl6pPr>
              <a:defRPr>
                <a:solidFill>
                  <a:sysClr val="window" lastClr="FFFFFF"/>
                </a:solidFill>
              </a:defRPr>
            </a:lvl6pPr>
            <a:lvl7pPr>
              <a:defRPr>
                <a:solidFill>
                  <a:sysClr val="window" lastClr="FFFFFF"/>
                </a:solidFill>
              </a:defRPr>
            </a:lvl7pPr>
            <a:lvl8pPr>
              <a:defRPr>
                <a:solidFill>
                  <a:sysClr val="window" lastClr="FFFFFF"/>
                </a:solidFill>
              </a:defRPr>
            </a:lvl8pPr>
            <a:lvl9pPr>
              <a:defRPr>
                <a:solidFill>
                  <a:sysClr val="window" lastClr="FFFFFF"/>
                </a:solidFill>
              </a:defRPr>
            </a:lvl9pPr>
          </a:lstStyle>
          <a:p>
            <a:pPr algn="l" fontAlgn="auto">
              <a:buClrTx/>
              <a:buSzTx/>
              <a:buFontTx/>
              <a:defRPr/>
            </a:pPr>
            <a:r>
              <a:rPr lang="zh-CN" altLang="en-US" dirty="0">
                <a:solidFill>
                  <a:schemeClr val="bg1"/>
                </a:solidFill>
                <a:latin typeface="微软雅黑" panose="020B0503020204020204" charset="-122"/>
                <a:ea typeface="微软雅黑" panose="020B0503020204020204" charset="-122"/>
                <a:sym typeface="+mn-ea"/>
              </a:rPr>
              <a:t> （四）安全管理隐患</a:t>
            </a:r>
            <a:endParaRPr lang="zh-CN" altLang="en-US" dirty="0">
              <a:solidFill>
                <a:schemeClr val="bg1"/>
              </a:solidFill>
              <a:latin typeface="微软雅黑" panose="020B0503020204020204" charset="-122"/>
              <a:ea typeface="微软雅黑" panose="020B0503020204020204" charset="-122"/>
              <a:sym typeface="+mn-ea"/>
            </a:endParaRPr>
          </a:p>
        </p:txBody>
      </p:sp>
      <p:graphicFrame>
        <p:nvGraphicFramePr>
          <p:cNvPr id="11" name="表格 10"/>
          <p:cNvGraphicFramePr/>
          <p:nvPr>
            <p:custDataLst>
              <p:tags r:id="rId1"/>
            </p:custDataLst>
          </p:nvPr>
        </p:nvGraphicFramePr>
        <p:xfrm>
          <a:off x="334962" y="1628800"/>
          <a:ext cx="11522075" cy="3630690"/>
        </p:xfrm>
        <a:graphic>
          <a:graphicData uri="http://schemas.openxmlformats.org/drawingml/2006/table">
            <a:tbl>
              <a:tblPr firstRow="1">
                <a:effectLst/>
                <a:tableStyleId>{5940675A-B579-460E-94D1-54222C63F5DA}</a:tableStyleId>
              </a:tblPr>
              <a:tblGrid>
                <a:gridCol w="1334631"/>
                <a:gridCol w="10187444"/>
              </a:tblGrid>
              <a:tr h="396000">
                <a:tc>
                  <a:txBody>
                    <a:bodyPr/>
                    <a:lstStyle/>
                    <a:p>
                      <a:pPr algn="ctr" fontAlgn="ctr">
                        <a:lnSpc>
                          <a:spcPct val="110000"/>
                        </a:lnSpc>
                        <a:buNone/>
                      </a:pPr>
                      <a:r>
                        <a:rPr lang="zh-CN" altLang="en-US" sz="1400" b="1" dirty="0">
                          <a:solidFill>
                            <a:sysClr val="window" lastClr="FFFFFF"/>
                          </a:solidFill>
                          <a:latin typeface="微软雅黑" panose="020B0503020204020204" charset="-122"/>
                          <a:ea typeface="微软雅黑" panose="020B0503020204020204" charset="-122"/>
                          <a:sym typeface="宋体" panose="02010600030101010101" pitchFamily="2" charset="-122"/>
                        </a:rPr>
                        <a:t>条款编码</a:t>
                      </a:r>
                      <a:endParaRPr lang="zh-CN" altLang="en-US" sz="1400" b="1" dirty="0">
                        <a:solidFill>
                          <a:sysClr val="window" lastClr="FFFFFF"/>
                        </a:solidFill>
                        <a:latin typeface="微软雅黑" panose="020B0503020204020204" charset="-122"/>
                        <a:ea typeface="微软雅黑" panose="020B0503020204020204" charset="-122"/>
                        <a:sym typeface="宋体" panose="02010600030101010101" pitchFamily="2" charset="-122"/>
                      </a:endParaRPr>
                    </a:p>
                  </a:txBody>
                  <a:tcPr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c>
                  <a:txBody>
                    <a:bodyPr/>
                    <a:lstStyle/>
                    <a:p>
                      <a:pPr algn="ctr" fontAlgn="ctr">
                        <a:lnSpc>
                          <a:spcPct val="110000"/>
                        </a:lnSpc>
                        <a:buNone/>
                      </a:pPr>
                      <a:r>
                        <a:rPr lang="zh-CN" altLang="en-US" sz="1400" b="1" dirty="0">
                          <a:solidFill>
                            <a:sysClr val="window" lastClr="FFFFFF"/>
                          </a:solidFill>
                          <a:latin typeface="微软雅黑" panose="020B0503020204020204" charset="-122"/>
                          <a:ea typeface="微软雅黑" panose="020B0503020204020204" charset="-122"/>
                        </a:rPr>
                        <a:t>条款内容</a:t>
                      </a:r>
                      <a:endParaRPr lang="zh-CN" altLang="en-US" sz="1400" b="1" dirty="0">
                        <a:solidFill>
                          <a:sysClr val="window" lastClr="FFFFFF"/>
                        </a:solidFill>
                        <a:latin typeface="微软雅黑" panose="020B0503020204020204" charset="-122"/>
                        <a:ea typeface="微软雅黑" panose="020B0503020204020204" charset="-122"/>
                      </a:endParaRPr>
                    </a:p>
                  </a:txBody>
                  <a:tcPr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r>
              <a:tr h="591820">
                <a:tc>
                  <a:txBody>
                    <a:bodyPr/>
                    <a:lstStyle/>
                    <a:p>
                      <a:pPr algn="ctr">
                        <a:buClrTx/>
                        <a:buSzTx/>
                        <a:buFontTx/>
                        <a:buNone/>
                      </a:pPr>
                      <a:r>
                        <a:rPr lang="en-US" sz="1400" b="0" dirty="0">
                          <a:latin typeface="微软雅黑" panose="020B0503020204020204" charset="-122"/>
                          <a:ea typeface="微软雅黑" panose="020B0503020204020204" charset="-122"/>
                          <a:cs typeface="仿宋_GB2312" panose="02010609030101010101" charset="-122"/>
                        </a:rPr>
                        <a:t>ZD-GL-006</a:t>
                      </a:r>
                      <a:endParaRPr lang="en-US" sz="1400" b="0" dirty="0">
                        <a:latin typeface="微软雅黑" panose="020B0503020204020204" charset="-122"/>
                        <a:ea typeface="微软雅黑" panose="020B0503020204020204" charset="-122"/>
                        <a:cs typeface="仿宋_GB2312" panose="02010609030101010101" charset="-122"/>
                      </a:endParaRPr>
                    </a:p>
                  </a:txBody>
                  <a:tcPr marL="7620" marR="7620" marT="7620" marB="9525"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a:txBody>
                    <a:bodyPr/>
                    <a:lstStyle/>
                    <a:p>
                      <a:pPr algn="just">
                        <a:buClrTx/>
                        <a:buSzTx/>
                        <a:buFontTx/>
                        <a:buNone/>
                      </a:pPr>
                      <a:r>
                        <a:rPr lang="en-US" sz="1400" b="0" dirty="0" err="1">
                          <a:latin typeface="微软雅黑" panose="020B0503020204020204" charset="-122"/>
                          <a:ea typeface="微软雅黑" panose="020B0503020204020204" charset="-122"/>
                          <a:cs typeface="仿宋_GB2312" panose="02010609030101010101" charset="-122"/>
                        </a:rPr>
                        <a:t>电力建设工程、电力检修项目（含技改项目）有下列情形之一的，应判定为重大事故隐患</a:t>
                      </a:r>
                      <a:r>
                        <a:rPr lang="en-US" sz="1400" b="0" dirty="0">
                          <a:latin typeface="微软雅黑" panose="020B0503020204020204" charset="-122"/>
                          <a:ea typeface="微软雅黑" panose="020B0503020204020204" charset="-122"/>
                          <a:cs typeface="仿宋_GB2312" panose="02010609030101010101" charset="-122"/>
                        </a:rPr>
                        <a:t>：</a:t>
                      </a:r>
                      <a:endParaRPr lang="en-US" sz="1400" b="0" dirty="0">
                        <a:latin typeface="微软雅黑" panose="020B0503020204020204" charset="-122"/>
                        <a:ea typeface="微软雅黑" panose="020B0503020204020204" charset="-122"/>
                        <a:cs typeface="仿宋_GB2312" panose="02010609030101010101" charset="-122"/>
                      </a:endParaRPr>
                    </a:p>
                    <a:p>
                      <a:pPr algn="just">
                        <a:buClrTx/>
                        <a:buSzTx/>
                        <a:buFontTx/>
                        <a:buNone/>
                      </a:pPr>
                      <a:r>
                        <a:rPr lang="en-US" sz="1400" b="0" dirty="0">
                          <a:latin typeface="微软雅黑" panose="020B0503020204020204" charset="-122"/>
                          <a:ea typeface="微软雅黑" panose="020B0503020204020204" charset="-122"/>
                          <a:cs typeface="仿宋_GB2312" panose="02010609030101010101" charset="-122"/>
                        </a:rPr>
                        <a:t>（1）未经论证的情况下压缩合同约定工期，或论证后应采取的措施未落实。</a:t>
                      </a:r>
                      <a:endParaRPr lang="en-US" sz="1400" b="0" dirty="0">
                        <a:latin typeface="微软雅黑" panose="020B0503020204020204" charset="-122"/>
                        <a:ea typeface="微软雅黑" panose="020B0503020204020204" charset="-122"/>
                        <a:cs typeface="仿宋_GB2312" panose="02010609030101010101" charset="-122"/>
                      </a:endParaRPr>
                    </a:p>
                    <a:p>
                      <a:pPr algn="just">
                        <a:buClrTx/>
                        <a:buSzTx/>
                        <a:buFontTx/>
                        <a:buNone/>
                      </a:pPr>
                      <a:r>
                        <a:rPr lang="en-US" sz="1400" b="0" dirty="0">
                          <a:latin typeface="微软雅黑" panose="020B0503020204020204" charset="-122"/>
                          <a:ea typeface="微软雅黑" panose="020B0503020204020204" charset="-122"/>
                          <a:cs typeface="仿宋_GB2312" panose="02010609030101010101" charset="-122"/>
                        </a:rPr>
                        <a:t>（2）电力建设工程中超过一定规模的危险性较大的分部分项工程，其专项施工方案未按规定开展编制、审核、批准、专家论证、技术交底，方案存在严重缺陷或方案规定的重要安全保障措施未落实，以及方案实施过程中，因自然条件、地质条件、周边环境或者施工工艺等安全生产条件发生重大变化，方案内容应当作出重大调整但未调整，或者调整后未履行审核、批准、专家论证、技术交底等管理程序的。</a:t>
                      </a:r>
                      <a:endParaRPr lang="en-US" sz="1400" b="0" dirty="0">
                        <a:latin typeface="微软雅黑" panose="020B0503020204020204" charset="-122"/>
                        <a:ea typeface="微软雅黑" panose="020B0503020204020204" charset="-122"/>
                        <a:cs typeface="仿宋_GB2312" panose="02010609030101010101" charset="-122"/>
                      </a:endParaRPr>
                    </a:p>
                    <a:p>
                      <a:pPr algn="just">
                        <a:buClrTx/>
                        <a:buSzTx/>
                        <a:buFontTx/>
                        <a:buNone/>
                      </a:pPr>
                      <a:r>
                        <a:rPr lang="en-US" sz="1400" b="0" dirty="0">
                          <a:latin typeface="微软雅黑" panose="020B0503020204020204" charset="-122"/>
                          <a:ea typeface="微软雅黑" panose="020B0503020204020204" charset="-122"/>
                          <a:cs typeface="仿宋_GB2312" panose="02010609030101010101" charset="-122"/>
                        </a:rPr>
                        <a:t>（3）施工单位或施工总承包单位对电力建设工程的主体工程进行依法实施的劳务分包之外的其他形式的施工分包。</a:t>
                      </a:r>
                      <a:endParaRPr lang="en-US" sz="1400" b="0" dirty="0">
                        <a:latin typeface="微软雅黑" panose="020B0503020204020204" charset="-122"/>
                        <a:ea typeface="微软雅黑" panose="020B0503020204020204" charset="-122"/>
                        <a:cs typeface="仿宋_GB2312" panose="02010609030101010101" charset="-122"/>
                      </a:endParaRPr>
                    </a:p>
                    <a:p>
                      <a:pPr algn="just">
                        <a:buClrTx/>
                        <a:buSzTx/>
                        <a:buFontTx/>
                        <a:buNone/>
                      </a:pPr>
                      <a:r>
                        <a:rPr lang="en-US" sz="1400" b="0" dirty="0">
                          <a:latin typeface="微软雅黑" panose="020B0503020204020204" charset="-122"/>
                          <a:ea typeface="微软雅黑" panose="020B0503020204020204" charset="-122"/>
                          <a:cs typeface="仿宋_GB2312" panose="02010609030101010101" charset="-122"/>
                        </a:rPr>
                        <a:t>（4）开展爆破、动火、高处、起重吊装、临时用电、有限空间、临近带电体等危险作业未履行审批手续或未安排专门人员进行现场安全管理。</a:t>
                      </a:r>
                      <a:endParaRPr lang="en-US" sz="1400" b="0" dirty="0">
                        <a:latin typeface="微软雅黑" panose="020B0503020204020204" charset="-122"/>
                        <a:ea typeface="微软雅黑" panose="020B0503020204020204" charset="-122"/>
                        <a:cs typeface="仿宋_GB2312" panose="02010609030101010101" charset="-122"/>
                      </a:endParaRPr>
                    </a:p>
                    <a:p>
                      <a:pPr algn="just">
                        <a:buClrTx/>
                        <a:buSzTx/>
                        <a:buFontTx/>
                        <a:buNone/>
                      </a:pPr>
                      <a:r>
                        <a:rPr lang="en-US" sz="1400" b="0" dirty="0">
                          <a:latin typeface="微软雅黑" panose="020B0503020204020204" charset="-122"/>
                          <a:ea typeface="微软雅黑" panose="020B0503020204020204" charset="-122"/>
                          <a:cs typeface="仿宋_GB2312" panose="02010609030101010101" charset="-122"/>
                        </a:rPr>
                        <a:t>（5）电力建设工程征地红线内的办公区和生活区，以及电力检修项目（含技改项目）的办公区和生活区设置在滑坡、坍塌、山洪、泥石流、雪崩等自然灾害高风险区域。</a:t>
                      </a:r>
                      <a:endParaRPr lang="en-US" sz="1400" b="0" dirty="0">
                        <a:latin typeface="微软雅黑" panose="020B0503020204020204" charset="-122"/>
                        <a:ea typeface="微软雅黑" panose="020B0503020204020204" charset="-122"/>
                        <a:cs typeface="仿宋_GB2312" panose="02010609030101010101" charset="-122"/>
                      </a:endParaRPr>
                    </a:p>
                  </a:txBody>
                  <a:tcPr marL="7620" marR="7620" marT="7620" marB="9525"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r>
              <a:tr h="325755">
                <a:tc>
                  <a:txBody>
                    <a:bodyPr/>
                    <a:lstStyle/>
                    <a:p>
                      <a:pPr algn="ctr">
                        <a:buClrTx/>
                        <a:buSzTx/>
                        <a:buFontTx/>
                        <a:buNone/>
                      </a:pPr>
                      <a:r>
                        <a:rPr lang="en-US" sz="1400" b="0" dirty="0">
                          <a:latin typeface="微软雅黑" panose="020B0503020204020204" charset="-122"/>
                          <a:ea typeface="微软雅黑" panose="020B0503020204020204" charset="-122"/>
                          <a:cs typeface="仿宋_GB2312" panose="02010609030101010101" charset="-122"/>
                        </a:rPr>
                        <a:t>ZD-GL-011</a:t>
                      </a:r>
                      <a:endParaRPr lang="en-US" sz="1400" b="0" dirty="0">
                        <a:latin typeface="微软雅黑" panose="020B0503020204020204" charset="-122"/>
                        <a:ea typeface="微软雅黑" panose="020B0503020204020204" charset="-122"/>
                        <a:cs typeface="仿宋_GB2312" panose="02010609030101010101" charset="-122"/>
                      </a:endParaRPr>
                    </a:p>
                  </a:txBody>
                  <a:tcPr marL="7620" marR="7620" marT="7620" marB="9525"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E5F0F9"/>
                    </a:solidFill>
                  </a:tcPr>
                </a:tc>
                <a:tc>
                  <a:txBody>
                    <a:bodyPr/>
                    <a:lstStyle/>
                    <a:p>
                      <a:pPr algn="just">
                        <a:buClrTx/>
                        <a:buSzTx/>
                        <a:buFontTx/>
                        <a:buNone/>
                      </a:pPr>
                      <a:r>
                        <a:rPr lang="en-US" sz="1400" b="0" dirty="0" err="1">
                          <a:latin typeface="微软雅黑" panose="020B0503020204020204" charset="-122"/>
                          <a:ea typeface="微软雅黑" panose="020B0503020204020204" charset="-122"/>
                          <a:cs typeface="仿宋_GB2312" panose="02010609030101010101" charset="-122"/>
                        </a:rPr>
                        <a:t>电力企业安全管理有下列情形之一的，应判定为重大事故隐患</a:t>
                      </a:r>
                      <a:r>
                        <a:rPr lang="en-US" sz="1400" b="0" dirty="0">
                          <a:latin typeface="微软雅黑" panose="020B0503020204020204" charset="-122"/>
                          <a:ea typeface="微软雅黑" panose="020B0503020204020204" charset="-122"/>
                          <a:cs typeface="仿宋_GB2312" panose="02010609030101010101" charset="-122"/>
                        </a:rPr>
                        <a:t>：</a:t>
                      </a:r>
                      <a:endParaRPr lang="en-US" sz="1400" b="0" dirty="0">
                        <a:latin typeface="微软雅黑" panose="020B0503020204020204" charset="-122"/>
                        <a:ea typeface="微软雅黑" panose="020B0503020204020204" charset="-122"/>
                        <a:cs typeface="仿宋_GB2312" panose="02010609030101010101" charset="-122"/>
                      </a:endParaRPr>
                    </a:p>
                    <a:p>
                      <a:pPr algn="just">
                        <a:buClrTx/>
                        <a:buSzTx/>
                        <a:buFontTx/>
                        <a:buNone/>
                      </a:pPr>
                      <a:r>
                        <a:rPr lang="en-US" sz="1400" b="0" dirty="0">
                          <a:latin typeface="微软雅黑" panose="020B0503020204020204" charset="-122"/>
                          <a:ea typeface="微软雅黑" panose="020B0503020204020204" charset="-122"/>
                          <a:cs typeface="仿宋_GB2312" panose="02010609030101010101" charset="-122"/>
                        </a:rPr>
                        <a:t>（1）新建、改建、扩建工程的关键安全设施，未与主体工程同时设计、同时施工、同时投入生产和使用。</a:t>
                      </a:r>
                      <a:endParaRPr lang="en-US" sz="1400" b="0" dirty="0">
                        <a:latin typeface="微软雅黑" panose="020B0503020204020204" charset="-122"/>
                        <a:ea typeface="微软雅黑" panose="020B0503020204020204" charset="-122"/>
                        <a:cs typeface="仿宋_GB2312" panose="02010609030101010101" charset="-122"/>
                      </a:endParaRPr>
                    </a:p>
                    <a:p>
                      <a:pPr algn="just">
                        <a:buClrTx/>
                        <a:buSzTx/>
                        <a:buFontTx/>
                        <a:buNone/>
                      </a:pPr>
                      <a:r>
                        <a:rPr lang="en-US" sz="1400" b="0" dirty="0">
                          <a:latin typeface="微软雅黑" panose="020B0503020204020204" charset="-122"/>
                          <a:ea typeface="微软雅黑" panose="020B0503020204020204" charset="-122"/>
                          <a:cs typeface="仿宋_GB2312" panose="02010609030101010101" charset="-122"/>
                        </a:rPr>
                        <a:t>（2）关闭、破坏直接关系生产安全的监控、报警、防护、救生设备、设施，或篡改、隐瞒、销毁其相关数据、信息。</a:t>
                      </a:r>
                      <a:endParaRPr lang="en-US" sz="1400" b="0" dirty="0">
                        <a:latin typeface="微软雅黑" panose="020B0503020204020204" charset="-122"/>
                        <a:ea typeface="微软雅黑" panose="020B0503020204020204" charset="-122"/>
                        <a:cs typeface="仿宋_GB2312" panose="02010609030101010101" charset="-122"/>
                      </a:endParaRPr>
                    </a:p>
                    <a:p>
                      <a:pPr algn="just">
                        <a:buClrTx/>
                        <a:buSzTx/>
                        <a:buFontTx/>
                        <a:buNone/>
                      </a:pPr>
                      <a:r>
                        <a:rPr lang="en-US" sz="1400" b="0" dirty="0">
                          <a:latin typeface="微软雅黑" panose="020B0503020204020204" charset="-122"/>
                          <a:ea typeface="微软雅黑" panose="020B0503020204020204" charset="-122"/>
                          <a:cs typeface="仿宋_GB2312" panose="02010609030101010101" charset="-122"/>
                        </a:rPr>
                        <a:t>（3）未按规定制定本单位生产安全事故应急救援预案或未定期组织应急演练。</a:t>
                      </a:r>
                      <a:endParaRPr lang="en-US" sz="1400" b="0" dirty="0">
                        <a:latin typeface="微软雅黑" panose="020B0503020204020204" charset="-122"/>
                        <a:ea typeface="微软雅黑" panose="020B0503020204020204" charset="-122"/>
                        <a:cs typeface="仿宋_GB2312" panose="02010609030101010101" charset="-122"/>
                      </a:endParaRPr>
                    </a:p>
                  </a:txBody>
                  <a:tcPr marL="7620" marR="7620" marT="7620" marB="9525"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E5F0F9"/>
                    </a:solidFill>
                  </a:tcPr>
                </a:tc>
              </a:tr>
            </a:tbl>
          </a:graphicData>
        </a:graphic>
      </p:graphicFrame>
      <p:sp>
        <p:nvSpPr>
          <p:cNvPr id="5" name="文本框 4"/>
          <p:cNvSpPr txBox="1"/>
          <p:nvPr/>
        </p:nvSpPr>
        <p:spPr>
          <a:xfrm>
            <a:off x="250190" y="5285695"/>
            <a:ext cx="11670030" cy="1266116"/>
          </a:xfrm>
          <a:prstGeom prst="rect">
            <a:avLst/>
          </a:prstGeom>
          <a:noFill/>
          <a:ln w="15875" cmpd="sng">
            <a:noFill/>
            <a:prstDash val="sysDash"/>
          </a:ln>
        </p:spPr>
        <p:txBody>
          <a:bodyPr wrap="square" rtlCol="0">
            <a:spAutoFit/>
          </a:bodyPr>
          <a:lstStyle/>
          <a:p>
            <a:pPr indent="0" fontAlgn="auto">
              <a:lnSpc>
                <a:spcPct val="140000"/>
              </a:lnSpc>
              <a:spcBef>
                <a:spcPts val="0"/>
              </a:spcBef>
              <a:spcAft>
                <a:spcPts val="0"/>
              </a:spcAft>
              <a:buFont typeface="Wingdings" panose="05000000000000000000" charset="0"/>
              <a:buNone/>
            </a:pPr>
            <a:r>
              <a:rPr lang="zh-CN" altLang="en-US" sz="1400" b="1" kern="0" dirty="0">
                <a:solidFill>
                  <a:sysClr val="windowText" lastClr="000000"/>
                </a:solidFill>
                <a:latin typeface="微软雅黑" panose="020B0503020204020204" charset="-122"/>
                <a:ea typeface="微软雅黑" panose="020B0503020204020204" charset="-122"/>
                <a:cs typeface="微软雅黑" panose="020B0503020204020204" charset="-122"/>
                <a:sym typeface="+mn-ea"/>
              </a:rPr>
              <a:t>【解读】</a:t>
            </a:r>
            <a:r>
              <a:rPr lang="zh-CN" altLang="en-US" sz="1400" kern="0" dirty="0">
                <a:solidFill>
                  <a:sysClr val="windowText" lastClr="000000"/>
                </a:solidFill>
                <a:latin typeface="微软雅黑" panose="020B0503020204020204" charset="-122"/>
                <a:ea typeface="微软雅黑" panose="020B0503020204020204" charset="-122"/>
                <a:cs typeface="微软雅黑" panose="020B0503020204020204" charset="-122"/>
                <a:sym typeface="+mn-ea"/>
              </a:rPr>
              <a:t>安全管理是贯穿电力工程建设、检修运维及企业整体运营的基础性与决定性因素。安全管理体系若存在漏洞或基本要求未落实，意味着风险管控失守，可能直接诱发或加剧现场各类作业风险，导致事故发生。本条款针对电力建设工程与检修项目中的工期、危大工程方案、分包、危险作业、营地选址等关键管理环节，以及电力企业整体安全管理中的</a:t>
            </a:r>
            <a:r>
              <a:rPr lang="en-US" altLang="zh-CN" sz="1400" kern="0" dirty="0">
                <a:solidFill>
                  <a:sysClr val="windowText" lastClr="000000"/>
                </a:solidFill>
                <a:latin typeface="微软雅黑" panose="020B0503020204020204" charset="-122"/>
                <a:ea typeface="微软雅黑" panose="020B0503020204020204" charset="-122"/>
                <a:cs typeface="微软雅黑" panose="020B0503020204020204" charset="-122"/>
                <a:sym typeface="+mn-ea"/>
              </a:rPr>
              <a:t>“</a:t>
            </a:r>
            <a:r>
              <a:rPr lang="zh-CN" altLang="en-US" sz="1400" kern="0" dirty="0">
                <a:solidFill>
                  <a:sysClr val="windowText" lastClr="000000"/>
                </a:solidFill>
                <a:latin typeface="微软雅黑" panose="020B0503020204020204" charset="-122"/>
                <a:ea typeface="微软雅黑" panose="020B0503020204020204" charset="-122"/>
                <a:cs typeface="微软雅黑" panose="020B0503020204020204" charset="-122"/>
                <a:sym typeface="+mn-ea"/>
              </a:rPr>
              <a:t>三同时</a:t>
            </a:r>
            <a:r>
              <a:rPr lang="en-US" altLang="zh-CN" sz="1400" kern="0" dirty="0">
                <a:solidFill>
                  <a:sysClr val="windowText" lastClr="000000"/>
                </a:solidFill>
                <a:latin typeface="微软雅黑" panose="020B0503020204020204" charset="-122"/>
                <a:ea typeface="微软雅黑" panose="020B0503020204020204" charset="-122"/>
                <a:cs typeface="微软雅黑" panose="020B0503020204020204" charset="-122"/>
                <a:sym typeface="+mn-ea"/>
              </a:rPr>
              <a:t>”</a:t>
            </a:r>
            <a:r>
              <a:rPr lang="zh-CN" altLang="en-US" sz="1400" kern="0" dirty="0">
                <a:solidFill>
                  <a:sysClr val="windowText" lastClr="000000"/>
                </a:solidFill>
                <a:latin typeface="微软雅黑" panose="020B0503020204020204" charset="-122"/>
                <a:ea typeface="微软雅黑" panose="020B0503020204020204" charset="-122"/>
                <a:cs typeface="微软雅黑" panose="020B0503020204020204" charset="-122"/>
                <a:sym typeface="+mn-ea"/>
              </a:rPr>
              <a:t>、安全设施、应急预案等基础性底线要求，明确了若干具体的管理行为红线。一旦触及，即判定为重大事故隐患。两项条款共明确了</a:t>
            </a:r>
            <a:r>
              <a:rPr lang="en-US" altLang="zh-CN" sz="1400" kern="0" dirty="0">
                <a:solidFill>
                  <a:sysClr val="windowText" lastClr="000000"/>
                </a:solidFill>
                <a:latin typeface="微软雅黑" panose="020B0503020204020204" charset="-122"/>
                <a:ea typeface="微软雅黑" panose="020B0503020204020204" charset="-122"/>
                <a:cs typeface="微软雅黑" panose="020B0503020204020204" charset="-122"/>
                <a:sym typeface="+mn-ea"/>
              </a:rPr>
              <a:t>8</a:t>
            </a:r>
            <a:r>
              <a:rPr lang="zh-CN" altLang="en-US" sz="1400" kern="0" dirty="0">
                <a:solidFill>
                  <a:sysClr val="windowText" lastClr="000000"/>
                </a:solidFill>
                <a:latin typeface="微软雅黑" panose="020B0503020204020204" charset="-122"/>
                <a:ea typeface="微软雅黑" panose="020B0503020204020204" charset="-122"/>
                <a:cs typeface="微软雅黑" panose="020B0503020204020204" charset="-122"/>
                <a:sym typeface="+mn-ea"/>
              </a:rPr>
              <a:t>种具体情形，均属于重大隐患标准。</a:t>
            </a:r>
            <a:endParaRPr lang="zh-CN" altLang="en-US" sz="1400" kern="0" dirty="0">
              <a:solidFill>
                <a:sysClr val="windowText" lastClr="000000"/>
              </a:solidFill>
              <a:latin typeface="微软雅黑" panose="020B0503020204020204" charset="-122"/>
              <a:ea typeface="微软雅黑" panose="020B0503020204020204" charset="-122"/>
              <a:cs typeface="微软雅黑" panose="020B0503020204020204" charset="-122"/>
              <a:sym typeface="+mn-ea"/>
            </a:endParaRPr>
          </a:p>
        </p:txBody>
      </p:sp>
      <p:sp>
        <p:nvSpPr>
          <p:cNvPr id="4" name="TextBox 8"/>
          <p:cNvSpPr txBox="1"/>
          <p:nvPr/>
        </p:nvSpPr>
        <p:spPr>
          <a:xfrm>
            <a:off x="168335" y="271329"/>
            <a:ext cx="7002524" cy="52197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charset="-122"/>
                <a:ea typeface="微软雅黑" panose="020B0503020204020204" charset="-122"/>
              </a:rPr>
              <a:t>二、</a:t>
            </a:r>
            <a:r>
              <a:rPr lang="zh-CN" altLang="en-US" sz="2800" b="1" dirty="0">
                <a:latin typeface="微软雅黑" panose="020B0503020204020204" charset="-122"/>
                <a:ea typeface="微软雅黑" panose="020B0503020204020204" charset="-122"/>
                <a:sym typeface="+mn-ea"/>
              </a:rPr>
              <a:t>网公司事故隐患判定标准宣贯学习</a:t>
            </a:r>
            <a:endParaRPr lang="zh-CN" altLang="en-US" sz="2800" b="1" dirty="0">
              <a:latin typeface="微软雅黑" panose="020B0503020204020204" charset="-122"/>
              <a:ea typeface="微软雅黑" panose="020B0503020204020204" charset="-122"/>
            </a:endParaRP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4294967295"/>
          </p:nvPr>
        </p:nvSpPr>
        <p:spPr>
          <a:xfrm>
            <a:off x="9997440" y="6499860"/>
            <a:ext cx="2133600" cy="365125"/>
          </a:xfrm>
        </p:spPr>
        <p:txBody>
          <a:bodyPr/>
          <a:lstStyle/>
          <a:p>
            <a:fld id="{A10E9369-8E4E-4DE7-B129-F0280ABC27D7}" type="slidenum">
              <a:rPr lang="zh-CN" altLang="en-US" smtClean="0"/>
            </a:fld>
            <a:endParaRPr lang="zh-CN" altLang="en-US" dirty="0"/>
          </a:p>
        </p:txBody>
      </p:sp>
      <p:sp>
        <p:nvSpPr>
          <p:cNvPr id="8" name="文本框 7"/>
          <p:cNvSpPr txBox="1"/>
          <p:nvPr/>
        </p:nvSpPr>
        <p:spPr>
          <a:xfrm>
            <a:off x="-24680" y="969010"/>
            <a:ext cx="5040000" cy="448945"/>
          </a:xfrm>
          <a:prstGeom prst="rect">
            <a:avLst/>
          </a:prstGeom>
          <a:gradFill>
            <a:gsLst>
              <a:gs pos="66000">
                <a:srgbClr val="054CA4"/>
              </a:gs>
              <a:gs pos="100000">
                <a:srgbClr val="0070C0">
                  <a:alpha val="0"/>
                </a:srgbClr>
              </a:gs>
            </a:gsLst>
            <a:lin ang="0" scaled="0"/>
          </a:gradFill>
          <a:ln w="12700" cap="flat" cmpd="sng" algn="ctr">
            <a:noFill/>
            <a:prstDash val="solid"/>
            <a:miter lim="800000"/>
          </a:ln>
          <a:effectLst/>
        </p:spPr>
        <p:txBody>
          <a:bodyPr rtlCol="0" anchor="ctr"/>
          <a:lstStyle>
            <a:defPPr>
              <a:defRPr lang="zh-CN"/>
            </a:defPPr>
            <a:lvl1pPr>
              <a:defRPr sz="2000" b="1"/>
            </a:lvl1pPr>
            <a:lvl2pPr>
              <a:defRPr>
                <a:solidFill>
                  <a:sysClr val="window" lastClr="FFFFFF"/>
                </a:solidFill>
              </a:defRPr>
            </a:lvl2pPr>
            <a:lvl3pPr>
              <a:defRPr>
                <a:solidFill>
                  <a:sysClr val="window" lastClr="FFFFFF"/>
                </a:solidFill>
              </a:defRPr>
            </a:lvl3pPr>
            <a:lvl4pPr>
              <a:defRPr>
                <a:solidFill>
                  <a:sysClr val="window" lastClr="FFFFFF"/>
                </a:solidFill>
              </a:defRPr>
            </a:lvl4pPr>
            <a:lvl5pPr>
              <a:defRPr>
                <a:solidFill>
                  <a:sysClr val="window" lastClr="FFFFFF"/>
                </a:solidFill>
              </a:defRPr>
            </a:lvl5pPr>
            <a:lvl6pPr>
              <a:defRPr>
                <a:solidFill>
                  <a:sysClr val="window" lastClr="FFFFFF"/>
                </a:solidFill>
              </a:defRPr>
            </a:lvl6pPr>
            <a:lvl7pPr>
              <a:defRPr>
                <a:solidFill>
                  <a:sysClr val="window" lastClr="FFFFFF"/>
                </a:solidFill>
              </a:defRPr>
            </a:lvl7pPr>
            <a:lvl8pPr>
              <a:defRPr>
                <a:solidFill>
                  <a:sysClr val="window" lastClr="FFFFFF"/>
                </a:solidFill>
              </a:defRPr>
            </a:lvl8pPr>
            <a:lvl9pPr>
              <a:defRPr>
                <a:solidFill>
                  <a:sysClr val="window" lastClr="FFFFFF"/>
                </a:solidFill>
              </a:defRPr>
            </a:lvl9pPr>
          </a:lstStyle>
          <a:p>
            <a:pPr algn="l" fontAlgn="auto">
              <a:buClrTx/>
              <a:buSzTx/>
              <a:buFontTx/>
              <a:defRPr/>
            </a:pPr>
            <a:r>
              <a:rPr lang="zh-CN" altLang="en-US" dirty="0">
                <a:solidFill>
                  <a:schemeClr val="bg1"/>
                </a:solidFill>
                <a:latin typeface="微软雅黑" panose="020B0503020204020204" charset="-122"/>
                <a:ea typeface="微软雅黑" panose="020B0503020204020204" charset="-122"/>
                <a:sym typeface="+mn-ea"/>
              </a:rPr>
              <a:t> （四）安全管理隐患</a:t>
            </a:r>
            <a:endParaRPr lang="zh-CN" altLang="en-US" dirty="0">
              <a:solidFill>
                <a:schemeClr val="bg1"/>
              </a:solidFill>
              <a:latin typeface="微软雅黑" panose="020B0503020204020204" charset="-122"/>
              <a:ea typeface="微软雅黑" panose="020B0503020204020204" charset="-122"/>
              <a:sym typeface="+mn-ea"/>
            </a:endParaRPr>
          </a:p>
        </p:txBody>
      </p:sp>
      <p:graphicFrame>
        <p:nvGraphicFramePr>
          <p:cNvPr id="11" name="表格 10"/>
          <p:cNvGraphicFramePr/>
          <p:nvPr>
            <p:custDataLst>
              <p:tags r:id="rId1"/>
            </p:custDataLst>
          </p:nvPr>
        </p:nvGraphicFramePr>
        <p:xfrm>
          <a:off x="334962" y="1628800"/>
          <a:ext cx="11522075" cy="3292588"/>
        </p:xfrm>
        <a:graphic>
          <a:graphicData uri="http://schemas.openxmlformats.org/drawingml/2006/table">
            <a:tbl>
              <a:tblPr firstRow="1">
                <a:effectLst/>
                <a:tableStyleId>{5940675A-B579-460E-94D1-54222C63F5DA}</a:tableStyleId>
              </a:tblPr>
              <a:tblGrid>
                <a:gridCol w="1080518"/>
                <a:gridCol w="10441557"/>
              </a:tblGrid>
              <a:tr h="396000">
                <a:tc>
                  <a:txBody>
                    <a:bodyPr/>
                    <a:lstStyle/>
                    <a:p>
                      <a:pPr algn="ctr" fontAlgn="ctr">
                        <a:lnSpc>
                          <a:spcPct val="110000"/>
                        </a:lnSpc>
                        <a:buNone/>
                      </a:pPr>
                      <a:r>
                        <a:rPr lang="zh-CN" altLang="en-US" sz="1200" b="1" dirty="0">
                          <a:solidFill>
                            <a:sysClr val="window" lastClr="FFFFFF"/>
                          </a:solidFill>
                          <a:latin typeface="微软雅黑" panose="020B0503020204020204" charset="-122"/>
                          <a:ea typeface="微软雅黑" panose="020B0503020204020204" charset="-122"/>
                          <a:sym typeface="宋体" panose="02010600030101010101" pitchFamily="2" charset="-122"/>
                        </a:rPr>
                        <a:t>条款编码</a:t>
                      </a:r>
                      <a:endParaRPr lang="zh-CN" altLang="en-US" sz="1200" b="1" dirty="0">
                        <a:solidFill>
                          <a:sysClr val="window" lastClr="FFFFFF"/>
                        </a:solidFill>
                        <a:latin typeface="微软雅黑" panose="020B0503020204020204" charset="-122"/>
                        <a:ea typeface="微软雅黑" panose="020B0503020204020204" charset="-122"/>
                        <a:sym typeface="宋体" panose="02010600030101010101" pitchFamily="2" charset="-122"/>
                      </a:endParaRPr>
                    </a:p>
                  </a:txBody>
                  <a:tcPr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c>
                  <a:txBody>
                    <a:bodyPr/>
                    <a:lstStyle/>
                    <a:p>
                      <a:pPr algn="ctr" fontAlgn="ctr">
                        <a:lnSpc>
                          <a:spcPct val="110000"/>
                        </a:lnSpc>
                        <a:buNone/>
                      </a:pPr>
                      <a:r>
                        <a:rPr lang="zh-CN" altLang="en-US" sz="1200" b="1" dirty="0">
                          <a:solidFill>
                            <a:sysClr val="window" lastClr="FFFFFF"/>
                          </a:solidFill>
                          <a:latin typeface="微软雅黑" panose="020B0503020204020204" charset="-122"/>
                          <a:ea typeface="微软雅黑" panose="020B0503020204020204" charset="-122"/>
                        </a:rPr>
                        <a:t>条款内容</a:t>
                      </a:r>
                      <a:endParaRPr lang="zh-CN" altLang="en-US" sz="1200" b="1" dirty="0">
                        <a:solidFill>
                          <a:sysClr val="window" lastClr="FFFFFF"/>
                        </a:solidFill>
                        <a:latin typeface="微软雅黑" panose="020B0503020204020204" charset="-122"/>
                        <a:ea typeface="微软雅黑" panose="020B0503020204020204" charset="-122"/>
                      </a:endParaRPr>
                    </a:p>
                  </a:txBody>
                  <a:tcPr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r>
              <a:tr h="1555563">
                <a:tc>
                  <a:txBody>
                    <a:bodyPr/>
                    <a:lstStyle/>
                    <a:p>
                      <a:pPr algn="ctr">
                        <a:buClrTx/>
                        <a:buSzTx/>
                        <a:buFontTx/>
                        <a:buNone/>
                      </a:pPr>
                      <a:r>
                        <a:rPr lang="en-US" sz="1200" b="0" dirty="0">
                          <a:latin typeface="微软雅黑" panose="020B0503020204020204" charset="-122"/>
                          <a:ea typeface="微软雅黑" panose="020B0503020204020204" charset="-122"/>
                          <a:cs typeface="仿宋_GB2312" panose="02010609030101010101" charset="-122"/>
                        </a:rPr>
                        <a:t>ZD-GL-012</a:t>
                      </a:r>
                      <a:endParaRPr lang="en-US" sz="1200" b="0" dirty="0">
                        <a:latin typeface="微软雅黑" panose="020B0503020204020204" charset="-122"/>
                        <a:ea typeface="微软雅黑" panose="020B0503020204020204" charset="-122"/>
                        <a:cs typeface="仿宋_GB2312" panose="02010609030101010101" charset="-122"/>
                      </a:endParaRPr>
                    </a:p>
                  </a:txBody>
                  <a:tcPr marL="7620" marR="7620" marT="7620" marB="9525"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a:txBody>
                    <a:bodyPr/>
                    <a:lstStyle/>
                    <a:p>
                      <a:pPr algn="just">
                        <a:buClrTx/>
                        <a:buSzTx/>
                        <a:buFontTx/>
                        <a:buNone/>
                      </a:pPr>
                      <a:r>
                        <a:rPr lang="en-US" sz="1200" b="0" dirty="0" err="1">
                          <a:latin typeface="微软雅黑" panose="020B0503020204020204" charset="-122"/>
                          <a:ea typeface="微软雅黑" panose="020B0503020204020204" charset="-122"/>
                          <a:cs typeface="仿宋_GB2312" panose="02010609030101010101" charset="-122"/>
                        </a:rPr>
                        <a:t>电力建设工程质量管理有下列情形之一的，应判定为重大事故隐患</a:t>
                      </a:r>
                      <a:r>
                        <a:rPr lang="en-US" sz="1200" b="0" dirty="0">
                          <a:latin typeface="微软雅黑" panose="020B0503020204020204" charset="-122"/>
                          <a:ea typeface="微软雅黑" panose="020B0503020204020204" charset="-122"/>
                          <a:cs typeface="仿宋_GB2312" panose="02010609030101010101" charset="-122"/>
                        </a:rPr>
                        <a:t>：</a:t>
                      </a:r>
                      <a:endParaRPr lang="en-US" sz="1200" b="0" dirty="0">
                        <a:latin typeface="微软雅黑" panose="020B0503020204020204" charset="-122"/>
                        <a:ea typeface="微软雅黑" panose="020B0503020204020204" charset="-122"/>
                        <a:cs typeface="仿宋_GB2312" panose="02010609030101010101" charset="-122"/>
                      </a:endParaRPr>
                    </a:p>
                    <a:p>
                      <a:pPr algn="just">
                        <a:buClrTx/>
                        <a:buSzTx/>
                        <a:buFontTx/>
                        <a:buNone/>
                      </a:pPr>
                      <a:r>
                        <a:rPr lang="en-US" sz="1200" b="0" dirty="0">
                          <a:latin typeface="微软雅黑" panose="020B0503020204020204" charset="-122"/>
                          <a:ea typeface="微软雅黑" panose="020B0503020204020204" charset="-122"/>
                          <a:cs typeface="仿宋_GB2312" panose="02010609030101010101" charset="-122"/>
                        </a:rPr>
                        <a:t>（1）建设单位未按照国家有关规定办理工程质量监督手续，或未接受质量监督，或未按规定取得质量监督并网意见书即并网。</a:t>
                      </a:r>
                      <a:endParaRPr lang="en-US" sz="1200" b="0" dirty="0">
                        <a:latin typeface="微软雅黑" panose="020B0503020204020204" charset="-122"/>
                        <a:ea typeface="微软雅黑" panose="020B0503020204020204" charset="-122"/>
                        <a:cs typeface="仿宋_GB2312" panose="02010609030101010101" charset="-122"/>
                      </a:endParaRPr>
                    </a:p>
                    <a:p>
                      <a:pPr algn="just">
                        <a:buClrTx/>
                        <a:buSzTx/>
                        <a:buFontTx/>
                        <a:buNone/>
                      </a:pPr>
                      <a:r>
                        <a:rPr lang="en-US" sz="1200" b="0" dirty="0">
                          <a:latin typeface="微软雅黑" panose="020B0503020204020204" charset="-122"/>
                          <a:ea typeface="微软雅黑" panose="020B0503020204020204" charset="-122"/>
                          <a:cs typeface="仿宋_GB2312" panose="02010609030101010101" charset="-122"/>
                        </a:rPr>
                        <a:t>（2）电力建设工程因质量问题未通过竣工验收，或验收不合格即交付使用。</a:t>
                      </a:r>
                      <a:endParaRPr lang="en-US" sz="1200" b="0" dirty="0">
                        <a:latin typeface="微软雅黑" panose="020B0503020204020204" charset="-122"/>
                        <a:ea typeface="微软雅黑" panose="020B0503020204020204" charset="-122"/>
                        <a:cs typeface="仿宋_GB2312" panose="02010609030101010101" charset="-122"/>
                      </a:endParaRPr>
                    </a:p>
                    <a:p>
                      <a:pPr algn="just">
                        <a:buClrTx/>
                        <a:buSzTx/>
                        <a:buFontTx/>
                        <a:buNone/>
                      </a:pPr>
                      <a:r>
                        <a:rPr lang="en-US" sz="1200" b="0" dirty="0">
                          <a:latin typeface="微软雅黑" panose="020B0503020204020204" charset="-122"/>
                          <a:ea typeface="微软雅黑" panose="020B0503020204020204" charset="-122"/>
                          <a:cs typeface="仿宋_GB2312" panose="02010609030101010101" charset="-122"/>
                        </a:rPr>
                        <a:t>（3）勘察、设计单位未按照工程建设强制性标准和国家有关勘察、设计深度要求编制勘察、设计文件，或者重大设计变更未按规定履行变更程序。</a:t>
                      </a:r>
                      <a:endParaRPr lang="en-US" sz="1200" b="0" dirty="0">
                        <a:latin typeface="微软雅黑" panose="020B0503020204020204" charset="-122"/>
                        <a:ea typeface="微软雅黑" panose="020B0503020204020204" charset="-122"/>
                        <a:cs typeface="仿宋_GB2312" panose="02010609030101010101" charset="-122"/>
                      </a:endParaRPr>
                    </a:p>
                    <a:p>
                      <a:pPr algn="just">
                        <a:buClrTx/>
                        <a:buSzTx/>
                        <a:buFontTx/>
                        <a:buNone/>
                      </a:pPr>
                      <a:r>
                        <a:rPr lang="en-US" sz="1200" b="0" dirty="0">
                          <a:latin typeface="微软雅黑" panose="020B0503020204020204" charset="-122"/>
                          <a:ea typeface="微软雅黑" panose="020B0503020204020204" charset="-122"/>
                          <a:cs typeface="仿宋_GB2312" panose="02010609030101010101" charset="-122"/>
                        </a:rPr>
                        <a:t>（4）施工单位在主要建（构）筑物的基础、主体结构、主要设备、承重构件等关键部位施工中偷工减料，或使用不合格的建筑材料、建筑构配件和设备，或有不按照工程设计图纸、施工技术标准施工的其他行为。</a:t>
                      </a:r>
                      <a:endParaRPr lang="en-US" sz="1200" b="0" dirty="0">
                        <a:latin typeface="微软雅黑" panose="020B0503020204020204" charset="-122"/>
                        <a:ea typeface="微软雅黑" panose="020B0503020204020204" charset="-122"/>
                        <a:cs typeface="仿宋_GB2312" panose="02010609030101010101" charset="-122"/>
                      </a:endParaRPr>
                    </a:p>
                    <a:p>
                      <a:pPr algn="just">
                        <a:buClrTx/>
                        <a:buSzTx/>
                        <a:buFontTx/>
                        <a:buNone/>
                      </a:pPr>
                      <a:r>
                        <a:rPr lang="en-US" sz="1200" b="0" dirty="0">
                          <a:latin typeface="微软雅黑" panose="020B0503020204020204" charset="-122"/>
                          <a:ea typeface="微软雅黑" panose="020B0503020204020204" charset="-122"/>
                          <a:cs typeface="仿宋_GB2312" panose="02010609030101010101" charset="-122"/>
                        </a:rPr>
                        <a:t>（5）监理单位与建设单位或者施工单位串通，弄虚作假、降低工程质量；或者虚构、伪造、篡改相关监理记录，未对工程关键部位、重要工序开展检查即签署通过，将不合格的建设工程、建筑材料、建筑构配件和设备按照合格签字。</a:t>
                      </a:r>
                      <a:endParaRPr lang="en-US" sz="1200" b="0" dirty="0">
                        <a:latin typeface="微软雅黑" panose="020B0503020204020204" charset="-122"/>
                        <a:ea typeface="微软雅黑" panose="020B0503020204020204" charset="-122"/>
                        <a:cs typeface="仿宋_GB2312" panose="02010609030101010101" charset="-122"/>
                      </a:endParaRPr>
                    </a:p>
                  </a:txBody>
                  <a:tcPr marL="7620" marR="7620" marT="7620" marB="9525"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r>
              <a:tr h="746139">
                <a:tc>
                  <a:txBody>
                    <a:bodyPr/>
                    <a:lstStyle/>
                    <a:p>
                      <a:pPr algn="ctr">
                        <a:buClrTx/>
                        <a:buSzTx/>
                        <a:buFontTx/>
                        <a:buNone/>
                      </a:pPr>
                      <a:r>
                        <a:rPr lang="en-US" sz="1200" dirty="0">
                          <a:latin typeface="微软雅黑" panose="020B0503020204020204" charset="-122"/>
                          <a:ea typeface="微软雅黑" panose="020B0503020204020204" charset="-122"/>
                          <a:cs typeface="仿宋_GB2312" panose="02010609030101010101" charset="-122"/>
                        </a:rPr>
                        <a:t>JD1-GL-006</a:t>
                      </a:r>
                      <a:endParaRPr lang="en-US" sz="1200" dirty="0">
                        <a:latin typeface="微软雅黑" panose="020B0503020204020204" charset="-122"/>
                        <a:ea typeface="微软雅黑" panose="020B0503020204020204" charset="-122"/>
                        <a:cs typeface="仿宋_GB2312" panose="02010609030101010101" charset="-122"/>
                      </a:endParaRPr>
                    </a:p>
                  </a:txBody>
                  <a:tcPr marL="7620" marR="7620" marT="7620" marB="9525"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E5F0F9"/>
                    </a:solidFill>
                  </a:tcPr>
                </a:tc>
                <a:tc>
                  <a:txBody>
                    <a:bodyPr/>
                    <a:lstStyle/>
                    <a:p>
                      <a:pPr indent="0">
                        <a:buNone/>
                      </a:pPr>
                      <a:r>
                        <a:rPr lang="en-US" sz="1200" b="0" dirty="0" err="1">
                          <a:latin typeface="微软雅黑" panose="020B0503020204020204" charset="-122"/>
                          <a:ea typeface="微软雅黑" panose="020B0503020204020204" charset="-122"/>
                          <a:cs typeface="仿宋_GB2312" panose="02010609030101010101" charset="-122"/>
                        </a:rPr>
                        <a:t>电力建设工程质量管理有下列情形之一的，应判定为Ⅰ级较大事故隐患</a:t>
                      </a:r>
                      <a:r>
                        <a:rPr lang="en-US" sz="1200" b="0" dirty="0">
                          <a:latin typeface="微软雅黑" panose="020B0503020204020204" charset="-122"/>
                          <a:ea typeface="微软雅黑" panose="020B0503020204020204" charset="-122"/>
                          <a:cs typeface="仿宋_GB2312" panose="02010609030101010101" charset="-122"/>
                        </a:rPr>
                        <a:t>：</a:t>
                      </a:r>
                      <a:endParaRPr lang="en-US" sz="1200" b="0" dirty="0">
                        <a:latin typeface="微软雅黑" panose="020B0503020204020204" charset="-122"/>
                        <a:ea typeface="微软雅黑" panose="020B0503020204020204" charset="-122"/>
                        <a:cs typeface="仿宋_GB2312" panose="02010609030101010101" charset="-122"/>
                      </a:endParaRPr>
                    </a:p>
                    <a:p>
                      <a:pPr indent="0">
                        <a:buNone/>
                      </a:pPr>
                      <a:r>
                        <a:rPr lang="en-US" sz="1200" b="0" dirty="0">
                          <a:latin typeface="微软雅黑" panose="020B0503020204020204" charset="-122"/>
                          <a:ea typeface="微软雅黑" panose="020B0503020204020204" charset="-122"/>
                          <a:cs typeface="仿宋_GB2312" panose="02010609030101010101" charset="-122"/>
                        </a:rPr>
                        <a:t>（1）使用危及生产安全施工工艺、设备和材料目录中禁止类的施工工艺、设备和材料。</a:t>
                      </a:r>
                      <a:endParaRPr lang="en-US" sz="1200" b="0" dirty="0">
                        <a:latin typeface="微软雅黑" panose="020B0503020204020204" charset="-122"/>
                        <a:ea typeface="微软雅黑" panose="020B0503020204020204" charset="-122"/>
                        <a:cs typeface="仿宋_GB2312" panose="02010609030101010101" charset="-122"/>
                      </a:endParaRPr>
                    </a:p>
                    <a:p>
                      <a:pPr indent="0">
                        <a:buNone/>
                      </a:pPr>
                      <a:r>
                        <a:rPr lang="en-US" sz="1200" b="0" dirty="0">
                          <a:latin typeface="微软雅黑" panose="020B0503020204020204" charset="-122"/>
                          <a:ea typeface="微软雅黑" panose="020B0503020204020204" charset="-122"/>
                          <a:cs typeface="仿宋_GB2312" panose="02010609030101010101" charset="-122"/>
                        </a:rPr>
                        <a:t>（2）影响工程施工安全的新技术、新工艺、新材料、新设备进入施工现场，未提供企业标准、成果鉴定、检测报告、产品合格证，或未进行专家论证。</a:t>
                      </a:r>
                      <a:endParaRPr lang="en-US" sz="1200" b="0" dirty="0">
                        <a:latin typeface="微软雅黑" panose="020B0503020204020204" charset="-122"/>
                        <a:ea typeface="微软雅黑" panose="020B0503020204020204" charset="-122"/>
                        <a:cs typeface="仿宋_GB2312" panose="02010609030101010101" charset="-122"/>
                      </a:endParaRPr>
                    </a:p>
                  </a:txBody>
                  <a:tcPr marL="7620" marR="7620" marT="7620" marB="9525"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E5F0F9"/>
                    </a:solidFill>
                  </a:tcPr>
                </a:tc>
              </a:tr>
              <a:tr h="594886">
                <a:tc>
                  <a:txBody>
                    <a:bodyPr/>
                    <a:lstStyle/>
                    <a:p>
                      <a:pPr algn="ctr">
                        <a:buClrTx/>
                        <a:buSzTx/>
                        <a:buFontTx/>
                        <a:buNone/>
                      </a:pPr>
                      <a:r>
                        <a:rPr lang="en-US" altLang="en-US" sz="1200" dirty="0">
                          <a:latin typeface="微软雅黑" panose="020B0503020204020204" charset="-122"/>
                          <a:ea typeface="微软雅黑" panose="020B0503020204020204" charset="-122"/>
                          <a:cs typeface="仿宋_GB2312" panose="02010609030101010101" charset="-122"/>
                        </a:rPr>
                        <a:t>JD2-GL-004</a:t>
                      </a:r>
                      <a:endParaRPr lang="en-US" altLang="en-US" sz="1200" dirty="0">
                        <a:latin typeface="微软雅黑" panose="020B0503020204020204" charset="-122"/>
                        <a:ea typeface="微软雅黑" panose="020B0503020204020204" charset="-122"/>
                        <a:cs typeface="仿宋_GB2312" panose="02010609030101010101" charset="-122"/>
                      </a:endParaRPr>
                    </a:p>
                  </a:txBody>
                  <a:tcPr marL="7620" marR="7620" marT="7620" marB="9525"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a:txBody>
                    <a:bodyPr/>
                    <a:lstStyle/>
                    <a:p>
                      <a:pPr indent="0">
                        <a:buNone/>
                      </a:pPr>
                      <a:r>
                        <a:rPr lang="en-US" altLang="en-US" sz="1200" b="0" dirty="0" err="1">
                          <a:latin typeface="微软雅黑" panose="020B0503020204020204" charset="-122"/>
                          <a:ea typeface="微软雅黑" panose="020B0503020204020204" charset="-122"/>
                          <a:cs typeface="仿宋_GB2312" panose="02010609030101010101" charset="-122"/>
                        </a:rPr>
                        <a:t>电力建设工程质量管理有下列情形之一的，应判定为Ⅱ级较大事故隐患</a:t>
                      </a:r>
                      <a:r>
                        <a:rPr lang="en-US" altLang="en-US" sz="1200" b="0" dirty="0">
                          <a:latin typeface="微软雅黑" panose="020B0503020204020204" charset="-122"/>
                          <a:ea typeface="微软雅黑" panose="020B0503020204020204" charset="-122"/>
                          <a:cs typeface="仿宋_GB2312" panose="02010609030101010101" charset="-122"/>
                        </a:rPr>
                        <a:t>：</a:t>
                      </a:r>
                      <a:endParaRPr lang="en-US" altLang="en-US" sz="1200" b="0" dirty="0">
                        <a:latin typeface="微软雅黑" panose="020B0503020204020204" charset="-122"/>
                        <a:ea typeface="微软雅黑" panose="020B0503020204020204" charset="-122"/>
                        <a:cs typeface="仿宋_GB2312" panose="02010609030101010101" charset="-122"/>
                      </a:endParaRPr>
                    </a:p>
                    <a:p>
                      <a:pPr indent="0">
                        <a:buNone/>
                      </a:pPr>
                      <a:r>
                        <a:rPr lang="en-US" altLang="en-US" sz="1200" b="0" dirty="0">
                          <a:latin typeface="微软雅黑" panose="020B0503020204020204" charset="-122"/>
                          <a:ea typeface="微软雅黑" panose="020B0503020204020204" charset="-122"/>
                          <a:cs typeface="仿宋_GB2312" panose="02010609030101010101" charset="-122"/>
                        </a:rPr>
                        <a:t>（1）使用无合格证明的材料、未经进场检验的材料或擅自变更工程材料。</a:t>
                      </a:r>
                      <a:endParaRPr lang="en-US" altLang="en-US" sz="1200" b="0" dirty="0">
                        <a:latin typeface="微软雅黑" panose="020B0503020204020204" charset="-122"/>
                        <a:ea typeface="微软雅黑" panose="020B0503020204020204" charset="-122"/>
                        <a:cs typeface="仿宋_GB2312" panose="02010609030101010101" charset="-122"/>
                      </a:endParaRPr>
                    </a:p>
                    <a:p>
                      <a:pPr indent="0">
                        <a:buNone/>
                      </a:pPr>
                      <a:r>
                        <a:rPr lang="en-US" altLang="en-US" sz="1200" b="0" dirty="0">
                          <a:latin typeface="微软雅黑" panose="020B0503020204020204" charset="-122"/>
                          <a:ea typeface="微软雅黑" panose="020B0503020204020204" charset="-122"/>
                          <a:cs typeface="仿宋_GB2312" panose="02010609030101010101" charset="-122"/>
                        </a:rPr>
                        <a:t>（2）隐蔽工程未经验收合格擅自隐蔽。</a:t>
                      </a:r>
                      <a:endParaRPr lang="en-US" altLang="en-US" sz="1200" b="0" dirty="0">
                        <a:latin typeface="微软雅黑" panose="020B0503020204020204" charset="-122"/>
                        <a:ea typeface="微软雅黑" panose="020B0503020204020204" charset="-122"/>
                        <a:cs typeface="仿宋_GB2312" panose="02010609030101010101" charset="-122"/>
                      </a:endParaRPr>
                    </a:p>
                  </a:txBody>
                  <a:tcPr marL="7620" marR="7620" marT="7620" marB="9525"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r>
            </a:tbl>
          </a:graphicData>
        </a:graphic>
      </p:graphicFrame>
      <p:sp>
        <p:nvSpPr>
          <p:cNvPr id="5" name="文本框 4"/>
          <p:cNvSpPr txBox="1"/>
          <p:nvPr/>
        </p:nvSpPr>
        <p:spPr>
          <a:xfrm>
            <a:off x="250190" y="4890796"/>
            <a:ext cx="11583035" cy="1778564"/>
          </a:xfrm>
          <a:prstGeom prst="rect">
            <a:avLst/>
          </a:prstGeom>
          <a:noFill/>
          <a:ln w="15875" cmpd="sng">
            <a:noFill/>
            <a:prstDash val="sysDash"/>
          </a:ln>
        </p:spPr>
        <p:txBody>
          <a:bodyPr wrap="square" rtlCol="0">
            <a:spAutoFit/>
          </a:bodyPr>
          <a:lstStyle/>
          <a:p>
            <a:pPr indent="0" fontAlgn="auto">
              <a:lnSpc>
                <a:spcPct val="135000"/>
              </a:lnSpc>
              <a:spcBef>
                <a:spcPts val="0"/>
              </a:spcBef>
              <a:spcAft>
                <a:spcPts val="0"/>
              </a:spcAft>
              <a:buFont typeface="Wingdings" panose="05000000000000000000" charset="0"/>
              <a:buNone/>
            </a:pPr>
            <a:r>
              <a:rPr lang="zh-CN" altLang="en-US" sz="1600" b="1" kern="0" dirty="0">
                <a:solidFill>
                  <a:sysClr val="windowText" lastClr="000000"/>
                </a:solidFill>
                <a:latin typeface="微软雅黑" panose="020B0503020204020204" charset="-122"/>
                <a:ea typeface="微软雅黑" panose="020B0503020204020204" charset="-122"/>
                <a:cs typeface="微软雅黑" panose="020B0503020204020204" charset="-122"/>
                <a:sym typeface="+mn-ea"/>
              </a:rPr>
              <a:t>【解读】</a:t>
            </a:r>
            <a:r>
              <a:rPr lang="zh-CN" altLang="en-US" sz="1600" kern="0" dirty="0">
                <a:solidFill>
                  <a:sysClr val="windowText" lastClr="000000"/>
                </a:solidFill>
                <a:latin typeface="微软雅黑" panose="020B0503020204020204" charset="-122"/>
                <a:ea typeface="微软雅黑" panose="020B0503020204020204" charset="-122"/>
                <a:cs typeface="微软雅黑" panose="020B0503020204020204" charset="-122"/>
                <a:sym typeface="+mn-ea"/>
              </a:rPr>
              <a:t>电力建设工程的质量管理是决定电力设施长期安全稳定运行的根基。在建设过程中，若各责任主体（建设、勘察、设计、施工、监理）未履行法定质量责任，使用不合格材料、工艺，或关键工序失控，将导致工程存在结构性缺陷、设备可靠性降低等先天性问题，可能引发设施塌陷、设备故障、系统瘫痪等严重事故，且建成后难以彻底整改。本条款针对电力工程建设全生命周期中的质量监督、设计深度、施工质量、材料设备、工程验收等核心环节，明确了不同责任主体的典型违规情形与判定标准，包括重大隐患标准</a:t>
            </a:r>
            <a:r>
              <a:rPr lang="en-US" altLang="zh-CN" sz="1600" kern="0" dirty="0">
                <a:solidFill>
                  <a:sysClr val="windowText" lastClr="000000"/>
                </a:solidFill>
                <a:latin typeface="微软雅黑" panose="020B0503020204020204" charset="-122"/>
                <a:ea typeface="微软雅黑" panose="020B0503020204020204" charset="-122"/>
                <a:cs typeface="微软雅黑" panose="020B0503020204020204" charset="-122"/>
                <a:sym typeface="+mn-ea"/>
              </a:rPr>
              <a:t>1</a:t>
            </a:r>
            <a:r>
              <a:rPr lang="zh-CN" altLang="en-US" sz="1600" kern="0" dirty="0">
                <a:solidFill>
                  <a:sysClr val="windowText" lastClr="000000"/>
                </a:solidFill>
                <a:latin typeface="微软雅黑" panose="020B0503020204020204" charset="-122"/>
                <a:ea typeface="微软雅黑" panose="020B0503020204020204" charset="-122"/>
                <a:cs typeface="微软雅黑" panose="020B0503020204020204" charset="-122"/>
                <a:sym typeface="+mn-ea"/>
              </a:rPr>
              <a:t>条、Ⅰ级较大隐患</a:t>
            </a:r>
            <a:r>
              <a:rPr lang="en-US" altLang="zh-CN" sz="1600" kern="0" dirty="0">
                <a:solidFill>
                  <a:sysClr val="windowText" lastClr="000000"/>
                </a:solidFill>
                <a:latin typeface="微软雅黑" panose="020B0503020204020204" charset="-122"/>
                <a:ea typeface="微软雅黑" panose="020B0503020204020204" charset="-122"/>
                <a:cs typeface="微软雅黑" panose="020B0503020204020204" charset="-122"/>
                <a:sym typeface="+mn-ea"/>
              </a:rPr>
              <a:t>1</a:t>
            </a:r>
            <a:r>
              <a:rPr lang="zh-CN" altLang="en-US" sz="1600" kern="0" dirty="0">
                <a:solidFill>
                  <a:sysClr val="windowText" lastClr="000000"/>
                </a:solidFill>
                <a:latin typeface="微软雅黑" panose="020B0503020204020204" charset="-122"/>
                <a:ea typeface="微软雅黑" panose="020B0503020204020204" charset="-122"/>
                <a:cs typeface="微软雅黑" panose="020B0503020204020204" charset="-122"/>
                <a:sym typeface="+mn-ea"/>
              </a:rPr>
              <a:t>条、Ⅱ级较大隐患</a:t>
            </a:r>
            <a:r>
              <a:rPr lang="en-US" altLang="zh-CN" sz="1600" kern="0" dirty="0">
                <a:solidFill>
                  <a:sysClr val="windowText" lastClr="000000"/>
                </a:solidFill>
                <a:latin typeface="微软雅黑" panose="020B0503020204020204" charset="-122"/>
                <a:ea typeface="微软雅黑" panose="020B0503020204020204" charset="-122"/>
                <a:cs typeface="微软雅黑" panose="020B0503020204020204" charset="-122"/>
                <a:sym typeface="+mn-ea"/>
              </a:rPr>
              <a:t>1</a:t>
            </a:r>
            <a:r>
              <a:rPr lang="zh-CN" altLang="en-US" sz="1600" kern="0" dirty="0">
                <a:solidFill>
                  <a:sysClr val="windowText" lastClr="000000"/>
                </a:solidFill>
                <a:latin typeface="微软雅黑" panose="020B0503020204020204" charset="-122"/>
                <a:ea typeface="微软雅黑" panose="020B0503020204020204" charset="-122"/>
                <a:cs typeface="微软雅黑" panose="020B0503020204020204" charset="-122"/>
                <a:sym typeface="+mn-ea"/>
              </a:rPr>
              <a:t>条。</a:t>
            </a:r>
            <a:endParaRPr lang="zh-CN" altLang="en-US" sz="1600" kern="0" dirty="0">
              <a:solidFill>
                <a:sysClr val="windowText" lastClr="000000"/>
              </a:solidFill>
              <a:latin typeface="微软雅黑" panose="020B0503020204020204" charset="-122"/>
              <a:ea typeface="微软雅黑" panose="020B0503020204020204" charset="-122"/>
              <a:cs typeface="微软雅黑" panose="020B0503020204020204" charset="-122"/>
              <a:sym typeface="+mn-ea"/>
            </a:endParaRPr>
          </a:p>
        </p:txBody>
      </p:sp>
      <p:sp>
        <p:nvSpPr>
          <p:cNvPr id="4" name="TextBox 8"/>
          <p:cNvSpPr txBox="1"/>
          <p:nvPr/>
        </p:nvSpPr>
        <p:spPr>
          <a:xfrm>
            <a:off x="168335" y="271329"/>
            <a:ext cx="7002524" cy="52197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charset="-122"/>
                <a:ea typeface="微软雅黑" panose="020B0503020204020204" charset="-122"/>
              </a:rPr>
              <a:t>二、</a:t>
            </a:r>
            <a:r>
              <a:rPr lang="zh-CN" altLang="en-US" sz="2800" b="1" dirty="0">
                <a:latin typeface="微软雅黑" panose="020B0503020204020204" charset="-122"/>
                <a:ea typeface="微软雅黑" panose="020B0503020204020204" charset="-122"/>
                <a:sym typeface="+mn-ea"/>
              </a:rPr>
              <a:t>网公司事故隐患判定标准宣贯学习</a:t>
            </a:r>
            <a:endParaRPr lang="zh-CN" altLang="en-US" sz="2800" b="1" dirty="0">
              <a:latin typeface="微软雅黑" panose="020B0503020204020204" charset="-122"/>
              <a:ea typeface="微软雅黑" panose="020B0503020204020204" charset="-122"/>
            </a:endParaRP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4294967295"/>
          </p:nvPr>
        </p:nvSpPr>
        <p:spPr>
          <a:xfrm>
            <a:off x="9997440" y="6499860"/>
            <a:ext cx="2133600" cy="365125"/>
          </a:xfrm>
        </p:spPr>
        <p:txBody>
          <a:bodyPr/>
          <a:lstStyle/>
          <a:p>
            <a:fld id="{A10E9369-8E4E-4DE7-B129-F0280ABC27D7}" type="slidenum">
              <a:rPr lang="zh-CN" altLang="en-US" smtClean="0"/>
            </a:fld>
            <a:endParaRPr lang="zh-CN" altLang="en-US" dirty="0"/>
          </a:p>
        </p:txBody>
      </p:sp>
      <p:sp>
        <p:nvSpPr>
          <p:cNvPr id="8" name="文本框 7"/>
          <p:cNvSpPr txBox="1"/>
          <p:nvPr/>
        </p:nvSpPr>
        <p:spPr>
          <a:xfrm>
            <a:off x="-24680" y="969010"/>
            <a:ext cx="5040000" cy="448945"/>
          </a:xfrm>
          <a:prstGeom prst="rect">
            <a:avLst/>
          </a:prstGeom>
          <a:gradFill>
            <a:gsLst>
              <a:gs pos="66000">
                <a:srgbClr val="054CA4"/>
              </a:gs>
              <a:gs pos="100000">
                <a:srgbClr val="0070C0">
                  <a:alpha val="0"/>
                </a:srgbClr>
              </a:gs>
            </a:gsLst>
            <a:lin ang="0" scaled="0"/>
          </a:gradFill>
          <a:ln w="12700" cap="flat" cmpd="sng" algn="ctr">
            <a:noFill/>
            <a:prstDash val="solid"/>
            <a:miter lim="800000"/>
          </a:ln>
          <a:effectLst/>
        </p:spPr>
        <p:txBody>
          <a:bodyPr rtlCol="0" anchor="ctr"/>
          <a:lstStyle>
            <a:defPPr>
              <a:defRPr lang="zh-CN"/>
            </a:defPPr>
            <a:lvl1pPr>
              <a:defRPr sz="2000" b="1"/>
            </a:lvl1pPr>
            <a:lvl2pPr>
              <a:defRPr>
                <a:solidFill>
                  <a:sysClr val="window" lastClr="FFFFFF"/>
                </a:solidFill>
              </a:defRPr>
            </a:lvl2pPr>
            <a:lvl3pPr>
              <a:defRPr>
                <a:solidFill>
                  <a:sysClr val="window" lastClr="FFFFFF"/>
                </a:solidFill>
              </a:defRPr>
            </a:lvl3pPr>
            <a:lvl4pPr>
              <a:defRPr>
                <a:solidFill>
                  <a:sysClr val="window" lastClr="FFFFFF"/>
                </a:solidFill>
              </a:defRPr>
            </a:lvl4pPr>
            <a:lvl5pPr>
              <a:defRPr>
                <a:solidFill>
                  <a:sysClr val="window" lastClr="FFFFFF"/>
                </a:solidFill>
              </a:defRPr>
            </a:lvl5pPr>
            <a:lvl6pPr>
              <a:defRPr>
                <a:solidFill>
                  <a:sysClr val="window" lastClr="FFFFFF"/>
                </a:solidFill>
              </a:defRPr>
            </a:lvl6pPr>
            <a:lvl7pPr>
              <a:defRPr>
                <a:solidFill>
                  <a:sysClr val="window" lastClr="FFFFFF"/>
                </a:solidFill>
              </a:defRPr>
            </a:lvl7pPr>
            <a:lvl8pPr>
              <a:defRPr>
                <a:solidFill>
                  <a:sysClr val="window" lastClr="FFFFFF"/>
                </a:solidFill>
              </a:defRPr>
            </a:lvl8pPr>
            <a:lvl9pPr>
              <a:defRPr>
                <a:solidFill>
                  <a:sysClr val="window" lastClr="FFFFFF"/>
                </a:solidFill>
              </a:defRPr>
            </a:lvl9pPr>
          </a:lstStyle>
          <a:p>
            <a:pPr algn="l" fontAlgn="auto">
              <a:buClrTx/>
              <a:buSzTx/>
              <a:buFontTx/>
              <a:defRPr/>
            </a:pPr>
            <a:r>
              <a:rPr lang="zh-CN" altLang="en-US" dirty="0">
                <a:solidFill>
                  <a:schemeClr val="bg1"/>
                </a:solidFill>
                <a:latin typeface="微软雅黑" panose="020B0503020204020204" charset="-122"/>
                <a:ea typeface="微软雅黑" panose="020B0503020204020204" charset="-122"/>
                <a:sym typeface="+mn-ea"/>
              </a:rPr>
              <a:t> （四）安全管理隐患</a:t>
            </a:r>
            <a:endParaRPr lang="zh-CN" altLang="en-US" dirty="0">
              <a:solidFill>
                <a:schemeClr val="bg1"/>
              </a:solidFill>
              <a:latin typeface="微软雅黑" panose="020B0503020204020204" charset="-122"/>
              <a:ea typeface="微软雅黑" panose="020B0503020204020204" charset="-122"/>
              <a:sym typeface="+mn-ea"/>
            </a:endParaRPr>
          </a:p>
        </p:txBody>
      </p:sp>
      <p:graphicFrame>
        <p:nvGraphicFramePr>
          <p:cNvPr id="11" name="表格 10"/>
          <p:cNvGraphicFramePr/>
          <p:nvPr>
            <p:custDataLst>
              <p:tags r:id="rId1"/>
            </p:custDataLst>
          </p:nvPr>
        </p:nvGraphicFramePr>
        <p:xfrm>
          <a:off x="334962" y="1640982"/>
          <a:ext cx="11522075" cy="2436090"/>
        </p:xfrm>
        <a:graphic>
          <a:graphicData uri="http://schemas.openxmlformats.org/drawingml/2006/table">
            <a:tbl>
              <a:tblPr firstRow="1">
                <a:effectLst/>
                <a:tableStyleId>{5940675A-B579-460E-94D1-54222C63F5DA}</a:tableStyleId>
              </a:tblPr>
              <a:tblGrid>
                <a:gridCol w="1530384"/>
                <a:gridCol w="9991691"/>
              </a:tblGrid>
              <a:tr h="504190">
                <a:tc>
                  <a:txBody>
                    <a:bodyPr/>
                    <a:lstStyle/>
                    <a:p>
                      <a:pPr algn="ctr" fontAlgn="ctr">
                        <a:lnSpc>
                          <a:spcPct val="110000"/>
                        </a:lnSpc>
                        <a:buNone/>
                      </a:pPr>
                      <a:r>
                        <a:rPr lang="zh-CN" altLang="en-US" sz="1400" b="1" dirty="0">
                          <a:solidFill>
                            <a:sysClr val="window" lastClr="FFFFFF"/>
                          </a:solidFill>
                          <a:latin typeface="微软雅黑" panose="020B0503020204020204" charset="-122"/>
                          <a:ea typeface="微软雅黑" panose="020B0503020204020204" charset="-122"/>
                          <a:sym typeface="宋体" panose="02010600030101010101" pitchFamily="2" charset="-122"/>
                        </a:rPr>
                        <a:t>条款编码</a:t>
                      </a:r>
                      <a:endParaRPr lang="zh-CN" altLang="en-US" sz="1400" b="1" dirty="0">
                        <a:solidFill>
                          <a:sysClr val="window" lastClr="FFFFFF"/>
                        </a:solidFill>
                        <a:latin typeface="微软雅黑" panose="020B0503020204020204" charset="-122"/>
                        <a:ea typeface="微软雅黑" panose="020B0503020204020204" charset="-122"/>
                        <a:sym typeface="宋体" panose="02010600030101010101" pitchFamily="2" charset="-122"/>
                      </a:endParaRPr>
                    </a:p>
                  </a:txBody>
                  <a:tcPr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c>
                  <a:txBody>
                    <a:bodyPr/>
                    <a:lstStyle/>
                    <a:p>
                      <a:pPr algn="ctr" fontAlgn="ctr">
                        <a:lnSpc>
                          <a:spcPct val="110000"/>
                        </a:lnSpc>
                        <a:buNone/>
                      </a:pPr>
                      <a:r>
                        <a:rPr lang="zh-CN" altLang="en-US" sz="1400" b="1" dirty="0">
                          <a:solidFill>
                            <a:sysClr val="window" lastClr="FFFFFF"/>
                          </a:solidFill>
                          <a:latin typeface="微软雅黑" panose="020B0503020204020204" charset="-122"/>
                          <a:ea typeface="微软雅黑" panose="020B0503020204020204" charset="-122"/>
                        </a:rPr>
                        <a:t>条款内容</a:t>
                      </a:r>
                      <a:endParaRPr lang="zh-CN" altLang="en-US" sz="1400" b="1" dirty="0">
                        <a:solidFill>
                          <a:sysClr val="window" lastClr="FFFFFF"/>
                        </a:solidFill>
                        <a:latin typeface="微软雅黑" panose="020B0503020204020204" charset="-122"/>
                        <a:ea typeface="微软雅黑" panose="020B0503020204020204" charset="-122"/>
                      </a:endParaRPr>
                    </a:p>
                  </a:txBody>
                  <a:tcPr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r>
              <a:tr h="644030">
                <a:tc>
                  <a:txBody>
                    <a:bodyPr/>
                    <a:lstStyle/>
                    <a:p>
                      <a:pPr algn="ctr">
                        <a:buClrTx/>
                        <a:buSzTx/>
                        <a:buFontTx/>
                        <a:buNone/>
                      </a:pPr>
                      <a:r>
                        <a:rPr lang="en-US" sz="1400" dirty="0">
                          <a:latin typeface="微软雅黑" panose="020B0503020204020204" charset="-122"/>
                          <a:ea typeface="微软雅黑" panose="020B0503020204020204" charset="-122"/>
                          <a:cs typeface="仿宋_GB2312" panose="02010609030101010101" charset="-122"/>
                        </a:rPr>
                        <a:t>JD2-GL-003</a:t>
                      </a:r>
                      <a:endParaRPr lang="en-US" sz="1400" dirty="0">
                        <a:latin typeface="微软雅黑" panose="020B0503020204020204" charset="-122"/>
                        <a:ea typeface="微软雅黑" panose="020B0503020204020204" charset="-122"/>
                        <a:cs typeface="仿宋_GB2312" panose="02010609030101010101" charset="-122"/>
                      </a:endParaRPr>
                    </a:p>
                  </a:txBody>
                  <a:tcPr marL="7620" marR="7620" marT="7620" marB="9525"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a:txBody>
                    <a:bodyPr/>
                    <a:lstStyle/>
                    <a:p>
                      <a:pPr indent="0">
                        <a:buNone/>
                      </a:pPr>
                      <a:r>
                        <a:rPr lang="en-US" sz="1400" b="0" dirty="0">
                          <a:latin typeface="微软雅黑" panose="020B0503020204020204" charset="-122"/>
                          <a:ea typeface="微软雅黑" panose="020B0503020204020204" charset="-122"/>
                          <a:cs typeface="仿宋_GB2312" panose="02010609030101010101" charset="-122"/>
                        </a:rPr>
                        <a:t>10千伏以上35千伏以下配电房、开关站、箱式变电站竣工图纸或信息化图纸存在开关、刀闸、接地类设备的接线方式与实际不一致，二次图纸中涉及电流、电压、控制回路等关键回路与实际不一致的。</a:t>
                      </a:r>
                      <a:endParaRPr lang="en-US" sz="1400" b="0" dirty="0">
                        <a:latin typeface="微软雅黑" panose="020B0503020204020204" charset="-122"/>
                        <a:ea typeface="微软雅黑" panose="020B0503020204020204" charset="-122"/>
                        <a:cs typeface="仿宋_GB2312" panose="02010609030101010101" charset="-122"/>
                      </a:endParaRPr>
                    </a:p>
                  </a:txBody>
                  <a:tcPr marL="7620" marR="7620" marT="7620" marB="9525"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r>
            </a:tbl>
          </a:graphicData>
        </a:graphic>
      </p:graphicFrame>
      <p:sp>
        <p:nvSpPr>
          <p:cNvPr id="5" name="文本框 4"/>
          <p:cNvSpPr txBox="1"/>
          <p:nvPr/>
        </p:nvSpPr>
        <p:spPr>
          <a:xfrm>
            <a:off x="214311" y="3282305"/>
            <a:ext cx="11602085" cy="1198880"/>
          </a:xfrm>
          <a:prstGeom prst="rect">
            <a:avLst/>
          </a:prstGeom>
          <a:noFill/>
          <a:ln w="15875" cmpd="sng">
            <a:noFill/>
            <a:prstDash val="sysDash"/>
          </a:ln>
        </p:spPr>
        <p:txBody>
          <a:bodyPr wrap="square" rtlCol="0">
            <a:spAutoFit/>
          </a:bodyPr>
          <a:lstStyle/>
          <a:p>
            <a:pPr indent="0" fontAlgn="auto">
              <a:lnSpc>
                <a:spcPct val="150000"/>
              </a:lnSpc>
              <a:spcBef>
                <a:spcPts val="0"/>
              </a:spcBef>
              <a:spcAft>
                <a:spcPts val="0"/>
              </a:spcAft>
              <a:buFont typeface="Wingdings" panose="05000000000000000000" charset="0"/>
              <a:buNone/>
            </a:pPr>
            <a:r>
              <a:rPr lang="zh-CN" altLang="en-US" sz="1600" b="1" kern="0" dirty="0">
                <a:solidFill>
                  <a:sysClr val="windowText" lastClr="000000"/>
                </a:solidFill>
                <a:latin typeface="微软雅黑" panose="020B0503020204020204" charset="-122"/>
                <a:ea typeface="微软雅黑" panose="020B0503020204020204" charset="-122"/>
                <a:cs typeface="微软雅黑" panose="020B0503020204020204" charset="-122"/>
                <a:sym typeface="+mn-ea"/>
              </a:rPr>
              <a:t>【解读】</a:t>
            </a:r>
            <a:r>
              <a:rPr lang="zh-CN" altLang="en-US" sz="1600" kern="0" dirty="0">
                <a:solidFill>
                  <a:sysClr val="windowText" lastClr="000000"/>
                </a:solidFill>
                <a:latin typeface="微软雅黑" panose="020B0503020204020204" charset="-122"/>
                <a:ea typeface="微软雅黑" panose="020B0503020204020204" charset="-122"/>
                <a:cs typeface="微软雅黑" panose="020B0503020204020204" charset="-122"/>
                <a:sym typeface="+mn-ea"/>
              </a:rPr>
              <a:t>配电房等电力设施的竣工图纸（包括一次接线图、二次回路图等）是设备运行、倒闸操作、故障检修和系统扩建的依据。图纸与现场实际情况不一致，可能导致运行人员误判系统状态、误操作带电设备，或使保护装置、测量仪表在故障时无法正确动作，极易引发人身触电、设备损坏乃至电网事故。本条款明确将</a:t>
            </a:r>
            <a:r>
              <a:rPr lang="en-US" altLang="zh-CN" sz="1600" kern="0" dirty="0">
                <a:solidFill>
                  <a:sysClr val="windowText" lastClr="000000"/>
                </a:solidFill>
                <a:latin typeface="微软雅黑" panose="020B0503020204020204" charset="-122"/>
                <a:ea typeface="微软雅黑" panose="020B0503020204020204" charset="-122"/>
                <a:cs typeface="微软雅黑" panose="020B0503020204020204" charset="-122"/>
                <a:sym typeface="+mn-ea"/>
              </a:rPr>
              <a:t>“</a:t>
            </a:r>
            <a:r>
              <a:rPr lang="zh-CN" altLang="en-US" sz="1600" kern="0" dirty="0">
                <a:solidFill>
                  <a:sysClr val="windowText" lastClr="000000"/>
                </a:solidFill>
                <a:latin typeface="微软雅黑" panose="020B0503020204020204" charset="-122"/>
                <a:ea typeface="微软雅黑" panose="020B0503020204020204" charset="-122"/>
                <a:cs typeface="微软雅黑" panose="020B0503020204020204" charset="-122"/>
                <a:sym typeface="+mn-ea"/>
              </a:rPr>
              <a:t>图纸与实物不符</a:t>
            </a:r>
            <a:r>
              <a:rPr lang="en-US" altLang="zh-CN" sz="1600" kern="0" dirty="0">
                <a:solidFill>
                  <a:sysClr val="windowText" lastClr="000000"/>
                </a:solidFill>
                <a:latin typeface="微软雅黑" panose="020B0503020204020204" charset="-122"/>
                <a:ea typeface="微软雅黑" panose="020B0503020204020204" charset="-122"/>
                <a:cs typeface="微软雅黑" panose="020B0503020204020204" charset="-122"/>
                <a:sym typeface="+mn-ea"/>
              </a:rPr>
              <a:t>”</a:t>
            </a:r>
            <a:r>
              <a:rPr lang="zh-CN" altLang="en-US" sz="1600" kern="0" dirty="0">
                <a:solidFill>
                  <a:sysClr val="windowText" lastClr="000000"/>
                </a:solidFill>
                <a:latin typeface="微软雅黑" panose="020B0503020204020204" charset="-122"/>
                <a:ea typeface="微软雅黑" panose="020B0503020204020204" charset="-122"/>
                <a:cs typeface="微软雅黑" panose="020B0503020204020204" charset="-122"/>
                <a:sym typeface="+mn-ea"/>
              </a:rPr>
              <a:t>这一普遍但风险极高的问题。</a:t>
            </a:r>
            <a:endParaRPr lang="zh-CN" altLang="en-US" sz="1600" kern="0" dirty="0">
              <a:solidFill>
                <a:sysClr val="windowText" lastClr="000000"/>
              </a:solidFill>
              <a:latin typeface="微软雅黑" panose="020B0503020204020204" charset="-122"/>
              <a:ea typeface="微软雅黑" panose="020B0503020204020204" charset="-122"/>
              <a:cs typeface="微软雅黑" panose="020B0503020204020204" charset="-122"/>
              <a:sym typeface="+mn-ea"/>
            </a:endParaRPr>
          </a:p>
        </p:txBody>
      </p:sp>
      <p:sp>
        <p:nvSpPr>
          <p:cNvPr id="4" name="TextBox 8"/>
          <p:cNvSpPr txBox="1"/>
          <p:nvPr/>
        </p:nvSpPr>
        <p:spPr>
          <a:xfrm>
            <a:off x="168335" y="271329"/>
            <a:ext cx="7002524" cy="52197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charset="-122"/>
                <a:ea typeface="微软雅黑" panose="020B0503020204020204" charset="-122"/>
              </a:rPr>
              <a:t>二、</a:t>
            </a:r>
            <a:r>
              <a:rPr lang="zh-CN" altLang="en-US" sz="2800" b="1" dirty="0">
                <a:latin typeface="微软雅黑" panose="020B0503020204020204" charset="-122"/>
                <a:ea typeface="微软雅黑" panose="020B0503020204020204" charset="-122"/>
                <a:sym typeface="+mn-ea"/>
              </a:rPr>
              <a:t>网公司事故隐患判定标准宣贯学习</a:t>
            </a:r>
            <a:endParaRPr lang="zh-CN" altLang="en-US" sz="2800" b="1" dirty="0">
              <a:latin typeface="微软雅黑" panose="020B0503020204020204" charset="-122"/>
              <a:ea typeface="微软雅黑" panose="020B0503020204020204" charset="-122"/>
            </a:endParaRP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4294967295"/>
          </p:nvPr>
        </p:nvSpPr>
        <p:spPr>
          <a:xfrm>
            <a:off x="9997440" y="6499860"/>
            <a:ext cx="2133600" cy="365125"/>
          </a:xfrm>
        </p:spPr>
        <p:txBody>
          <a:bodyPr/>
          <a:lstStyle/>
          <a:p>
            <a:fld id="{A10E9369-8E4E-4DE7-B129-F0280ABC27D7}" type="slidenum">
              <a:rPr lang="zh-CN" altLang="en-US" smtClean="0"/>
            </a:fld>
            <a:endParaRPr lang="zh-CN" altLang="en-US" dirty="0"/>
          </a:p>
        </p:txBody>
      </p:sp>
      <p:sp>
        <p:nvSpPr>
          <p:cNvPr id="8" name="文本框 7"/>
          <p:cNvSpPr txBox="1"/>
          <p:nvPr/>
        </p:nvSpPr>
        <p:spPr>
          <a:xfrm>
            <a:off x="-24680" y="969010"/>
            <a:ext cx="5040000" cy="448945"/>
          </a:xfrm>
          <a:prstGeom prst="rect">
            <a:avLst/>
          </a:prstGeom>
          <a:gradFill>
            <a:gsLst>
              <a:gs pos="66000">
                <a:srgbClr val="054CA4"/>
              </a:gs>
              <a:gs pos="100000">
                <a:srgbClr val="0070C0">
                  <a:alpha val="0"/>
                </a:srgbClr>
              </a:gs>
            </a:gsLst>
            <a:lin ang="0" scaled="0"/>
          </a:gradFill>
          <a:ln w="12700" cap="flat" cmpd="sng" algn="ctr">
            <a:noFill/>
            <a:prstDash val="solid"/>
            <a:miter lim="800000"/>
          </a:ln>
          <a:effectLst/>
        </p:spPr>
        <p:txBody>
          <a:bodyPr rtlCol="0" anchor="ctr"/>
          <a:lstStyle>
            <a:defPPr>
              <a:defRPr lang="zh-CN"/>
            </a:defPPr>
            <a:lvl1pPr>
              <a:defRPr sz="2000" b="1"/>
            </a:lvl1pPr>
            <a:lvl2pPr>
              <a:defRPr>
                <a:solidFill>
                  <a:sysClr val="window" lastClr="FFFFFF"/>
                </a:solidFill>
              </a:defRPr>
            </a:lvl2pPr>
            <a:lvl3pPr>
              <a:defRPr>
                <a:solidFill>
                  <a:sysClr val="window" lastClr="FFFFFF"/>
                </a:solidFill>
              </a:defRPr>
            </a:lvl3pPr>
            <a:lvl4pPr>
              <a:defRPr>
                <a:solidFill>
                  <a:sysClr val="window" lastClr="FFFFFF"/>
                </a:solidFill>
              </a:defRPr>
            </a:lvl4pPr>
            <a:lvl5pPr>
              <a:defRPr>
                <a:solidFill>
                  <a:sysClr val="window" lastClr="FFFFFF"/>
                </a:solidFill>
              </a:defRPr>
            </a:lvl5pPr>
            <a:lvl6pPr>
              <a:defRPr>
                <a:solidFill>
                  <a:sysClr val="window" lastClr="FFFFFF"/>
                </a:solidFill>
              </a:defRPr>
            </a:lvl6pPr>
            <a:lvl7pPr>
              <a:defRPr>
                <a:solidFill>
                  <a:sysClr val="window" lastClr="FFFFFF"/>
                </a:solidFill>
              </a:defRPr>
            </a:lvl7pPr>
            <a:lvl8pPr>
              <a:defRPr>
                <a:solidFill>
                  <a:sysClr val="window" lastClr="FFFFFF"/>
                </a:solidFill>
              </a:defRPr>
            </a:lvl8pPr>
            <a:lvl9pPr>
              <a:defRPr>
                <a:solidFill>
                  <a:sysClr val="window" lastClr="FFFFFF"/>
                </a:solidFill>
              </a:defRPr>
            </a:lvl9pPr>
          </a:lstStyle>
          <a:p>
            <a:pPr algn="l" fontAlgn="auto">
              <a:buClrTx/>
              <a:buSzTx/>
              <a:buFontTx/>
              <a:defRPr/>
            </a:pPr>
            <a:r>
              <a:rPr lang="zh-CN" altLang="en-US" dirty="0">
                <a:solidFill>
                  <a:schemeClr val="bg1"/>
                </a:solidFill>
                <a:latin typeface="微软雅黑" panose="020B0503020204020204" charset="-122"/>
                <a:ea typeface="微软雅黑" panose="020B0503020204020204" charset="-122"/>
                <a:sym typeface="+mn-ea"/>
              </a:rPr>
              <a:t> （五）其他安全隐患</a:t>
            </a:r>
            <a:endParaRPr lang="zh-CN" altLang="en-US" dirty="0">
              <a:solidFill>
                <a:schemeClr val="bg1"/>
              </a:solidFill>
              <a:latin typeface="微软雅黑" panose="020B0503020204020204" charset="-122"/>
              <a:ea typeface="微软雅黑" panose="020B0503020204020204" charset="-122"/>
              <a:sym typeface="+mn-ea"/>
            </a:endParaRPr>
          </a:p>
        </p:txBody>
      </p:sp>
      <p:sp>
        <p:nvSpPr>
          <p:cNvPr id="13" name="文本框 12"/>
          <p:cNvSpPr txBox="1"/>
          <p:nvPr/>
        </p:nvSpPr>
        <p:spPr>
          <a:xfrm>
            <a:off x="241935" y="3861048"/>
            <a:ext cx="11645265" cy="1557020"/>
          </a:xfrm>
          <a:prstGeom prst="rect">
            <a:avLst/>
          </a:prstGeom>
          <a:noFill/>
          <a:ln w="15875" cmpd="sng">
            <a:noFill/>
            <a:prstDash val="sysDash"/>
          </a:ln>
        </p:spPr>
        <p:txBody>
          <a:bodyPr wrap="square" rtlCol="0">
            <a:noAutofit/>
          </a:bodyPr>
          <a:lstStyle/>
          <a:p>
            <a:pPr indent="0" fontAlgn="auto">
              <a:lnSpc>
                <a:spcPct val="150000"/>
              </a:lnSpc>
              <a:spcBef>
                <a:spcPts val="0"/>
              </a:spcBef>
              <a:spcAft>
                <a:spcPts val="0"/>
              </a:spcAft>
              <a:buFont typeface="Wingdings" panose="05000000000000000000" charset="0"/>
              <a:buNone/>
            </a:pPr>
            <a:r>
              <a:rPr lang="zh-CN" altLang="en-US" sz="1600" b="1" kern="0" dirty="0">
                <a:solidFill>
                  <a:schemeClr val="tx1"/>
                </a:solidFill>
                <a:latin typeface="微软雅黑" panose="020B0503020204020204" charset="-122"/>
                <a:ea typeface="微软雅黑" panose="020B0503020204020204" charset="-122"/>
                <a:sym typeface="+mn-ea"/>
              </a:rPr>
              <a:t>【解读】</a:t>
            </a:r>
            <a:r>
              <a:rPr sz="1600" kern="0" dirty="0">
                <a:solidFill>
                  <a:sysClr val="windowText" lastClr="000000"/>
                </a:solidFill>
                <a:latin typeface="微软雅黑" panose="020B0503020204020204" charset="-122"/>
                <a:ea typeface="微软雅黑" panose="020B0503020204020204" charset="-122"/>
                <a:cs typeface="微软雅黑" panose="020B0503020204020204" charset="-122"/>
                <a:sym typeface="+mn-ea"/>
              </a:rPr>
              <a:t>依据《民用建筑可靠性鉴定标准》该标准将房屋安全性鉴定等级划分为Asu、Bsu、Csu、Dsu四个等级，分别对应完好房屋、基本完好、一般损坏、严重损坏（危险房屋），Dsu表示房屋结构承载力严重不足，存在整体安全隐患，随时可能发生安全事故。依据《危险房屋鉴定标准》危险性鉴定等级分为A、B、C、D四级，其中：D级意味着承重结构已不能满足安全使用要求，房屋整体处于危险状态，构成整幢危房。D级是危险程度最高的等级，一般应整体拆除</a:t>
            </a:r>
            <a:r>
              <a:rPr lang="zh-CN" sz="1600" kern="0" dirty="0">
                <a:solidFill>
                  <a:sysClr val="windowText" lastClr="000000"/>
                </a:solidFill>
                <a:latin typeface="微软雅黑" panose="020B0503020204020204" charset="-122"/>
                <a:ea typeface="微软雅黑" panose="020B0503020204020204" charset="-122"/>
                <a:cs typeface="微软雅黑" panose="020B0503020204020204" charset="-122"/>
                <a:sym typeface="+mn-ea"/>
              </a:rPr>
              <a:t>，防止发生群死群伤或造成重大经济损失。</a:t>
            </a:r>
            <a:endParaRPr lang="zh-CN" sz="1600" kern="0" dirty="0">
              <a:solidFill>
                <a:sysClr val="windowText" lastClr="000000"/>
              </a:solidFill>
              <a:latin typeface="微软雅黑" panose="020B0503020204020204" charset="-122"/>
              <a:ea typeface="微软雅黑" panose="020B0503020204020204" charset="-122"/>
              <a:cs typeface="微软雅黑" panose="020B0503020204020204" charset="-122"/>
              <a:sym typeface="+mn-ea"/>
            </a:endParaRPr>
          </a:p>
        </p:txBody>
      </p:sp>
      <p:graphicFrame>
        <p:nvGraphicFramePr>
          <p:cNvPr id="11" name="表格 10"/>
          <p:cNvGraphicFramePr/>
          <p:nvPr>
            <p:custDataLst>
              <p:tags r:id="rId1"/>
            </p:custDataLst>
          </p:nvPr>
        </p:nvGraphicFramePr>
        <p:xfrm>
          <a:off x="334963" y="1628800"/>
          <a:ext cx="11522075" cy="2057514"/>
        </p:xfrm>
        <a:graphic>
          <a:graphicData uri="http://schemas.openxmlformats.org/drawingml/2006/table">
            <a:tbl>
              <a:tblPr firstRow="1">
                <a:effectLst/>
                <a:tableStyleId>{5940675A-B579-460E-94D1-54222C63F5DA}</a:tableStyleId>
              </a:tblPr>
              <a:tblGrid>
                <a:gridCol w="1399768"/>
                <a:gridCol w="10122307"/>
              </a:tblGrid>
              <a:tr h="504000">
                <a:tc>
                  <a:txBody>
                    <a:bodyPr/>
                    <a:lstStyle/>
                    <a:p>
                      <a:pPr algn="ctr" fontAlgn="ctr">
                        <a:lnSpc>
                          <a:spcPct val="100000"/>
                        </a:lnSpc>
                        <a:buNone/>
                      </a:pPr>
                      <a:r>
                        <a:rPr lang="zh-CN" altLang="en-US" sz="1400" b="1" dirty="0">
                          <a:solidFill>
                            <a:sysClr val="window" lastClr="FFFFFF"/>
                          </a:solidFill>
                          <a:latin typeface="微软雅黑" panose="020B0503020204020204" charset="-122"/>
                          <a:ea typeface="微软雅黑" panose="020B0503020204020204" charset="-122"/>
                          <a:sym typeface="宋体" panose="02010600030101010101" pitchFamily="2" charset="-122"/>
                        </a:rPr>
                        <a:t>条款编码</a:t>
                      </a:r>
                      <a:endParaRPr lang="zh-CN" altLang="en-US" sz="1400" b="1" dirty="0">
                        <a:solidFill>
                          <a:sysClr val="window" lastClr="FFFFFF"/>
                        </a:solidFill>
                        <a:latin typeface="微软雅黑" panose="020B0503020204020204" charset="-122"/>
                        <a:ea typeface="微软雅黑" panose="020B0503020204020204" charset="-122"/>
                        <a:sym typeface="宋体" panose="02010600030101010101" pitchFamily="2" charset="-122"/>
                      </a:endParaRPr>
                    </a:p>
                  </a:txBody>
                  <a:tcPr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c>
                  <a:txBody>
                    <a:bodyPr/>
                    <a:lstStyle/>
                    <a:p>
                      <a:pPr algn="ctr" fontAlgn="ctr">
                        <a:lnSpc>
                          <a:spcPct val="100000"/>
                        </a:lnSpc>
                        <a:buNone/>
                      </a:pPr>
                      <a:r>
                        <a:rPr lang="zh-CN" altLang="en-US" sz="1400" b="1" dirty="0">
                          <a:solidFill>
                            <a:sysClr val="window" lastClr="FFFFFF"/>
                          </a:solidFill>
                          <a:latin typeface="微软雅黑" panose="020B0503020204020204" charset="-122"/>
                          <a:ea typeface="微软雅黑" panose="020B0503020204020204" charset="-122"/>
                        </a:rPr>
                        <a:t>条款内容</a:t>
                      </a:r>
                      <a:endParaRPr lang="zh-CN" altLang="en-US" sz="1400" b="1" dirty="0">
                        <a:solidFill>
                          <a:sysClr val="window" lastClr="FFFFFF"/>
                        </a:solidFill>
                        <a:latin typeface="微软雅黑" panose="020B0503020204020204" charset="-122"/>
                        <a:ea typeface="微软雅黑" panose="020B0503020204020204" charset="-122"/>
                      </a:endParaRPr>
                    </a:p>
                  </a:txBody>
                  <a:tcPr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r>
              <a:tr h="782715">
                <a:tc>
                  <a:txBody>
                    <a:bodyPr/>
                    <a:lstStyle/>
                    <a:p>
                      <a:pPr indent="0" algn="ctr">
                        <a:lnSpc>
                          <a:spcPct val="150000"/>
                        </a:lnSpc>
                        <a:buNone/>
                      </a:pPr>
                      <a:r>
                        <a:rPr lang="en-US" sz="1400" b="1" dirty="0">
                          <a:solidFill>
                            <a:schemeClr val="tx1"/>
                          </a:solidFill>
                          <a:latin typeface="微软雅黑" panose="020B0503020204020204" charset="-122"/>
                          <a:ea typeface="微软雅黑" panose="020B0503020204020204" charset="-122"/>
                          <a:cs typeface="仿宋_GB2312" panose="02010609030101010101" charset="-122"/>
                        </a:rPr>
                        <a:t>ZD-QT-005</a:t>
                      </a:r>
                      <a:endParaRPr lang="en-US" sz="1400" b="1" dirty="0">
                        <a:solidFill>
                          <a:schemeClr val="tx1"/>
                        </a:solidFill>
                        <a:latin typeface="微软雅黑" panose="020B0503020204020204" charset="-122"/>
                        <a:ea typeface="微软雅黑" panose="020B0503020204020204" charset="-122"/>
                        <a:cs typeface="仿宋_GB2312" panose="02010609030101010101" charset="-122"/>
                      </a:endParaRPr>
                    </a:p>
                  </a:txBody>
                  <a:tcPr marL="7620" marR="7620" marT="7620" marB="9525"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a:txBody>
                    <a:bodyPr/>
                    <a:lstStyle/>
                    <a:p>
                      <a:pPr indent="0">
                        <a:lnSpc>
                          <a:spcPct val="150000"/>
                        </a:lnSpc>
                        <a:buNone/>
                      </a:pPr>
                      <a:r>
                        <a:rPr lang="en-US" sz="1400" b="0" dirty="0" err="1">
                          <a:solidFill>
                            <a:schemeClr val="tx1"/>
                          </a:solidFill>
                          <a:latin typeface="微软雅黑" panose="020B0503020204020204" charset="-122"/>
                          <a:ea typeface="微软雅黑" panose="020B0503020204020204" charset="-122"/>
                          <a:cs typeface="微软雅黑" panose="020B0503020204020204" charset="-122"/>
                        </a:rPr>
                        <a:t>公司资产的生产、生活、办公用房等建筑物有下列情形之一的，应判定为重大事故隐患</a:t>
                      </a:r>
                      <a:r>
                        <a:rPr lang="en-US" sz="1400" b="0" dirty="0">
                          <a:solidFill>
                            <a:schemeClr val="tx1"/>
                          </a:solidFill>
                          <a:latin typeface="微软雅黑" panose="020B0503020204020204" charset="-122"/>
                          <a:ea typeface="微软雅黑" panose="020B0503020204020204" charset="-122"/>
                          <a:cs typeface="微软雅黑" panose="020B0503020204020204" charset="-122"/>
                        </a:rPr>
                        <a:t>：（1）安全性鉴定结果为Dsu（《</a:t>
                      </a:r>
                      <a:r>
                        <a:rPr lang="en-US" sz="1400" b="0" dirty="0" err="1">
                          <a:solidFill>
                            <a:schemeClr val="tx1"/>
                          </a:solidFill>
                          <a:latin typeface="微软雅黑" panose="020B0503020204020204" charset="-122"/>
                          <a:ea typeface="微软雅黑" panose="020B0503020204020204" charset="-122"/>
                          <a:cs typeface="微软雅黑" panose="020B0503020204020204" charset="-122"/>
                        </a:rPr>
                        <a:t>民用建筑可靠性鉴定标准</a:t>
                      </a:r>
                      <a:r>
                        <a:rPr lang="en-US" sz="1400" b="0" dirty="0">
                          <a:solidFill>
                            <a:schemeClr val="tx1"/>
                          </a:solidFill>
                          <a:latin typeface="微软雅黑" panose="020B0503020204020204" charset="-122"/>
                          <a:ea typeface="微软雅黑" panose="020B0503020204020204" charset="-122"/>
                          <a:cs typeface="微软雅黑" panose="020B0503020204020204" charset="-122"/>
                        </a:rPr>
                        <a:t>》）（2）由房屋质量检测鉴定机构鉴定为D级（整体危险等级）危房的建筑物。</a:t>
                      </a:r>
                      <a:endParaRPr lang="en-US" sz="1400" b="0" dirty="0">
                        <a:solidFill>
                          <a:schemeClr val="tx1"/>
                        </a:solidFill>
                        <a:latin typeface="微软雅黑" panose="020B0503020204020204" charset="-122"/>
                        <a:ea typeface="微软雅黑" panose="020B0503020204020204" charset="-122"/>
                        <a:cs typeface="微软雅黑" panose="020B0503020204020204" charset="-122"/>
                      </a:endParaRPr>
                    </a:p>
                  </a:txBody>
                  <a:tcPr marL="7620" marR="7620" marT="7620" marB="9525"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r>
              <a:tr h="770799">
                <a:tc>
                  <a:txBody>
                    <a:bodyPr/>
                    <a:lstStyle/>
                    <a:p>
                      <a:pPr indent="0" algn="ctr">
                        <a:lnSpc>
                          <a:spcPct val="150000"/>
                        </a:lnSpc>
                        <a:buNone/>
                      </a:pPr>
                      <a:r>
                        <a:rPr lang="en-US" altLang="en-US" sz="1400" b="1" dirty="0">
                          <a:solidFill>
                            <a:schemeClr val="tx1"/>
                          </a:solidFill>
                          <a:latin typeface="微软雅黑" panose="020B0503020204020204" charset="-122"/>
                          <a:ea typeface="微软雅黑" panose="020B0503020204020204" charset="-122"/>
                          <a:cs typeface="仿宋_GB2312" panose="02010609030101010101" charset="-122"/>
                        </a:rPr>
                        <a:t>JD1-QT-006</a:t>
                      </a:r>
                      <a:endParaRPr lang="en-US" altLang="en-US" sz="1400" b="1" dirty="0">
                        <a:solidFill>
                          <a:schemeClr val="tx1"/>
                        </a:solidFill>
                        <a:latin typeface="微软雅黑" panose="020B0503020204020204" charset="-122"/>
                        <a:ea typeface="微软雅黑" panose="020B0503020204020204" charset="-122"/>
                        <a:cs typeface="仿宋_GB2312" panose="02010609030101010101" charset="-122"/>
                      </a:endParaRPr>
                    </a:p>
                  </a:txBody>
                  <a:tcPr marL="7620" marR="7620" marT="7620" marB="9525"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E5F0F9"/>
                    </a:solidFill>
                  </a:tcPr>
                </a:tc>
                <a:tc>
                  <a:txBody>
                    <a:bodyPr/>
                    <a:lstStyle/>
                    <a:p>
                      <a:pPr indent="0">
                        <a:lnSpc>
                          <a:spcPct val="150000"/>
                        </a:lnSpc>
                        <a:buNone/>
                      </a:pPr>
                      <a:r>
                        <a:rPr lang="en-US" altLang="en-US" sz="1400" b="0" dirty="0" err="1">
                          <a:solidFill>
                            <a:schemeClr val="tx1"/>
                          </a:solidFill>
                          <a:latin typeface="微软雅黑" panose="020B0503020204020204" charset="-122"/>
                          <a:ea typeface="微软雅黑" panose="020B0503020204020204" charset="-122"/>
                          <a:cs typeface="微软雅黑" panose="020B0503020204020204" charset="-122"/>
                        </a:rPr>
                        <a:t>公司资产的生产、生活、办公用房等建筑物有下列情形之一的，应判定为Ⅰ级较大事故隐患</a:t>
                      </a:r>
                      <a:r>
                        <a:rPr lang="en-US" altLang="en-US" sz="1400" b="0" dirty="0">
                          <a:solidFill>
                            <a:schemeClr val="tx1"/>
                          </a:solidFill>
                          <a:latin typeface="微软雅黑" panose="020B0503020204020204" charset="-122"/>
                          <a:ea typeface="微软雅黑" panose="020B0503020204020204" charset="-122"/>
                          <a:cs typeface="微软雅黑" panose="020B0503020204020204" charset="-122"/>
                        </a:rPr>
                        <a:t>：（1）安全性鉴定结果为Csu（《</a:t>
                      </a:r>
                      <a:r>
                        <a:rPr lang="en-US" altLang="en-US" sz="1400" b="0" dirty="0" err="1">
                          <a:solidFill>
                            <a:schemeClr val="tx1"/>
                          </a:solidFill>
                          <a:latin typeface="微软雅黑" panose="020B0503020204020204" charset="-122"/>
                          <a:ea typeface="微软雅黑" panose="020B0503020204020204" charset="-122"/>
                          <a:cs typeface="微软雅黑" panose="020B0503020204020204" charset="-122"/>
                        </a:rPr>
                        <a:t>民用建筑可靠性鉴定标准</a:t>
                      </a:r>
                      <a:r>
                        <a:rPr lang="en-US" altLang="en-US" sz="1400" b="0" dirty="0">
                          <a:solidFill>
                            <a:schemeClr val="tx1"/>
                          </a:solidFill>
                          <a:latin typeface="微软雅黑" panose="020B0503020204020204" charset="-122"/>
                          <a:ea typeface="微软雅黑" panose="020B0503020204020204" charset="-122"/>
                          <a:cs typeface="微软雅黑" panose="020B0503020204020204" charset="-122"/>
                        </a:rPr>
                        <a:t>》）（2）由房屋质量检测鉴定机构鉴定为C级（局部危险等级）危房的建筑物。</a:t>
                      </a:r>
                      <a:endParaRPr lang="en-US" altLang="en-US" sz="1400" b="0" dirty="0">
                        <a:solidFill>
                          <a:schemeClr val="tx1"/>
                        </a:solidFill>
                        <a:latin typeface="微软雅黑" panose="020B0503020204020204" charset="-122"/>
                        <a:ea typeface="微软雅黑" panose="020B0503020204020204" charset="-122"/>
                        <a:cs typeface="微软雅黑" panose="020B0503020204020204" charset="-122"/>
                      </a:endParaRPr>
                    </a:p>
                  </a:txBody>
                  <a:tcPr marL="7620" marR="7620" marT="7620" marB="9525"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E5F0F9"/>
                    </a:solidFill>
                  </a:tcPr>
                </a:tc>
              </a:tr>
            </a:tbl>
          </a:graphicData>
        </a:graphic>
      </p:graphicFrame>
      <p:sp>
        <p:nvSpPr>
          <p:cNvPr id="4" name="TextBox 8"/>
          <p:cNvSpPr txBox="1"/>
          <p:nvPr/>
        </p:nvSpPr>
        <p:spPr>
          <a:xfrm>
            <a:off x="168335" y="271329"/>
            <a:ext cx="7002524" cy="52197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charset="-122"/>
                <a:ea typeface="微软雅黑" panose="020B0503020204020204" charset="-122"/>
              </a:rPr>
              <a:t>二、</a:t>
            </a:r>
            <a:r>
              <a:rPr lang="zh-CN" altLang="en-US" sz="2800" b="1" dirty="0">
                <a:latin typeface="微软雅黑" panose="020B0503020204020204" charset="-122"/>
                <a:ea typeface="微软雅黑" panose="020B0503020204020204" charset="-122"/>
                <a:sym typeface="+mn-ea"/>
              </a:rPr>
              <a:t>网公司事故隐患判定标准宣贯学习</a:t>
            </a:r>
            <a:endParaRPr lang="zh-CN" altLang="en-US" sz="2800" b="1" dirty="0">
              <a:latin typeface="微软雅黑" panose="020B0503020204020204" charset="-122"/>
              <a:ea typeface="微软雅黑" panose="020B0503020204020204" charset="-122"/>
            </a:endParaRP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4294967295"/>
          </p:nvPr>
        </p:nvSpPr>
        <p:spPr>
          <a:xfrm>
            <a:off x="9997440" y="6499860"/>
            <a:ext cx="2133600" cy="365125"/>
          </a:xfrm>
        </p:spPr>
        <p:txBody>
          <a:bodyPr/>
          <a:lstStyle/>
          <a:p>
            <a:fld id="{A10E9369-8E4E-4DE7-B129-F0280ABC27D7}" type="slidenum">
              <a:rPr lang="zh-CN" altLang="en-US" smtClean="0"/>
            </a:fld>
            <a:endParaRPr lang="zh-CN" altLang="en-US" dirty="0"/>
          </a:p>
        </p:txBody>
      </p:sp>
      <p:sp>
        <p:nvSpPr>
          <p:cNvPr id="26" name="TextBox 8"/>
          <p:cNvSpPr txBox="1"/>
          <p:nvPr/>
        </p:nvSpPr>
        <p:spPr>
          <a:xfrm>
            <a:off x="168335" y="271329"/>
            <a:ext cx="7002524" cy="52197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charset="-122"/>
                <a:ea typeface="微软雅黑" panose="020B0503020204020204" charset="-122"/>
              </a:rPr>
              <a:t>目录</a:t>
            </a:r>
            <a:endParaRPr lang="zh-CN" altLang="en-US" sz="2800" b="1" dirty="0">
              <a:latin typeface="微软雅黑" panose="020B0503020204020204" charset="-122"/>
              <a:ea typeface="微软雅黑" panose="020B0503020204020204" charset="-122"/>
            </a:endParaRPr>
          </a:p>
        </p:txBody>
      </p:sp>
      <p:grpSp>
        <p:nvGrpSpPr>
          <p:cNvPr id="8" name="组合 7"/>
          <p:cNvGrpSpPr/>
          <p:nvPr/>
        </p:nvGrpSpPr>
        <p:grpSpPr>
          <a:xfrm>
            <a:off x="3919649" y="3206115"/>
            <a:ext cx="6715125" cy="864235"/>
            <a:chOff x="4463831" y="4623435"/>
            <a:chExt cx="6715125" cy="864235"/>
          </a:xfrm>
        </p:grpSpPr>
        <p:grpSp>
          <p:nvGrpSpPr>
            <p:cNvPr id="9" name="组合 8"/>
            <p:cNvGrpSpPr/>
            <p:nvPr/>
          </p:nvGrpSpPr>
          <p:grpSpPr>
            <a:xfrm>
              <a:off x="4463831" y="4623435"/>
              <a:ext cx="6715125" cy="864235"/>
              <a:chOff x="4369485" y="4140059"/>
              <a:chExt cx="6715125" cy="864235"/>
            </a:xfrm>
          </p:grpSpPr>
          <p:sp>
            <p:nvSpPr>
              <p:cNvPr id="23" name="矩形 22"/>
              <p:cNvSpPr/>
              <p:nvPr/>
            </p:nvSpPr>
            <p:spPr>
              <a:xfrm>
                <a:off x="4369485" y="4140059"/>
                <a:ext cx="1873885" cy="864000"/>
              </a:xfrm>
              <a:prstGeom prst="rect">
                <a:avLst/>
              </a:prstGeom>
              <a:solidFill>
                <a:schemeClr val="bg1">
                  <a:lumMod val="6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spc="300" dirty="0">
                  <a:latin typeface="微软雅黑" panose="020B0503020204020204" charset="-122"/>
                </a:endParaRPr>
              </a:p>
            </p:txBody>
          </p:sp>
          <p:sp>
            <p:nvSpPr>
              <p:cNvPr id="24" name="矩形 23"/>
              <p:cNvSpPr/>
              <p:nvPr/>
            </p:nvSpPr>
            <p:spPr>
              <a:xfrm>
                <a:off x="4369485" y="4140059"/>
                <a:ext cx="6715125" cy="864235"/>
              </a:xfrm>
              <a:prstGeom prst="rect">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schemeClr val="accent1">
                      <a:lumMod val="75000"/>
                    </a:schemeClr>
                  </a:solidFill>
                  <a:effectLst/>
                  <a:uLnTx/>
                  <a:uFillTx/>
                  <a:latin typeface="微软雅黑" panose="020B0503020204020204" charset="-122"/>
                  <a:ea typeface="微软雅黑" panose="020B0503020204020204" charset="-122"/>
                </a:endParaRPr>
              </a:p>
            </p:txBody>
          </p:sp>
        </p:grpSp>
        <p:sp>
          <p:nvSpPr>
            <p:cNvPr id="37" name="文本框 36"/>
            <p:cNvSpPr txBox="1"/>
            <p:nvPr/>
          </p:nvSpPr>
          <p:spPr>
            <a:xfrm>
              <a:off x="4712287" y="4825248"/>
              <a:ext cx="1555515" cy="460375"/>
            </a:xfrm>
            <a:prstGeom prst="rect">
              <a:avLst/>
            </a:prstGeom>
            <a:solidFill>
              <a:schemeClr val="bg1">
                <a:lumMod val="65000"/>
              </a:schemeClr>
            </a:solidFill>
            <a:ln>
              <a:solidFill>
                <a:schemeClr val="bg1">
                  <a:lumMod val="65000"/>
                </a:schemeClr>
              </a:solidFill>
            </a:ln>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300" normalizeH="0" noProof="0" dirty="0">
                  <a:ln>
                    <a:noFill/>
                  </a:ln>
                  <a:solidFill>
                    <a:schemeClr val="bg1"/>
                  </a:solidFill>
                  <a:effectLst/>
                  <a:uLnTx/>
                  <a:uFillTx/>
                  <a:latin typeface="微软雅黑" panose="020B0503020204020204" charset="-122"/>
                  <a:ea typeface="微软雅黑" panose="020B0503020204020204" charset="-122"/>
                </a:rPr>
                <a:t>第二部分</a:t>
              </a:r>
              <a:endParaRPr kumimoji="0" lang="zh-CN" altLang="en-US" sz="2400" b="1" i="0" u="none" strike="noStrike" kern="1200" cap="none" spc="300" normalizeH="0" noProof="0" dirty="0">
                <a:ln>
                  <a:noFill/>
                </a:ln>
                <a:solidFill>
                  <a:schemeClr val="bg1"/>
                </a:solidFill>
                <a:effectLst/>
                <a:uLnTx/>
                <a:uFillTx/>
                <a:latin typeface="微软雅黑" panose="020B0503020204020204" charset="-122"/>
                <a:ea typeface="微软雅黑" panose="020B0503020204020204" charset="-122"/>
              </a:endParaRPr>
            </a:p>
          </p:txBody>
        </p:sp>
        <p:sp>
          <p:nvSpPr>
            <p:cNvPr id="38" name="文本框 37"/>
            <p:cNvSpPr txBox="1"/>
            <p:nvPr/>
          </p:nvSpPr>
          <p:spPr>
            <a:xfrm>
              <a:off x="6337716" y="4825365"/>
              <a:ext cx="4841240" cy="460375"/>
            </a:xfrm>
            <a:prstGeom prst="rect">
              <a:avLst/>
            </a:prstGeom>
            <a:noFill/>
            <a:ln>
              <a:noFill/>
            </a:ln>
          </p:spPr>
          <p:txBody>
            <a:bodyPr wrap="square" rtlCol="0" anchor="ctr">
              <a:spAutoFit/>
            </a:bodyPr>
            <a:lstStyle/>
            <a:p>
              <a:pPr marL="0" marR="0" lvl="0" algn="l" defTabSz="914400" rtl="0" eaLnBrk="1" fontAlgn="auto" latinLnBrk="0" hangingPunct="1">
                <a:lnSpc>
                  <a:spcPct val="100000"/>
                </a:lnSpc>
                <a:spcBef>
                  <a:spcPts val="0"/>
                </a:spcBef>
                <a:spcAft>
                  <a:spcPts val="0"/>
                </a:spcAft>
                <a:buClrTx/>
                <a:buSzTx/>
                <a:buFontTx/>
                <a:buNone/>
                <a:defRPr/>
              </a:pPr>
              <a:r>
                <a:rPr lang="zh-CN" altLang="en-US" sz="2400" b="1" noProof="0" dirty="0">
                  <a:ln>
                    <a:noFill/>
                  </a:ln>
                  <a:solidFill>
                    <a:schemeClr val="bg1">
                      <a:lumMod val="65000"/>
                    </a:schemeClr>
                  </a:solidFill>
                  <a:effectLst/>
                  <a:uLnTx/>
                  <a:uFillTx/>
                  <a:latin typeface="微软雅黑" panose="020B0503020204020204" charset="-122"/>
                  <a:ea typeface="微软雅黑" panose="020B0503020204020204" charset="-122"/>
                  <a:sym typeface="+mn-ea"/>
                </a:rPr>
                <a:t>网公司事故隐患判定标准宣贯学习</a:t>
              </a:r>
              <a:endParaRPr kumimoji="0" lang="zh-CN" altLang="en-US" sz="2400" b="1" i="0" noProof="0" dirty="0">
                <a:ln>
                  <a:noFill/>
                </a:ln>
                <a:solidFill>
                  <a:schemeClr val="bg1">
                    <a:lumMod val="65000"/>
                  </a:schemeClr>
                </a:solidFill>
                <a:effectLst/>
                <a:uLnTx/>
                <a:uFillTx/>
                <a:latin typeface="微软雅黑" panose="020B0503020204020204" charset="-122"/>
                <a:ea typeface="微软雅黑" panose="020B0503020204020204" charset="-122"/>
                <a:sym typeface="+mn-ea"/>
              </a:endParaRPr>
            </a:p>
          </p:txBody>
        </p:sp>
      </p:grpSp>
      <p:grpSp>
        <p:nvGrpSpPr>
          <p:cNvPr id="4" name="组合 3"/>
          <p:cNvGrpSpPr/>
          <p:nvPr/>
        </p:nvGrpSpPr>
        <p:grpSpPr>
          <a:xfrm>
            <a:off x="3919752" y="1912569"/>
            <a:ext cx="6715125" cy="864235"/>
            <a:chOff x="4369485" y="4140059"/>
            <a:chExt cx="6715125" cy="864235"/>
          </a:xfrm>
        </p:grpSpPr>
        <p:sp>
          <p:nvSpPr>
            <p:cNvPr id="5" name="矩形 4"/>
            <p:cNvSpPr/>
            <p:nvPr/>
          </p:nvSpPr>
          <p:spPr>
            <a:xfrm>
              <a:off x="4369485" y="4140059"/>
              <a:ext cx="1873885" cy="864000"/>
            </a:xfrm>
            <a:prstGeom prst="rect">
              <a:avLst/>
            </a:prstGeom>
            <a:solidFill>
              <a:schemeClr val="bg1">
                <a:lumMod val="6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spc="300" dirty="0">
                <a:latin typeface="微软雅黑" panose="020B0503020204020204" charset="-122"/>
              </a:endParaRPr>
            </a:p>
          </p:txBody>
        </p:sp>
        <p:sp>
          <p:nvSpPr>
            <p:cNvPr id="7" name="矩形 6"/>
            <p:cNvSpPr/>
            <p:nvPr/>
          </p:nvSpPr>
          <p:spPr>
            <a:xfrm>
              <a:off x="4369485" y="4140059"/>
              <a:ext cx="6715125" cy="864235"/>
            </a:xfrm>
            <a:prstGeom prst="rect">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schemeClr val="accent1">
                    <a:lumMod val="75000"/>
                  </a:schemeClr>
                </a:solidFill>
                <a:effectLst/>
                <a:uLnTx/>
                <a:uFillTx/>
                <a:latin typeface="微软雅黑" panose="020B0503020204020204" charset="-122"/>
                <a:ea typeface="微软雅黑" panose="020B0503020204020204" charset="-122"/>
              </a:endParaRPr>
            </a:p>
          </p:txBody>
        </p:sp>
      </p:grpSp>
      <p:sp>
        <p:nvSpPr>
          <p:cNvPr id="10" name="文本框 9"/>
          <p:cNvSpPr txBox="1"/>
          <p:nvPr/>
        </p:nvSpPr>
        <p:spPr>
          <a:xfrm>
            <a:off x="4168208" y="2114382"/>
            <a:ext cx="1555515" cy="460375"/>
          </a:xfrm>
          <a:prstGeom prst="rect">
            <a:avLst/>
          </a:prstGeom>
          <a:solidFill>
            <a:schemeClr val="bg1">
              <a:lumMod val="65000"/>
            </a:schemeClr>
          </a:solidFill>
          <a:ln>
            <a:solidFill>
              <a:schemeClr val="bg1">
                <a:lumMod val="65000"/>
              </a:schemeClr>
            </a:solidFill>
          </a:ln>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300" normalizeH="0" noProof="0" dirty="0">
                <a:ln>
                  <a:noFill/>
                </a:ln>
                <a:solidFill>
                  <a:schemeClr val="bg1"/>
                </a:solidFill>
                <a:effectLst/>
                <a:uLnTx/>
                <a:uFillTx/>
                <a:latin typeface="微软雅黑" panose="020B0503020204020204" charset="-122"/>
                <a:ea typeface="微软雅黑" panose="020B0503020204020204" charset="-122"/>
              </a:rPr>
              <a:t>第一部分</a:t>
            </a:r>
            <a:endParaRPr kumimoji="0" lang="zh-CN" altLang="en-US" sz="2400" b="1" i="0" u="none" strike="noStrike" kern="1200" cap="none" spc="300" normalizeH="0" noProof="0" dirty="0">
              <a:ln>
                <a:noFill/>
              </a:ln>
              <a:solidFill>
                <a:schemeClr val="bg1"/>
              </a:solidFill>
              <a:effectLst/>
              <a:uLnTx/>
              <a:uFillTx/>
              <a:latin typeface="微软雅黑" panose="020B0503020204020204" charset="-122"/>
              <a:ea typeface="微软雅黑" panose="020B0503020204020204" charset="-122"/>
            </a:endParaRPr>
          </a:p>
        </p:txBody>
      </p:sp>
      <p:sp>
        <p:nvSpPr>
          <p:cNvPr id="11" name="文本框 10"/>
          <p:cNvSpPr txBox="1"/>
          <p:nvPr/>
        </p:nvSpPr>
        <p:spPr>
          <a:xfrm>
            <a:off x="5793636" y="2113854"/>
            <a:ext cx="4580255" cy="461665"/>
          </a:xfrm>
          <a:prstGeom prst="rect">
            <a:avLst/>
          </a:prstGeom>
          <a:noFill/>
          <a:ln>
            <a:noFill/>
          </a:ln>
        </p:spPr>
        <p:txBody>
          <a:bodyPr wrap="square" rtlCol="0" anchor="ctr">
            <a:spAutoFit/>
          </a:bodyPr>
          <a:lstStyle/>
          <a:p>
            <a:pPr marL="0" marR="0" lvl="0" algn="l" defTabSz="914400" rtl="0" eaLnBrk="1" fontAlgn="auto" latinLnBrk="0" hangingPunct="1">
              <a:lnSpc>
                <a:spcPct val="100000"/>
              </a:lnSpc>
              <a:spcBef>
                <a:spcPts val="0"/>
              </a:spcBef>
              <a:spcAft>
                <a:spcPts val="0"/>
              </a:spcAft>
              <a:buClrTx/>
              <a:buSzTx/>
              <a:buFontTx/>
              <a:buNone/>
              <a:defRPr/>
            </a:pPr>
            <a:r>
              <a:rPr lang="zh-CN" altLang="en-US" sz="2400" b="1" noProof="0">
                <a:ln>
                  <a:noFill/>
                </a:ln>
                <a:solidFill>
                  <a:schemeClr val="bg1">
                    <a:lumMod val="65000"/>
                  </a:schemeClr>
                </a:solidFill>
                <a:effectLst/>
                <a:uLnTx/>
                <a:uFillTx/>
                <a:latin typeface="微软雅黑" panose="020B0503020204020204" charset="-122"/>
                <a:ea typeface="微软雅黑" panose="020B0503020204020204" charset="-122"/>
                <a:sym typeface="+mn-ea"/>
              </a:rPr>
              <a:t>国家发改委第</a:t>
            </a:r>
            <a:r>
              <a:rPr lang="en-US" altLang="zh-CN" sz="2400" b="1" noProof="0">
                <a:ln>
                  <a:noFill/>
                </a:ln>
                <a:solidFill>
                  <a:schemeClr val="bg1">
                    <a:lumMod val="65000"/>
                  </a:schemeClr>
                </a:solidFill>
                <a:effectLst/>
                <a:uLnTx/>
                <a:uFillTx/>
                <a:latin typeface="微软雅黑" panose="020B0503020204020204" charset="-122"/>
                <a:ea typeface="微软雅黑" panose="020B0503020204020204" charset="-122"/>
                <a:sym typeface="+mn-ea"/>
              </a:rPr>
              <a:t>41</a:t>
            </a:r>
            <a:r>
              <a:rPr lang="zh-CN" altLang="en-US" sz="2400" b="1" noProof="0">
                <a:ln>
                  <a:noFill/>
                </a:ln>
                <a:solidFill>
                  <a:schemeClr val="bg1">
                    <a:lumMod val="65000"/>
                  </a:schemeClr>
                </a:solidFill>
                <a:effectLst/>
                <a:uLnTx/>
                <a:uFillTx/>
                <a:latin typeface="微软雅黑" panose="020B0503020204020204" charset="-122"/>
                <a:ea typeface="微软雅黑" panose="020B0503020204020204" charset="-122"/>
                <a:sym typeface="+mn-ea"/>
              </a:rPr>
              <a:t>号令宣贯学习</a:t>
            </a:r>
            <a:endParaRPr kumimoji="0" lang="zh-CN" altLang="en-US" sz="2400" b="1" i="0" noProof="0" dirty="0">
              <a:ln>
                <a:noFill/>
              </a:ln>
              <a:solidFill>
                <a:schemeClr val="bg1">
                  <a:lumMod val="65000"/>
                </a:schemeClr>
              </a:solidFill>
              <a:effectLst/>
              <a:uLnTx/>
              <a:uFillTx/>
              <a:latin typeface="微软雅黑" panose="020B0503020204020204" charset="-122"/>
              <a:ea typeface="微软雅黑" panose="020B0503020204020204" charset="-122"/>
              <a:sym typeface="+mn-ea"/>
            </a:endParaRPr>
          </a:p>
        </p:txBody>
      </p:sp>
      <p:sp>
        <p:nvSpPr>
          <p:cNvPr id="30" name="矩形 29"/>
          <p:cNvSpPr/>
          <p:nvPr/>
        </p:nvSpPr>
        <p:spPr>
          <a:xfrm>
            <a:off x="3919546" y="4510353"/>
            <a:ext cx="1873885" cy="864000"/>
          </a:xfrm>
          <a:prstGeom prst="rect">
            <a:avLst/>
          </a:prstGeom>
          <a:solidFill>
            <a:srgbClr val="0070C0"/>
          </a:solidFill>
          <a:ln>
            <a:solidFill>
              <a:srgbClr val="37609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spc="300" dirty="0">
              <a:latin typeface="微软雅黑" panose="020B0503020204020204" charset="-122"/>
            </a:endParaRPr>
          </a:p>
        </p:txBody>
      </p:sp>
      <p:sp>
        <p:nvSpPr>
          <p:cNvPr id="31" name="矩形 30"/>
          <p:cNvSpPr/>
          <p:nvPr/>
        </p:nvSpPr>
        <p:spPr>
          <a:xfrm>
            <a:off x="3919752" y="4510456"/>
            <a:ext cx="6715125" cy="864235"/>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schemeClr val="accent1">
                  <a:lumMod val="75000"/>
                </a:schemeClr>
              </a:solidFill>
              <a:effectLst/>
              <a:uLnTx/>
              <a:uFillTx/>
              <a:latin typeface="微软雅黑" panose="020B0503020204020204" charset="-122"/>
              <a:ea typeface="微软雅黑" panose="020B0503020204020204" charset="-122"/>
            </a:endParaRPr>
          </a:p>
        </p:txBody>
      </p:sp>
      <p:sp>
        <p:nvSpPr>
          <p:cNvPr id="32" name="文本框 31"/>
          <p:cNvSpPr txBox="1"/>
          <p:nvPr/>
        </p:nvSpPr>
        <p:spPr>
          <a:xfrm>
            <a:off x="4168002" y="4712166"/>
            <a:ext cx="1555515" cy="460375"/>
          </a:xfrm>
          <a:prstGeom prst="rect">
            <a:avLst/>
          </a:prstGeom>
          <a:solidFill>
            <a:srgbClr val="0070C0"/>
          </a:solidFill>
          <a:ln>
            <a:solidFill>
              <a:srgbClr val="0070C0"/>
            </a:solidFill>
          </a:ln>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300" normalizeH="0" noProof="0" dirty="0">
                <a:ln>
                  <a:noFill/>
                </a:ln>
                <a:solidFill>
                  <a:schemeClr val="bg1"/>
                </a:solidFill>
                <a:effectLst/>
                <a:uLnTx/>
                <a:uFillTx/>
                <a:latin typeface="微软雅黑" panose="020B0503020204020204" charset="-122"/>
                <a:ea typeface="微软雅黑" panose="020B0503020204020204" charset="-122"/>
              </a:rPr>
              <a:t>第三部分</a:t>
            </a:r>
            <a:endParaRPr kumimoji="0" lang="zh-CN" altLang="en-US" sz="2400" b="1" i="0" u="none" strike="noStrike" kern="1200" cap="none" spc="300" normalizeH="0" noProof="0" dirty="0">
              <a:ln>
                <a:noFill/>
              </a:ln>
              <a:solidFill>
                <a:schemeClr val="bg1"/>
              </a:solidFill>
              <a:effectLst/>
              <a:uLnTx/>
              <a:uFillTx/>
              <a:latin typeface="微软雅黑" panose="020B0503020204020204" charset="-122"/>
              <a:ea typeface="微软雅黑" panose="020B0503020204020204" charset="-122"/>
            </a:endParaRPr>
          </a:p>
        </p:txBody>
      </p:sp>
      <p:sp>
        <p:nvSpPr>
          <p:cNvPr id="33" name="文本框 32"/>
          <p:cNvSpPr txBox="1"/>
          <p:nvPr/>
        </p:nvSpPr>
        <p:spPr>
          <a:xfrm>
            <a:off x="5794272" y="4712386"/>
            <a:ext cx="4579620" cy="460375"/>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400" b="1" noProof="0" dirty="0">
                <a:ln>
                  <a:noFill/>
                </a:ln>
                <a:solidFill>
                  <a:srgbClr val="0070C0"/>
                </a:solidFill>
                <a:effectLst/>
                <a:uLnTx/>
                <a:uFillTx/>
                <a:latin typeface="微软雅黑" panose="020B0503020204020204" charset="-122"/>
                <a:ea typeface="微软雅黑" panose="020B0503020204020204" charset="-122"/>
                <a:sym typeface="+mn-ea"/>
              </a:rPr>
              <a:t>有关工作要求</a:t>
            </a:r>
            <a:endParaRPr kumimoji="0" lang="zh-CN" altLang="en-US" sz="2400" b="1" i="0" noProof="0" dirty="0">
              <a:ln>
                <a:noFill/>
              </a:ln>
              <a:solidFill>
                <a:srgbClr val="0070C0"/>
              </a:solidFill>
              <a:effectLst/>
              <a:uLnTx/>
              <a:uFillTx/>
              <a:latin typeface="微软雅黑" panose="020B0503020204020204" charset="-122"/>
              <a:ea typeface="微软雅黑" panose="020B0503020204020204" charset="-122"/>
              <a:sym typeface="思源黑体 CN Medium" panose="020B0600000000000000" pitchFamily="34" charset="-122"/>
            </a:endParaRPr>
          </a:p>
        </p:txBody>
      </p:sp>
      <p:grpSp>
        <p:nvGrpSpPr>
          <p:cNvPr id="3" name="组合 2"/>
          <p:cNvGrpSpPr/>
          <p:nvPr/>
        </p:nvGrpSpPr>
        <p:grpSpPr>
          <a:xfrm>
            <a:off x="1376866" y="2622242"/>
            <a:ext cx="1326804" cy="2005100"/>
            <a:chOff x="1752600" y="2439316"/>
            <a:chExt cx="1326804" cy="2005100"/>
          </a:xfrm>
        </p:grpSpPr>
        <p:sp>
          <p:nvSpPr>
            <p:cNvPr id="12" name="矩形 11"/>
            <p:cNvSpPr/>
            <p:nvPr/>
          </p:nvSpPr>
          <p:spPr>
            <a:xfrm>
              <a:off x="1752600" y="2439316"/>
              <a:ext cx="1198120" cy="2005100"/>
            </a:xfrm>
            <a:prstGeom prst="rect">
              <a:avLst/>
            </a:prstGeom>
            <a:noFill/>
            <a:ln w="3175">
              <a:solidFill>
                <a:srgbClr val="0070C0">
                  <a:alpha val="7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accent1">
                    <a:lumMod val="75000"/>
                  </a:schemeClr>
                </a:solidFill>
                <a:effectLst/>
                <a:uLnTx/>
                <a:uFillTx/>
                <a:latin typeface="微软雅黑" panose="020B0503020204020204" charset="-122"/>
                <a:ea typeface="微软雅黑" panose="020B0503020204020204" charset="-122"/>
              </a:endParaRPr>
            </a:p>
          </p:txBody>
        </p:sp>
        <p:sp>
          <p:nvSpPr>
            <p:cNvPr id="13" name="文本框 12"/>
            <p:cNvSpPr txBox="1"/>
            <p:nvPr/>
          </p:nvSpPr>
          <p:spPr>
            <a:xfrm>
              <a:off x="2837424" y="2662237"/>
              <a:ext cx="241980" cy="1576387"/>
            </a:xfrm>
            <a:prstGeom prst="rect">
              <a:avLst/>
            </a:prstGeom>
            <a:solidFill>
              <a:srgbClr val="0070C0"/>
            </a:solidFill>
          </p:spPr>
          <p:txBody>
            <a:bodyPr vert="eaVert" wrap="square" lIns="36000" tIns="72000" rIns="36000" bIns="7200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100" b="1" i="0" u="none" strike="noStrike" kern="1200" cap="none" spc="400" normalizeH="0" baseline="0" noProof="0" dirty="0">
                  <a:ln>
                    <a:noFill/>
                  </a:ln>
                  <a:solidFill>
                    <a:prstClr val="white"/>
                  </a:solidFill>
                  <a:effectLst/>
                  <a:uLnTx/>
                  <a:uFillTx/>
                  <a:latin typeface="微软雅黑" panose="020B0503020204020204" charset="-122"/>
                  <a:ea typeface="微软雅黑" panose="020B0503020204020204" charset="-122"/>
                  <a:sym typeface="思源黑体 CN ExtraLight" panose="020B0200000000000000" pitchFamily="34" charset="-122"/>
                </a:rPr>
                <a:t>CONTENTS</a:t>
              </a:r>
              <a:endParaRPr kumimoji="0" lang="zh-CN" altLang="en-US" sz="1100" b="1" i="0" u="none" strike="noStrike" kern="1200" cap="none" spc="400" normalizeH="0" baseline="0" noProof="0" dirty="0">
                <a:ln>
                  <a:noFill/>
                </a:ln>
                <a:solidFill>
                  <a:prstClr val="white"/>
                </a:solidFill>
                <a:effectLst/>
                <a:uLnTx/>
                <a:uFillTx/>
                <a:latin typeface="微软雅黑" panose="020B0503020204020204" charset="-122"/>
                <a:ea typeface="微软雅黑" panose="020B0503020204020204" charset="-122"/>
                <a:sym typeface="思源黑体 CN ExtraLight" panose="020B0200000000000000" pitchFamily="34" charset="-122"/>
              </a:endParaRPr>
            </a:p>
          </p:txBody>
        </p:sp>
        <p:sp>
          <p:nvSpPr>
            <p:cNvPr id="14" name="文本框 13"/>
            <p:cNvSpPr txBox="1"/>
            <p:nvPr/>
          </p:nvSpPr>
          <p:spPr>
            <a:xfrm>
              <a:off x="1752600" y="2563317"/>
              <a:ext cx="1107996" cy="1731366"/>
            </a:xfrm>
            <a:prstGeom prst="rect">
              <a:avLst/>
            </a:prstGeom>
            <a:noFill/>
          </p:spPr>
          <p:txBody>
            <a:bodyPr vert="eaVert"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dirty="0">
                  <a:ln>
                    <a:noFill/>
                  </a:ln>
                  <a:solidFill>
                    <a:srgbClr val="0070C0"/>
                  </a:solidFill>
                  <a:effectLst/>
                  <a:uLnTx/>
                  <a:uFillTx/>
                  <a:latin typeface="微软雅黑" panose="020B0503020204020204" charset="-122"/>
                  <a:ea typeface="微软雅黑" panose="020B0503020204020204" charset="-122"/>
                  <a:sym typeface="思源黑体 CN Medium" panose="020B0600000000000000" pitchFamily="34" charset="-122"/>
                </a:rPr>
                <a:t>目录</a:t>
              </a:r>
              <a:endParaRPr kumimoji="0" lang="zh-CN" altLang="en-US" sz="6000" b="1" i="0" u="none" strike="noStrike" kern="1200" cap="none" spc="0" normalizeH="0" baseline="0" noProof="0" dirty="0">
                <a:ln>
                  <a:noFill/>
                </a:ln>
                <a:solidFill>
                  <a:srgbClr val="0070C0"/>
                </a:solidFill>
                <a:effectLst/>
                <a:uLnTx/>
                <a:uFillTx/>
                <a:latin typeface="微软雅黑" panose="020B0503020204020204" charset="-122"/>
                <a:ea typeface="微软雅黑" panose="020B0503020204020204" charset="-122"/>
                <a:sym typeface="思源黑体 CN Medium" panose="020B0600000000000000" pitchFamily="34" charset="-122"/>
              </a:endParaRPr>
            </a:p>
          </p:txBody>
        </p:sp>
      </p:gr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圆角 3"/>
          <p:cNvSpPr/>
          <p:nvPr/>
        </p:nvSpPr>
        <p:spPr>
          <a:xfrm>
            <a:off x="335280" y="1771650"/>
            <a:ext cx="11522075" cy="1955800"/>
          </a:xfrm>
          <a:prstGeom prst="roundRect">
            <a:avLst/>
          </a:prstGeom>
          <a:solidFill>
            <a:srgbClr val="E5F0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ndParaRPr>
          </a:p>
        </p:txBody>
      </p:sp>
      <p:sp>
        <p:nvSpPr>
          <p:cNvPr id="5" name="矩形: 圆角 4"/>
          <p:cNvSpPr/>
          <p:nvPr/>
        </p:nvSpPr>
        <p:spPr>
          <a:xfrm>
            <a:off x="335280" y="3887470"/>
            <a:ext cx="11522075" cy="1659890"/>
          </a:xfrm>
          <a:prstGeom prst="roundRect">
            <a:avLst/>
          </a:prstGeom>
          <a:solidFill>
            <a:srgbClr val="E5F0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ndParaRPr>
          </a:p>
        </p:txBody>
      </p:sp>
      <p:sp>
        <p:nvSpPr>
          <p:cNvPr id="6" name="灯片编号占位符 5"/>
          <p:cNvSpPr>
            <a:spLocks noGrp="1"/>
          </p:cNvSpPr>
          <p:nvPr>
            <p:ph type="sldNum" sz="quarter" idx="4294967295"/>
          </p:nvPr>
        </p:nvSpPr>
        <p:spPr>
          <a:xfrm>
            <a:off x="9997440" y="6499860"/>
            <a:ext cx="2133600" cy="365125"/>
          </a:xfrm>
        </p:spPr>
        <p:txBody>
          <a:bodyPr/>
          <a:lstStyle/>
          <a:p>
            <a:fld id="{A10E9369-8E4E-4DE7-B129-F0280ABC27D7}" type="slidenum">
              <a:rPr lang="zh-CN" altLang="en-US" smtClean="0"/>
            </a:fld>
            <a:endParaRPr lang="zh-CN" altLang="en-US" dirty="0"/>
          </a:p>
        </p:txBody>
      </p:sp>
      <p:sp>
        <p:nvSpPr>
          <p:cNvPr id="3" name="TextBox 8"/>
          <p:cNvSpPr txBox="1"/>
          <p:nvPr/>
        </p:nvSpPr>
        <p:spPr>
          <a:xfrm>
            <a:off x="168335" y="271329"/>
            <a:ext cx="7002524" cy="52197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charset="-122"/>
                <a:ea typeface="微软雅黑" panose="020B0503020204020204" charset="-122"/>
              </a:rPr>
              <a:t>三、</a:t>
            </a:r>
            <a:r>
              <a:rPr lang="zh-CN" altLang="en-US" sz="2800" b="1" dirty="0">
                <a:latin typeface="微软雅黑" panose="020B0503020204020204" charset="-122"/>
                <a:ea typeface="微软雅黑" panose="020B0503020204020204" charset="-122"/>
                <a:sym typeface="+mn-ea"/>
              </a:rPr>
              <a:t>有关工作要求</a:t>
            </a:r>
            <a:endParaRPr lang="zh-CN" altLang="en-US" sz="2800" b="1" dirty="0">
              <a:latin typeface="微软雅黑" panose="020B0503020204020204" charset="-122"/>
              <a:ea typeface="微软雅黑" panose="020B0503020204020204" charset="-122"/>
            </a:endParaRPr>
          </a:p>
        </p:txBody>
      </p:sp>
      <p:sp>
        <p:nvSpPr>
          <p:cNvPr id="19462" name="Text Box 5"/>
          <p:cNvSpPr txBox="1"/>
          <p:nvPr>
            <p:custDataLst>
              <p:tags r:id="rId1"/>
            </p:custDataLst>
          </p:nvPr>
        </p:nvSpPr>
        <p:spPr>
          <a:xfrm>
            <a:off x="397510" y="1827530"/>
            <a:ext cx="11194415" cy="3767455"/>
          </a:xfrm>
          <a:prstGeom prst="rect">
            <a:avLst/>
          </a:prstGeom>
          <a:noFill/>
          <a:ln w="9525">
            <a:noFill/>
          </a:ln>
        </p:spPr>
        <p:txBody>
          <a:bodyPr wrap="square">
            <a:no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algn="just" defTabSz="914400" eaLnBrk="1" latinLnBrk="1" hangingPunct="1">
              <a:lnSpc>
                <a:spcPct val="150000"/>
              </a:lnSpc>
              <a:spcBef>
                <a:spcPts val="1200"/>
              </a:spcBef>
              <a:buClrTx/>
              <a:buSzTx/>
              <a:buFont typeface="Wingdings" panose="05000000000000000000" charset="0"/>
              <a:buChar char="p"/>
            </a:pPr>
            <a:r>
              <a:rPr lang="zh-CN" sz="1800" b="1" dirty="0">
                <a:latin typeface="微软雅黑" panose="020B0503020204020204" charset="-122"/>
                <a:ea typeface="微软雅黑" panose="020B0503020204020204" charset="-122"/>
                <a:cs typeface="微软雅黑" panose="020B0503020204020204" charset="-122"/>
                <a:sym typeface="+mn-ea"/>
              </a:rPr>
              <a:t>加强事故隐患判定标准宣贯培训。</a:t>
            </a:r>
            <a:r>
              <a:rPr sz="1800" b="1" dirty="0">
                <a:latin typeface="微软雅黑" panose="020B0503020204020204" charset="-122"/>
                <a:ea typeface="微软雅黑" panose="020B0503020204020204" charset="-122"/>
                <a:cs typeface="微软雅黑" panose="020B0503020204020204" charset="-122"/>
                <a:sym typeface="+mn-ea"/>
              </a:rPr>
              <a:t>各单位主要负责人要高度重视</a:t>
            </a:r>
            <a:r>
              <a:rPr sz="1800" dirty="0">
                <a:latin typeface="微软雅黑" panose="020B0503020204020204" charset="-122"/>
                <a:ea typeface="微软雅黑" panose="020B0503020204020204" charset="-122"/>
                <a:cs typeface="微软雅黑" panose="020B0503020204020204" charset="-122"/>
                <a:sym typeface="+mn-ea"/>
              </a:rPr>
              <a:t>，</a:t>
            </a:r>
            <a:r>
              <a:rPr sz="1800" b="1" dirty="0">
                <a:latin typeface="微软雅黑" panose="020B0503020204020204" charset="-122"/>
                <a:ea typeface="微软雅黑" panose="020B0503020204020204" charset="-122"/>
                <a:cs typeface="微软雅黑" panose="020B0503020204020204" charset="-122"/>
                <a:sym typeface="+mn-ea"/>
              </a:rPr>
              <a:t>亲自组织</a:t>
            </a:r>
            <a:r>
              <a:rPr sz="1800" dirty="0">
                <a:latin typeface="微软雅黑" panose="020B0503020204020204" charset="-122"/>
                <a:ea typeface="微软雅黑" panose="020B0503020204020204" charset="-122"/>
                <a:cs typeface="微软雅黑" panose="020B0503020204020204" charset="-122"/>
                <a:sym typeface="+mn-ea"/>
              </a:rPr>
              <a:t>做好上级有关事故隐患判定标准和有限空间安全技术规范的分层分级宣贯培训，</a:t>
            </a:r>
            <a:r>
              <a:rPr sz="1800" b="1" dirty="0">
                <a:latin typeface="微软雅黑" panose="020B0503020204020204" charset="-122"/>
                <a:ea typeface="微软雅黑" panose="020B0503020204020204" charset="-122"/>
                <a:cs typeface="微软雅黑" panose="020B0503020204020204" charset="-122"/>
                <a:sym typeface="+mn-ea"/>
              </a:rPr>
              <a:t>培训覆盖到每个班组、每个项目部</a:t>
            </a:r>
            <a:r>
              <a:rPr sz="1800" dirty="0">
                <a:latin typeface="微软雅黑" panose="020B0503020204020204" charset="-122"/>
                <a:ea typeface="微软雅黑" panose="020B0503020204020204" charset="-122"/>
                <a:cs typeface="微软雅黑" panose="020B0503020204020204" charset="-122"/>
                <a:sym typeface="+mn-ea"/>
              </a:rPr>
              <a:t>，</a:t>
            </a:r>
            <a:r>
              <a:rPr sz="1800" b="1" dirty="0">
                <a:latin typeface="微软雅黑" panose="020B0503020204020204" charset="-122"/>
                <a:ea typeface="微软雅黑" panose="020B0503020204020204" charset="-122"/>
                <a:cs typeface="微软雅黑" panose="020B0503020204020204" charset="-122"/>
                <a:sym typeface="+mn-ea"/>
              </a:rPr>
              <a:t>5月31日</a:t>
            </a:r>
            <a:r>
              <a:rPr sz="1800" dirty="0">
                <a:latin typeface="微软雅黑" panose="020B0503020204020204" charset="-122"/>
                <a:ea typeface="微软雅黑" panose="020B0503020204020204" charset="-122"/>
                <a:cs typeface="微软雅黑" panose="020B0503020204020204" charset="-122"/>
                <a:sym typeface="+mn-ea"/>
              </a:rPr>
              <a:t>前完成全员培训学习，确保各级管理人员及一线班组成员精准掌握本专业、本岗位隐患判定标准，熟练运用判定标准正确排查治理隐患。</a:t>
            </a:r>
            <a:endParaRPr lang="en-US" altLang="zh-CN" sz="1800" dirty="0">
              <a:latin typeface="微软雅黑" panose="020B0503020204020204" charset="-122"/>
              <a:ea typeface="微软雅黑" panose="020B0503020204020204" charset="-122"/>
              <a:cs typeface="微软雅黑" panose="020B0503020204020204" charset="-122"/>
              <a:sym typeface="+mn-ea"/>
            </a:endParaRPr>
          </a:p>
          <a:p>
            <a:pPr algn="just" defTabSz="914400" eaLnBrk="1" latinLnBrk="1" hangingPunct="1">
              <a:lnSpc>
                <a:spcPct val="150000"/>
              </a:lnSpc>
              <a:spcBef>
                <a:spcPts val="1200"/>
              </a:spcBef>
              <a:buClrTx/>
              <a:buSzTx/>
              <a:buFont typeface="Arial" panose="020B0604020202020204" pitchFamily="34" charset="0"/>
              <a:buChar char="•"/>
            </a:pPr>
            <a:endParaRPr lang="zh-CN" sz="1800" b="1" dirty="0">
              <a:latin typeface="微软雅黑" panose="020B0503020204020204" charset="-122"/>
              <a:ea typeface="微软雅黑" panose="020B0503020204020204" charset="-122"/>
              <a:cs typeface="仿宋_GB2312" panose="02010609030101010101" charset="-122"/>
              <a:sym typeface="+mn-ea"/>
            </a:endParaRPr>
          </a:p>
          <a:p>
            <a:pPr algn="just" eaLnBrk="1" latinLnBrk="1" hangingPunct="1">
              <a:lnSpc>
                <a:spcPct val="150000"/>
              </a:lnSpc>
              <a:buClrTx/>
              <a:buSzTx/>
              <a:buFont typeface="Wingdings" panose="05000000000000000000" charset="0"/>
              <a:buChar char="p"/>
            </a:pPr>
            <a:r>
              <a:rPr lang="zh-CN" sz="1800" b="1" dirty="0">
                <a:latin typeface="微软雅黑" panose="020B0503020204020204" charset="-122"/>
                <a:ea typeface="微软雅黑" panose="020B0503020204020204" charset="-122"/>
              </a:rPr>
              <a:t>加强隐患标准培训学习效果跟踪监督。</a:t>
            </a:r>
            <a:r>
              <a:rPr lang="zh-CN" sz="1800" dirty="0">
                <a:latin typeface="微软雅黑" panose="020B0503020204020204" charset="-122"/>
                <a:ea typeface="微软雅黑" panose="020B0503020204020204" charset="-122"/>
              </a:rPr>
              <a:t>各级安全监管部门、生产指挥中心要加强现场人员掌握情况、培训学习情况监督检查，</a:t>
            </a:r>
            <a:r>
              <a:rPr lang="zh-CN" sz="1800" b="1" dirty="0">
                <a:latin typeface="微软雅黑" panose="020B0503020204020204" charset="-122"/>
                <a:ea typeface="微软雅黑" panose="020B0503020204020204" charset="-122"/>
              </a:rPr>
              <a:t>对学习培训不到位、走过场的进行通报</a:t>
            </a:r>
            <a:r>
              <a:rPr lang="zh-CN" sz="1800" dirty="0">
                <a:latin typeface="微软雅黑" panose="020B0503020204020204" charset="-122"/>
                <a:ea typeface="微软雅黑" panose="020B0503020204020204" charset="-122"/>
              </a:rPr>
              <a:t>，推动各级做好事故隐患动态清零，风险超前管控。</a:t>
            </a:r>
            <a:endParaRPr lang="zh-CN" sz="1800" dirty="0">
              <a:latin typeface="微软雅黑" panose="020B0503020204020204" charset="-122"/>
              <a:ea typeface="微软雅黑" panose="020B0503020204020204" charset="-122"/>
            </a:endParaRPr>
          </a:p>
          <a:p>
            <a:pPr algn="just" eaLnBrk="1" latinLnBrk="1" hangingPunct="1">
              <a:lnSpc>
                <a:spcPct val="150000"/>
              </a:lnSpc>
              <a:buClrTx/>
              <a:buSzTx/>
              <a:buFont typeface="Arial" panose="020B0604020202020204" pitchFamily="34" charset="0"/>
              <a:buChar char="•"/>
            </a:pPr>
            <a:endParaRPr lang="zh-CN" altLang="en-US" sz="1800" dirty="0">
              <a:latin typeface="微软雅黑" panose="020B0503020204020204" charset="-122"/>
              <a:ea typeface="微软雅黑" panose="020B0503020204020204" charset="-122"/>
              <a:cs typeface="微软雅黑" panose="020B0503020204020204" charset="-122"/>
            </a:endParaRPr>
          </a:p>
        </p:txBody>
      </p:sp>
      <p:sp>
        <p:nvSpPr>
          <p:cNvPr id="8" name="文本框 7"/>
          <p:cNvSpPr txBox="1"/>
          <p:nvPr/>
        </p:nvSpPr>
        <p:spPr>
          <a:xfrm>
            <a:off x="-24680" y="969010"/>
            <a:ext cx="5040000" cy="448945"/>
          </a:xfrm>
          <a:prstGeom prst="rect">
            <a:avLst/>
          </a:prstGeom>
          <a:gradFill>
            <a:gsLst>
              <a:gs pos="66000">
                <a:srgbClr val="054CA4"/>
              </a:gs>
              <a:gs pos="100000">
                <a:srgbClr val="0070C0">
                  <a:alpha val="0"/>
                </a:srgbClr>
              </a:gs>
            </a:gsLst>
            <a:lin ang="0" scaled="0"/>
          </a:gradFill>
          <a:ln w="12700" cap="flat" cmpd="sng" algn="ctr">
            <a:noFill/>
            <a:prstDash val="solid"/>
            <a:miter lim="800000"/>
          </a:ln>
          <a:effectLst/>
        </p:spPr>
        <p:txBody>
          <a:bodyPr rtlCol="0" anchor="ctr"/>
          <a:lstStyle>
            <a:defPPr>
              <a:defRPr lang="zh-CN"/>
            </a:defPPr>
            <a:lvl1pPr>
              <a:defRPr sz="2000" b="1"/>
            </a:lvl1pPr>
            <a:lvl2pPr>
              <a:defRPr>
                <a:solidFill>
                  <a:sysClr val="window" lastClr="FFFFFF"/>
                </a:solidFill>
              </a:defRPr>
            </a:lvl2pPr>
            <a:lvl3pPr>
              <a:defRPr>
                <a:solidFill>
                  <a:sysClr val="window" lastClr="FFFFFF"/>
                </a:solidFill>
              </a:defRPr>
            </a:lvl3pPr>
            <a:lvl4pPr>
              <a:defRPr>
                <a:solidFill>
                  <a:sysClr val="window" lastClr="FFFFFF"/>
                </a:solidFill>
              </a:defRPr>
            </a:lvl4pPr>
            <a:lvl5pPr>
              <a:defRPr>
                <a:solidFill>
                  <a:sysClr val="window" lastClr="FFFFFF"/>
                </a:solidFill>
              </a:defRPr>
            </a:lvl5pPr>
            <a:lvl6pPr>
              <a:defRPr>
                <a:solidFill>
                  <a:sysClr val="window" lastClr="FFFFFF"/>
                </a:solidFill>
              </a:defRPr>
            </a:lvl6pPr>
            <a:lvl7pPr>
              <a:defRPr>
                <a:solidFill>
                  <a:sysClr val="window" lastClr="FFFFFF"/>
                </a:solidFill>
              </a:defRPr>
            </a:lvl7pPr>
            <a:lvl8pPr>
              <a:defRPr>
                <a:solidFill>
                  <a:sysClr val="window" lastClr="FFFFFF"/>
                </a:solidFill>
              </a:defRPr>
            </a:lvl8pPr>
            <a:lvl9pPr>
              <a:defRPr>
                <a:solidFill>
                  <a:sysClr val="window" lastClr="FFFFFF"/>
                </a:solidFill>
              </a:defRPr>
            </a:lvl9pPr>
          </a:lstStyle>
          <a:p>
            <a:pPr algn="l" fontAlgn="auto">
              <a:buClrTx/>
              <a:buSzTx/>
              <a:buFontTx/>
              <a:defRPr/>
            </a:pPr>
            <a:r>
              <a:rPr lang="zh-CN" altLang="en-US" dirty="0">
                <a:solidFill>
                  <a:schemeClr val="bg1"/>
                </a:solidFill>
                <a:latin typeface="微软雅黑" panose="020B0503020204020204" charset="-122"/>
                <a:ea typeface="微软雅黑" panose="020B0503020204020204" charset="-122"/>
                <a:sym typeface="+mn-ea"/>
              </a:rPr>
              <a:t> （一）培训要求</a:t>
            </a:r>
            <a:endParaRPr lang="zh-CN" altLang="en-US" dirty="0">
              <a:solidFill>
                <a:schemeClr val="bg1"/>
              </a:solidFill>
              <a:latin typeface="微软雅黑" panose="020B0503020204020204" charset="-122"/>
              <a:ea typeface="微软雅黑" panose="020B0503020204020204" charset="-122"/>
              <a:sym typeface="+mn-ea"/>
            </a:endParaRP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圆角 3"/>
          <p:cNvSpPr/>
          <p:nvPr/>
        </p:nvSpPr>
        <p:spPr>
          <a:xfrm>
            <a:off x="335280" y="1412875"/>
            <a:ext cx="11522075" cy="3063240"/>
          </a:xfrm>
          <a:prstGeom prst="roundRect">
            <a:avLst/>
          </a:prstGeom>
          <a:solidFill>
            <a:srgbClr val="E5F0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ndParaRPr>
          </a:p>
        </p:txBody>
      </p:sp>
      <p:sp>
        <p:nvSpPr>
          <p:cNvPr id="5" name="矩形: 圆角 4"/>
          <p:cNvSpPr/>
          <p:nvPr/>
        </p:nvSpPr>
        <p:spPr>
          <a:xfrm>
            <a:off x="335280" y="4538345"/>
            <a:ext cx="11522075" cy="1875790"/>
          </a:xfrm>
          <a:prstGeom prst="roundRect">
            <a:avLst/>
          </a:prstGeom>
          <a:solidFill>
            <a:srgbClr val="E5F0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ndParaRPr>
          </a:p>
        </p:txBody>
      </p:sp>
      <p:sp>
        <p:nvSpPr>
          <p:cNvPr id="6" name="灯片编号占位符 5"/>
          <p:cNvSpPr>
            <a:spLocks noGrp="1"/>
          </p:cNvSpPr>
          <p:nvPr>
            <p:ph type="sldNum" sz="quarter" idx="4294967295"/>
          </p:nvPr>
        </p:nvSpPr>
        <p:spPr>
          <a:xfrm>
            <a:off x="9997440" y="6499860"/>
            <a:ext cx="2133600" cy="365125"/>
          </a:xfrm>
        </p:spPr>
        <p:txBody>
          <a:bodyPr/>
          <a:lstStyle/>
          <a:p>
            <a:fld id="{A10E9369-8E4E-4DE7-B129-F0280ABC27D7}" type="slidenum">
              <a:rPr lang="zh-CN" altLang="en-US" smtClean="0"/>
            </a:fld>
            <a:endParaRPr lang="zh-CN" altLang="en-US" dirty="0"/>
          </a:p>
        </p:txBody>
      </p:sp>
      <p:sp>
        <p:nvSpPr>
          <p:cNvPr id="3" name="TextBox 8"/>
          <p:cNvSpPr txBox="1"/>
          <p:nvPr/>
        </p:nvSpPr>
        <p:spPr>
          <a:xfrm>
            <a:off x="168335" y="271329"/>
            <a:ext cx="7002524" cy="52197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charset="-122"/>
                <a:ea typeface="微软雅黑" panose="020B0503020204020204" charset="-122"/>
              </a:rPr>
              <a:t>三、</a:t>
            </a:r>
            <a:r>
              <a:rPr lang="zh-CN" altLang="en-US" sz="2800" b="1" dirty="0">
                <a:latin typeface="微软雅黑" panose="020B0503020204020204" charset="-122"/>
                <a:ea typeface="微软雅黑" panose="020B0503020204020204" charset="-122"/>
                <a:sym typeface="+mn-ea"/>
              </a:rPr>
              <a:t>有关工作要求</a:t>
            </a:r>
            <a:endParaRPr lang="zh-CN" altLang="en-US" sz="2800" b="1" dirty="0">
              <a:latin typeface="微软雅黑" panose="020B0503020204020204" charset="-122"/>
              <a:ea typeface="微软雅黑" panose="020B0503020204020204" charset="-122"/>
            </a:endParaRPr>
          </a:p>
        </p:txBody>
      </p:sp>
      <p:sp>
        <p:nvSpPr>
          <p:cNvPr id="19462" name="Text Box 5"/>
          <p:cNvSpPr txBox="1"/>
          <p:nvPr>
            <p:custDataLst>
              <p:tags r:id="rId1"/>
            </p:custDataLst>
          </p:nvPr>
        </p:nvSpPr>
        <p:spPr>
          <a:xfrm>
            <a:off x="397510" y="1468755"/>
            <a:ext cx="11337290" cy="3354070"/>
          </a:xfrm>
          <a:prstGeom prst="rect">
            <a:avLst/>
          </a:prstGeom>
          <a:noFill/>
          <a:ln w="9525">
            <a:noFill/>
          </a:ln>
        </p:spPr>
        <p:txBody>
          <a:bodyPr wrap="square">
            <a:no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algn="just" defTabSz="914400" eaLnBrk="1" latinLnBrk="1" hangingPunct="1">
              <a:lnSpc>
                <a:spcPts val="2220"/>
              </a:lnSpc>
              <a:spcBef>
                <a:spcPts val="200"/>
              </a:spcBef>
              <a:buClrTx/>
              <a:buSzTx/>
              <a:buFont typeface="Wingdings" panose="05000000000000000000" charset="0"/>
              <a:buChar char="p"/>
            </a:pPr>
            <a:r>
              <a:rPr sz="1800" b="1" dirty="0">
                <a:latin typeface="微软雅黑" panose="020B0503020204020204" charset="-122"/>
                <a:ea typeface="微软雅黑" panose="020B0503020204020204" charset="-122"/>
                <a:cs typeface="微软雅黑" panose="020B0503020204020204" charset="-122"/>
                <a:sym typeface="+mn-ea"/>
              </a:rPr>
              <a:t>各专业管理部门要严格落实“三管三必须”要求，切实扛起专业管理责任</a:t>
            </a:r>
            <a:r>
              <a:rPr sz="1800" dirty="0">
                <a:latin typeface="微软雅黑" panose="020B0503020204020204" charset="-122"/>
                <a:ea typeface="微软雅黑" panose="020B0503020204020204" charset="-122"/>
                <a:cs typeface="微软雅黑" panose="020B0503020204020204" charset="-122"/>
                <a:sym typeface="+mn-ea"/>
              </a:rPr>
              <a:t>，扎实推进</a:t>
            </a:r>
            <a:r>
              <a:rPr lang="zh-CN" sz="1800" dirty="0">
                <a:latin typeface="微软雅黑" panose="020B0503020204020204" charset="-122"/>
                <a:ea typeface="微软雅黑" panose="020B0503020204020204" charset="-122"/>
                <a:cs typeface="微软雅黑" panose="020B0503020204020204" charset="-122"/>
                <a:sym typeface="+mn-ea"/>
              </a:rPr>
              <a:t>隐患排查治理：</a:t>
            </a:r>
            <a:endParaRPr lang="zh-CN" sz="1800" dirty="0">
              <a:latin typeface="微软雅黑" panose="020B0503020204020204" charset="-122"/>
              <a:ea typeface="微软雅黑" panose="020B0503020204020204" charset="-122"/>
              <a:cs typeface="微软雅黑" panose="020B0503020204020204" charset="-122"/>
              <a:sym typeface="+mn-ea"/>
            </a:endParaRPr>
          </a:p>
          <a:p>
            <a:pPr algn="just" defTabSz="914400" eaLnBrk="1" latinLnBrk="1" hangingPunct="1">
              <a:lnSpc>
                <a:spcPts val="2220"/>
              </a:lnSpc>
              <a:spcBef>
                <a:spcPts val="200"/>
              </a:spcBef>
              <a:buClrTx/>
              <a:buSzTx/>
              <a:buFont typeface="Wingdings" panose="05000000000000000000" charset="0"/>
              <a:buChar char="Ø"/>
            </a:pPr>
            <a:r>
              <a:rPr sz="1600" b="1" dirty="0">
                <a:latin typeface="微软雅黑" panose="020B0503020204020204" charset="-122"/>
                <a:ea typeface="微软雅黑" panose="020B0503020204020204" charset="-122"/>
                <a:cs typeface="微软雅黑" panose="020B0503020204020204" charset="-122"/>
                <a:sym typeface="+mn-ea"/>
              </a:rPr>
              <a:t>基建领域</a:t>
            </a:r>
            <a:r>
              <a:rPr lang="zh-CN" sz="1600" b="1" dirty="0">
                <a:latin typeface="微软雅黑" panose="020B0503020204020204" charset="-122"/>
                <a:ea typeface="微软雅黑" panose="020B0503020204020204" charset="-122"/>
                <a:cs typeface="微软雅黑" panose="020B0503020204020204" charset="-122"/>
                <a:sym typeface="+mn-ea"/>
              </a:rPr>
              <a:t>工程部</a:t>
            </a:r>
            <a:r>
              <a:rPr sz="1600" dirty="0">
                <a:latin typeface="微软雅黑" panose="020B0503020204020204" charset="-122"/>
                <a:ea typeface="微软雅黑" panose="020B0503020204020204" charset="-122"/>
                <a:cs typeface="微软雅黑" panose="020B0503020204020204" charset="-122"/>
                <a:sym typeface="+mn-ea"/>
              </a:rPr>
              <a:t>要重点检查深基坑、边坡、动火作业、有限空间、高处作业等危大工程安全管理情况、项目管理人员配置情况、安全教育培训情况等；</a:t>
            </a:r>
            <a:endParaRPr sz="1600" dirty="0">
              <a:latin typeface="微软雅黑" panose="020B0503020204020204" charset="-122"/>
              <a:ea typeface="微软雅黑" panose="020B0503020204020204" charset="-122"/>
              <a:cs typeface="微软雅黑" panose="020B0503020204020204" charset="-122"/>
              <a:sym typeface="+mn-ea"/>
            </a:endParaRPr>
          </a:p>
          <a:p>
            <a:pPr algn="just" defTabSz="914400" eaLnBrk="1" latinLnBrk="1" hangingPunct="1">
              <a:lnSpc>
                <a:spcPts val="2220"/>
              </a:lnSpc>
              <a:spcBef>
                <a:spcPts val="200"/>
              </a:spcBef>
              <a:buClrTx/>
              <a:buSzTx/>
              <a:buFont typeface="Wingdings" panose="05000000000000000000" charset="0"/>
              <a:buChar char="Ø"/>
            </a:pPr>
            <a:r>
              <a:rPr sz="1600" b="1" dirty="0">
                <a:latin typeface="微软雅黑" panose="020B0503020204020204" charset="-122"/>
                <a:ea typeface="微软雅黑" panose="020B0503020204020204" charset="-122"/>
                <a:cs typeface="微软雅黑" panose="020B0503020204020204" charset="-122"/>
                <a:sym typeface="+mn-ea"/>
              </a:rPr>
              <a:t>配网领域</a:t>
            </a:r>
            <a:r>
              <a:rPr lang="zh-CN" sz="1600" b="1" dirty="0">
                <a:latin typeface="微软雅黑" panose="020B0503020204020204" charset="-122"/>
                <a:ea typeface="微软雅黑" panose="020B0503020204020204" charset="-122"/>
                <a:cs typeface="微软雅黑" panose="020B0503020204020204" charset="-122"/>
                <a:sym typeface="+mn-ea"/>
              </a:rPr>
              <a:t>配资部</a:t>
            </a:r>
            <a:r>
              <a:rPr sz="1600" dirty="0">
                <a:latin typeface="微软雅黑" panose="020B0503020204020204" charset="-122"/>
                <a:ea typeface="微软雅黑" panose="020B0503020204020204" charset="-122"/>
                <a:cs typeface="微软雅黑" panose="020B0503020204020204" charset="-122"/>
                <a:sym typeface="+mn-ea"/>
              </a:rPr>
              <a:t>要重点推进配网电缆通道、局属产权高层竖井隐患及涉电安全隐患治理；</a:t>
            </a:r>
            <a:r>
              <a:rPr sz="1600" dirty="0">
                <a:latin typeface="微软雅黑" panose="020B0503020204020204" charset="-122"/>
                <a:ea typeface="微软雅黑" panose="020B0503020204020204" charset="-122"/>
                <a:cs typeface="微软雅黑" panose="020B0503020204020204" charset="-122"/>
                <a:sym typeface="+mn-ea"/>
              </a:rPr>
              <a:t>重点排查整治涉网安全、图实不符、系统功能异常、二次设备等隐患；</a:t>
            </a:r>
            <a:endParaRPr sz="1600" dirty="0">
              <a:latin typeface="微软雅黑" panose="020B0503020204020204" charset="-122"/>
              <a:ea typeface="微软雅黑" panose="020B0503020204020204" charset="-122"/>
              <a:cs typeface="微软雅黑" panose="020B0503020204020204" charset="-122"/>
              <a:sym typeface="+mn-ea"/>
            </a:endParaRPr>
          </a:p>
          <a:p>
            <a:pPr algn="just" defTabSz="914400" eaLnBrk="1" latinLnBrk="1" hangingPunct="1">
              <a:lnSpc>
                <a:spcPts val="2220"/>
              </a:lnSpc>
              <a:spcBef>
                <a:spcPts val="200"/>
              </a:spcBef>
              <a:buClrTx/>
              <a:buSzTx/>
              <a:buFont typeface="Wingdings" panose="05000000000000000000" charset="0"/>
              <a:buChar char="Ø"/>
            </a:pPr>
            <a:r>
              <a:rPr sz="1600" b="1" dirty="0">
                <a:latin typeface="微软雅黑" panose="020B0503020204020204" charset="-122"/>
                <a:ea typeface="微软雅黑" panose="020B0503020204020204" charset="-122"/>
                <a:cs typeface="微软雅黑" panose="020B0503020204020204" charset="-122"/>
                <a:sym typeface="+mn-ea"/>
              </a:rPr>
              <a:t>市场领域</a:t>
            </a:r>
            <a:r>
              <a:rPr lang="zh-CN" sz="1600" b="1" dirty="0">
                <a:latin typeface="微软雅黑" panose="020B0503020204020204" charset="-122"/>
                <a:ea typeface="微软雅黑" panose="020B0503020204020204" charset="-122"/>
                <a:cs typeface="微软雅黑" panose="020B0503020204020204" charset="-122"/>
                <a:sym typeface="+mn-ea"/>
              </a:rPr>
              <a:t>营业部</a:t>
            </a:r>
            <a:r>
              <a:rPr sz="1600" dirty="0">
                <a:latin typeface="微软雅黑" panose="020B0503020204020204" charset="-122"/>
                <a:ea typeface="微软雅黑" panose="020B0503020204020204" charset="-122"/>
                <a:cs typeface="微软雅黑" panose="020B0503020204020204" charset="-122"/>
                <a:sym typeface="+mn-ea"/>
              </a:rPr>
              <a:t>要重点推进计量设备、用电安全和用户侧隐患整改；</a:t>
            </a:r>
            <a:endParaRPr sz="1600" dirty="0">
              <a:latin typeface="微软雅黑" panose="020B0503020204020204" charset="-122"/>
              <a:ea typeface="微软雅黑" panose="020B0503020204020204" charset="-122"/>
              <a:cs typeface="微软雅黑" panose="020B0503020204020204" charset="-122"/>
              <a:sym typeface="+mn-ea"/>
            </a:endParaRPr>
          </a:p>
          <a:p>
            <a:pPr algn="just" defTabSz="914400" eaLnBrk="1" latinLnBrk="1" hangingPunct="1">
              <a:lnSpc>
                <a:spcPts val="2220"/>
              </a:lnSpc>
              <a:spcBef>
                <a:spcPts val="200"/>
              </a:spcBef>
              <a:buClrTx/>
              <a:buSzTx/>
              <a:buFont typeface="Wingdings" panose="05000000000000000000" charset="0"/>
              <a:buChar char="Ø"/>
            </a:pPr>
            <a:r>
              <a:rPr sz="1600" b="1" dirty="0">
                <a:latin typeface="微软雅黑" panose="020B0503020204020204" charset="-122"/>
                <a:ea typeface="微软雅黑" panose="020B0503020204020204" charset="-122"/>
                <a:cs typeface="微软雅黑" panose="020B0503020204020204" charset="-122"/>
                <a:sym typeface="+mn-ea"/>
              </a:rPr>
              <a:t>办公综合领域</a:t>
            </a:r>
            <a:r>
              <a:rPr lang="zh-CN" sz="1600" b="1" dirty="0">
                <a:latin typeface="微软雅黑" panose="020B0503020204020204" charset="-122"/>
                <a:ea typeface="微软雅黑" panose="020B0503020204020204" charset="-122"/>
                <a:cs typeface="微软雅黑" panose="020B0503020204020204" charset="-122"/>
                <a:sym typeface="+mn-ea"/>
              </a:rPr>
              <a:t>综合部</a:t>
            </a:r>
            <a:r>
              <a:rPr sz="1600" dirty="0">
                <a:latin typeface="微软雅黑" panose="020B0503020204020204" charset="-122"/>
                <a:ea typeface="微软雅黑" panose="020B0503020204020204" charset="-122"/>
                <a:cs typeface="微软雅黑" panose="020B0503020204020204" charset="-122"/>
                <a:sym typeface="+mn-ea"/>
              </a:rPr>
              <a:t>要重点抓好消防安全、车辆及交通安全、后勤施工等隐患整治；</a:t>
            </a:r>
            <a:r>
              <a:rPr sz="1600" dirty="0">
                <a:latin typeface="微软雅黑" panose="020B0503020204020204" charset="-122"/>
                <a:ea typeface="微软雅黑" panose="020B0503020204020204" charset="-122"/>
                <a:cs typeface="微软雅黑" panose="020B0503020204020204" charset="-122"/>
                <a:sym typeface="+mn-ea"/>
              </a:rPr>
              <a:t>重点抓好网络安全隐患排查治理。</a:t>
            </a:r>
            <a:endParaRPr sz="1600" dirty="0">
              <a:latin typeface="微软雅黑" panose="020B0503020204020204" charset="-122"/>
              <a:ea typeface="微软雅黑" panose="020B0503020204020204" charset="-122"/>
              <a:cs typeface="微软雅黑" panose="020B0503020204020204" charset="-122"/>
              <a:sym typeface="+mn-ea"/>
            </a:endParaRPr>
          </a:p>
          <a:p>
            <a:pPr marL="0" indent="0" algn="just" defTabSz="914400" eaLnBrk="1" latinLnBrk="1" hangingPunct="1">
              <a:lnSpc>
                <a:spcPct val="150000"/>
              </a:lnSpc>
              <a:spcBef>
                <a:spcPts val="600"/>
              </a:spcBef>
              <a:buClrTx/>
              <a:buSzTx/>
              <a:buFont typeface="Arial" panose="020B0604020202020204" pitchFamily="34" charset="0"/>
              <a:buNone/>
            </a:pPr>
            <a:endParaRPr lang="zh-CN" sz="1800" b="1" dirty="0">
              <a:latin typeface="微软雅黑" panose="020B0503020204020204" charset="-122"/>
              <a:ea typeface="微软雅黑" panose="020B0503020204020204" charset="-122"/>
              <a:cs typeface="仿宋_GB2312" panose="02010609030101010101" charset="-122"/>
              <a:sym typeface="+mn-ea"/>
            </a:endParaRPr>
          </a:p>
          <a:p>
            <a:pPr marL="0" indent="0" algn="just" defTabSz="914400" eaLnBrk="1" latinLnBrk="1" hangingPunct="1">
              <a:lnSpc>
                <a:spcPct val="150000"/>
              </a:lnSpc>
              <a:spcBef>
                <a:spcPts val="600"/>
              </a:spcBef>
              <a:buClrTx/>
              <a:buSzTx/>
              <a:buFont typeface="Arial" panose="020B0604020202020204" pitchFamily="34" charset="0"/>
              <a:buNone/>
            </a:pPr>
            <a:endParaRPr lang="zh-CN" sz="1800" b="1" dirty="0">
              <a:latin typeface="微软雅黑" panose="020B0503020204020204" charset="-122"/>
              <a:ea typeface="微软雅黑" panose="020B0503020204020204" charset="-122"/>
              <a:cs typeface="仿宋_GB2312" panose="02010609030101010101" charset="-122"/>
              <a:sym typeface="+mn-ea"/>
            </a:endParaRPr>
          </a:p>
          <a:p>
            <a:pPr algn="just" eaLnBrk="1" latinLnBrk="1" hangingPunct="1">
              <a:lnSpc>
                <a:spcPts val="2560"/>
              </a:lnSpc>
              <a:spcBef>
                <a:spcPts val="0"/>
              </a:spcBef>
              <a:buClrTx/>
              <a:buSzTx/>
              <a:buFont typeface="Wingdings" panose="05000000000000000000" charset="0"/>
              <a:buChar char="p"/>
            </a:pPr>
            <a:r>
              <a:rPr lang="zh-CN" sz="1800" b="1" dirty="0">
                <a:latin typeface="微软雅黑" panose="020B0503020204020204" charset="-122"/>
                <a:ea typeface="微软雅黑" panose="020B0503020204020204" charset="-122"/>
              </a:rPr>
              <a:t>各生产单位要压实安全生产主体责任</a:t>
            </a:r>
            <a:r>
              <a:rPr lang="zh-CN" sz="1800" dirty="0">
                <a:latin typeface="微软雅黑" panose="020B0503020204020204" charset="-122"/>
                <a:ea typeface="微软雅黑" panose="020B0503020204020204" charset="-122"/>
              </a:rPr>
              <a:t>，针对各级检查暴露问题，全面举一反三自查自纠，</a:t>
            </a:r>
            <a:r>
              <a:rPr lang="zh-CN" sz="1800" b="1" dirty="0">
                <a:latin typeface="微软雅黑" panose="020B0503020204020204" charset="-122"/>
                <a:ea typeface="微软雅黑" panose="020B0503020204020204" charset="-122"/>
              </a:rPr>
              <a:t>严格对照新规标准、上级督查检查重点及典型隐患案例</a:t>
            </a:r>
            <a:r>
              <a:rPr lang="zh-CN" sz="1800" dirty="0">
                <a:latin typeface="微软雅黑" panose="020B0503020204020204" charset="-122"/>
                <a:ea typeface="微软雅黑" panose="020B0503020204020204" charset="-122"/>
              </a:rPr>
              <a:t>，对施工现场、设备运维管理、制度落地执行等开展全覆盖摸排整治，对于发现的重大隐患、突出问题，各单位主要负责人要亲自研究部署、协调解决，明确专人跟踪负责，做到整改措施、责任、资金、时限、预案“五落实”，确保按期完成问题隐患整改，做到隐患排查无死角、问题整改无遗漏、风险管控无空档。</a:t>
            </a:r>
            <a:endParaRPr lang="zh-CN" sz="1800" dirty="0">
              <a:latin typeface="微软雅黑" panose="020B0503020204020204" charset="-122"/>
              <a:ea typeface="微软雅黑" panose="020B0503020204020204" charset="-122"/>
            </a:endParaRPr>
          </a:p>
          <a:p>
            <a:pPr algn="just" eaLnBrk="1" latinLnBrk="1" hangingPunct="1">
              <a:lnSpc>
                <a:spcPct val="150000"/>
              </a:lnSpc>
              <a:buClrTx/>
              <a:buSzTx/>
              <a:buFont typeface="Arial" panose="020B0604020202020204" pitchFamily="34" charset="0"/>
              <a:buChar char="•"/>
            </a:pPr>
            <a:endParaRPr lang="zh-CN" altLang="en-US" sz="1800" dirty="0">
              <a:latin typeface="微软雅黑" panose="020B0503020204020204" charset="-122"/>
              <a:ea typeface="微软雅黑" panose="020B0503020204020204" charset="-122"/>
              <a:cs typeface="微软雅黑" panose="020B0503020204020204" charset="-122"/>
            </a:endParaRPr>
          </a:p>
        </p:txBody>
      </p:sp>
      <p:sp>
        <p:nvSpPr>
          <p:cNvPr id="8" name="文本框 7"/>
          <p:cNvSpPr txBox="1"/>
          <p:nvPr/>
        </p:nvSpPr>
        <p:spPr>
          <a:xfrm>
            <a:off x="-24680" y="969010"/>
            <a:ext cx="5040000" cy="448945"/>
          </a:xfrm>
          <a:prstGeom prst="rect">
            <a:avLst/>
          </a:prstGeom>
          <a:gradFill>
            <a:gsLst>
              <a:gs pos="66000">
                <a:srgbClr val="054CA4"/>
              </a:gs>
              <a:gs pos="100000">
                <a:srgbClr val="0070C0">
                  <a:alpha val="0"/>
                </a:srgbClr>
              </a:gs>
            </a:gsLst>
            <a:lin ang="0" scaled="0"/>
          </a:gradFill>
          <a:ln w="12700" cap="flat" cmpd="sng" algn="ctr">
            <a:noFill/>
            <a:prstDash val="solid"/>
            <a:miter lim="800000"/>
          </a:ln>
          <a:effectLst/>
        </p:spPr>
        <p:txBody>
          <a:bodyPr rtlCol="0" anchor="ctr"/>
          <a:lstStyle>
            <a:defPPr>
              <a:defRPr lang="zh-CN"/>
            </a:defPPr>
            <a:lvl1pPr>
              <a:defRPr sz="2000" b="1"/>
            </a:lvl1pPr>
            <a:lvl2pPr>
              <a:defRPr>
                <a:solidFill>
                  <a:sysClr val="window" lastClr="FFFFFF"/>
                </a:solidFill>
              </a:defRPr>
            </a:lvl2pPr>
            <a:lvl3pPr>
              <a:defRPr>
                <a:solidFill>
                  <a:sysClr val="window" lastClr="FFFFFF"/>
                </a:solidFill>
              </a:defRPr>
            </a:lvl3pPr>
            <a:lvl4pPr>
              <a:defRPr>
                <a:solidFill>
                  <a:sysClr val="window" lastClr="FFFFFF"/>
                </a:solidFill>
              </a:defRPr>
            </a:lvl4pPr>
            <a:lvl5pPr>
              <a:defRPr>
                <a:solidFill>
                  <a:sysClr val="window" lastClr="FFFFFF"/>
                </a:solidFill>
              </a:defRPr>
            </a:lvl5pPr>
            <a:lvl6pPr>
              <a:defRPr>
                <a:solidFill>
                  <a:sysClr val="window" lastClr="FFFFFF"/>
                </a:solidFill>
              </a:defRPr>
            </a:lvl6pPr>
            <a:lvl7pPr>
              <a:defRPr>
                <a:solidFill>
                  <a:sysClr val="window" lastClr="FFFFFF"/>
                </a:solidFill>
              </a:defRPr>
            </a:lvl7pPr>
            <a:lvl8pPr>
              <a:defRPr>
                <a:solidFill>
                  <a:sysClr val="window" lastClr="FFFFFF"/>
                </a:solidFill>
              </a:defRPr>
            </a:lvl8pPr>
            <a:lvl9pPr>
              <a:defRPr>
                <a:solidFill>
                  <a:sysClr val="window" lastClr="FFFFFF"/>
                </a:solidFill>
              </a:defRPr>
            </a:lvl9pPr>
          </a:lstStyle>
          <a:p>
            <a:pPr algn="l" fontAlgn="auto">
              <a:buClrTx/>
              <a:buSzTx/>
              <a:buFontTx/>
              <a:defRPr/>
            </a:pPr>
            <a:r>
              <a:rPr lang="zh-CN" altLang="en-US" dirty="0">
                <a:solidFill>
                  <a:schemeClr val="bg1"/>
                </a:solidFill>
                <a:latin typeface="微软雅黑" panose="020B0503020204020204" charset="-122"/>
                <a:ea typeface="微软雅黑" panose="020B0503020204020204" charset="-122"/>
                <a:sym typeface="+mn-ea"/>
              </a:rPr>
              <a:t> （二）隐患排查治理要求</a:t>
            </a:r>
            <a:endParaRPr lang="zh-CN" altLang="en-US" dirty="0">
              <a:solidFill>
                <a:schemeClr val="bg1"/>
              </a:solidFill>
              <a:latin typeface="微软雅黑" panose="020B0503020204020204" charset="-122"/>
              <a:ea typeface="微软雅黑" panose="020B0503020204020204" charset="-122"/>
              <a:sym typeface="+mn-ea"/>
            </a:endParaRP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圆角 3"/>
          <p:cNvSpPr/>
          <p:nvPr/>
        </p:nvSpPr>
        <p:spPr>
          <a:xfrm>
            <a:off x="335280" y="1628140"/>
            <a:ext cx="11522075" cy="1209675"/>
          </a:xfrm>
          <a:prstGeom prst="roundRect">
            <a:avLst/>
          </a:prstGeom>
          <a:solidFill>
            <a:srgbClr val="E5F0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ndParaRPr>
          </a:p>
        </p:txBody>
      </p:sp>
      <p:sp>
        <p:nvSpPr>
          <p:cNvPr id="5" name="矩形: 圆角 4"/>
          <p:cNvSpPr/>
          <p:nvPr/>
        </p:nvSpPr>
        <p:spPr>
          <a:xfrm>
            <a:off x="407353" y="4873526"/>
            <a:ext cx="11522075" cy="1051520"/>
          </a:xfrm>
          <a:prstGeom prst="roundRect">
            <a:avLst/>
          </a:prstGeom>
          <a:solidFill>
            <a:srgbClr val="E5F0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ndParaRPr>
          </a:p>
        </p:txBody>
      </p:sp>
      <p:sp>
        <p:nvSpPr>
          <p:cNvPr id="7" name="矩形: 圆角 6"/>
          <p:cNvSpPr/>
          <p:nvPr/>
        </p:nvSpPr>
        <p:spPr>
          <a:xfrm>
            <a:off x="334963" y="3172288"/>
            <a:ext cx="11522075" cy="1485908"/>
          </a:xfrm>
          <a:prstGeom prst="roundRect">
            <a:avLst/>
          </a:prstGeom>
          <a:solidFill>
            <a:srgbClr val="E5F0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ndParaRPr>
          </a:p>
        </p:txBody>
      </p:sp>
      <p:sp>
        <p:nvSpPr>
          <p:cNvPr id="6" name="灯片编号占位符 5"/>
          <p:cNvSpPr>
            <a:spLocks noGrp="1"/>
          </p:cNvSpPr>
          <p:nvPr>
            <p:ph type="sldNum" sz="quarter" idx="4294967295"/>
          </p:nvPr>
        </p:nvSpPr>
        <p:spPr>
          <a:xfrm>
            <a:off x="9997440" y="6499860"/>
            <a:ext cx="2133600" cy="365125"/>
          </a:xfrm>
        </p:spPr>
        <p:txBody>
          <a:bodyPr/>
          <a:lstStyle/>
          <a:p>
            <a:fld id="{A10E9369-8E4E-4DE7-B129-F0280ABC27D7}" type="slidenum">
              <a:rPr lang="zh-CN" altLang="en-US" smtClean="0"/>
            </a:fld>
            <a:endParaRPr lang="zh-CN" altLang="en-US" dirty="0"/>
          </a:p>
        </p:txBody>
      </p:sp>
      <p:sp>
        <p:nvSpPr>
          <p:cNvPr id="3" name="TextBox 8"/>
          <p:cNvSpPr txBox="1"/>
          <p:nvPr/>
        </p:nvSpPr>
        <p:spPr>
          <a:xfrm>
            <a:off x="168335" y="271329"/>
            <a:ext cx="7002524" cy="52197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charset="-122"/>
                <a:ea typeface="微软雅黑" panose="020B0503020204020204" charset="-122"/>
              </a:rPr>
              <a:t>三、</a:t>
            </a:r>
            <a:r>
              <a:rPr lang="zh-CN" altLang="en-US" sz="2800" b="1" dirty="0">
                <a:latin typeface="微软雅黑" panose="020B0503020204020204" charset="-122"/>
                <a:ea typeface="微软雅黑" panose="020B0503020204020204" charset="-122"/>
                <a:sym typeface="+mn-ea"/>
              </a:rPr>
              <a:t>有关工作要求</a:t>
            </a:r>
            <a:endParaRPr lang="zh-CN" altLang="en-US" sz="2800" b="1" dirty="0">
              <a:latin typeface="微软雅黑" panose="020B0503020204020204" charset="-122"/>
              <a:ea typeface="微软雅黑" panose="020B0503020204020204" charset="-122"/>
            </a:endParaRPr>
          </a:p>
        </p:txBody>
      </p:sp>
      <p:sp>
        <p:nvSpPr>
          <p:cNvPr id="19462" name="Text Box 5"/>
          <p:cNvSpPr txBox="1"/>
          <p:nvPr>
            <p:custDataLst>
              <p:tags r:id="rId1"/>
            </p:custDataLst>
          </p:nvPr>
        </p:nvSpPr>
        <p:spPr>
          <a:xfrm>
            <a:off x="397510" y="1684020"/>
            <a:ext cx="11194415" cy="4553585"/>
          </a:xfrm>
          <a:prstGeom prst="rect">
            <a:avLst/>
          </a:prstGeom>
          <a:noFill/>
          <a:ln w="9525">
            <a:noFill/>
          </a:ln>
        </p:spPr>
        <p:txBody>
          <a:bodyPr wrap="square">
            <a:no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algn="just" defTabSz="914400" eaLnBrk="1" latinLnBrk="1" hangingPunct="1">
              <a:lnSpc>
                <a:spcPct val="150000"/>
              </a:lnSpc>
              <a:spcBef>
                <a:spcPts val="1200"/>
              </a:spcBef>
              <a:buClrTx/>
              <a:buSzTx/>
              <a:buFont typeface="Arial" panose="020B0604020202020204" pitchFamily="34" charset="0"/>
              <a:buChar char="•"/>
            </a:pPr>
            <a:r>
              <a:rPr lang="zh-CN" sz="1800" b="1" dirty="0">
                <a:latin typeface="微软雅黑" panose="020B0503020204020204" charset="-122"/>
                <a:ea typeface="微软雅黑" panose="020B0503020204020204" charset="-122"/>
                <a:cs typeface="微软雅黑" panose="020B0503020204020204" charset="-122"/>
                <a:sym typeface="宋体" panose="02010600030101010101" pitchFamily="2" charset="-122"/>
              </a:rPr>
              <a:t>严格落实重大隐患</a:t>
            </a:r>
            <a:r>
              <a:rPr lang="zh-CN" sz="1800" b="1" dirty="0">
                <a:solidFill>
                  <a:srgbClr val="C00000"/>
                </a:solidFill>
                <a:latin typeface="微软雅黑" panose="020B0503020204020204" charset="-122"/>
                <a:ea typeface="微软雅黑" panose="020B0503020204020204" charset="-122"/>
                <a:cs typeface="微软雅黑" panose="020B0503020204020204" charset="-122"/>
                <a:sym typeface="宋体" panose="02010600030101010101" pitchFamily="2" charset="-122"/>
              </a:rPr>
              <a:t>即时报告</a:t>
            </a:r>
            <a:r>
              <a:rPr lang="zh-CN" sz="1800" b="1" dirty="0">
                <a:latin typeface="微软雅黑" panose="020B0503020204020204" charset="-122"/>
                <a:ea typeface="微软雅黑" panose="020B0503020204020204" charset="-122"/>
                <a:cs typeface="微软雅黑" panose="020B0503020204020204" charset="-122"/>
                <a:sym typeface="宋体" panose="02010600030101010101" pitchFamily="2" charset="-122"/>
              </a:rPr>
              <a:t>要求。</a:t>
            </a:r>
            <a:r>
              <a:rPr lang="zh-CN" sz="1800" dirty="0">
                <a:ln>
                  <a:noFill/>
                </a:ln>
                <a:effectLst/>
                <a:uLnTx/>
                <a:uFillTx/>
                <a:latin typeface="微软雅黑" panose="020B0503020204020204" charset="-122"/>
                <a:ea typeface="微软雅黑" panose="020B0503020204020204" charset="-122"/>
                <a:sym typeface="宋体" panose="02010600030101010101" pitchFamily="2" charset="-122"/>
              </a:rPr>
              <a:t>各单位排查出的重大隐患要</a:t>
            </a:r>
            <a:r>
              <a:rPr lang="zh-CN" sz="1800" b="1" dirty="0">
                <a:ln>
                  <a:noFill/>
                </a:ln>
                <a:solidFill>
                  <a:srgbClr val="C00000"/>
                </a:solidFill>
                <a:effectLst/>
                <a:uLnTx/>
                <a:uFillTx/>
                <a:latin typeface="微软雅黑" panose="020B0503020204020204" charset="-122"/>
                <a:ea typeface="微软雅黑" panose="020B0503020204020204" charset="-122"/>
                <a:sym typeface="宋体" panose="02010600030101010101" pitchFamily="2" charset="-122"/>
              </a:rPr>
              <a:t>第一时间</a:t>
            </a:r>
            <a:r>
              <a:rPr lang="zh-CN" sz="1800" dirty="0">
                <a:ln>
                  <a:noFill/>
                </a:ln>
                <a:effectLst/>
                <a:uLnTx/>
                <a:uFillTx/>
                <a:latin typeface="微软雅黑" panose="020B0503020204020204" charset="-122"/>
                <a:ea typeface="微软雅黑" panose="020B0503020204020204" charset="-122"/>
                <a:sym typeface="宋体" panose="02010600030101010101" pitchFamily="2" charset="-122"/>
              </a:rPr>
              <a:t>向公司安监部和专业管理部门报告</a:t>
            </a:r>
            <a:r>
              <a:rPr lang="zh-CN" altLang="en-US" sz="1800" dirty="0">
                <a:ln>
                  <a:noFill/>
                </a:ln>
                <a:effectLst/>
                <a:uLnTx/>
                <a:uFillTx/>
                <a:latin typeface="微软雅黑" panose="020B0503020204020204" charset="-122"/>
                <a:ea typeface="微软雅黑" panose="020B0503020204020204" charset="-122"/>
                <a:sym typeface="宋体" panose="02010600030101010101" pitchFamily="2" charset="-122"/>
              </a:rPr>
              <a:t>。公司层面在</a:t>
            </a:r>
            <a:r>
              <a:rPr lang="zh-CN" altLang="en-US" sz="1800" b="1" dirty="0">
                <a:ln>
                  <a:noFill/>
                </a:ln>
                <a:solidFill>
                  <a:srgbClr val="C00000"/>
                </a:solidFill>
                <a:effectLst/>
                <a:uLnTx/>
                <a:uFillTx/>
                <a:latin typeface="微软雅黑" panose="020B0503020204020204" charset="-122"/>
                <a:ea typeface="微软雅黑" panose="020B0503020204020204" charset="-122"/>
                <a:sym typeface="宋体" panose="02010600030101010101" pitchFamily="2" charset="-122"/>
              </a:rPr>
              <a:t>3个工作日</a:t>
            </a:r>
            <a:r>
              <a:rPr lang="zh-CN" altLang="en-US" sz="1800" dirty="0">
                <a:ln>
                  <a:noFill/>
                </a:ln>
                <a:effectLst/>
                <a:uLnTx/>
                <a:uFillTx/>
                <a:latin typeface="微软雅黑" panose="020B0503020204020204" charset="-122"/>
                <a:ea typeface="微软雅黑" panose="020B0503020204020204" charset="-122"/>
                <a:sym typeface="宋体" panose="02010600030101010101" pitchFamily="2" charset="-122"/>
              </a:rPr>
              <a:t>内向国家能源局派出机构、市电力管理</a:t>
            </a:r>
            <a:r>
              <a:rPr lang="zh-CN" altLang="en-US" sz="1800" dirty="0">
                <a:latin typeface="微软雅黑" panose="020B0503020204020204" charset="-122"/>
                <a:ea typeface="微软雅黑" panose="020B0503020204020204" charset="-122"/>
                <a:cs typeface="微软雅黑" panose="020B0503020204020204" charset="-122"/>
                <a:sym typeface="+mn-ea"/>
              </a:rPr>
              <a:t>部门报告；各区局向区电力管理部门报告。</a:t>
            </a:r>
            <a:endParaRPr lang="zh-CN" altLang="en-US" sz="1800" dirty="0">
              <a:latin typeface="微软雅黑" panose="020B0503020204020204" charset="-122"/>
              <a:ea typeface="微软雅黑" panose="020B0503020204020204" charset="-122"/>
              <a:cs typeface="微软雅黑" panose="020B0503020204020204" charset="-122"/>
              <a:sym typeface="+mn-ea"/>
            </a:endParaRPr>
          </a:p>
          <a:p>
            <a:pPr algn="just" defTabSz="914400" eaLnBrk="1" latinLnBrk="1" hangingPunct="1">
              <a:lnSpc>
                <a:spcPct val="150000"/>
              </a:lnSpc>
              <a:spcBef>
                <a:spcPts val="1200"/>
              </a:spcBef>
              <a:buClrTx/>
              <a:buSzTx/>
              <a:buFont typeface="Arial" panose="020B0604020202020204" pitchFamily="34" charset="0"/>
              <a:buChar char="•"/>
            </a:pPr>
            <a:endParaRPr lang="zh-CN" sz="1800" b="1" dirty="0">
              <a:latin typeface="微软雅黑" panose="020B0503020204020204" charset="-122"/>
              <a:ea typeface="微软雅黑" panose="020B0503020204020204" charset="-122"/>
              <a:cs typeface="仿宋_GB2312" panose="02010609030101010101" charset="-122"/>
              <a:sym typeface="+mn-ea"/>
            </a:endParaRPr>
          </a:p>
          <a:p>
            <a:pPr algn="just" eaLnBrk="1" latinLnBrk="1" hangingPunct="1">
              <a:lnSpc>
                <a:spcPct val="150000"/>
              </a:lnSpc>
              <a:buClrTx/>
              <a:buSzTx/>
              <a:buFont typeface="Arial" panose="020B0604020202020204" pitchFamily="34" charset="0"/>
              <a:buChar char="•"/>
            </a:pPr>
            <a:r>
              <a:rPr lang="zh-CN" altLang="en-US" sz="1800" b="1" dirty="0">
                <a:latin typeface="微软雅黑" panose="020B0503020204020204" charset="-122"/>
                <a:ea typeface="微软雅黑" panose="020B0503020204020204" charset="-122"/>
                <a:cs typeface="微软雅黑" panose="020B0503020204020204" charset="-122"/>
              </a:rPr>
              <a:t>持续运作分层分级隐患监督通报机制。</a:t>
            </a:r>
            <a:r>
              <a:rPr lang="zh-CN" altLang="en-US" sz="1800" dirty="0">
                <a:latin typeface="微软雅黑" panose="020B0503020204020204" charset="-122"/>
                <a:ea typeface="微软雅黑" panose="020B0503020204020204" charset="-122"/>
                <a:cs typeface="微软雅黑" panose="020B0503020204020204" charset="-122"/>
              </a:rPr>
              <a:t>生产单位层面常态检查通报本单位、班组隐患排查治理情况，督促亮</a:t>
            </a:r>
            <a:r>
              <a:rPr lang="zh-CN" altLang="en-US" sz="1800" b="1" dirty="0">
                <a:latin typeface="微软雅黑" panose="020B0503020204020204" charset="-122"/>
                <a:ea typeface="微软雅黑" panose="020B0503020204020204" charset="-122"/>
                <a:cs typeface="微软雅黑" panose="020B0503020204020204" charset="-122"/>
              </a:rPr>
              <a:t>“黄灯”</a:t>
            </a:r>
            <a:r>
              <a:rPr lang="zh-CN" altLang="en-US" sz="1800" dirty="0">
                <a:latin typeface="微软雅黑" panose="020B0503020204020204" charset="-122"/>
                <a:ea typeface="微软雅黑" panose="020B0503020204020204" charset="-122"/>
                <a:cs typeface="微软雅黑" panose="020B0503020204020204" charset="-122"/>
              </a:rPr>
              <a:t>隐患整改，确保隐患按期整改；公司层面对生产单位运作情况进行督导检查，通过月度例会、监督通报等晾晒各单位隐患排查治理情况，督促问题整改，</a:t>
            </a:r>
            <a:r>
              <a:rPr lang="zh-CN" altLang="en-US" sz="1800" b="1" dirty="0">
                <a:solidFill>
                  <a:srgbClr val="C00000"/>
                </a:solidFill>
                <a:latin typeface="微软雅黑" panose="020B0503020204020204" charset="-122"/>
                <a:ea typeface="微软雅黑" panose="020B0503020204020204" charset="-122"/>
                <a:cs typeface="微软雅黑" panose="020B0503020204020204" charset="-122"/>
              </a:rPr>
              <a:t>对未按期完成隐患整改的纳入责任制考核</a:t>
            </a:r>
            <a:r>
              <a:rPr lang="zh-CN" altLang="en-US" sz="1800" dirty="0">
                <a:latin typeface="微软雅黑" panose="020B0503020204020204" charset="-122"/>
                <a:ea typeface="微软雅黑" panose="020B0503020204020204" charset="-122"/>
                <a:cs typeface="微软雅黑" panose="020B0503020204020204" charset="-122"/>
              </a:rPr>
              <a:t>。</a:t>
            </a:r>
            <a:endParaRPr lang="zh-CN" altLang="en-US" sz="1800" dirty="0">
              <a:latin typeface="微软雅黑" panose="020B0503020204020204" charset="-122"/>
              <a:ea typeface="微软雅黑" panose="020B0503020204020204" charset="-122"/>
              <a:cs typeface="微软雅黑" panose="020B0503020204020204" charset="-122"/>
            </a:endParaRPr>
          </a:p>
          <a:p>
            <a:pPr algn="just" eaLnBrk="1" latinLnBrk="1" hangingPunct="1">
              <a:lnSpc>
                <a:spcPct val="150000"/>
              </a:lnSpc>
              <a:buClrTx/>
              <a:buSzTx/>
              <a:buFont typeface="Arial" panose="020B0604020202020204" pitchFamily="34" charset="0"/>
              <a:buChar char="•"/>
            </a:pPr>
            <a:endParaRPr lang="zh-CN" altLang="en-US" sz="1800" dirty="0">
              <a:latin typeface="微软雅黑" panose="020B0503020204020204" charset="-122"/>
              <a:ea typeface="微软雅黑" panose="020B0503020204020204" charset="-122"/>
              <a:cs typeface="微软雅黑" panose="020B0503020204020204" charset="-122"/>
            </a:endParaRPr>
          </a:p>
          <a:p>
            <a:pPr algn="just" eaLnBrk="1" latinLnBrk="1" hangingPunct="1">
              <a:lnSpc>
                <a:spcPct val="150000"/>
              </a:lnSpc>
              <a:buClrTx/>
              <a:buSzTx/>
              <a:buFont typeface="Arial" panose="020B0604020202020204" pitchFamily="34" charset="0"/>
              <a:buChar char="•"/>
            </a:pPr>
            <a:r>
              <a:rPr lang="zh-CN" altLang="en-US" sz="1800" dirty="0">
                <a:latin typeface="微软雅黑" panose="020B0503020204020204" charset="-122"/>
                <a:ea typeface="微软雅黑" panose="020B0503020204020204" charset="-122"/>
                <a:cs typeface="微软雅黑" panose="020B0503020204020204" charset="-122"/>
              </a:rPr>
              <a:t>公司安监部将结合春季安全大检查组织外部专家对各专业领域、各生产单位开展督导检查，</a:t>
            </a:r>
            <a:r>
              <a:rPr lang="zh-CN" altLang="en-US" sz="1800" b="1" dirty="0">
                <a:latin typeface="微软雅黑" panose="020B0503020204020204" charset="-122"/>
                <a:ea typeface="微软雅黑" panose="020B0503020204020204" charset="-122"/>
                <a:cs typeface="微软雅黑" panose="020B0503020204020204" charset="-122"/>
              </a:rPr>
              <a:t>对隐患排查治理工作成效突出的单位纳入安全工作奖励</a:t>
            </a:r>
            <a:r>
              <a:rPr lang="zh-CN" altLang="en-US" sz="1800" dirty="0">
                <a:latin typeface="微软雅黑" panose="020B0503020204020204" charset="-122"/>
                <a:ea typeface="微软雅黑" panose="020B0503020204020204" charset="-122"/>
                <a:cs typeface="微软雅黑" panose="020B0503020204020204" charset="-122"/>
              </a:rPr>
              <a:t>，</a:t>
            </a:r>
            <a:r>
              <a:rPr lang="zh-CN" altLang="en-US" sz="1800" b="1" dirty="0">
                <a:solidFill>
                  <a:srgbClr val="C00000"/>
                </a:solidFill>
                <a:latin typeface="微软雅黑" panose="020B0503020204020204" charset="-122"/>
                <a:ea typeface="微软雅黑" panose="020B0503020204020204" charset="-122"/>
                <a:cs typeface="微软雅黑" panose="020B0503020204020204" charset="-122"/>
              </a:rPr>
              <a:t>对排查履职不到位、隐患整治不力的单位给予通报考核</a:t>
            </a:r>
            <a:r>
              <a:rPr lang="zh-CN" altLang="en-US" sz="1800" dirty="0">
                <a:latin typeface="微软雅黑" panose="020B0503020204020204" charset="-122"/>
                <a:ea typeface="微软雅黑" panose="020B0503020204020204" charset="-122"/>
                <a:cs typeface="微软雅黑" panose="020B0503020204020204" charset="-122"/>
              </a:rPr>
              <a:t>。</a:t>
            </a:r>
            <a:endParaRPr lang="zh-CN" altLang="en-US" sz="1800" dirty="0">
              <a:latin typeface="微软雅黑" panose="020B0503020204020204" charset="-122"/>
              <a:ea typeface="微软雅黑" panose="020B0503020204020204" charset="-122"/>
              <a:cs typeface="微软雅黑" panose="020B0503020204020204" charset="-122"/>
            </a:endParaRPr>
          </a:p>
        </p:txBody>
      </p:sp>
      <p:sp>
        <p:nvSpPr>
          <p:cNvPr id="8" name="文本框 7"/>
          <p:cNvSpPr txBox="1"/>
          <p:nvPr/>
        </p:nvSpPr>
        <p:spPr>
          <a:xfrm>
            <a:off x="-24680" y="969010"/>
            <a:ext cx="5040000" cy="448945"/>
          </a:xfrm>
          <a:prstGeom prst="rect">
            <a:avLst/>
          </a:prstGeom>
          <a:gradFill>
            <a:gsLst>
              <a:gs pos="66000">
                <a:srgbClr val="054CA4"/>
              </a:gs>
              <a:gs pos="100000">
                <a:srgbClr val="0070C0">
                  <a:alpha val="0"/>
                </a:srgbClr>
              </a:gs>
            </a:gsLst>
            <a:lin ang="0" scaled="0"/>
          </a:gradFill>
          <a:ln w="12700" cap="flat" cmpd="sng" algn="ctr">
            <a:noFill/>
            <a:prstDash val="solid"/>
            <a:miter lim="800000"/>
          </a:ln>
          <a:effectLst/>
        </p:spPr>
        <p:txBody>
          <a:bodyPr rtlCol="0" anchor="ctr"/>
          <a:lstStyle>
            <a:defPPr>
              <a:defRPr lang="zh-CN"/>
            </a:defPPr>
            <a:lvl1pPr>
              <a:defRPr sz="2000" b="1"/>
            </a:lvl1pPr>
            <a:lvl2pPr>
              <a:defRPr>
                <a:solidFill>
                  <a:sysClr val="window" lastClr="FFFFFF"/>
                </a:solidFill>
              </a:defRPr>
            </a:lvl2pPr>
            <a:lvl3pPr>
              <a:defRPr>
                <a:solidFill>
                  <a:sysClr val="window" lastClr="FFFFFF"/>
                </a:solidFill>
              </a:defRPr>
            </a:lvl3pPr>
            <a:lvl4pPr>
              <a:defRPr>
                <a:solidFill>
                  <a:sysClr val="window" lastClr="FFFFFF"/>
                </a:solidFill>
              </a:defRPr>
            </a:lvl4pPr>
            <a:lvl5pPr>
              <a:defRPr>
                <a:solidFill>
                  <a:sysClr val="window" lastClr="FFFFFF"/>
                </a:solidFill>
              </a:defRPr>
            </a:lvl5pPr>
            <a:lvl6pPr>
              <a:defRPr>
                <a:solidFill>
                  <a:sysClr val="window" lastClr="FFFFFF"/>
                </a:solidFill>
              </a:defRPr>
            </a:lvl6pPr>
            <a:lvl7pPr>
              <a:defRPr>
                <a:solidFill>
                  <a:sysClr val="window" lastClr="FFFFFF"/>
                </a:solidFill>
              </a:defRPr>
            </a:lvl7pPr>
            <a:lvl8pPr>
              <a:defRPr>
                <a:solidFill>
                  <a:sysClr val="window" lastClr="FFFFFF"/>
                </a:solidFill>
              </a:defRPr>
            </a:lvl8pPr>
            <a:lvl9pPr>
              <a:defRPr>
                <a:solidFill>
                  <a:sysClr val="window" lastClr="FFFFFF"/>
                </a:solidFill>
              </a:defRPr>
            </a:lvl9pPr>
          </a:lstStyle>
          <a:p>
            <a:pPr algn="l" fontAlgn="auto">
              <a:buClrTx/>
              <a:buSzTx/>
              <a:buFontTx/>
              <a:defRPr/>
            </a:pPr>
            <a:r>
              <a:rPr lang="zh-CN" altLang="en-US" dirty="0">
                <a:solidFill>
                  <a:schemeClr val="bg1"/>
                </a:solidFill>
                <a:latin typeface="微软雅黑" panose="020B0503020204020204" charset="-122"/>
                <a:ea typeface="微软雅黑" panose="020B0503020204020204" charset="-122"/>
                <a:sym typeface="+mn-ea"/>
              </a:rPr>
              <a:t> （三）有关机制要求</a:t>
            </a:r>
            <a:endParaRPr lang="zh-CN" altLang="en-US" dirty="0">
              <a:solidFill>
                <a:schemeClr val="bg1"/>
              </a:solidFill>
              <a:latin typeface="微软雅黑" panose="020B0503020204020204" charset="-122"/>
              <a:ea typeface="微软雅黑" panose="020B0503020204020204" charset="-122"/>
              <a:sym typeface="+mn-ea"/>
            </a:endParaRP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5"/>
          <p:cNvSpPr txBox="1"/>
          <p:nvPr/>
        </p:nvSpPr>
        <p:spPr>
          <a:xfrm>
            <a:off x="2351584" y="1988840"/>
            <a:ext cx="4464496" cy="706755"/>
          </a:xfrm>
          <a:prstGeom prst="rect">
            <a:avLst/>
          </a:prstGeom>
          <a:noFill/>
        </p:spPr>
        <p:txBody>
          <a:bodyPr wrap="square" rtlCol="0">
            <a:spAutoFit/>
          </a:bodyPr>
          <a:lstStyle/>
          <a:p>
            <a:r>
              <a:rPr lang="zh-CN" altLang="en-US" sz="4000" b="1" dirty="0">
                <a:solidFill>
                  <a:srgbClr val="003679"/>
                </a:solidFill>
                <a:latin typeface="微软雅黑" panose="020B0503020204020204" charset="-122"/>
                <a:ea typeface="微软雅黑" panose="020B0503020204020204" charset="-122"/>
              </a:rPr>
              <a:t>谢 谢！</a:t>
            </a:r>
            <a:endParaRPr lang="en-US" altLang="zh-CN" sz="4000" b="1" dirty="0">
              <a:solidFill>
                <a:srgbClr val="003679"/>
              </a:solidFill>
              <a:latin typeface="微软雅黑" panose="020B0503020204020204" charset="-122"/>
              <a:ea typeface="微软雅黑" panose="020B0503020204020204" charset="-122"/>
            </a:endParaRPr>
          </a:p>
        </p:txBody>
      </p:sp>
      <p:sp>
        <p:nvSpPr>
          <p:cNvPr id="7" name="TextBox 6"/>
          <p:cNvSpPr txBox="1"/>
          <p:nvPr/>
        </p:nvSpPr>
        <p:spPr>
          <a:xfrm>
            <a:off x="2351584" y="2636912"/>
            <a:ext cx="4824536" cy="645160"/>
          </a:xfrm>
          <a:prstGeom prst="rect">
            <a:avLst/>
          </a:prstGeom>
          <a:noFill/>
        </p:spPr>
        <p:txBody>
          <a:bodyPr wrap="square" rtlCol="0">
            <a:spAutoFit/>
          </a:bodyPr>
          <a:lstStyle/>
          <a:p>
            <a:r>
              <a:rPr lang="en-US" altLang="zh-CN" sz="3600" b="1" dirty="0">
                <a:latin typeface="Arial" panose="020B0604020202020204" pitchFamily="34" charset="0"/>
                <a:ea typeface="Arial Unicode MS" panose="020B0604020202020204" charset="-122"/>
                <a:cs typeface="Arial" panose="020B0604020202020204" pitchFamily="34" charset="0"/>
              </a:rPr>
              <a:t>THANK YOU</a:t>
            </a:r>
            <a:r>
              <a:rPr lang="zh-CN" altLang="en-US" sz="3600" b="1" dirty="0">
                <a:latin typeface="Arial" panose="020B0604020202020204" pitchFamily="34" charset="0"/>
                <a:ea typeface="Arial Unicode MS" panose="020B0604020202020204" charset="-122"/>
                <a:cs typeface="Arial" panose="020B0604020202020204" pitchFamily="34" charset="0"/>
              </a:rPr>
              <a:t>！</a:t>
            </a:r>
            <a:endParaRPr lang="zh-CN" altLang="en-US" sz="3600" b="1" dirty="0">
              <a:latin typeface="Arial" panose="020B0604020202020204" pitchFamily="34" charset="0"/>
              <a:ea typeface="Arial Unicode MS" panose="020B0604020202020204" charset="-122"/>
              <a:cs typeface="Arial" panose="020B0604020202020204" pitchFamily="34" charset="0"/>
            </a:endParaRPr>
          </a:p>
        </p:txBody>
      </p:sp>
    </p:spTree>
  </p:cSld>
  <p:clrMapOvr>
    <a:masterClrMapping/>
  </p:clrMapOvr>
</p:sld>
</file>

<file path=ppt/tags/tag1.xml><?xml version="1.0" encoding="utf-8"?>
<p:tagLst xmlns:p="http://schemas.openxmlformats.org/presentationml/2006/main">
  <p:tag name="TABLE_ENDDRAG_ORIGIN_RECT" val="861*269"/>
  <p:tag name="TABLE_ENDDRAG_RECT" val="48*246*861*269"/>
</p:tagLst>
</file>

<file path=ppt/tags/tag2.xml><?xml version="1.0" encoding="utf-8"?>
<p:tagLst xmlns:p="http://schemas.openxmlformats.org/presentationml/2006/main">
  <p:tag name="KSO_WM_UNIT_SHADOW_SCHEMECOLOR_INDEX_BRIGHTNESS" val="-0.25"/>
  <p:tag name="KSO_WM_UNIT_SHADOW_SCHEMECOLOR_INDEX" val="8"/>
  <p:tag name="KSO_WM_UNIT_TEXT_FILL_FORE_SCHEMECOLOR_INDEX_BRIGHTNESS" val="0"/>
  <p:tag name="KSO_WM_UNIT_TEXT_FILL_TYPE" val="1"/>
  <p:tag name="KSO_WM_UNIT_HIGHLIGHT" val="0"/>
  <p:tag name="KSO_WM_UNIT_COMPATIBLE" val="0"/>
  <p:tag name="KSO_WM_UNIT_DIAGRAM_ISNUMVISUAL" val="0"/>
  <p:tag name="KSO_WM_UNIT_DIAGRAM_ISREFERUNIT" val="0"/>
  <p:tag name="KSO_WM_UNIT_ID" val="diagram20231058_5*l_h_i*1_5_2"/>
  <p:tag name="KSO_WM_TEMPLATE_CATEGORY" val="diagram"/>
  <p:tag name="KSO_WM_TEMPLATE_INDEX" val="20231058"/>
  <p:tag name="KSO_WM_UNIT_LAYERLEVEL" val="1_1_1"/>
  <p:tag name="KSO_WM_TAG_VERSION" val="3.0"/>
  <p:tag name="KSO_WM_UNIT_TYPE" val="l_h_i"/>
  <p:tag name="KSO_WM_UNIT_INDEX" val="1_5_2"/>
  <p:tag name="KSO_WM_DIAGRAM_VERSION" val="3"/>
  <p:tag name="KSO_WM_DIAGRAM_COLOR_TRICK" val="4"/>
  <p:tag name="KSO_WM_DIAGRAM_COLOR_TEXT_CAN_REMOVE" val="n"/>
  <p:tag name="KSO_WM_DIAGRAM_GROUP_CODE" val="l1-1"/>
  <p:tag name="KSO_WM_DIAGRAM_MAX_ITEMCNT" val="6"/>
  <p:tag name="KSO_WM_DIAGRAM_MIN_ITEMCNT" val="2"/>
  <p:tag name="KSO_WM_DIAGRAM_VIRTUALLY_FRAME" val="{&quot;height&quot;:244.29998779296875,&quot;left&quot;:11.04998779296875,&quot;top&quot;:231.25000610351563,&quot;width&quot;:877.1947134491695}"/>
  <p:tag name="KSO_WM_DIAGRAM_COLOR_MATCH_VALUE" val="{&quot;shape&quot;:{&quot;fill&quot;:{&quot;solid&quot;:{&quot;brightness&quot;:0,&quot;colorType&quot;:1,&quot;foreColorIndex&quot;:9,&quot;transparency&quot;:0},&quot;type&quot;:1},&quot;glow&quot;:{&quot;colorType&quot;:0},&quot;line&quot;:{&quot;type&quot;:0},&quot;shadow&quot;:{&quot;brightness&quot;:-0.25,&quot;colorType&quot;:1,&quot;foreColorIndex&quot;:9,&quot;transparency&quot;:0.899999976158142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9"/>
  <p:tag name="KSO_WM_UNIT_FILL_FORE_SCHEMECOLOR_INDEX_BRIGHTNESS" val="0"/>
  <p:tag name="KSO_WM_DIAGRAM_USE_COLOR_VALUE" val="{&quot;color_scheme&quot;:1,&quot;color_type&quot;:1,&quot;theme_color_indexes&quot;:[5,6,5,6,5,6]}"/>
</p:tagLst>
</file>

<file path=ppt/tags/tag3.xml><?xml version="1.0" encoding="utf-8"?>
<p:tagLst xmlns:p="http://schemas.openxmlformats.org/presentationml/2006/main">
  <p:tag name="KSO_WM_UNIT_LINE_FORE_SCHEMECOLOR_INDEX_BRIGHTNESS" val="0.35"/>
  <p:tag name="KSO_WM_UNIT_LINE_FILL_TYPE" val="2"/>
  <p:tag name="KSO_WM_UNIT_HIGHLIGHT" val="0"/>
  <p:tag name="KSO_WM_UNIT_COMPATIBLE" val="0"/>
  <p:tag name="KSO_WM_UNIT_DIAGRAM_ISNUMVISUAL" val="0"/>
  <p:tag name="KSO_WM_UNIT_DIAGRAM_ISREFERUNIT" val="0"/>
  <p:tag name="KSO_WM_UNIT_ID" val="diagram20231058_5*l_i*1_1"/>
  <p:tag name="KSO_WM_TEMPLATE_CATEGORY" val="diagram"/>
  <p:tag name="KSO_WM_TEMPLATE_INDEX" val="20231058"/>
  <p:tag name="KSO_WM_UNIT_LAYERLEVEL" val="1_1"/>
  <p:tag name="KSO_WM_TAG_VERSION" val="3.0"/>
  <p:tag name="KSO_WM_UNIT_TYPE" val="l_i"/>
  <p:tag name="KSO_WM_UNIT_INDEX" val="1_1"/>
  <p:tag name="KSO_WM_DIAGRAM_GROUP_CODE" val="l1-1"/>
  <p:tag name="KSO_WM_DIAGRAM_VERSION" val="3"/>
  <p:tag name="KSO_WM_DIAGRAM_COLOR_TRICK" val="4"/>
  <p:tag name="KSO_WM_DIAGRAM_COLOR_TEXT_CAN_REMOVE" val="n"/>
  <p:tag name="KSO_WM_DIAGRAM_MAX_ITEMCNT" val="6"/>
  <p:tag name="KSO_WM_DIAGRAM_MIN_ITEMCNT" val="2"/>
  <p:tag name="KSO_WM_DIAGRAM_VIRTUALLY_FRAME" val="{&quot;height&quot;:261.7195214555395,&quot;left&quot;:9.54998779296875,&quot;top&quot;:230.33047244094487,&quot;width&quot;:880.899461025929}"/>
  <p:tag name="KSO_WM_DIAGRAM_COLOR_MATCH_VALUE" val="{&quot;shape&quot;:{&quot;fill&quot;:{&quot;type&quot;:0},&quot;glow&quot;:{&quot;colorType&quot;:0},&quot;line&quot;:{&quot;solidLine&quot;:{&quot;brightness&quot;:0.5,&quot;colorType&quot;:1,&quot;foreColorIndex&quot;:15,&quot;transparency&quot;:0.800000011920929},&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15"/>
  <p:tag name="KSO_WM_DIAGRAM_USE_COLOR_VALUE" val="{&quot;color_scheme&quot;:1,&quot;color_type&quot;:1,&quot;theme_color_indexes&quot;:[5,6,5,6,5,6]}"/>
</p:tagLst>
</file>

<file path=ppt/tags/tag4.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1058_5*l_h_f*1_1_1"/>
  <p:tag name="KSO_WM_TEMPLATE_CATEGORY" val="diagram"/>
  <p:tag name="KSO_WM_TEMPLATE_INDEX" val="20231058"/>
  <p:tag name="KSO_WM_UNIT_LAYERLEVEL" val="1_1_1"/>
  <p:tag name="KSO_WM_TAG_VERSION" val="3.0"/>
  <p:tag name="KSO_WM_DIAGRAM_VERSION" val="3"/>
  <p:tag name="KSO_WM_DIAGRAM_COLOR_TRICK" val="4"/>
  <p:tag name="KSO_WM_DIAGRAM_COLOR_TEXT_CAN_REMOVE" val="n"/>
  <p:tag name="KSO_WM_UNIT_TEXT_FILL_FORE_SCHEMECOLOR_INDEX_BRIGHTNESS" val="0.35"/>
  <p:tag name="KSO_WM_DIAGRAM_GROUP_CODE" val="l1-1"/>
  <p:tag name="KSO_WM_DIAGRAM_MAX_ITEMCNT" val="6"/>
  <p:tag name="KSO_WM_DIAGRAM_MIN_ITEMCNT" val="2"/>
  <p:tag name="KSO_WM_DIAGRAM_VIRTUALLY_FRAME" val="{&quot;height&quot;:261.7195214555395,&quot;left&quot;:9.54998779296875,&quot;top&quot;:230.33047244094487,&quot;width&quot;:880.899461025929}"/>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PRESET_TEXT" val="单击此处添加文本内容，简明扼要地阐述您的观点"/>
  <p:tag name="KSO_WM_UNIT_TEXT_FILL_FORE_SCHEMECOLOR_INDEX" val="1"/>
  <p:tag name="KSO_WM_UNIT_TEXT_FILL_TYPE" val="1"/>
  <p:tag name="KSO_WM_DIAGRAM_USE_COLOR_VALUE" val="{&quot;color_scheme&quot;:1,&quot;color_type&quot;:1,&quot;theme_color_indexes&quot;:[5,6,5,6,5,6]}"/>
</p:tagLst>
</file>

<file path=ppt/tags/tag5.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1058_5*l_h_a*1_1_1"/>
  <p:tag name="KSO_WM_TEMPLATE_CATEGORY" val="diagram"/>
  <p:tag name="KSO_WM_TEMPLATE_INDEX" val="20231058"/>
  <p:tag name="KSO_WM_UNIT_LAYERLEVEL" val="1_1_1"/>
  <p:tag name="KSO_WM_TAG_VERSION" val="3.0"/>
  <p:tag name="KSO_WM_DIAGRAM_VERSION" val="3"/>
  <p:tag name="KSO_WM_DIAGRAM_COLOR_TRICK" val="4"/>
  <p:tag name="KSO_WM_DIAGRAM_COLOR_TEXT_CAN_REMOVE" val="n"/>
  <p:tag name="KSO_WM_UNIT_TEXT_FILL_FORE_SCHEMECOLOR_INDEX_BRIGHTNESS" val="0"/>
  <p:tag name="KSO_WM_DIAGRAM_GROUP_CODE" val="l1-1"/>
  <p:tag name="KSO_WM_DIAGRAM_MAX_ITEMCNT" val="6"/>
  <p:tag name="KSO_WM_DIAGRAM_MIN_ITEMCNT" val="2"/>
  <p:tag name="KSO_WM_DIAGRAM_VIRTUALLY_FRAME" val="{&quot;height&quot;:261.7195214555395,&quot;left&quot;:9.54998779296875,&quot;top&quot;:230.33047244094487,&quot;width&quot;:880.899461025929}"/>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添加标题"/>
  <p:tag name="KSO_WM_UNIT_TEXT_FILL_FORE_SCHEMECOLOR_INDEX" val="1"/>
  <p:tag name="KSO_WM_UNIT_TEXT_FILL_TYPE" val="1"/>
  <p:tag name="KSO_WM_DIAGRAM_USE_COLOR_VALUE" val="{&quot;color_scheme&quot;:1,&quot;color_type&quot;:1,&quot;theme_color_indexes&quot;:[5,6,5,6,5,6]}"/>
</p:tagLst>
</file>

<file path=ppt/tags/tag6.xml><?xml version="1.0" encoding="utf-8"?>
<p:tagLst xmlns:p="http://schemas.openxmlformats.org/presentationml/2006/main">
  <p:tag name="KSO_WM_UNIT_SHADOW_SCHEMECOLOR_INDEX_BRIGHTNESS" val="-0.25"/>
  <p:tag name="KSO_WM_UNIT_SHADOW_SCHEMECOLOR_INDEX" val="5"/>
  <p:tag name="KSO_WM_UNIT_TEXT_FILL_FORE_SCHEMECOLOR_INDEX_BRIGHTNESS" val="0"/>
  <p:tag name="KSO_WM_UNIT_TEXT_FILL_TYPE" val="1"/>
  <p:tag name="KSO_WM_UNIT_HIGHLIGHT" val="0"/>
  <p:tag name="KSO_WM_UNIT_COMPATIBLE" val="0"/>
  <p:tag name="KSO_WM_UNIT_DIAGRAM_ISNUMVISUAL" val="0"/>
  <p:tag name="KSO_WM_UNIT_DIAGRAM_ISREFERUNIT" val="0"/>
  <p:tag name="KSO_WM_UNIT_ID" val="diagram20231058_5*l_h_i*1_1_2"/>
  <p:tag name="KSO_WM_TEMPLATE_CATEGORY" val="diagram"/>
  <p:tag name="KSO_WM_TEMPLATE_INDEX" val="20231058"/>
  <p:tag name="KSO_WM_UNIT_LAYERLEVEL" val="1_1_1"/>
  <p:tag name="KSO_WM_TAG_VERSION" val="3.0"/>
  <p:tag name="KSO_WM_UNIT_TYPE" val="l_h_i"/>
  <p:tag name="KSO_WM_UNIT_INDEX" val="1_1_2"/>
  <p:tag name="KSO_WM_DIAGRAM_VERSION" val="3"/>
  <p:tag name="KSO_WM_DIAGRAM_COLOR_TRICK" val="4"/>
  <p:tag name="KSO_WM_DIAGRAM_COLOR_TEXT_CAN_REMOVE" val="n"/>
  <p:tag name="KSO_WM_DIAGRAM_GROUP_CODE" val="l1-1"/>
  <p:tag name="KSO_WM_DIAGRAM_MAX_ITEMCNT" val="6"/>
  <p:tag name="KSO_WM_DIAGRAM_MIN_ITEMCNT" val="2"/>
  <p:tag name="KSO_WM_DIAGRAM_VIRTUALLY_FRAME" val="{&quot;height&quot;:261.7195214555395,&quot;left&quot;:9.54998779296875,&quot;top&quot;:230.33047244094487,&quot;width&quot;:880.899461025929}"/>
  <p:tag name="KSO_WM_DIAGRAM_COLOR_MATCH_VALUE" val="{&quot;shape&quot;:{&quot;fill&quot;:{&quot;solid&quot;:{&quot;brightness&quot;:0,&quot;colorType&quot;:1,&quot;foreColorIndex&quot;:5,&quot;transparency&quot;:0},&quot;type&quot;:1},&quot;glow&quot;:{&quot;colorType&quot;:0},&quot;line&quot;:{&quot;type&quot;:0},&quot;shadow&quot;:{&quot;brightness&quot;:-0.25,&quot;colorType&quot;:1,&quot;foreColorIndex&quot;:5,&quot;transparency&quot;:0.899999976158142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7.xml><?xml version="1.0" encoding="utf-8"?>
<p:tagLst xmlns:p="http://schemas.openxmlformats.org/presentationml/2006/main">
  <p:tag name="KSO_WM_UNIT_FILL_FORE_SCHEMECOLOR_INDEX_1_BRIGHTNESS" val="0.4"/>
  <p:tag name="KSO_WM_UNIT_FILL_FORE_SCHEMECOLOR_INDEX_1" val="5"/>
  <p:tag name="KSO_WM_UNIT_FILL_FORE_SCHEMECOLOR_INDEX_1_POS" val="0"/>
  <p:tag name="KSO_WM_UNIT_FILL_FORE_SCHEMECOLOR_INDEX_1_TRANS" val="0"/>
  <p:tag name="KSO_WM_UNIT_FILL_FORE_SCHEMECOLOR_INDEX_2_BRIGHTNESS" val="0"/>
  <p:tag name="KSO_WM_UNIT_FILL_FORE_SCHEMECOLOR_INDEX_2" val="5"/>
  <p:tag name="KSO_WM_UNIT_FILL_FORE_SCHEMECOLOR_INDEX_2_POS" val="0.9"/>
  <p:tag name="KSO_WM_UNIT_FILL_FORE_SCHEMECOLOR_INDEX_2_TRANS" val="0"/>
  <p:tag name="KSO_WM_UNIT_FILL_GRADIENT_TYPE" val="0"/>
  <p:tag name="KSO_WM_UNIT_FILL_GRADIENT_ANGLE" val="135"/>
  <p:tag name="KSO_WM_UNIT_FILL_GRADIENT_DIRECTION" val="2"/>
  <p:tag name="KSO_WM_UNIT_SHADOW_SCHEMECOLOR_INDEX_BRIGHTNESS" val="-0.25"/>
  <p:tag name="KSO_WM_UNIT_SHADOW_SCHEMECOLOR_INDEX" val="5"/>
  <p:tag name="KSO_WM_UNIT_TEXT_FILL_FORE_SCHEMECOLOR_INDEX_BRIGHTNESS" val="0"/>
  <p:tag name="KSO_WM_UNIT_HIGHLIGHT" val="0"/>
  <p:tag name="KSO_WM_UNIT_COMPATIBLE" val="0"/>
  <p:tag name="KSO_WM_UNIT_DIAGRAM_ISNUMVISUAL" val="0"/>
  <p:tag name="KSO_WM_UNIT_DIAGRAM_ISREFERUNIT" val="0"/>
  <p:tag name="KSO_WM_UNIT_ID" val="diagram20231058_5*l_h_i*1_1_1"/>
  <p:tag name="KSO_WM_TEMPLATE_CATEGORY" val="diagram"/>
  <p:tag name="KSO_WM_TEMPLATE_INDEX" val="20231058"/>
  <p:tag name="KSO_WM_UNIT_LAYERLEVEL" val="1_1_1"/>
  <p:tag name="KSO_WM_TAG_VERSION" val="3.0"/>
  <p:tag name="KSO_WM_UNIT_TYPE" val="l_h_i"/>
  <p:tag name="KSO_WM_UNIT_INDEX" val="1_1_1"/>
  <p:tag name="KSO_WM_DIAGRAM_VERSION" val="3"/>
  <p:tag name="KSO_WM_DIAGRAM_COLOR_TRICK" val="4"/>
  <p:tag name="KSO_WM_DIAGRAM_COLOR_TEXT_CAN_REMOVE" val="n"/>
  <p:tag name="KSO_WM_DIAGRAM_GROUP_CODE" val="l1-1"/>
  <p:tag name="KSO_WM_UNIT_SUBTYPE" val="d"/>
  <p:tag name="KSO_WM_DIAGRAM_MAX_ITEMCNT" val="6"/>
  <p:tag name="KSO_WM_DIAGRAM_MIN_ITEMCNT" val="2"/>
  <p:tag name="KSO_WM_DIAGRAM_VIRTUALLY_FRAME" val="{&quot;height&quot;:261.7195214555395,&quot;left&quot;:9.54998779296875,&quot;top&quot;:230.33047244094487,&quot;width&quot;:880.899461025929}"/>
  <p:tag name="KSO_WM_DIAGRAM_COLOR_MATCH_VALUE" val="{&quot;shape&quot;:{&quot;fill&quot;:{&quot;gradient&quot;:[{&quot;brightness&quot;:0.6000000238418579,&quot;colorType&quot;:1,&quot;foreColorIndex&quot;:5,&quot;pos&quot;:0,&quot;transparency&quot;:0},{&quot;brightness&quot;:0,&quot;colorType&quot;:1,&quot;foreColorIndex&quot;:5,&quot;pos&quot;:0.8999999761581421,&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FILL_TYPE" val="3"/>
  <p:tag name="KSO_WM_DIAGRAM_USE_COLOR_VALUE" val="{&quot;color_scheme&quot;:1,&quot;color_type&quot;:1,&quot;theme_color_indexes&quot;:[5,6,5,6,5,6]}"/>
</p:tagLst>
</file>

<file path=ppt/tags/tag8.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1058_5*l_h_f*1_2_1"/>
  <p:tag name="KSO_WM_TEMPLATE_CATEGORY" val="diagram"/>
  <p:tag name="KSO_WM_TEMPLATE_INDEX" val="20231058"/>
  <p:tag name="KSO_WM_UNIT_LAYERLEVEL" val="1_1_1"/>
  <p:tag name="KSO_WM_TAG_VERSION" val="3.0"/>
  <p:tag name="KSO_WM_DIAGRAM_VERSION" val="3"/>
  <p:tag name="KSO_WM_DIAGRAM_COLOR_TRICK" val="4"/>
  <p:tag name="KSO_WM_DIAGRAM_COLOR_TEXT_CAN_REMOVE" val="n"/>
  <p:tag name="KSO_WM_UNIT_TEXT_FILL_FORE_SCHEMECOLOR_INDEX_BRIGHTNESS" val="0.35"/>
  <p:tag name="KSO_WM_DIAGRAM_GROUP_CODE" val="l1-1"/>
  <p:tag name="KSO_WM_DIAGRAM_MAX_ITEMCNT" val="6"/>
  <p:tag name="KSO_WM_DIAGRAM_MIN_ITEMCNT" val="2"/>
  <p:tag name="KSO_WM_DIAGRAM_VIRTUALLY_FRAME" val="{&quot;height&quot;:261.7195214555395,&quot;left&quot;:9.54998779296875,&quot;top&quot;:230.33047244094487,&quot;width&quot;:880.899461025929}"/>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PRESET_TEXT" val="单击此处添加文本具体内容，简明扼要地阐述您的观点"/>
  <p:tag name="KSO_WM_UNIT_TEXT_FILL_FORE_SCHEMECOLOR_INDEX" val="1"/>
  <p:tag name="KSO_WM_UNIT_TEXT_FILL_TYPE" val="1"/>
  <p:tag name="KSO_WM_DIAGRAM_USE_COLOR_VALUE" val="{&quot;color_scheme&quot;:1,&quot;color_type&quot;:1,&quot;theme_color_indexes&quot;:[5,6,5,6,5,6]}"/>
</p:tagLst>
</file>

<file path=ppt/tags/tag9.xml><?xml version="1.0" encoding="utf-8"?>
<p:tagLst xmlns:p="http://schemas.openxmlformats.org/presentationml/2006/main">
  <p:tag name="KSO_WM_UNIT_SHADOW_SCHEMECOLOR_INDEX_BRIGHTNESS" val="-0.25"/>
  <p:tag name="KSO_WM_UNIT_SHADOW_SCHEMECOLOR_INDEX" val="6"/>
  <p:tag name="KSO_WM_UNIT_TEXT_FILL_FORE_SCHEMECOLOR_INDEX_BRIGHTNESS" val="0"/>
  <p:tag name="KSO_WM_UNIT_TEXT_FILL_TYPE" val="1"/>
  <p:tag name="KSO_WM_UNIT_HIGHLIGHT" val="0"/>
  <p:tag name="KSO_WM_UNIT_COMPATIBLE" val="0"/>
  <p:tag name="KSO_WM_UNIT_DIAGRAM_ISNUMVISUAL" val="0"/>
  <p:tag name="KSO_WM_UNIT_DIAGRAM_ISREFERUNIT" val="0"/>
  <p:tag name="KSO_WM_UNIT_ID" val="diagram20231058_5*l_h_i*1_2_2"/>
  <p:tag name="KSO_WM_TEMPLATE_CATEGORY" val="diagram"/>
  <p:tag name="KSO_WM_TEMPLATE_INDEX" val="20231058"/>
  <p:tag name="KSO_WM_UNIT_LAYERLEVEL" val="1_1_1"/>
  <p:tag name="KSO_WM_TAG_VERSION" val="3.0"/>
  <p:tag name="KSO_WM_UNIT_TYPE" val="l_h_i"/>
  <p:tag name="KSO_WM_UNIT_INDEX" val="1_2_2"/>
  <p:tag name="KSO_WM_DIAGRAM_VERSION" val="3"/>
  <p:tag name="KSO_WM_DIAGRAM_COLOR_TRICK" val="4"/>
  <p:tag name="KSO_WM_DIAGRAM_COLOR_TEXT_CAN_REMOVE" val="n"/>
  <p:tag name="KSO_WM_DIAGRAM_GROUP_CODE" val="l1-1"/>
  <p:tag name="KSO_WM_DIAGRAM_MAX_ITEMCNT" val="6"/>
  <p:tag name="KSO_WM_DIAGRAM_MIN_ITEMCNT" val="2"/>
  <p:tag name="KSO_WM_DIAGRAM_VIRTUALLY_FRAME" val="{&quot;height&quot;:261.7195214555395,&quot;left&quot;:9.54998779296875,&quot;top&quot;:230.33047244094487,&quot;width&quot;:880.899461025929}"/>
  <p:tag name="KSO_WM_DIAGRAM_COLOR_MATCH_VALUE" val="{&quot;shape&quot;:{&quot;fill&quot;:{&quot;solid&quot;:{&quot;brightness&quot;:0,&quot;colorType&quot;:1,&quot;foreColorIndex&quot;:6,&quot;transparency&quot;:0},&quot;type&quot;:1},&quot;glow&quot;:{&quot;colorType&quot;:0},&quot;line&quot;:{&quot;type&quot;:0},&quot;shadow&quot;:{&quot;brightness&quot;:-0.25,&quot;colorType&quot;:1,&quot;foreColorIndex&quot;:6,&quot;transparency&quot;:0.899999976158142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6"/>
  <p:tag name="KSO_WM_UNIT_FILL_FORE_SCHEMECOLOR_INDEX_BRIGHTNESS" val="0"/>
  <p:tag name="KSO_WM_DIAGRAM_USE_COLOR_VALUE" val="{&quot;color_scheme&quot;:1,&quot;color_type&quot;:1,&quot;theme_color_indexes&quot;:[5,6,5,6,5,6]}"/>
</p:tagLst>
</file>

<file path=ppt/tags/tag10.xml><?xml version="1.0" encoding="utf-8"?>
<p:tagLst xmlns:p="http://schemas.openxmlformats.org/presentationml/2006/main">
  <p:tag name="KSO_WM_UNIT_FILL_FORE_SCHEMECOLOR_INDEX_1_BRIGHTNESS" val="0.4"/>
  <p:tag name="KSO_WM_UNIT_FILL_FORE_SCHEMECOLOR_INDEX_1" val="6"/>
  <p:tag name="KSO_WM_UNIT_FILL_FORE_SCHEMECOLOR_INDEX_1_POS" val="0"/>
  <p:tag name="KSO_WM_UNIT_FILL_FORE_SCHEMECOLOR_INDEX_1_TRANS" val="0"/>
  <p:tag name="KSO_WM_UNIT_FILL_FORE_SCHEMECOLOR_INDEX_2_BRIGHTNESS" val="0"/>
  <p:tag name="KSO_WM_UNIT_FILL_FORE_SCHEMECOLOR_INDEX_2" val="6"/>
  <p:tag name="KSO_WM_UNIT_FILL_FORE_SCHEMECOLOR_INDEX_2_POS" val="0.9"/>
  <p:tag name="KSO_WM_UNIT_FILL_FORE_SCHEMECOLOR_INDEX_2_TRANS" val="0"/>
  <p:tag name="KSO_WM_UNIT_FILL_GRADIENT_TYPE" val="0"/>
  <p:tag name="KSO_WM_UNIT_FILL_GRADIENT_ANGLE" val="135"/>
  <p:tag name="KSO_WM_UNIT_FILL_GRADIENT_DIRECTION" val="2"/>
  <p:tag name="KSO_WM_UNIT_SHADOW_SCHEMECOLOR_INDEX_BRIGHTNESS" val="-0.25"/>
  <p:tag name="KSO_WM_UNIT_SHADOW_SCHEMECOLOR_INDEX" val="6"/>
  <p:tag name="KSO_WM_UNIT_TEXT_FILL_FORE_SCHEMECOLOR_INDEX_BRIGHTNESS" val="0"/>
  <p:tag name="KSO_WM_UNIT_HIGHLIGHT" val="0"/>
  <p:tag name="KSO_WM_UNIT_COMPATIBLE" val="0"/>
  <p:tag name="KSO_WM_UNIT_DIAGRAM_ISNUMVISUAL" val="0"/>
  <p:tag name="KSO_WM_UNIT_DIAGRAM_ISREFERUNIT" val="0"/>
  <p:tag name="KSO_WM_UNIT_ID" val="diagram20231058_5*l_h_i*1_2_1"/>
  <p:tag name="KSO_WM_TEMPLATE_CATEGORY" val="diagram"/>
  <p:tag name="KSO_WM_TEMPLATE_INDEX" val="20231058"/>
  <p:tag name="KSO_WM_UNIT_LAYERLEVEL" val="1_1_1"/>
  <p:tag name="KSO_WM_TAG_VERSION" val="3.0"/>
  <p:tag name="KSO_WM_UNIT_TYPE" val="l_h_i"/>
  <p:tag name="KSO_WM_UNIT_INDEX" val="1_2_1"/>
  <p:tag name="KSO_WM_DIAGRAM_VERSION" val="3"/>
  <p:tag name="KSO_WM_DIAGRAM_COLOR_TRICK" val="4"/>
  <p:tag name="KSO_WM_DIAGRAM_COLOR_TEXT_CAN_REMOVE" val="n"/>
  <p:tag name="KSO_WM_DIAGRAM_GROUP_CODE" val="l1-1"/>
  <p:tag name="KSO_WM_UNIT_SUBTYPE" val="d"/>
  <p:tag name="KSO_WM_DIAGRAM_MAX_ITEMCNT" val="6"/>
  <p:tag name="KSO_WM_DIAGRAM_MIN_ITEMCNT" val="2"/>
  <p:tag name="KSO_WM_DIAGRAM_VIRTUALLY_FRAME" val="{&quot;height&quot;:261.7195214555395,&quot;left&quot;:9.54998779296875,&quot;top&quot;:230.33047244094487,&quot;width&quot;:880.899461025929}"/>
  <p:tag name="KSO_WM_DIAGRAM_COLOR_MATCH_VALUE" val="{&quot;shape&quot;:{&quot;fill&quot;:{&quot;gradient&quot;:[{&quot;brightness&quot;:0.6000000238418579,&quot;colorType&quot;:1,&quot;foreColorIndex&quot;:6,&quot;pos&quot;:0,&quot;transparency&quot;:0},{&quot;brightness&quot;:0,&quot;colorType&quot;:1,&quot;foreColorIndex&quot;:6,&quot;pos&quot;:0.8999999761581421,&quot;transparency&quot;:0}],&quot;type&quot;:3},&quot;glow&quot;:{&quot;colorType&quot;:0},&quot;line&quot;:{&quot;type&quot;:0},&quot;shadow&quot;:{&quot;brightness&quot;:-0.25,&quot;colorType&quot;:1,&quot;foreColorIndex&quot;:6,&quot;transparency&quot;:0.80000001192092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FILL_TYPE" val="3"/>
  <p:tag name="KSO_WM_DIAGRAM_USE_COLOR_VALUE" val="{&quot;color_scheme&quot;:1,&quot;color_type&quot;:1,&quot;theme_color_indexes&quot;:[5,6,5,6,5,6]}"/>
</p:tagLst>
</file>

<file path=ppt/tags/tag11.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1058_5*l_h_a*1_2_1"/>
  <p:tag name="KSO_WM_TEMPLATE_CATEGORY" val="diagram"/>
  <p:tag name="KSO_WM_TEMPLATE_INDEX" val="20231058"/>
  <p:tag name="KSO_WM_UNIT_LAYERLEVEL" val="1_1_1"/>
  <p:tag name="KSO_WM_TAG_VERSION" val="3.0"/>
  <p:tag name="KSO_WM_DIAGRAM_VERSION" val="3"/>
  <p:tag name="KSO_WM_DIAGRAM_COLOR_TRICK" val="4"/>
  <p:tag name="KSO_WM_DIAGRAM_COLOR_TEXT_CAN_REMOVE" val="n"/>
  <p:tag name="KSO_WM_UNIT_TEXT_FILL_FORE_SCHEMECOLOR_INDEX_BRIGHTNESS" val="0"/>
  <p:tag name="KSO_WM_DIAGRAM_GROUP_CODE" val="l1-1"/>
  <p:tag name="KSO_WM_DIAGRAM_MAX_ITEMCNT" val="6"/>
  <p:tag name="KSO_WM_DIAGRAM_MIN_ITEMCNT" val="2"/>
  <p:tag name="KSO_WM_DIAGRAM_VIRTUALLY_FRAME" val="{&quot;height&quot;:261.7195214555395,&quot;left&quot;:9.54998779296875,&quot;top&quot;:230.33047244094487,&quot;width&quot;:880.899461025929}"/>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添加标题"/>
  <p:tag name="KSO_WM_UNIT_TEXT_FILL_FORE_SCHEMECOLOR_INDEX" val="1"/>
  <p:tag name="KSO_WM_UNIT_TEXT_FILL_TYPE" val="1"/>
  <p:tag name="KSO_WM_DIAGRAM_USE_COLOR_VALUE" val="{&quot;color_scheme&quot;:1,&quot;color_type&quot;:1,&quot;theme_color_indexes&quot;:[5,6,5,6,5,6]}"/>
</p:tagLst>
</file>

<file path=ppt/tags/tag12.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3_1"/>
  <p:tag name="KSO_WM_UNIT_ID" val="diagram20231058_5*l_h_f*1_3_1"/>
  <p:tag name="KSO_WM_TEMPLATE_CATEGORY" val="diagram"/>
  <p:tag name="KSO_WM_TEMPLATE_INDEX" val="20231058"/>
  <p:tag name="KSO_WM_UNIT_LAYERLEVEL" val="1_1_1"/>
  <p:tag name="KSO_WM_TAG_VERSION" val="3.0"/>
  <p:tag name="KSO_WM_DIAGRAM_VERSION" val="3"/>
  <p:tag name="KSO_WM_DIAGRAM_COLOR_TRICK" val="4"/>
  <p:tag name="KSO_WM_DIAGRAM_COLOR_TEXT_CAN_REMOVE" val="n"/>
  <p:tag name="KSO_WM_UNIT_TEXT_FILL_FORE_SCHEMECOLOR_INDEX_BRIGHTNESS" val="0.35"/>
  <p:tag name="KSO_WM_DIAGRAM_GROUP_CODE" val="l1-1"/>
  <p:tag name="KSO_WM_DIAGRAM_MAX_ITEMCNT" val="6"/>
  <p:tag name="KSO_WM_DIAGRAM_MIN_ITEMCNT" val="2"/>
  <p:tag name="KSO_WM_DIAGRAM_VIRTUALLY_FRAME" val="{&quot;height&quot;:261.7195214555395,&quot;left&quot;:9.54998779296875,&quot;top&quot;:230.33047244094487,&quot;width&quot;:880.899461025929}"/>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PRESET_TEXT" val="单击此处添加文本内容，简明扼要地阐述您的观点"/>
  <p:tag name="KSO_WM_UNIT_TEXT_FILL_FORE_SCHEMECOLOR_INDEX" val="1"/>
  <p:tag name="KSO_WM_UNIT_TEXT_FILL_TYPE" val="1"/>
  <p:tag name="KSO_WM_DIAGRAM_USE_COLOR_VALUE" val="{&quot;color_scheme&quot;:1,&quot;color_type&quot;:1,&quot;theme_color_indexes&quot;:[5,6,5,6,5,6]}"/>
</p:tagLst>
</file>

<file path=ppt/tags/tag13.xml><?xml version="1.0" encoding="utf-8"?>
<p:tagLst xmlns:p="http://schemas.openxmlformats.org/presentationml/2006/main">
  <p:tag name="KSO_WM_UNIT_SHADOW_SCHEMECOLOR_INDEX_BRIGHTNESS" val="-0.5"/>
  <p:tag name="KSO_WM_UNIT_SHADOW_SCHEMECOLOR_INDEX" val="7"/>
  <p:tag name="KSO_WM_UNIT_TEXT_FILL_FORE_SCHEMECOLOR_INDEX_BRIGHTNESS" val="0"/>
  <p:tag name="KSO_WM_UNIT_TEXT_FILL_TYPE" val="1"/>
  <p:tag name="KSO_WM_UNIT_HIGHLIGHT" val="0"/>
  <p:tag name="KSO_WM_UNIT_COMPATIBLE" val="0"/>
  <p:tag name="KSO_WM_UNIT_DIAGRAM_ISNUMVISUAL" val="0"/>
  <p:tag name="KSO_WM_UNIT_DIAGRAM_ISREFERUNIT" val="0"/>
  <p:tag name="KSO_WM_UNIT_ID" val="diagram20231058_5*l_h_i*1_3_2"/>
  <p:tag name="KSO_WM_TEMPLATE_CATEGORY" val="diagram"/>
  <p:tag name="KSO_WM_TEMPLATE_INDEX" val="20231058"/>
  <p:tag name="KSO_WM_UNIT_LAYERLEVEL" val="1_1_1"/>
  <p:tag name="KSO_WM_TAG_VERSION" val="3.0"/>
  <p:tag name="KSO_WM_UNIT_TYPE" val="l_h_i"/>
  <p:tag name="KSO_WM_UNIT_INDEX" val="1_3_2"/>
  <p:tag name="KSO_WM_DIAGRAM_VERSION" val="3"/>
  <p:tag name="KSO_WM_DIAGRAM_COLOR_TRICK" val="4"/>
  <p:tag name="KSO_WM_DIAGRAM_COLOR_TEXT_CAN_REMOVE" val="n"/>
  <p:tag name="KSO_WM_DIAGRAM_GROUP_CODE" val="l1-1"/>
  <p:tag name="KSO_WM_DIAGRAM_MAX_ITEMCNT" val="6"/>
  <p:tag name="KSO_WM_DIAGRAM_MIN_ITEMCNT" val="2"/>
  <p:tag name="KSO_WM_DIAGRAM_VIRTUALLY_FRAME" val="{&quot;height&quot;:261.7195214555395,&quot;left&quot;:9.54998779296875,&quot;top&quot;:230.33047244094487,&quot;width&quot;:880.899461025929}"/>
  <p:tag name="KSO_WM_DIAGRAM_COLOR_MATCH_VALUE" val="{&quot;shape&quot;:{&quot;fill&quot;:{&quot;solid&quot;:{&quot;brightness&quot;:0,&quot;colorType&quot;:1,&quot;foreColorIndex&quot;:7,&quot;transparency&quot;:0},&quot;type&quot;:1},&quot;glow&quot;:{&quot;colorType&quot;:0},&quot;line&quot;:{&quot;type&quot;:0},&quot;shadow&quot;:{&quot;brightness&quot;:-0.5,&quot;colorType&quot;:1,&quot;foreColorIndex&quot;:7,&quot;transparency&quot;:0.899999976158142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7"/>
  <p:tag name="KSO_WM_UNIT_FILL_FORE_SCHEMECOLOR_INDEX_BRIGHTNESS" val="0"/>
  <p:tag name="KSO_WM_DIAGRAM_USE_COLOR_VALUE" val="{&quot;color_scheme&quot;:1,&quot;color_type&quot;:1,&quot;theme_color_indexes&quot;:[5,6,5,6,5,6]}"/>
</p:tagLst>
</file>

<file path=ppt/tags/tag14.xml><?xml version="1.0" encoding="utf-8"?>
<p:tagLst xmlns:p="http://schemas.openxmlformats.org/presentationml/2006/main">
  <p:tag name="KSO_WM_UNIT_FILL_FORE_SCHEMECOLOR_INDEX_1_BRIGHTNESS" val="0.4"/>
  <p:tag name="KSO_WM_UNIT_FILL_FORE_SCHEMECOLOR_INDEX_1" val="7"/>
  <p:tag name="KSO_WM_UNIT_FILL_FORE_SCHEMECOLOR_INDEX_1_POS" val="0"/>
  <p:tag name="KSO_WM_UNIT_FILL_FORE_SCHEMECOLOR_INDEX_1_TRANS" val="0"/>
  <p:tag name="KSO_WM_UNIT_FILL_FORE_SCHEMECOLOR_INDEX_2_BRIGHTNESS" val="0"/>
  <p:tag name="KSO_WM_UNIT_FILL_FORE_SCHEMECOLOR_INDEX_2" val="7"/>
  <p:tag name="KSO_WM_UNIT_FILL_FORE_SCHEMECOLOR_INDEX_2_POS" val="0.8"/>
  <p:tag name="KSO_WM_UNIT_FILL_FORE_SCHEMECOLOR_INDEX_2_TRANS" val="0"/>
  <p:tag name="KSO_WM_UNIT_FILL_GRADIENT_TYPE" val="0"/>
  <p:tag name="KSO_WM_UNIT_FILL_GRADIENT_ANGLE" val="135"/>
  <p:tag name="KSO_WM_UNIT_FILL_GRADIENT_DIRECTION" val="2"/>
  <p:tag name="KSO_WM_UNIT_SHADOW_SCHEMECOLOR_INDEX_BRIGHTNESS" val="-0.25"/>
  <p:tag name="KSO_WM_UNIT_SHADOW_SCHEMECOLOR_INDEX" val="7"/>
  <p:tag name="KSO_WM_UNIT_TEXT_FILL_FORE_SCHEMECOLOR_INDEX_BRIGHTNESS" val="0"/>
  <p:tag name="KSO_WM_UNIT_HIGHLIGHT" val="0"/>
  <p:tag name="KSO_WM_UNIT_COMPATIBLE" val="0"/>
  <p:tag name="KSO_WM_UNIT_DIAGRAM_ISNUMVISUAL" val="0"/>
  <p:tag name="KSO_WM_UNIT_DIAGRAM_ISREFERUNIT" val="0"/>
  <p:tag name="KSO_WM_UNIT_ID" val="diagram20231058_5*l_h_i*1_3_1"/>
  <p:tag name="KSO_WM_TEMPLATE_CATEGORY" val="diagram"/>
  <p:tag name="KSO_WM_TEMPLATE_INDEX" val="20231058"/>
  <p:tag name="KSO_WM_UNIT_LAYERLEVEL" val="1_1_1"/>
  <p:tag name="KSO_WM_TAG_VERSION" val="3.0"/>
  <p:tag name="KSO_WM_UNIT_TYPE" val="l_h_i"/>
  <p:tag name="KSO_WM_UNIT_INDEX" val="1_3_1"/>
  <p:tag name="KSO_WM_DIAGRAM_VERSION" val="3"/>
  <p:tag name="KSO_WM_DIAGRAM_COLOR_TRICK" val="4"/>
  <p:tag name="KSO_WM_DIAGRAM_COLOR_TEXT_CAN_REMOVE" val="n"/>
  <p:tag name="KSO_WM_DIAGRAM_GROUP_CODE" val="l1-1"/>
  <p:tag name="KSO_WM_UNIT_SUBTYPE" val="d"/>
  <p:tag name="KSO_WM_DIAGRAM_MAX_ITEMCNT" val="6"/>
  <p:tag name="KSO_WM_DIAGRAM_MIN_ITEMCNT" val="2"/>
  <p:tag name="KSO_WM_DIAGRAM_VIRTUALLY_FRAME" val="{&quot;height&quot;:261.7195214555395,&quot;left&quot;:9.54998779296875,&quot;top&quot;:230.33047244094487,&quot;width&quot;:880.899461025929}"/>
  <p:tag name="KSO_WM_DIAGRAM_COLOR_MATCH_VALUE" val="{&quot;shape&quot;:{&quot;fill&quot;:{&quot;gradient&quot;:[{&quot;brightness&quot;:0.6000000238418579,&quot;colorType&quot;:1,&quot;foreColorIndex&quot;:7,&quot;pos&quot;:0,&quot;transparency&quot;:0},{&quot;brightness&quot;:0,&quot;colorType&quot;:1,&quot;foreColorIndex&quot;:7,&quot;pos&quot;:0.800000011920929,&quot;transparency&quot;:0}],&quot;type&quot;:3},&quot;glow&quot;:{&quot;colorType&quot;:0},&quot;line&quot;:{&quot;type&quot;:0},&quot;shadow&quot;:{&quot;brightness&quot;:-0.25,&quot;colorType&quot;:1,&quot;foreColorIndex&quot;:7,&quot;transparency&quot;:0.80000001192092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FILL_TYPE" val="3"/>
  <p:tag name="KSO_WM_DIAGRAM_USE_COLOR_VALUE" val="{&quot;color_scheme&quot;:1,&quot;color_type&quot;:1,&quot;theme_color_indexes&quot;:[5,6,5,6,5,6]}"/>
</p:tagLst>
</file>

<file path=ppt/tags/tag15.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3_1"/>
  <p:tag name="KSO_WM_UNIT_ID" val="diagram20231058_5*l_h_a*1_3_1"/>
  <p:tag name="KSO_WM_TEMPLATE_CATEGORY" val="diagram"/>
  <p:tag name="KSO_WM_TEMPLATE_INDEX" val="20231058"/>
  <p:tag name="KSO_WM_UNIT_LAYERLEVEL" val="1_1_1"/>
  <p:tag name="KSO_WM_TAG_VERSION" val="3.0"/>
  <p:tag name="KSO_WM_DIAGRAM_VERSION" val="3"/>
  <p:tag name="KSO_WM_DIAGRAM_COLOR_TRICK" val="4"/>
  <p:tag name="KSO_WM_DIAGRAM_COLOR_TEXT_CAN_REMOVE" val="n"/>
  <p:tag name="KSO_WM_UNIT_TEXT_FILL_FORE_SCHEMECOLOR_INDEX_BRIGHTNESS" val="0"/>
  <p:tag name="KSO_WM_DIAGRAM_GROUP_CODE" val="l1-1"/>
  <p:tag name="KSO_WM_DIAGRAM_MAX_ITEMCNT" val="6"/>
  <p:tag name="KSO_WM_DIAGRAM_MIN_ITEMCNT" val="2"/>
  <p:tag name="KSO_WM_DIAGRAM_VIRTUALLY_FRAME" val="{&quot;height&quot;:261.7195214555395,&quot;left&quot;:9.54998779296875,&quot;top&quot;:230.33047244094487,&quot;width&quot;:880.899461025929}"/>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7,&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添加标题"/>
  <p:tag name="KSO_WM_UNIT_TEXT_FILL_FORE_SCHEMECOLOR_INDEX" val="1"/>
  <p:tag name="KSO_WM_UNIT_TEXT_FILL_TYPE" val="1"/>
  <p:tag name="KSO_WM_DIAGRAM_USE_COLOR_VALUE" val="{&quot;color_scheme&quot;:1,&quot;color_type&quot;:1,&quot;theme_color_indexes&quot;:[5,6,5,6,5,6]}"/>
</p:tagLst>
</file>

<file path=ppt/tags/tag16.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4_1"/>
  <p:tag name="KSO_WM_UNIT_ID" val="diagram20231058_5*l_h_f*1_4_1"/>
  <p:tag name="KSO_WM_TEMPLATE_CATEGORY" val="diagram"/>
  <p:tag name="KSO_WM_TEMPLATE_INDEX" val="20231058"/>
  <p:tag name="KSO_WM_UNIT_LAYERLEVEL" val="1_1_1"/>
  <p:tag name="KSO_WM_TAG_VERSION" val="3.0"/>
  <p:tag name="KSO_WM_DIAGRAM_VERSION" val="3"/>
  <p:tag name="KSO_WM_DIAGRAM_COLOR_TRICK" val="4"/>
  <p:tag name="KSO_WM_DIAGRAM_COLOR_TEXT_CAN_REMOVE" val="n"/>
  <p:tag name="KSO_WM_UNIT_TEXT_FILL_FORE_SCHEMECOLOR_INDEX_BRIGHTNESS" val="0.35"/>
  <p:tag name="KSO_WM_DIAGRAM_GROUP_CODE" val="l1-1"/>
  <p:tag name="KSO_WM_DIAGRAM_MAX_ITEMCNT" val="6"/>
  <p:tag name="KSO_WM_DIAGRAM_MIN_ITEMCNT" val="2"/>
  <p:tag name="KSO_WM_DIAGRAM_VIRTUALLY_FRAME" val="{&quot;height&quot;:261.7195214555395,&quot;left&quot;:9.54998779296875,&quot;top&quot;:230.33047244094487,&quot;width&quot;:880.899461025929}"/>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PRESET_TEXT" val="单击此处添加文本具体内容，简明扼要地阐述您的观点"/>
  <p:tag name="KSO_WM_UNIT_TEXT_FILL_FORE_SCHEMECOLOR_INDEX" val="1"/>
  <p:tag name="KSO_WM_UNIT_TEXT_FILL_TYPE" val="1"/>
  <p:tag name="KSO_WM_DIAGRAM_USE_COLOR_VALUE" val="{&quot;color_scheme&quot;:1,&quot;color_type&quot;:1,&quot;theme_color_indexes&quot;:[5,6,5,6,5,6]}"/>
</p:tagLst>
</file>

<file path=ppt/tags/tag17.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4_1"/>
  <p:tag name="KSO_WM_UNIT_ID" val="diagram20231058_5*l_h_a*1_4_1"/>
  <p:tag name="KSO_WM_TEMPLATE_CATEGORY" val="diagram"/>
  <p:tag name="KSO_WM_TEMPLATE_INDEX" val="20231058"/>
  <p:tag name="KSO_WM_UNIT_LAYERLEVEL" val="1_1_1"/>
  <p:tag name="KSO_WM_TAG_VERSION" val="3.0"/>
  <p:tag name="KSO_WM_DIAGRAM_VERSION" val="3"/>
  <p:tag name="KSO_WM_DIAGRAM_COLOR_TRICK" val="4"/>
  <p:tag name="KSO_WM_DIAGRAM_COLOR_TEXT_CAN_REMOVE" val="n"/>
  <p:tag name="KSO_WM_UNIT_TEXT_FILL_FORE_SCHEMECOLOR_INDEX_BRIGHTNESS" val="0"/>
  <p:tag name="KSO_WM_DIAGRAM_GROUP_CODE" val="l1-1"/>
  <p:tag name="KSO_WM_DIAGRAM_MAX_ITEMCNT" val="6"/>
  <p:tag name="KSO_WM_DIAGRAM_MIN_ITEMCNT" val="2"/>
  <p:tag name="KSO_WM_DIAGRAM_VIRTUALLY_FRAME" val="{&quot;height&quot;:261.7195214555395,&quot;left&quot;:9.54998779296875,&quot;top&quot;:230.33047244094487,&quot;width&quot;:880.899461025929}"/>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8,&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添加标题"/>
  <p:tag name="KSO_WM_UNIT_TEXT_FILL_FORE_SCHEMECOLOR_INDEX" val="1"/>
  <p:tag name="KSO_WM_UNIT_TEXT_FILL_TYPE" val="1"/>
  <p:tag name="KSO_WM_DIAGRAM_USE_COLOR_VALUE" val="{&quot;color_scheme&quot;:1,&quot;color_type&quot;:1,&quot;theme_color_indexes&quot;:[5,6,5,6,5,6]}"/>
</p:tagLst>
</file>

<file path=ppt/tags/tag18.xml><?xml version="1.0" encoding="utf-8"?>
<p:tagLst xmlns:p="http://schemas.openxmlformats.org/presentationml/2006/main">
  <p:tag name="KSO_WM_UNIT_SHADOW_SCHEMECOLOR_INDEX_BRIGHTNESS" val="-0.25"/>
  <p:tag name="KSO_WM_UNIT_SHADOW_SCHEMECOLOR_INDEX" val="8"/>
  <p:tag name="KSO_WM_UNIT_TEXT_FILL_FORE_SCHEMECOLOR_INDEX_BRIGHTNESS" val="0"/>
  <p:tag name="KSO_WM_UNIT_TEXT_FILL_TYPE" val="1"/>
  <p:tag name="KSO_WM_UNIT_HIGHLIGHT" val="0"/>
  <p:tag name="KSO_WM_UNIT_COMPATIBLE" val="0"/>
  <p:tag name="KSO_WM_UNIT_DIAGRAM_ISNUMVISUAL" val="0"/>
  <p:tag name="KSO_WM_UNIT_DIAGRAM_ISREFERUNIT" val="0"/>
  <p:tag name="KSO_WM_UNIT_ID" val="diagram20231058_5*l_h_i*1_4_2"/>
  <p:tag name="KSO_WM_TEMPLATE_CATEGORY" val="diagram"/>
  <p:tag name="KSO_WM_TEMPLATE_INDEX" val="20231058"/>
  <p:tag name="KSO_WM_UNIT_LAYERLEVEL" val="1_1_1"/>
  <p:tag name="KSO_WM_TAG_VERSION" val="3.0"/>
  <p:tag name="KSO_WM_UNIT_TYPE" val="l_h_i"/>
  <p:tag name="KSO_WM_UNIT_INDEX" val="1_4_2"/>
  <p:tag name="KSO_WM_DIAGRAM_VERSION" val="3"/>
  <p:tag name="KSO_WM_DIAGRAM_COLOR_TRICK" val="4"/>
  <p:tag name="KSO_WM_DIAGRAM_COLOR_TEXT_CAN_REMOVE" val="n"/>
  <p:tag name="KSO_WM_DIAGRAM_GROUP_CODE" val="l1-1"/>
  <p:tag name="KSO_WM_DIAGRAM_MAX_ITEMCNT" val="6"/>
  <p:tag name="KSO_WM_DIAGRAM_MIN_ITEMCNT" val="2"/>
  <p:tag name="KSO_WM_DIAGRAM_VIRTUALLY_FRAME" val="{&quot;height&quot;:261.7195214555395,&quot;left&quot;:9.54998779296875,&quot;top&quot;:230.33047244094487,&quot;width&quot;:880.899461025929}"/>
  <p:tag name="KSO_WM_DIAGRAM_COLOR_MATCH_VALUE" val="{&quot;shape&quot;:{&quot;fill&quot;:{&quot;solid&quot;:{&quot;brightness&quot;:0,&quot;colorType&quot;:1,&quot;foreColorIndex&quot;:8,&quot;transparency&quot;:0},&quot;type&quot;:1},&quot;glow&quot;:{&quot;colorType&quot;:0},&quot;line&quot;:{&quot;type&quot;:0},&quot;shadow&quot;:{&quot;brightness&quot;:-0.25,&quot;colorType&quot;:1,&quot;foreColorIndex&quot;:8,&quot;transparency&quot;:0.899999976158142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8"/>
  <p:tag name="KSO_WM_UNIT_FILL_FORE_SCHEMECOLOR_INDEX_BRIGHTNESS" val="0"/>
  <p:tag name="KSO_WM_DIAGRAM_USE_COLOR_VALUE" val="{&quot;color_scheme&quot;:1,&quot;color_type&quot;:1,&quot;theme_color_indexes&quot;:[5,6,5,6,5,6]}"/>
</p:tagLst>
</file>

<file path=ppt/tags/tag19.xml><?xml version="1.0" encoding="utf-8"?>
<p:tagLst xmlns:p="http://schemas.openxmlformats.org/presentationml/2006/main">
  <p:tag name="KSO_WM_UNIT_FILL_FORE_SCHEMECOLOR_INDEX_1_BRIGHTNESS" val="0.4"/>
  <p:tag name="KSO_WM_UNIT_FILL_FORE_SCHEMECOLOR_INDEX_1" val="8"/>
  <p:tag name="KSO_WM_UNIT_FILL_FORE_SCHEMECOLOR_INDEX_1_POS" val="0"/>
  <p:tag name="KSO_WM_UNIT_FILL_FORE_SCHEMECOLOR_INDEX_1_TRANS" val="0"/>
  <p:tag name="KSO_WM_UNIT_FILL_FORE_SCHEMECOLOR_INDEX_2_BRIGHTNESS" val="0"/>
  <p:tag name="KSO_WM_UNIT_FILL_FORE_SCHEMECOLOR_INDEX_2" val="8"/>
  <p:tag name="KSO_WM_UNIT_FILL_FORE_SCHEMECOLOR_INDEX_2_POS" val="0.9"/>
  <p:tag name="KSO_WM_UNIT_FILL_FORE_SCHEMECOLOR_INDEX_2_TRANS" val="0"/>
  <p:tag name="KSO_WM_UNIT_FILL_GRADIENT_TYPE" val="0"/>
  <p:tag name="KSO_WM_UNIT_FILL_GRADIENT_ANGLE" val="135"/>
  <p:tag name="KSO_WM_UNIT_FILL_GRADIENT_DIRECTION" val="2"/>
  <p:tag name="KSO_WM_UNIT_SHADOW_SCHEMECOLOR_INDEX_BRIGHTNESS" val="-0.25"/>
  <p:tag name="KSO_WM_UNIT_SHADOW_SCHEMECOLOR_INDEX" val="8"/>
  <p:tag name="KSO_WM_UNIT_TEXT_FILL_FORE_SCHEMECOLOR_INDEX_BRIGHTNESS" val="0"/>
  <p:tag name="KSO_WM_UNIT_HIGHLIGHT" val="0"/>
  <p:tag name="KSO_WM_UNIT_COMPATIBLE" val="0"/>
  <p:tag name="KSO_WM_UNIT_DIAGRAM_ISNUMVISUAL" val="0"/>
  <p:tag name="KSO_WM_UNIT_DIAGRAM_ISREFERUNIT" val="0"/>
  <p:tag name="KSO_WM_UNIT_ID" val="diagram20231058_5*l_h_i*1_4_1"/>
  <p:tag name="KSO_WM_TEMPLATE_CATEGORY" val="diagram"/>
  <p:tag name="KSO_WM_TEMPLATE_INDEX" val="20231058"/>
  <p:tag name="KSO_WM_UNIT_LAYERLEVEL" val="1_1_1"/>
  <p:tag name="KSO_WM_TAG_VERSION" val="3.0"/>
  <p:tag name="KSO_WM_UNIT_TYPE" val="l_h_i"/>
  <p:tag name="KSO_WM_UNIT_INDEX" val="1_4_1"/>
  <p:tag name="KSO_WM_DIAGRAM_VERSION" val="3"/>
  <p:tag name="KSO_WM_DIAGRAM_COLOR_TRICK" val="4"/>
  <p:tag name="KSO_WM_DIAGRAM_COLOR_TEXT_CAN_REMOVE" val="n"/>
  <p:tag name="KSO_WM_DIAGRAM_GROUP_CODE" val="l1-1"/>
  <p:tag name="KSO_WM_UNIT_SUBTYPE" val="d"/>
  <p:tag name="KSO_WM_DIAGRAM_MAX_ITEMCNT" val="6"/>
  <p:tag name="KSO_WM_DIAGRAM_MIN_ITEMCNT" val="2"/>
  <p:tag name="KSO_WM_DIAGRAM_VIRTUALLY_FRAME" val="{&quot;height&quot;:261.7195214555395,&quot;left&quot;:9.54998779296875,&quot;top&quot;:230.33047244094487,&quot;width&quot;:880.899461025929}"/>
  <p:tag name="KSO_WM_DIAGRAM_COLOR_MATCH_VALUE" val="{&quot;shape&quot;:{&quot;fill&quot;:{&quot;gradient&quot;:[{&quot;brightness&quot;:0.6000000238418579,&quot;colorType&quot;:1,&quot;foreColorIndex&quot;:8,&quot;pos&quot;:0,&quot;transparency&quot;:0},{&quot;brightness&quot;:0,&quot;colorType&quot;:1,&quot;foreColorIndex&quot;:8,&quot;pos&quot;:0.8999999761581421,&quot;transparency&quot;:0}],&quot;type&quot;:3},&quot;glow&quot;:{&quot;colorType&quot;:0},&quot;line&quot;:{&quot;type&quot;:0},&quot;shadow&quot;:{&quot;brightness&quot;:-0.25,&quot;colorType&quot;:1,&quot;foreColorIndex&quot;:8,&quot;transparency&quot;:0.80000001192092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FILL_TYPE" val="3"/>
  <p:tag name="KSO_WM_DIAGRAM_USE_COLOR_VALUE" val="{&quot;color_scheme&quot;:1,&quot;color_type&quot;:1,&quot;theme_color_indexes&quot;:[5,6,5,6,5,6]}"/>
</p:tagLst>
</file>

<file path=ppt/tags/tag20.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5_1"/>
  <p:tag name="KSO_WM_UNIT_ID" val="diagram20231058_5*l_h_f*1_5_1"/>
  <p:tag name="KSO_WM_TEMPLATE_CATEGORY" val="diagram"/>
  <p:tag name="KSO_WM_TEMPLATE_INDEX" val="20231058"/>
  <p:tag name="KSO_WM_UNIT_LAYERLEVEL" val="1_1_1"/>
  <p:tag name="KSO_WM_TAG_VERSION" val="3.0"/>
  <p:tag name="KSO_WM_DIAGRAM_VERSION" val="3"/>
  <p:tag name="KSO_WM_DIAGRAM_COLOR_TRICK" val="4"/>
  <p:tag name="KSO_WM_DIAGRAM_COLOR_TEXT_CAN_REMOVE" val="n"/>
  <p:tag name="KSO_WM_UNIT_TEXT_FILL_FORE_SCHEMECOLOR_INDEX_BRIGHTNESS" val="0.35"/>
  <p:tag name="KSO_WM_DIAGRAM_GROUP_CODE" val="l1-1"/>
  <p:tag name="KSO_WM_DIAGRAM_MAX_ITEMCNT" val="6"/>
  <p:tag name="KSO_WM_DIAGRAM_MIN_ITEMCNT" val="2"/>
  <p:tag name="KSO_WM_DIAGRAM_VIRTUALLY_FRAME" val="{&quot;height&quot;:261.7195214555395,&quot;left&quot;:9.54998779296875,&quot;top&quot;:230.33047244094487,&quot;width&quot;:880.899461025929}"/>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PRESET_TEXT" val="单击此处添加文本具体内容，简明扼要地阐述您的观点"/>
  <p:tag name="KSO_WM_UNIT_TEXT_FILL_FORE_SCHEMECOLOR_INDEX" val="1"/>
  <p:tag name="KSO_WM_UNIT_TEXT_FILL_TYPE" val="1"/>
  <p:tag name="KSO_WM_DIAGRAM_USE_COLOR_VALUE" val="{&quot;color_scheme&quot;:1,&quot;color_type&quot;:1,&quot;theme_color_indexes&quot;:[5,6,5,6,5,6]}"/>
</p:tagLst>
</file>

<file path=ppt/tags/tag21.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5_1"/>
  <p:tag name="KSO_WM_UNIT_ID" val="diagram20231058_5*l_h_a*1_5_1"/>
  <p:tag name="KSO_WM_TEMPLATE_CATEGORY" val="diagram"/>
  <p:tag name="KSO_WM_TEMPLATE_INDEX" val="20231058"/>
  <p:tag name="KSO_WM_UNIT_LAYERLEVEL" val="1_1_1"/>
  <p:tag name="KSO_WM_TAG_VERSION" val="3.0"/>
  <p:tag name="KSO_WM_DIAGRAM_VERSION" val="3"/>
  <p:tag name="KSO_WM_DIAGRAM_COLOR_TRICK" val="4"/>
  <p:tag name="KSO_WM_DIAGRAM_COLOR_TEXT_CAN_REMOVE" val="n"/>
  <p:tag name="KSO_WM_UNIT_TEXT_FILL_FORE_SCHEMECOLOR_INDEX_BRIGHTNESS" val="0"/>
  <p:tag name="KSO_WM_DIAGRAM_GROUP_CODE" val="l1-1"/>
  <p:tag name="KSO_WM_DIAGRAM_MAX_ITEMCNT" val="6"/>
  <p:tag name="KSO_WM_DIAGRAM_MIN_ITEMCNT" val="2"/>
  <p:tag name="KSO_WM_DIAGRAM_VIRTUALLY_FRAME" val="{&quot;height&quot;:261.7195214555395,&quot;left&quot;:9.54998779296875,&quot;top&quot;:230.33047244094487,&quot;width&quot;:880.899461025929}"/>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9,&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添加标题"/>
  <p:tag name="KSO_WM_UNIT_TEXT_FILL_FORE_SCHEMECOLOR_INDEX" val="1"/>
  <p:tag name="KSO_WM_UNIT_TEXT_FILL_TYPE" val="1"/>
  <p:tag name="KSO_WM_DIAGRAM_USE_COLOR_VALUE" val="{&quot;color_scheme&quot;:1,&quot;color_type&quot;:1,&quot;theme_color_indexes&quot;:[5,6,5,6,5,6]}"/>
</p:tagLst>
</file>

<file path=ppt/tags/tag22.xml><?xml version="1.0" encoding="utf-8"?>
<p:tagLst xmlns:p="http://schemas.openxmlformats.org/presentationml/2006/main">
  <p:tag name="KSO_WM_UNIT_SHADOW_SCHEMECOLOR_INDEX_BRIGHTNESS" val="-0.25"/>
  <p:tag name="KSO_WM_UNIT_SHADOW_SCHEMECOLOR_INDEX" val="8"/>
  <p:tag name="KSO_WM_UNIT_TEXT_FILL_FORE_SCHEMECOLOR_INDEX_BRIGHTNESS" val="0"/>
  <p:tag name="KSO_WM_UNIT_TEXT_FILL_TYPE" val="1"/>
  <p:tag name="KSO_WM_UNIT_HIGHLIGHT" val="0"/>
  <p:tag name="KSO_WM_UNIT_COMPATIBLE" val="0"/>
  <p:tag name="KSO_WM_UNIT_DIAGRAM_ISNUMVISUAL" val="0"/>
  <p:tag name="KSO_WM_UNIT_DIAGRAM_ISREFERUNIT" val="0"/>
  <p:tag name="KSO_WM_UNIT_ID" val="diagram20231058_5*l_h_i*1_5_2"/>
  <p:tag name="KSO_WM_TEMPLATE_CATEGORY" val="diagram"/>
  <p:tag name="KSO_WM_TEMPLATE_INDEX" val="20231058"/>
  <p:tag name="KSO_WM_UNIT_LAYERLEVEL" val="1_1_1"/>
  <p:tag name="KSO_WM_TAG_VERSION" val="3.0"/>
  <p:tag name="KSO_WM_UNIT_TYPE" val="l_h_i"/>
  <p:tag name="KSO_WM_UNIT_INDEX" val="1_5_2"/>
  <p:tag name="KSO_WM_DIAGRAM_VERSION" val="3"/>
  <p:tag name="KSO_WM_DIAGRAM_COLOR_TRICK" val="4"/>
  <p:tag name="KSO_WM_DIAGRAM_COLOR_TEXT_CAN_REMOVE" val="n"/>
  <p:tag name="KSO_WM_DIAGRAM_GROUP_CODE" val="l1-1"/>
  <p:tag name="KSO_WM_DIAGRAM_MAX_ITEMCNT" val="6"/>
  <p:tag name="KSO_WM_DIAGRAM_MIN_ITEMCNT" val="2"/>
  <p:tag name="KSO_WM_DIAGRAM_VIRTUALLY_FRAME" val="{&quot;height&quot;:261.7195214555395,&quot;left&quot;:9.54998779296875,&quot;top&quot;:230.33047244094487,&quot;width&quot;:880.899461025929}"/>
  <p:tag name="KSO_WM_DIAGRAM_COLOR_MATCH_VALUE" val="{&quot;shape&quot;:{&quot;fill&quot;:{&quot;solid&quot;:{&quot;brightness&quot;:0,&quot;colorType&quot;:1,&quot;foreColorIndex&quot;:9,&quot;transparency&quot;:0},&quot;type&quot;:1},&quot;glow&quot;:{&quot;colorType&quot;:0},&quot;line&quot;:{&quot;type&quot;:0},&quot;shadow&quot;:{&quot;brightness&quot;:-0.25,&quot;colorType&quot;:1,&quot;foreColorIndex&quot;:9,&quot;transparency&quot;:0.899999976158142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9"/>
  <p:tag name="KSO_WM_UNIT_FILL_FORE_SCHEMECOLOR_INDEX_BRIGHTNESS" val="0"/>
  <p:tag name="KSO_WM_DIAGRAM_USE_COLOR_VALUE" val="{&quot;color_scheme&quot;:1,&quot;color_type&quot;:1,&quot;theme_color_indexes&quot;:[5,6,5,6,5,6]}"/>
</p:tagLst>
</file>

<file path=ppt/tags/tag23.xml><?xml version="1.0" encoding="utf-8"?>
<p:tagLst xmlns:p="http://schemas.openxmlformats.org/presentationml/2006/main">
  <p:tag name="KSO_WM_UNIT_FILL_FORE_SCHEMECOLOR_INDEX_1_BRIGHTNESS" val="0.4"/>
  <p:tag name="KSO_WM_UNIT_FILL_FORE_SCHEMECOLOR_INDEX_1" val="8"/>
  <p:tag name="KSO_WM_UNIT_FILL_FORE_SCHEMECOLOR_INDEX_1_POS" val="0"/>
  <p:tag name="KSO_WM_UNIT_FILL_FORE_SCHEMECOLOR_INDEX_1_TRANS" val="0"/>
  <p:tag name="KSO_WM_UNIT_FILL_FORE_SCHEMECOLOR_INDEX_2_BRIGHTNESS" val="0"/>
  <p:tag name="KSO_WM_UNIT_FILL_FORE_SCHEMECOLOR_INDEX_2" val="8"/>
  <p:tag name="KSO_WM_UNIT_FILL_FORE_SCHEMECOLOR_INDEX_2_POS" val="0.9"/>
  <p:tag name="KSO_WM_UNIT_FILL_FORE_SCHEMECOLOR_INDEX_2_TRANS" val="0"/>
  <p:tag name="KSO_WM_UNIT_FILL_GRADIENT_TYPE" val="0"/>
  <p:tag name="KSO_WM_UNIT_FILL_GRADIENT_ANGLE" val="135"/>
  <p:tag name="KSO_WM_UNIT_FILL_GRADIENT_DIRECTION" val="2"/>
  <p:tag name="KSO_WM_UNIT_SHADOW_SCHEMECOLOR_INDEX_BRIGHTNESS" val="-0.25"/>
  <p:tag name="KSO_WM_UNIT_SHADOW_SCHEMECOLOR_INDEX" val="8"/>
  <p:tag name="KSO_WM_UNIT_TEXT_FILL_FORE_SCHEMECOLOR_INDEX_BRIGHTNESS" val="0"/>
  <p:tag name="KSO_WM_UNIT_HIGHLIGHT" val="0"/>
  <p:tag name="KSO_WM_UNIT_COMPATIBLE" val="0"/>
  <p:tag name="KSO_WM_UNIT_DIAGRAM_ISNUMVISUAL" val="0"/>
  <p:tag name="KSO_WM_UNIT_DIAGRAM_ISREFERUNIT" val="0"/>
  <p:tag name="KSO_WM_UNIT_ID" val="diagram20231058_5*l_h_i*1_5_1"/>
  <p:tag name="KSO_WM_TEMPLATE_CATEGORY" val="diagram"/>
  <p:tag name="KSO_WM_TEMPLATE_INDEX" val="20231058"/>
  <p:tag name="KSO_WM_UNIT_LAYERLEVEL" val="1_1_1"/>
  <p:tag name="KSO_WM_TAG_VERSION" val="3.0"/>
  <p:tag name="KSO_WM_UNIT_TYPE" val="l_h_i"/>
  <p:tag name="KSO_WM_UNIT_INDEX" val="1_5_1"/>
  <p:tag name="KSO_WM_DIAGRAM_VERSION" val="3"/>
  <p:tag name="KSO_WM_DIAGRAM_COLOR_TRICK" val="4"/>
  <p:tag name="KSO_WM_DIAGRAM_COLOR_TEXT_CAN_REMOVE" val="n"/>
  <p:tag name="KSO_WM_DIAGRAM_GROUP_CODE" val="l1-1"/>
  <p:tag name="KSO_WM_UNIT_SUBTYPE" val="d"/>
  <p:tag name="KSO_WM_DIAGRAM_MAX_ITEMCNT" val="6"/>
  <p:tag name="KSO_WM_DIAGRAM_MIN_ITEMCNT" val="2"/>
  <p:tag name="KSO_WM_DIAGRAM_VIRTUALLY_FRAME" val="{&quot;height&quot;:261.7195214555395,&quot;left&quot;:9.54998779296875,&quot;top&quot;:230.33047244094487,&quot;width&quot;:880.899461025929}"/>
  <p:tag name="KSO_WM_DIAGRAM_COLOR_MATCH_VALUE" val="{&quot;shape&quot;:{&quot;fill&quot;:{&quot;gradient&quot;:[{&quot;brightness&quot;:0.6000000238418579,&quot;colorType&quot;:1,&quot;foreColorIndex&quot;:9,&quot;pos&quot;:0,&quot;transparency&quot;:0},{&quot;brightness&quot;:0,&quot;colorType&quot;:1,&quot;foreColorIndex&quot;:9,&quot;pos&quot;:0.8999999761581421,&quot;transparency&quot;:0}],&quot;type&quot;:3},&quot;glow&quot;:{&quot;colorType&quot;:0},&quot;line&quot;:{&quot;type&quot;:0},&quot;shadow&quot;:{&quot;brightness&quot;:-0.25,&quot;colorType&quot;:1,&quot;foreColorIndex&quot;:9,&quot;transparency&quot;:0.80000001192092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FILL_TYPE" val="3"/>
  <p:tag name="KSO_WM_DIAGRAM_USE_COLOR_VALUE" val="{&quot;color_scheme&quot;:1,&quot;color_type&quot;:1,&quot;theme_color_indexes&quot;:[5,6,5,6,5,6]}"/>
</p:tagLst>
</file>

<file path=ppt/tags/tag24.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6_1"/>
  <p:tag name="KSO_WM_UNIT_ID" val="diagram20231058_5*l_h_f*1_6_1"/>
  <p:tag name="KSO_WM_TEMPLATE_CATEGORY" val="diagram"/>
  <p:tag name="KSO_WM_TEMPLATE_INDEX" val="20231058"/>
  <p:tag name="KSO_WM_UNIT_LAYERLEVEL" val="1_1_1"/>
  <p:tag name="KSO_WM_TAG_VERSION" val="3.0"/>
  <p:tag name="KSO_WM_DIAGRAM_VERSION" val="3"/>
  <p:tag name="KSO_WM_DIAGRAM_COLOR_TRICK" val="4"/>
  <p:tag name="KSO_WM_DIAGRAM_COLOR_TEXT_CAN_REMOVE" val="n"/>
  <p:tag name="KSO_WM_UNIT_TEXT_FILL_FORE_SCHEMECOLOR_INDEX_BRIGHTNESS" val="0.35"/>
  <p:tag name="KSO_WM_DIAGRAM_GROUP_CODE" val="l1-1"/>
  <p:tag name="KSO_WM_DIAGRAM_MAX_ITEMCNT" val="6"/>
  <p:tag name="KSO_WM_DIAGRAM_MIN_ITEMCNT" val="2"/>
  <p:tag name="KSO_WM_DIAGRAM_VIRTUALLY_FRAME" val="{&quot;height&quot;:261.7195214555395,&quot;left&quot;:9.54998779296875,&quot;top&quot;:230.33047244094487,&quot;width&quot;:880.899461025929}"/>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PRESET_TEXT" val="单击此处添加文本内容，简明扼要地阐述您的观点"/>
  <p:tag name="KSO_WM_UNIT_TEXT_FILL_FORE_SCHEMECOLOR_INDEX" val="1"/>
  <p:tag name="KSO_WM_UNIT_TEXT_FILL_TYPE" val="1"/>
  <p:tag name="KSO_WM_DIAGRAM_USE_COLOR_VALUE" val="{&quot;color_scheme&quot;:1,&quot;color_type&quot;:1,&quot;theme_color_indexes&quot;:[5,6,5,6,5,6]}"/>
</p:tagLst>
</file>

<file path=ppt/tags/tag25.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6_1"/>
  <p:tag name="KSO_WM_UNIT_ID" val="diagram20231058_5*l_h_a*1_6_1"/>
  <p:tag name="KSO_WM_TEMPLATE_CATEGORY" val="diagram"/>
  <p:tag name="KSO_WM_TEMPLATE_INDEX" val="20231058"/>
  <p:tag name="KSO_WM_UNIT_LAYERLEVEL" val="1_1_1"/>
  <p:tag name="KSO_WM_TAG_VERSION" val="3.0"/>
  <p:tag name="KSO_WM_DIAGRAM_VERSION" val="3"/>
  <p:tag name="KSO_WM_DIAGRAM_COLOR_TRICK" val="4"/>
  <p:tag name="KSO_WM_DIAGRAM_COLOR_TEXT_CAN_REMOVE" val="n"/>
  <p:tag name="KSO_WM_UNIT_TEXT_FILL_FORE_SCHEMECOLOR_INDEX_BRIGHTNESS" val="0"/>
  <p:tag name="KSO_WM_DIAGRAM_GROUP_CODE" val="l1-1"/>
  <p:tag name="KSO_WM_DIAGRAM_MAX_ITEMCNT" val="6"/>
  <p:tag name="KSO_WM_DIAGRAM_MIN_ITEMCNT" val="2"/>
  <p:tag name="KSO_WM_DIAGRAM_VIRTUALLY_FRAME" val="{&quot;height&quot;:261.7195214555395,&quot;left&quot;:9.54998779296875,&quot;top&quot;:230.33047244094487,&quot;width&quot;:880.899461025929}"/>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0,&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添加标题"/>
  <p:tag name="KSO_WM_UNIT_TEXT_FILL_FORE_SCHEMECOLOR_INDEX" val="1"/>
  <p:tag name="KSO_WM_UNIT_TEXT_FILL_TYPE" val="1"/>
  <p:tag name="KSO_WM_DIAGRAM_USE_COLOR_VALUE" val="{&quot;color_scheme&quot;:1,&quot;color_type&quot;:1,&quot;theme_color_indexes&quot;:[5,6,5,6,5,6]}"/>
</p:tagLst>
</file>

<file path=ppt/tags/tag26.xml><?xml version="1.0" encoding="utf-8"?>
<p:tagLst xmlns:p="http://schemas.openxmlformats.org/presentationml/2006/main">
  <p:tag name="KSO_WM_UNIT_SHADOW_SCHEMECOLOR_INDEX_BRIGHTNESS" val="-0.25"/>
  <p:tag name="KSO_WM_UNIT_SHADOW_SCHEMECOLOR_INDEX" val="8"/>
  <p:tag name="KSO_WM_UNIT_TEXT_FILL_FORE_SCHEMECOLOR_INDEX_BRIGHTNESS" val="0"/>
  <p:tag name="KSO_WM_UNIT_TEXT_FILL_TYPE" val="1"/>
  <p:tag name="KSO_WM_UNIT_HIGHLIGHT" val="0"/>
  <p:tag name="KSO_WM_UNIT_COMPATIBLE" val="0"/>
  <p:tag name="KSO_WM_UNIT_DIAGRAM_ISNUMVISUAL" val="0"/>
  <p:tag name="KSO_WM_UNIT_DIAGRAM_ISREFERUNIT" val="0"/>
  <p:tag name="KSO_WM_UNIT_ID" val="diagram20231058_5*l_h_i*1_6_2"/>
  <p:tag name="KSO_WM_TEMPLATE_CATEGORY" val="diagram"/>
  <p:tag name="KSO_WM_TEMPLATE_INDEX" val="20231058"/>
  <p:tag name="KSO_WM_UNIT_LAYERLEVEL" val="1_1_1"/>
  <p:tag name="KSO_WM_TAG_VERSION" val="3.0"/>
  <p:tag name="KSO_WM_UNIT_TYPE" val="l_h_i"/>
  <p:tag name="KSO_WM_UNIT_INDEX" val="1_6_2"/>
  <p:tag name="KSO_WM_DIAGRAM_VERSION" val="3"/>
  <p:tag name="KSO_WM_DIAGRAM_COLOR_TRICK" val="4"/>
  <p:tag name="KSO_WM_DIAGRAM_COLOR_TEXT_CAN_REMOVE" val="n"/>
  <p:tag name="KSO_WM_DIAGRAM_GROUP_CODE" val="l1-1"/>
  <p:tag name="KSO_WM_DIAGRAM_MAX_ITEMCNT" val="6"/>
  <p:tag name="KSO_WM_DIAGRAM_MIN_ITEMCNT" val="2"/>
  <p:tag name="KSO_WM_DIAGRAM_VIRTUALLY_FRAME" val="{&quot;height&quot;:261.7195214555395,&quot;left&quot;:9.54998779296875,&quot;top&quot;:230.33047244094487,&quot;width&quot;:880.899461025929}"/>
  <p:tag name="KSO_WM_DIAGRAM_COLOR_MATCH_VALUE" val="{&quot;shape&quot;:{&quot;fill&quot;:{&quot;solid&quot;:{&quot;brightness&quot;:0,&quot;colorType&quot;:1,&quot;foreColorIndex&quot;:10,&quot;transparency&quot;:0},&quot;type&quot;:1},&quot;glow&quot;:{&quot;colorType&quot;:0},&quot;line&quot;:{&quot;type&quot;:0},&quot;shadow&quot;:{&quot;brightness&quot;:-0.25,&quot;colorType&quot;:1,&quot;foreColorIndex&quot;:10,&quot;transparency&quot;:0.899999976158142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0"/>
  <p:tag name="KSO_WM_UNIT_FILL_FORE_SCHEMECOLOR_INDEX_BRIGHTNESS" val="0"/>
  <p:tag name="KSO_WM_DIAGRAM_USE_COLOR_VALUE" val="{&quot;color_scheme&quot;:1,&quot;color_type&quot;:1,&quot;theme_color_indexes&quot;:[5,6,5,6,5,6]}"/>
</p:tagLst>
</file>

<file path=ppt/tags/tag27.xml><?xml version="1.0" encoding="utf-8"?>
<p:tagLst xmlns:p="http://schemas.openxmlformats.org/presentationml/2006/main">
  <p:tag name="KSO_WM_UNIT_FILL_FORE_SCHEMECOLOR_INDEX_1_BRIGHTNESS" val="0.4"/>
  <p:tag name="KSO_WM_UNIT_FILL_FORE_SCHEMECOLOR_INDEX_1" val="8"/>
  <p:tag name="KSO_WM_UNIT_FILL_FORE_SCHEMECOLOR_INDEX_1_POS" val="0"/>
  <p:tag name="KSO_WM_UNIT_FILL_FORE_SCHEMECOLOR_INDEX_1_TRANS" val="0"/>
  <p:tag name="KSO_WM_UNIT_FILL_FORE_SCHEMECOLOR_INDEX_2_BRIGHTNESS" val="0"/>
  <p:tag name="KSO_WM_UNIT_FILL_FORE_SCHEMECOLOR_INDEX_2" val="8"/>
  <p:tag name="KSO_WM_UNIT_FILL_FORE_SCHEMECOLOR_INDEX_2_POS" val="0.9"/>
  <p:tag name="KSO_WM_UNIT_FILL_FORE_SCHEMECOLOR_INDEX_2_TRANS" val="0"/>
  <p:tag name="KSO_WM_UNIT_FILL_GRADIENT_TYPE" val="0"/>
  <p:tag name="KSO_WM_UNIT_FILL_GRADIENT_ANGLE" val="135"/>
  <p:tag name="KSO_WM_UNIT_FILL_GRADIENT_DIRECTION" val="2"/>
  <p:tag name="KSO_WM_UNIT_SHADOW_SCHEMECOLOR_INDEX_BRIGHTNESS" val="-0.25"/>
  <p:tag name="KSO_WM_UNIT_SHADOW_SCHEMECOLOR_INDEX" val="8"/>
  <p:tag name="KSO_WM_UNIT_TEXT_FILL_FORE_SCHEMECOLOR_INDEX_BRIGHTNESS" val="0"/>
  <p:tag name="KSO_WM_UNIT_HIGHLIGHT" val="0"/>
  <p:tag name="KSO_WM_UNIT_COMPATIBLE" val="0"/>
  <p:tag name="KSO_WM_UNIT_DIAGRAM_ISNUMVISUAL" val="0"/>
  <p:tag name="KSO_WM_UNIT_DIAGRAM_ISREFERUNIT" val="0"/>
  <p:tag name="KSO_WM_UNIT_ID" val="diagram20231058_5*l_h_i*1_6_1"/>
  <p:tag name="KSO_WM_TEMPLATE_CATEGORY" val="diagram"/>
  <p:tag name="KSO_WM_TEMPLATE_INDEX" val="20231058"/>
  <p:tag name="KSO_WM_UNIT_LAYERLEVEL" val="1_1_1"/>
  <p:tag name="KSO_WM_TAG_VERSION" val="3.0"/>
  <p:tag name="KSO_WM_UNIT_TYPE" val="l_h_i"/>
  <p:tag name="KSO_WM_UNIT_INDEX" val="1_6_1"/>
  <p:tag name="KSO_WM_DIAGRAM_VERSION" val="3"/>
  <p:tag name="KSO_WM_DIAGRAM_COLOR_TRICK" val="4"/>
  <p:tag name="KSO_WM_DIAGRAM_COLOR_TEXT_CAN_REMOVE" val="n"/>
  <p:tag name="KSO_WM_DIAGRAM_GROUP_CODE" val="l1-1"/>
  <p:tag name="KSO_WM_UNIT_SUBTYPE" val="d"/>
  <p:tag name="KSO_WM_DIAGRAM_MAX_ITEMCNT" val="6"/>
  <p:tag name="KSO_WM_DIAGRAM_MIN_ITEMCNT" val="2"/>
  <p:tag name="KSO_WM_DIAGRAM_VIRTUALLY_FRAME" val="{&quot;height&quot;:261.7195214555395,&quot;left&quot;:9.54998779296875,&quot;top&quot;:230.33047244094487,&quot;width&quot;:880.899461025929}"/>
  <p:tag name="KSO_WM_DIAGRAM_COLOR_MATCH_VALUE" val="{&quot;shape&quot;:{&quot;fill&quot;:{&quot;gradient&quot;:[{&quot;brightness&quot;:0.6000000238418579,&quot;colorType&quot;:1,&quot;foreColorIndex&quot;:10,&quot;pos&quot;:0,&quot;transparency&quot;:0},{&quot;brightness&quot;:0,&quot;colorType&quot;:1,&quot;foreColorIndex&quot;:10,&quot;pos&quot;:0.8999999761581421,&quot;transparency&quot;:0}],&quot;type&quot;:3},&quot;glow&quot;:{&quot;colorType&quot;:0},&quot;line&quot;:{&quot;type&quot;:0},&quot;shadow&quot;:{&quot;brightness&quot;:0,&quot;colorType&quot;:1,&quot;foreColorIndex&quot;:10,&quot;transparency&quot;:0.80000001192092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FILL_TYPE" val="3"/>
  <p:tag name="KSO_WM_DIAGRAM_USE_COLOR_VALUE" val="{&quot;color_scheme&quot;:1,&quot;color_type&quot;:1,&quot;theme_color_indexes&quot;:[5,6,5,6,5,6]}"/>
</p:tagLst>
</file>

<file path=ppt/tags/tag28.xml><?xml version="1.0" encoding="utf-8"?>
<p:tagLst xmlns:p="http://schemas.openxmlformats.org/presentationml/2006/main">
  <p:tag name="KSO_WM_UNIT_FILL_FORE_SCHEMECOLOR_INDEX_1_BRIGHTNESS" val="0.4"/>
  <p:tag name="KSO_WM_UNIT_FILL_FORE_SCHEMECOLOR_INDEX_1" val="8"/>
  <p:tag name="KSO_WM_UNIT_FILL_FORE_SCHEMECOLOR_INDEX_1_POS" val="0"/>
  <p:tag name="KSO_WM_UNIT_FILL_FORE_SCHEMECOLOR_INDEX_1_TRANS" val="0"/>
  <p:tag name="KSO_WM_UNIT_FILL_FORE_SCHEMECOLOR_INDEX_2_BRIGHTNESS" val="0"/>
  <p:tag name="KSO_WM_UNIT_FILL_FORE_SCHEMECOLOR_INDEX_2" val="8"/>
  <p:tag name="KSO_WM_UNIT_FILL_FORE_SCHEMECOLOR_INDEX_2_POS" val="0.9"/>
  <p:tag name="KSO_WM_UNIT_FILL_FORE_SCHEMECOLOR_INDEX_2_TRANS" val="0"/>
  <p:tag name="KSO_WM_UNIT_FILL_GRADIENT_TYPE" val="0"/>
  <p:tag name="KSO_WM_UNIT_FILL_GRADIENT_ANGLE" val="135"/>
  <p:tag name="KSO_WM_UNIT_FILL_GRADIENT_DIRECTION" val="2"/>
  <p:tag name="KSO_WM_UNIT_SHADOW_SCHEMECOLOR_INDEX_BRIGHTNESS" val="-0.25"/>
  <p:tag name="KSO_WM_UNIT_SHADOW_SCHEMECOLOR_INDEX" val="8"/>
  <p:tag name="KSO_WM_UNIT_TEXT_FILL_FORE_SCHEMECOLOR_INDEX_BRIGHTNESS" val="0"/>
  <p:tag name="KSO_WM_UNIT_HIGHLIGHT" val="0"/>
  <p:tag name="KSO_WM_UNIT_COMPATIBLE" val="0"/>
  <p:tag name="KSO_WM_UNIT_DIAGRAM_ISNUMVISUAL" val="0"/>
  <p:tag name="KSO_WM_UNIT_DIAGRAM_ISREFERUNIT" val="0"/>
  <p:tag name="KSO_WM_UNIT_ID" val="diagram20231058_5*l_h_i*1_5_1"/>
  <p:tag name="KSO_WM_TEMPLATE_CATEGORY" val="diagram"/>
  <p:tag name="KSO_WM_TEMPLATE_INDEX" val="20231058"/>
  <p:tag name="KSO_WM_UNIT_LAYERLEVEL" val="1_1_1"/>
  <p:tag name="KSO_WM_TAG_VERSION" val="3.0"/>
  <p:tag name="KSO_WM_UNIT_TYPE" val="l_h_i"/>
  <p:tag name="KSO_WM_UNIT_INDEX" val="1_5_1"/>
  <p:tag name="KSO_WM_DIAGRAM_VERSION" val="3"/>
  <p:tag name="KSO_WM_DIAGRAM_COLOR_TRICK" val="4"/>
  <p:tag name="KSO_WM_DIAGRAM_COLOR_TEXT_CAN_REMOVE" val="n"/>
  <p:tag name="KSO_WM_DIAGRAM_GROUP_CODE" val="l1-1"/>
  <p:tag name="KSO_WM_UNIT_SUBTYPE" val="d"/>
  <p:tag name="KSO_WM_DIAGRAM_MAX_ITEMCNT" val="6"/>
  <p:tag name="KSO_WM_DIAGRAM_MIN_ITEMCNT" val="2"/>
  <p:tag name="KSO_WM_DIAGRAM_VIRTUALLY_FRAME" val="{&quot;height&quot;:244.29998779296875,&quot;left&quot;:11.04998779296875,&quot;top&quot;:231.25000610351563,&quot;width&quot;:877.1947134491695}"/>
  <p:tag name="KSO_WM_DIAGRAM_COLOR_MATCH_VALUE" val="{&quot;shape&quot;:{&quot;fill&quot;:{&quot;gradient&quot;:[{&quot;brightness&quot;:0.6000000238418579,&quot;colorType&quot;:1,&quot;foreColorIndex&quot;:9,&quot;pos&quot;:0,&quot;transparency&quot;:0},{&quot;brightness&quot;:0,&quot;colorType&quot;:1,&quot;foreColorIndex&quot;:9,&quot;pos&quot;:0.8999999761581421,&quot;transparency&quot;:0}],&quot;type&quot;:3},&quot;glow&quot;:{&quot;colorType&quot;:0},&quot;line&quot;:{&quot;type&quot;:0},&quot;shadow&quot;:{&quot;brightness&quot;:-0.25,&quot;colorType&quot;:1,&quot;foreColorIndex&quot;:9,&quot;transparency&quot;:0.80000001192092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FILL_TYPE" val="3"/>
  <p:tag name="KSO_WM_DIAGRAM_USE_COLOR_VALUE" val="{&quot;color_scheme&quot;:1,&quot;color_type&quot;:1,&quot;theme_color_indexes&quot;:[5,6,5,6,5,6]}"/>
</p:tagLst>
</file>

<file path=ppt/tags/tag29.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5_1"/>
  <p:tag name="KSO_WM_UNIT_ID" val="diagram20231058_5*l_h_a*1_5_1"/>
  <p:tag name="KSO_WM_TEMPLATE_CATEGORY" val="diagram"/>
  <p:tag name="KSO_WM_TEMPLATE_INDEX" val="20231058"/>
  <p:tag name="KSO_WM_UNIT_LAYERLEVEL" val="1_1_1"/>
  <p:tag name="KSO_WM_TAG_VERSION" val="3.0"/>
  <p:tag name="KSO_WM_DIAGRAM_VERSION" val="3"/>
  <p:tag name="KSO_WM_DIAGRAM_COLOR_TRICK" val="4"/>
  <p:tag name="KSO_WM_DIAGRAM_COLOR_TEXT_CAN_REMOVE" val="n"/>
  <p:tag name="KSO_WM_UNIT_TEXT_FILL_FORE_SCHEMECOLOR_INDEX_BRIGHTNESS" val="0"/>
  <p:tag name="KSO_WM_DIAGRAM_GROUP_CODE" val="l1-1"/>
  <p:tag name="KSO_WM_DIAGRAM_MAX_ITEMCNT" val="6"/>
  <p:tag name="KSO_WM_DIAGRAM_MIN_ITEMCNT" val="2"/>
  <p:tag name="KSO_WM_DIAGRAM_VIRTUALLY_FRAME" val="{&quot;height&quot;:244.29998779296875,&quot;left&quot;:11.04998779296875,&quot;top&quot;:231.25000610351563,&quot;width&quot;:877.194713449169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9,&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添加标题"/>
  <p:tag name="KSO_WM_UNIT_TEXT_FILL_FORE_SCHEMECOLOR_INDEX" val="1"/>
  <p:tag name="KSO_WM_UNIT_TEXT_FILL_TYPE" val="1"/>
  <p:tag name="KSO_WM_DIAGRAM_USE_COLOR_VALUE" val="{&quot;color_scheme&quot;:1,&quot;color_type&quot;:1,&quot;theme_color_indexes&quot;:[5,6,5,6,5,6]}"/>
</p:tagLst>
</file>

<file path=ppt/tags/tag30.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5_1"/>
  <p:tag name="KSO_WM_UNIT_ID" val="diagram20231058_5*l_h_f*1_5_1"/>
  <p:tag name="KSO_WM_TEMPLATE_CATEGORY" val="diagram"/>
  <p:tag name="KSO_WM_TEMPLATE_INDEX" val="20231058"/>
  <p:tag name="KSO_WM_UNIT_LAYERLEVEL" val="1_1_1"/>
  <p:tag name="KSO_WM_TAG_VERSION" val="3.0"/>
  <p:tag name="KSO_WM_DIAGRAM_VERSION" val="3"/>
  <p:tag name="KSO_WM_DIAGRAM_COLOR_TRICK" val="4"/>
  <p:tag name="KSO_WM_DIAGRAM_COLOR_TEXT_CAN_REMOVE" val="n"/>
  <p:tag name="KSO_WM_UNIT_TEXT_FILL_FORE_SCHEMECOLOR_INDEX_BRIGHTNESS" val="0.35"/>
  <p:tag name="KSO_WM_DIAGRAM_GROUP_CODE" val="l1-1"/>
  <p:tag name="KSO_WM_DIAGRAM_MAX_ITEMCNT" val="6"/>
  <p:tag name="KSO_WM_DIAGRAM_MIN_ITEMCNT" val="2"/>
  <p:tag name="KSO_WM_DIAGRAM_VIRTUALLY_FRAME" val="{&quot;height&quot;:244.29998779296875,&quot;left&quot;:11.04998779296875,&quot;top&quot;:231.25000610351563,&quot;width&quot;:877.194713449169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PRESET_TEXT" val="单击此处添加文本具体内容，简明扼要地阐述您的观点"/>
  <p:tag name="KSO_WM_UNIT_TEXT_FILL_FORE_SCHEMECOLOR_INDEX" val="1"/>
  <p:tag name="KSO_WM_UNIT_TEXT_FILL_TYPE" val="1"/>
  <p:tag name="KSO_WM_DIAGRAM_USE_COLOR_VALUE" val="{&quot;color_scheme&quot;:1,&quot;color_type&quot;:1,&quot;theme_color_indexes&quot;:[5,6,5,6,5,6]}"/>
</p:tagLst>
</file>

<file path=ppt/tags/tag31.xml><?xml version="1.0" encoding="utf-8"?>
<p:tagLst xmlns:p="http://schemas.openxmlformats.org/presentationml/2006/main">
  <p:tag name="KSO_WM_UNIT_SHADOW_SCHEMECOLOR_INDEX_BRIGHTNESS" val="-0.25"/>
  <p:tag name="KSO_WM_UNIT_SHADOW_SCHEMECOLOR_INDEX" val="8"/>
  <p:tag name="KSO_WM_UNIT_TEXT_FILL_FORE_SCHEMECOLOR_INDEX_BRIGHTNESS" val="0"/>
  <p:tag name="KSO_WM_UNIT_TEXT_FILL_TYPE" val="1"/>
  <p:tag name="KSO_WM_UNIT_HIGHLIGHT" val="0"/>
  <p:tag name="KSO_WM_UNIT_COMPATIBLE" val="0"/>
  <p:tag name="KSO_WM_UNIT_DIAGRAM_ISNUMVISUAL" val="0"/>
  <p:tag name="KSO_WM_UNIT_DIAGRAM_ISREFERUNIT" val="0"/>
  <p:tag name="KSO_WM_UNIT_ID" val="diagram20231058_5*l_h_i*1_5_2"/>
  <p:tag name="KSO_WM_TEMPLATE_CATEGORY" val="diagram"/>
  <p:tag name="KSO_WM_TEMPLATE_INDEX" val="20231058"/>
  <p:tag name="KSO_WM_UNIT_LAYERLEVEL" val="1_1_1"/>
  <p:tag name="KSO_WM_TAG_VERSION" val="3.0"/>
  <p:tag name="KSO_WM_UNIT_TYPE" val="l_h_i"/>
  <p:tag name="KSO_WM_UNIT_INDEX" val="1_5_2"/>
  <p:tag name="KSO_WM_DIAGRAM_VERSION" val="3"/>
  <p:tag name="KSO_WM_DIAGRAM_COLOR_TRICK" val="4"/>
  <p:tag name="KSO_WM_DIAGRAM_COLOR_TEXT_CAN_REMOVE" val="n"/>
  <p:tag name="KSO_WM_DIAGRAM_GROUP_CODE" val="l1-1"/>
  <p:tag name="KSO_WM_DIAGRAM_MAX_ITEMCNT" val="6"/>
  <p:tag name="KSO_WM_DIAGRAM_MIN_ITEMCNT" val="2"/>
  <p:tag name="KSO_WM_DIAGRAM_VIRTUALLY_FRAME" val="{&quot;height&quot;:244.29998779296875,&quot;left&quot;:11.04998779296875,&quot;top&quot;:231.25000610351563,&quot;width&quot;:877.1947134491695}"/>
  <p:tag name="KSO_WM_DIAGRAM_COLOR_MATCH_VALUE" val="{&quot;shape&quot;:{&quot;fill&quot;:{&quot;solid&quot;:{&quot;brightness&quot;:0,&quot;colorType&quot;:1,&quot;foreColorIndex&quot;:9,&quot;transparency&quot;:0},&quot;type&quot;:1},&quot;glow&quot;:{&quot;colorType&quot;:0},&quot;line&quot;:{&quot;type&quot;:0},&quot;shadow&quot;:{&quot;brightness&quot;:-0.25,&quot;colorType&quot;:1,&quot;foreColorIndex&quot;:9,&quot;transparency&quot;:0.899999976158142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9"/>
  <p:tag name="KSO_WM_UNIT_FILL_FORE_SCHEMECOLOR_INDEX_BRIGHTNESS" val="0"/>
  <p:tag name="KSO_WM_DIAGRAM_USE_COLOR_VALUE" val="{&quot;color_scheme&quot;:1,&quot;color_type&quot;:1,&quot;theme_color_indexes&quot;:[5,6,5,6,5,6]}"/>
</p:tagLst>
</file>

<file path=ppt/tags/tag32.xml><?xml version="1.0" encoding="utf-8"?>
<p:tagLst xmlns:p="http://schemas.openxmlformats.org/presentationml/2006/main">
  <p:tag name="KSO_WM_UNIT_FILL_FORE_SCHEMECOLOR_INDEX_1_BRIGHTNESS" val="0.4"/>
  <p:tag name="KSO_WM_UNIT_FILL_FORE_SCHEMECOLOR_INDEX_1" val="8"/>
  <p:tag name="KSO_WM_UNIT_FILL_FORE_SCHEMECOLOR_INDEX_1_POS" val="0"/>
  <p:tag name="KSO_WM_UNIT_FILL_FORE_SCHEMECOLOR_INDEX_1_TRANS" val="0"/>
  <p:tag name="KSO_WM_UNIT_FILL_FORE_SCHEMECOLOR_INDEX_2_BRIGHTNESS" val="0"/>
  <p:tag name="KSO_WM_UNIT_FILL_FORE_SCHEMECOLOR_INDEX_2" val="8"/>
  <p:tag name="KSO_WM_UNIT_FILL_FORE_SCHEMECOLOR_INDEX_2_POS" val="0.9"/>
  <p:tag name="KSO_WM_UNIT_FILL_FORE_SCHEMECOLOR_INDEX_2_TRANS" val="0"/>
  <p:tag name="KSO_WM_UNIT_FILL_GRADIENT_TYPE" val="0"/>
  <p:tag name="KSO_WM_UNIT_FILL_GRADIENT_ANGLE" val="135"/>
  <p:tag name="KSO_WM_UNIT_FILL_GRADIENT_DIRECTION" val="2"/>
  <p:tag name="KSO_WM_UNIT_SHADOW_SCHEMECOLOR_INDEX_BRIGHTNESS" val="-0.25"/>
  <p:tag name="KSO_WM_UNIT_SHADOW_SCHEMECOLOR_INDEX" val="8"/>
  <p:tag name="KSO_WM_UNIT_TEXT_FILL_FORE_SCHEMECOLOR_INDEX_BRIGHTNESS" val="0"/>
  <p:tag name="KSO_WM_UNIT_HIGHLIGHT" val="0"/>
  <p:tag name="KSO_WM_UNIT_COMPATIBLE" val="0"/>
  <p:tag name="KSO_WM_UNIT_DIAGRAM_ISNUMVISUAL" val="0"/>
  <p:tag name="KSO_WM_UNIT_DIAGRAM_ISREFERUNIT" val="0"/>
  <p:tag name="KSO_WM_UNIT_ID" val="diagram20231058_5*l_h_i*1_5_1"/>
  <p:tag name="KSO_WM_TEMPLATE_CATEGORY" val="diagram"/>
  <p:tag name="KSO_WM_TEMPLATE_INDEX" val="20231058"/>
  <p:tag name="KSO_WM_UNIT_LAYERLEVEL" val="1_1_1"/>
  <p:tag name="KSO_WM_TAG_VERSION" val="3.0"/>
  <p:tag name="KSO_WM_UNIT_TYPE" val="l_h_i"/>
  <p:tag name="KSO_WM_UNIT_INDEX" val="1_5_1"/>
  <p:tag name="KSO_WM_DIAGRAM_VERSION" val="3"/>
  <p:tag name="KSO_WM_DIAGRAM_COLOR_TRICK" val="4"/>
  <p:tag name="KSO_WM_DIAGRAM_COLOR_TEXT_CAN_REMOVE" val="n"/>
  <p:tag name="KSO_WM_DIAGRAM_GROUP_CODE" val="l1-1"/>
  <p:tag name="KSO_WM_UNIT_SUBTYPE" val="d"/>
  <p:tag name="KSO_WM_DIAGRAM_MAX_ITEMCNT" val="6"/>
  <p:tag name="KSO_WM_DIAGRAM_MIN_ITEMCNT" val="2"/>
  <p:tag name="KSO_WM_DIAGRAM_VIRTUALLY_FRAME" val="{&quot;height&quot;:244.29998779296875,&quot;left&quot;:11.04998779296875,&quot;top&quot;:231.25000610351563,&quot;width&quot;:877.1947134491695}"/>
  <p:tag name="KSO_WM_DIAGRAM_COLOR_MATCH_VALUE" val="{&quot;shape&quot;:{&quot;fill&quot;:{&quot;gradient&quot;:[{&quot;brightness&quot;:0.6000000238418579,&quot;colorType&quot;:1,&quot;foreColorIndex&quot;:9,&quot;pos&quot;:0,&quot;transparency&quot;:0},{&quot;brightness&quot;:0,&quot;colorType&quot;:1,&quot;foreColorIndex&quot;:9,&quot;pos&quot;:0.8999999761581421,&quot;transparency&quot;:0}],&quot;type&quot;:3},&quot;glow&quot;:{&quot;colorType&quot;:0},&quot;line&quot;:{&quot;type&quot;:0},&quot;shadow&quot;:{&quot;brightness&quot;:-0.25,&quot;colorType&quot;:1,&quot;foreColorIndex&quot;:9,&quot;transparency&quot;:0.80000001192092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FILL_TYPE" val="3"/>
  <p:tag name="KSO_WM_DIAGRAM_USE_COLOR_VALUE" val="{&quot;color_scheme&quot;:1,&quot;color_type&quot;:1,&quot;theme_color_indexes&quot;:[5,6,5,6,5,6]}"/>
</p:tagLst>
</file>

<file path=ppt/tags/tag33.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5_1"/>
  <p:tag name="KSO_WM_UNIT_ID" val="diagram20231058_5*l_h_a*1_5_1"/>
  <p:tag name="KSO_WM_TEMPLATE_CATEGORY" val="diagram"/>
  <p:tag name="KSO_WM_TEMPLATE_INDEX" val="20231058"/>
  <p:tag name="KSO_WM_UNIT_LAYERLEVEL" val="1_1_1"/>
  <p:tag name="KSO_WM_TAG_VERSION" val="3.0"/>
  <p:tag name="KSO_WM_DIAGRAM_VERSION" val="3"/>
  <p:tag name="KSO_WM_DIAGRAM_COLOR_TRICK" val="4"/>
  <p:tag name="KSO_WM_DIAGRAM_COLOR_TEXT_CAN_REMOVE" val="n"/>
  <p:tag name="KSO_WM_UNIT_TEXT_FILL_FORE_SCHEMECOLOR_INDEX_BRIGHTNESS" val="0"/>
  <p:tag name="KSO_WM_DIAGRAM_GROUP_CODE" val="l1-1"/>
  <p:tag name="KSO_WM_DIAGRAM_MAX_ITEMCNT" val="6"/>
  <p:tag name="KSO_WM_DIAGRAM_MIN_ITEMCNT" val="2"/>
  <p:tag name="KSO_WM_DIAGRAM_VIRTUALLY_FRAME" val="{&quot;height&quot;:244.29998779296875,&quot;left&quot;:11.04998779296875,&quot;top&quot;:231.25000610351563,&quot;width&quot;:877.194713449169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9,&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添加标题"/>
  <p:tag name="KSO_WM_UNIT_TEXT_FILL_FORE_SCHEMECOLOR_INDEX" val="1"/>
  <p:tag name="KSO_WM_UNIT_TEXT_FILL_TYPE" val="1"/>
  <p:tag name="KSO_WM_DIAGRAM_USE_COLOR_VALUE" val="{&quot;color_scheme&quot;:1,&quot;color_type&quot;:1,&quot;theme_color_indexes&quot;:[5,6,5,6,5,6]}"/>
</p:tagLst>
</file>

<file path=ppt/tags/tag34.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5_1"/>
  <p:tag name="KSO_WM_UNIT_ID" val="diagram20231058_5*l_h_f*1_5_1"/>
  <p:tag name="KSO_WM_TEMPLATE_CATEGORY" val="diagram"/>
  <p:tag name="KSO_WM_TEMPLATE_INDEX" val="20231058"/>
  <p:tag name="KSO_WM_UNIT_LAYERLEVEL" val="1_1_1"/>
  <p:tag name="KSO_WM_TAG_VERSION" val="3.0"/>
  <p:tag name="KSO_WM_DIAGRAM_VERSION" val="3"/>
  <p:tag name="KSO_WM_DIAGRAM_COLOR_TRICK" val="4"/>
  <p:tag name="KSO_WM_DIAGRAM_COLOR_TEXT_CAN_REMOVE" val="n"/>
  <p:tag name="KSO_WM_UNIT_TEXT_FILL_FORE_SCHEMECOLOR_INDEX_BRIGHTNESS" val="0.35"/>
  <p:tag name="KSO_WM_DIAGRAM_GROUP_CODE" val="l1-1"/>
  <p:tag name="KSO_WM_DIAGRAM_MAX_ITEMCNT" val="6"/>
  <p:tag name="KSO_WM_DIAGRAM_MIN_ITEMCNT" val="2"/>
  <p:tag name="KSO_WM_DIAGRAM_VIRTUALLY_FRAME" val="{&quot;height&quot;:244.29998779296875,&quot;left&quot;:11.04998779296875,&quot;top&quot;:231.25000610351563,&quot;width&quot;:877.194713449169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PRESET_TEXT" val="单击此处添加文本具体内容，简明扼要地阐述您的观点"/>
  <p:tag name="KSO_WM_UNIT_TEXT_FILL_FORE_SCHEMECOLOR_INDEX" val="1"/>
  <p:tag name="KSO_WM_UNIT_TEXT_FILL_TYPE" val="1"/>
  <p:tag name="KSO_WM_DIAGRAM_USE_COLOR_VALUE" val="{&quot;color_scheme&quot;:1,&quot;color_type&quot;:1,&quot;theme_color_indexes&quot;:[5,6,5,6,5,6]}"/>
</p:tagLst>
</file>

<file path=ppt/tags/tag35.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6_1"/>
  <p:tag name="KSO_WM_UNIT_ID" val="diagram20231058_5*l_h_f*1_6_1"/>
  <p:tag name="KSO_WM_TEMPLATE_CATEGORY" val="diagram"/>
  <p:tag name="KSO_WM_TEMPLATE_INDEX" val="20231058"/>
  <p:tag name="KSO_WM_UNIT_LAYERLEVEL" val="1_1_1"/>
  <p:tag name="KSO_WM_TAG_VERSION" val="3.0"/>
  <p:tag name="KSO_WM_DIAGRAM_VERSION" val="3"/>
  <p:tag name="KSO_WM_DIAGRAM_COLOR_TRICK" val="4"/>
  <p:tag name="KSO_WM_DIAGRAM_COLOR_TEXT_CAN_REMOVE" val="n"/>
  <p:tag name="KSO_WM_UNIT_TEXT_FILL_FORE_SCHEMECOLOR_INDEX_BRIGHTNESS" val="0.35"/>
  <p:tag name="KSO_WM_DIAGRAM_GROUP_CODE" val="l1-1"/>
  <p:tag name="KSO_WM_DIAGRAM_MAX_ITEMCNT" val="6"/>
  <p:tag name="KSO_WM_DIAGRAM_MIN_ITEMCNT" val="2"/>
  <p:tag name="KSO_WM_DIAGRAM_VIRTUALLY_FRAME" val="{&quot;height&quot;:244.29998779296875,&quot;left&quot;:11.04998779296875,&quot;top&quot;:231.25000610351563,&quot;width&quot;:877.194713449169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PRESET_TEXT" val="单击此处添加文本内容，简明扼要地阐述您的观点"/>
  <p:tag name="KSO_WM_UNIT_TEXT_FILL_FORE_SCHEMECOLOR_INDEX" val="1"/>
  <p:tag name="KSO_WM_UNIT_TEXT_FILL_TYPE" val="1"/>
  <p:tag name="KSO_WM_DIAGRAM_USE_COLOR_VALUE" val="{&quot;color_scheme&quot;:1,&quot;color_type&quot;:1,&quot;theme_color_indexes&quot;:[5,6,5,6,5,6]}"/>
</p:tagLst>
</file>

<file path=ppt/tags/tag36.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6_1"/>
  <p:tag name="KSO_WM_UNIT_ID" val="diagram20231058_5*l_h_a*1_6_1"/>
  <p:tag name="KSO_WM_TEMPLATE_CATEGORY" val="diagram"/>
  <p:tag name="KSO_WM_TEMPLATE_INDEX" val="20231058"/>
  <p:tag name="KSO_WM_UNIT_LAYERLEVEL" val="1_1_1"/>
  <p:tag name="KSO_WM_TAG_VERSION" val="3.0"/>
  <p:tag name="KSO_WM_DIAGRAM_VERSION" val="3"/>
  <p:tag name="KSO_WM_DIAGRAM_COLOR_TRICK" val="4"/>
  <p:tag name="KSO_WM_DIAGRAM_COLOR_TEXT_CAN_REMOVE" val="n"/>
  <p:tag name="KSO_WM_UNIT_TEXT_FILL_FORE_SCHEMECOLOR_INDEX_BRIGHTNESS" val="0"/>
  <p:tag name="KSO_WM_DIAGRAM_GROUP_CODE" val="l1-1"/>
  <p:tag name="KSO_WM_DIAGRAM_MAX_ITEMCNT" val="6"/>
  <p:tag name="KSO_WM_DIAGRAM_MIN_ITEMCNT" val="2"/>
  <p:tag name="KSO_WM_DIAGRAM_VIRTUALLY_FRAME" val="{&quot;height&quot;:244.29998779296875,&quot;left&quot;:11.04998779296875,&quot;top&quot;:231.25000610351563,&quot;width&quot;:877.194713449169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0,&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添加标题"/>
  <p:tag name="KSO_WM_UNIT_TEXT_FILL_FORE_SCHEMECOLOR_INDEX" val="1"/>
  <p:tag name="KSO_WM_UNIT_TEXT_FILL_TYPE" val="1"/>
  <p:tag name="KSO_WM_DIAGRAM_USE_COLOR_VALUE" val="{&quot;color_scheme&quot;:1,&quot;color_type&quot;:1,&quot;theme_color_indexes&quot;:[5,6,5,6,5,6]}"/>
</p:tagLst>
</file>

<file path=ppt/tags/tag37.xml><?xml version="1.0" encoding="utf-8"?>
<p:tagLst xmlns:p="http://schemas.openxmlformats.org/presentationml/2006/main">
  <p:tag name="KSO_WM_UNIT_SHADOW_SCHEMECOLOR_INDEX_BRIGHTNESS" val="-0.25"/>
  <p:tag name="KSO_WM_UNIT_SHADOW_SCHEMECOLOR_INDEX" val="8"/>
  <p:tag name="KSO_WM_UNIT_TEXT_FILL_FORE_SCHEMECOLOR_INDEX_BRIGHTNESS" val="0"/>
  <p:tag name="KSO_WM_UNIT_TEXT_FILL_TYPE" val="1"/>
  <p:tag name="KSO_WM_UNIT_HIGHLIGHT" val="0"/>
  <p:tag name="KSO_WM_UNIT_COMPATIBLE" val="0"/>
  <p:tag name="KSO_WM_UNIT_DIAGRAM_ISNUMVISUAL" val="0"/>
  <p:tag name="KSO_WM_UNIT_DIAGRAM_ISREFERUNIT" val="0"/>
  <p:tag name="KSO_WM_UNIT_ID" val="diagram20231058_5*l_h_i*1_6_2"/>
  <p:tag name="KSO_WM_TEMPLATE_CATEGORY" val="diagram"/>
  <p:tag name="KSO_WM_TEMPLATE_INDEX" val="20231058"/>
  <p:tag name="KSO_WM_UNIT_LAYERLEVEL" val="1_1_1"/>
  <p:tag name="KSO_WM_TAG_VERSION" val="3.0"/>
  <p:tag name="KSO_WM_UNIT_TYPE" val="l_h_i"/>
  <p:tag name="KSO_WM_UNIT_INDEX" val="1_6_2"/>
  <p:tag name="KSO_WM_DIAGRAM_VERSION" val="3"/>
  <p:tag name="KSO_WM_DIAGRAM_COLOR_TRICK" val="4"/>
  <p:tag name="KSO_WM_DIAGRAM_COLOR_TEXT_CAN_REMOVE" val="n"/>
  <p:tag name="KSO_WM_DIAGRAM_GROUP_CODE" val="l1-1"/>
  <p:tag name="KSO_WM_DIAGRAM_MAX_ITEMCNT" val="6"/>
  <p:tag name="KSO_WM_DIAGRAM_MIN_ITEMCNT" val="2"/>
  <p:tag name="KSO_WM_DIAGRAM_VIRTUALLY_FRAME" val="{&quot;height&quot;:244.29998779296875,&quot;left&quot;:11.04998779296875,&quot;top&quot;:231.25000610351563,&quot;width&quot;:877.1947134491695}"/>
  <p:tag name="KSO_WM_DIAGRAM_COLOR_MATCH_VALUE" val="{&quot;shape&quot;:{&quot;fill&quot;:{&quot;solid&quot;:{&quot;brightness&quot;:0,&quot;colorType&quot;:1,&quot;foreColorIndex&quot;:10,&quot;transparency&quot;:0},&quot;type&quot;:1},&quot;glow&quot;:{&quot;colorType&quot;:0},&quot;line&quot;:{&quot;type&quot;:0},&quot;shadow&quot;:{&quot;brightness&quot;:-0.25,&quot;colorType&quot;:1,&quot;foreColorIndex&quot;:10,&quot;transparency&quot;:0.899999976158142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0"/>
  <p:tag name="KSO_WM_UNIT_FILL_FORE_SCHEMECOLOR_INDEX_BRIGHTNESS" val="0"/>
  <p:tag name="KSO_WM_DIAGRAM_USE_COLOR_VALUE" val="{&quot;color_scheme&quot;:1,&quot;color_type&quot;:1,&quot;theme_color_indexes&quot;:[5,6,5,6,5,6]}"/>
</p:tagLst>
</file>

<file path=ppt/tags/tag38.xml><?xml version="1.0" encoding="utf-8"?>
<p:tagLst xmlns:p="http://schemas.openxmlformats.org/presentationml/2006/main">
  <p:tag name="KSO_WM_UNIT_FILL_FORE_SCHEMECOLOR_INDEX_1_BRIGHTNESS" val="0.4"/>
  <p:tag name="KSO_WM_UNIT_FILL_FORE_SCHEMECOLOR_INDEX_1" val="8"/>
  <p:tag name="KSO_WM_UNIT_FILL_FORE_SCHEMECOLOR_INDEX_1_POS" val="0"/>
  <p:tag name="KSO_WM_UNIT_FILL_FORE_SCHEMECOLOR_INDEX_1_TRANS" val="0"/>
  <p:tag name="KSO_WM_UNIT_FILL_FORE_SCHEMECOLOR_INDEX_2_BRIGHTNESS" val="0"/>
  <p:tag name="KSO_WM_UNIT_FILL_FORE_SCHEMECOLOR_INDEX_2" val="8"/>
  <p:tag name="KSO_WM_UNIT_FILL_FORE_SCHEMECOLOR_INDEX_2_POS" val="0.9"/>
  <p:tag name="KSO_WM_UNIT_FILL_FORE_SCHEMECOLOR_INDEX_2_TRANS" val="0"/>
  <p:tag name="KSO_WM_UNIT_FILL_GRADIENT_TYPE" val="0"/>
  <p:tag name="KSO_WM_UNIT_FILL_GRADIENT_ANGLE" val="135"/>
  <p:tag name="KSO_WM_UNIT_FILL_GRADIENT_DIRECTION" val="2"/>
  <p:tag name="KSO_WM_UNIT_SHADOW_SCHEMECOLOR_INDEX_BRIGHTNESS" val="-0.25"/>
  <p:tag name="KSO_WM_UNIT_SHADOW_SCHEMECOLOR_INDEX" val="8"/>
  <p:tag name="KSO_WM_UNIT_TEXT_FILL_FORE_SCHEMECOLOR_INDEX_BRIGHTNESS" val="0"/>
  <p:tag name="KSO_WM_UNIT_HIGHLIGHT" val="0"/>
  <p:tag name="KSO_WM_UNIT_COMPATIBLE" val="0"/>
  <p:tag name="KSO_WM_UNIT_DIAGRAM_ISNUMVISUAL" val="0"/>
  <p:tag name="KSO_WM_UNIT_DIAGRAM_ISREFERUNIT" val="0"/>
  <p:tag name="KSO_WM_UNIT_ID" val="diagram20231058_5*l_h_i*1_6_1"/>
  <p:tag name="KSO_WM_TEMPLATE_CATEGORY" val="diagram"/>
  <p:tag name="KSO_WM_TEMPLATE_INDEX" val="20231058"/>
  <p:tag name="KSO_WM_UNIT_LAYERLEVEL" val="1_1_1"/>
  <p:tag name="KSO_WM_TAG_VERSION" val="3.0"/>
  <p:tag name="KSO_WM_UNIT_TYPE" val="l_h_i"/>
  <p:tag name="KSO_WM_UNIT_INDEX" val="1_6_1"/>
  <p:tag name="KSO_WM_DIAGRAM_VERSION" val="3"/>
  <p:tag name="KSO_WM_DIAGRAM_COLOR_TRICK" val="4"/>
  <p:tag name="KSO_WM_DIAGRAM_COLOR_TEXT_CAN_REMOVE" val="n"/>
  <p:tag name="KSO_WM_DIAGRAM_GROUP_CODE" val="l1-1"/>
  <p:tag name="KSO_WM_UNIT_SUBTYPE" val="d"/>
  <p:tag name="KSO_WM_DIAGRAM_MAX_ITEMCNT" val="6"/>
  <p:tag name="KSO_WM_DIAGRAM_MIN_ITEMCNT" val="2"/>
  <p:tag name="KSO_WM_DIAGRAM_VIRTUALLY_FRAME" val="{&quot;height&quot;:244.29998779296875,&quot;left&quot;:11.04998779296875,&quot;top&quot;:231.25000610351563,&quot;width&quot;:877.1947134491695}"/>
  <p:tag name="KSO_WM_DIAGRAM_COLOR_MATCH_VALUE" val="{&quot;shape&quot;:{&quot;fill&quot;:{&quot;gradient&quot;:[{&quot;brightness&quot;:0.6000000238418579,&quot;colorType&quot;:1,&quot;foreColorIndex&quot;:10,&quot;pos&quot;:0,&quot;transparency&quot;:0},{&quot;brightness&quot;:0,&quot;colorType&quot;:1,&quot;foreColorIndex&quot;:10,&quot;pos&quot;:0.8999999761581421,&quot;transparency&quot;:0}],&quot;type&quot;:3},&quot;glow&quot;:{&quot;colorType&quot;:0},&quot;line&quot;:{&quot;type&quot;:0},&quot;shadow&quot;:{&quot;brightness&quot;:0,&quot;colorType&quot;:1,&quot;foreColorIndex&quot;:10,&quot;transparency&quot;:0.80000001192092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FILL_TYPE" val="3"/>
  <p:tag name="KSO_WM_DIAGRAM_USE_COLOR_VALUE" val="{&quot;color_scheme&quot;:1,&quot;color_type&quot;:1,&quot;theme_color_indexes&quot;:[5,6,5,6,5,6]}"/>
</p:tagLst>
</file>

<file path=ppt/tags/tag39.xml><?xml version="1.0" encoding="utf-8"?>
<p:tagLst xmlns:p="http://schemas.openxmlformats.org/presentationml/2006/main">
  <p:tag name="KSO_WM_DIAGRAM_VIRTUALLY_FRAME" val="{&quot;height&quot;:375.6,&quot;left&quot;:60,&quot;top&quot;:124.4,&quot;width&quot;:840}"/>
</p:tagLst>
</file>

<file path=ppt/tags/tag40.xml><?xml version="1.0" encoding="utf-8"?>
<p:tagLst xmlns:p="http://schemas.openxmlformats.org/presentationml/2006/main">
  <p:tag name="KSO_WM_DIAGRAM_VIRTUALLY_FRAME" val="{&quot;height&quot;:375.6,&quot;left&quot;:60,&quot;top&quot;:124.4,&quot;width&quot;:840}"/>
</p:tagLst>
</file>

<file path=ppt/tags/tag41.xml><?xml version="1.0" encoding="utf-8"?>
<p:tagLst xmlns:p="http://schemas.openxmlformats.org/presentationml/2006/main">
  <p:tag name="KSO_WM_DIAGRAM_VIRTUALLY_FRAME" val="{&quot;height&quot;:375.6,&quot;left&quot;:60,&quot;top&quot;:124.4,&quot;width&quot;:840}"/>
</p:tagLst>
</file>

<file path=ppt/tags/tag42.xml><?xml version="1.0" encoding="utf-8"?>
<p:tagLst xmlns:p="http://schemas.openxmlformats.org/presentationml/2006/main">
  <p:tag name="KSO_WM_DIAGRAM_VIRTUALLY_FRAME" val="{&quot;height&quot;:375.6,&quot;left&quot;:60,&quot;top&quot;:124.4,&quot;width&quot;:840}"/>
</p:tagLst>
</file>

<file path=ppt/tags/tag43.xml><?xml version="1.0" encoding="utf-8"?>
<p:tagLst xmlns:p="http://schemas.openxmlformats.org/presentationml/2006/main">
  <p:tag name="KSO_WM_DIAGRAM_VIRTUALLY_FRAME" val="{&quot;height&quot;:375.6,&quot;left&quot;:60,&quot;top&quot;:124.4,&quot;width&quot;:840}"/>
</p:tagLst>
</file>

<file path=ppt/tags/tag44.xml><?xml version="1.0" encoding="utf-8"?>
<p:tagLst xmlns:p="http://schemas.openxmlformats.org/presentationml/2006/main">
  <p:tag name="KSO_WM_DIAGRAM_VIRTUALLY_FRAME" val="{&quot;height&quot;:375.6,&quot;left&quot;:60,&quot;top&quot;:124.4,&quot;width&quot;:840}"/>
</p:tagLst>
</file>

<file path=ppt/tags/tag45.xml><?xml version="1.0" encoding="utf-8"?>
<p:tagLst xmlns:p="http://schemas.openxmlformats.org/presentationml/2006/main">
  <p:tag name="KSO_WM_DIAGRAM_VIRTUALLY_FRAME" val="{&quot;height&quot;:375.6,&quot;left&quot;:60,&quot;top&quot;:124.4,&quot;width&quot;:840}"/>
</p:tagLst>
</file>

<file path=ppt/tags/tag46.xml><?xml version="1.0" encoding="utf-8"?>
<p:tagLst xmlns:p="http://schemas.openxmlformats.org/presentationml/2006/main">
  <p:tag name="KSO_WM_DIAGRAM_VIRTUALLY_FRAME" val="{&quot;height&quot;:160,&quot;left&quot;:60,&quot;top&quot;:180,&quot;width&quot;:821.9}"/>
</p:tagLst>
</file>

<file path=ppt/tags/tag47.xml><?xml version="1.0" encoding="utf-8"?>
<p:tagLst xmlns:p="http://schemas.openxmlformats.org/presentationml/2006/main">
  <p:tag name="KSO_WM_DIAGRAM_VIRTUALLY_FRAME" val="{&quot;height&quot;:160,&quot;left&quot;:60,&quot;top&quot;:180,&quot;width&quot;:821.9}"/>
</p:tagLst>
</file>

<file path=ppt/tags/tag48.xml><?xml version="1.0" encoding="utf-8"?>
<p:tagLst xmlns:p="http://schemas.openxmlformats.org/presentationml/2006/main">
  <p:tag name="KSO_WM_DIAGRAM_VIRTUALLY_FRAME" val="{&quot;height&quot;:160,&quot;left&quot;:60,&quot;top&quot;:180,&quot;width&quot;:821.9}"/>
</p:tagLst>
</file>

<file path=ppt/tags/tag49.xml><?xml version="1.0" encoding="utf-8"?>
<p:tagLst xmlns:p="http://schemas.openxmlformats.org/presentationml/2006/main">
  <p:tag name="KSO_WM_DIAGRAM_VIRTUALLY_FRAME" val="{&quot;height&quot;:160,&quot;left&quot;:60,&quot;top&quot;:180,&quot;width&quot;:821.9}"/>
</p:tagLst>
</file>

<file path=ppt/tags/tag50.xml><?xml version="1.0" encoding="utf-8"?>
<p:tagLst xmlns:p="http://schemas.openxmlformats.org/presentationml/2006/main">
  <p:tag name="KSO_WM_DIAGRAM_VIRTUALLY_FRAME" val="{&quot;height&quot;:160,&quot;left&quot;:60,&quot;top&quot;:180,&quot;width&quot;:821.9}"/>
</p:tagLst>
</file>

<file path=ppt/tags/tag51.xml><?xml version="1.0" encoding="utf-8"?>
<p:tagLst xmlns:p="http://schemas.openxmlformats.org/presentationml/2006/main">
  <p:tag name="KSO_WM_DIAGRAM_VIRTUALLY_FRAME" val="{&quot;height&quot;:160,&quot;left&quot;:60,&quot;top&quot;:180,&quot;width&quot;:821.9}"/>
</p:tagLst>
</file>

<file path=ppt/tags/tag52.xml><?xml version="1.0" encoding="utf-8"?>
<p:tagLst xmlns:p="http://schemas.openxmlformats.org/presentationml/2006/main">
  <p:tag name="KSO_WM_DIAGRAM_VIRTUALLY_FRAME" val="{&quot;height&quot;:160,&quot;left&quot;:60,&quot;top&quot;:180,&quot;width&quot;:821.9}"/>
</p:tagLst>
</file>

<file path=ppt/tags/tag53.xml><?xml version="1.0" encoding="utf-8"?>
<p:tagLst xmlns:p="http://schemas.openxmlformats.org/presentationml/2006/main">
  <p:tag name="KSO_WM_DIAGRAM_VIRTUALLY_FRAME" val="{&quot;height&quot;:160,&quot;left&quot;:60,&quot;top&quot;:180,&quot;width&quot;:821.9}"/>
</p:tagLst>
</file>

<file path=ppt/tags/tag54.xml><?xml version="1.0" encoding="utf-8"?>
<p:tagLst xmlns:p="http://schemas.openxmlformats.org/presentationml/2006/main">
  <p:tag name="KSO_WM_DIAGRAM_VIRTUALLY_FRAME" val="{&quot;height&quot;:160,&quot;left&quot;:60,&quot;top&quot;:180,&quot;width&quot;:821.9}"/>
</p:tagLst>
</file>

<file path=ppt/tags/tag55.xml><?xml version="1.0" encoding="utf-8"?>
<p:tagLst xmlns:p="http://schemas.openxmlformats.org/presentationml/2006/main">
  <p:tag name="KSO_WM_DIAGRAM_VIRTUALLY_FRAME" val="{&quot;height&quot;:160,&quot;left&quot;:60,&quot;top&quot;:180,&quot;width&quot;:821.9}"/>
</p:tagLst>
</file>

<file path=ppt/tags/tag56.xml><?xml version="1.0" encoding="utf-8"?>
<p:tagLst xmlns:p="http://schemas.openxmlformats.org/presentationml/2006/main">
  <p:tag name="KSO_WM_DIAGRAM_VIRTUALLY_FRAME" val="{&quot;height&quot;:160,&quot;left&quot;:60,&quot;top&quot;:180,&quot;width&quot;:821.9}"/>
</p:tagLst>
</file>

<file path=ppt/tags/tag57.xml><?xml version="1.0" encoding="utf-8"?>
<p:tagLst xmlns:p="http://schemas.openxmlformats.org/presentationml/2006/main">
  <p:tag name="KSO_WM_DIAGRAM_VIRTUALLY_FRAME" val="{&quot;height&quot;:160,&quot;left&quot;:60,&quot;top&quot;:180,&quot;width&quot;:821.9}"/>
</p:tagLst>
</file>

<file path=ppt/tags/tag58.xml><?xml version="1.0" encoding="utf-8"?>
<p:tagLst xmlns:p="http://schemas.openxmlformats.org/presentationml/2006/main">
  <p:tag name="KSO_WM_DIAGRAM_VIRTUALLY_FRAME" val="{&quot;height&quot;:260,&quot;left&quot;:60,&quot;top&quot;:250,&quot;width&quot;:840}"/>
</p:tagLst>
</file>

<file path=ppt/tags/tag59.xml><?xml version="1.0" encoding="utf-8"?>
<p:tagLst xmlns:p="http://schemas.openxmlformats.org/presentationml/2006/main">
  <p:tag name="KSO_WM_DIAGRAM_VIRTUALLY_FRAME" val="{&quot;height&quot;:324.9,&quot;left&quot;:60,&quot;top&quot;:192.8,&quot;width&quot;:840}"/>
</p:tagLst>
</file>

<file path=ppt/tags/tag60.xml><?xml version="1.0" encoding="utf-8"?>
<p:tagLst xmlns:p="http://schemas.openxmlformats.org/presentationml/2006/main">
  <p:tag name="KSO_WM_DIAGRAM_VIRTUALLY_FRAME" val="{&quot;height&quot;:324.9,&quot;left&quot;:60,&quot;top&quot;:192.8,&quot;width&quot;:840}"/>
</p:tagLst>
</file>

<file path=ppt/tags/tag61.xml><?xml version="1.0" encoding="utf-8"?>
<p:tagLst xmlns:p="http://schemas.openxmlformats.org/presentationml/2006/main">
  <p:tag name="KSO_WM_DIAGRAM_VIRTUALLY_FRAME" val="{&quot;height&quot;:324.9,&quot;left&quot;:60,&quot;top&quot;:192.8,&quot;width&quot;:840}"/>
</p:tagLst>
</file>

<file path=ppt/tags/tag62.xml><?xml version="1.0" encoding="utf-8"?>
<p:tagLst xmlns:p="http://schemas.openxmlformats.org/presentationml/2006/main">
  <p:tag name="KSO_WM_DIAGRAM_VIRTUALLY_FRAME" val="{&quot;height&quot;:324.9,&quot;left&quot;:60,&quot;top&quot;:192.8,&quot;width&quot;:840}"/>
</p:tagLst>
</file>

<file path=ppt/tags/tag63.xml><?xml version="1.0" encoding="utf-8"?>
<p:tagLst xmlns:p="http://schemas.openxmlformats.org/presentationml/2006/main">
  <p:tag name="KSO_WM_DIAGRAM_VIRTUALLY_FRAME" val="{&quot;height&quot;:324.9,&quot;left&quot;:60,&quot;top&quot;:192.8,&quot;width&quot;:840}"/>
</p:tagLst>
</file>

<file path=ppt/tags/tag64.xml><?xml version="1.0" encoding="utf-8"?>
<p:tagLst xmlns:p="http://schemas.openxmlformats.org/presentationml/2006/main">
  <p:tag name="KSO_WM_DIAGRAM_VIRTUALLY_FRAME" val="{&quot;height&quot;:324.9,&quot;left&quot;:60,&quot;top&quot;:192.8,&quot;width&quot;:840}"/>
</p:tagLst>
</file>

<file path=ppt/tags/tag65.xml><?xml version="1.0" encoding="utf-8"?>
<p:tagLst xmlns:p="http://schemas.openxmlformats.org/presentationml/2006/main">
  <p:tag name="KSO_WM_DIAGRAM_VIRTUALLY_FRAME" val="{&quot;height&quot;:324.9,&quot;left&quot;:60,&quot;top&quot;:192.8,&quot;width&quot;:840}"/>
</p:tagLst>
</file>

<file path=ppt/tags/tag66.xml><?xml version="1.0" encoding="utf-8"?>
<p:tagLst xmlns:p="http://schemas.openxmlformats.org/presentationml/2006/main">
  <p:tag name="KSO_WM_DIAGRAM_VIRTUALLY_FRAME" val="{&quot;height&quot;:324.9,&quot;left&quot;:60,&quot;top&quot;:192.8,&quot;width&quot;:840}"/>
</p:tagLst>
</file>

<file path=ppt/tags/tag67.xml><?xml version="1.0" encoding="utf-8"?>
<p:tagLst xmlns:p="http://schemas.openxmlformats.org/presentationml/2006/main">
  <p:tag name="KSO_WM_DIAGRAM_VIRTUALLY_FRAME" val="{&quot;height&quot;:324.9,&quot;left&quot;:60,&quot;top&quot;:192.8,&quot;width&quot;:840}"/>
</p:tagLst>
</file>

<file path=ppt/tags/tag68.xml><?xml version="1.0" encoding="utf-8"?>
<p:tagLst xmlns:p="http://schemas.openxmlformats.org/presentationml/2006/main">
  <p:tag name="KSO_WM_DIAGRAM_VIRTUALLY_FRAME" val="{&quot;height&quot;:324.9,&quot;left&quot;:60,&quot;top&quot;:192.8,&quot;width&quot;:840}"/>
</p:tagLst>
</file>

<file path=ppt/tags/tag69.xml><?xml version="1.0" encoding="utf-8"?>
<p:tagLst xmlns:p="http://schemas.openxmlformats.org/presentationml/2006/main">
  <p:tag name="KSO_WM_DIAGRAM_VIRTUALLY_FRAME" val="{&quot;height&quot;:324.9,&quot;left&quot;:60,&quot;top&quot;:192.8,&quot;width&quot;:840}"/>
</p:tagLst>
</file>

<file path=ppt/tags/tag70.xml><?xml version="1.0" encoding="utf-8"?>
<p:tagLst xmlns:p="http://schemas.openxmlformats.org/presentationml/2006/main">
  <p:tag name="KSO_WM_DIAGRAM_VIRTUALLY_FRAME" val="{&quot;height&quot;:324.9,&quot;left&quot;:60,&quot;top&quot;:192.8,&quot;width&quot;:840}"/>
</p:tagLst>
</file>

<file path=ppt/tags/tag71.xml><?xml version="1.0" encoding="utf-8"?>
<p:tagLst xmlns:p="http://schemas.openxmlformats.org/presentationml/2006/main">
  <p:tag name="KSO_WM_DIAGRAM_VIRTUALLY_FRAME" val="{&quot;height&quot;:324.9,&quot;left&quot;:60,&quot;top&quot;:192.8,&quot;width&quot;:840}"/>
</p:tagLst>
</file>

<file path=ppt/tags/tag72.xml><?xml version="1.0" encoding="utf-8"?>
<p:tagLst xmlns:p="http://schemas.openxmlformats.org/presentationml/2006/main">
  <p:tag name="KSO_WM_DIAGRAM_VIRTUALLY_FRAME" val="{&quot;height&quot;:324.9,&quot;left&quot;:60,&quot;top&quot;:192.8,&quot;width&quot;:840}"/>
</p:tagLst>
</file>

<file path=ppt/tags/tag73.xml><?xml version="1.0" encoding="utf-8"?>
<p:tagLst xmlns:p="http://schemas.openxmlformats.org/presentationml/2006/main">
  <p:tag name="KSO_WM_DIAGRAM_VIRTUALLY_FRAME" val="{&quot;height&quot;:324.9,&quot;left&quot;:60,&quot;top&quot;:192.8,&quot;width&quot;:840}"/>
</p:tagLst>
</file>

<file path=ppt/tags/tag74.xml><?xml version="1.0" encoding="utf-8"?>
<p:tagLst xmlns:p="http://schemas.openxmlformats.org/presentationml/2006/main">
  <p:tag name="KSO_WM_DIAGRAM_VIRTUALLY_FRAME" val="{&quot;height&quot;:324.9,&quot;left&quot;:60,&quot;top&quot;:192.8,&quot;width&quot;:840}"/>
</p:tagLst>
</file>

<file path=ppt/tags/tag7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6.xml><?xml version="1.0" encoding="utf-8"?>
<p:tagLst xmlns:p="http://schemas.openxmlformats.org/presentationml/2006/main">
  <p:tag name="TABLE_ENDDRAG_ORIGIN_RECT" val="911*301"/>
  <p:tag name="TABLE_ENDDRAG_RECT" val="28*202*911*301"/>
</p:tagLst>
</file>

<file path=ppt/tags/tag77.xml><?xml version="1.0" encoding="utf-8"?>
<p:tagLst xmlns:p="http://schemas.openxmlformats.org/presentationml/2006/main">
  <p:tag name="TABLE_ENDDRAG_ORIGIN_RECT" val="883*145"/>
  <p:tag name="TABLE_ENDDRAG_RECT" val="20*116*883*145"/>
</p:tagLst>
</file>

<file path=ppt/tags/tag78.xml><?xml version="1.0" encoding="utf-8"?>
<p:tagLst xmlns:p="http://schemas.openxmlformats.org/presentationml/2006/main">
  <p:tag name="KSO_DOCER_RESOURCE_TRACE_INFO" val="{&quot;id&quot;:&quot;20348565&quot;,&quot;origin&quot;:0,&quot;type&quot;:&quot;textbox&quot;,&quot;user&quot;:&quot;1143362764&quot;}"/>
</p:tagLst>
</file>

<file path=ppt/tags/tag79.xml><?xml version="1.0" encoding="utf-8"?>
<p:tagLst xmlns:p="http://schemas.openxmlformats.org/presentationml/2006/main">
  <p:tag name="KSO_WM_DIAGRAM_VIRTUALLY_FRAME" val="{&quot;height&quot;:473.4,&quot;left&quot;:413.9,&quot;top&quot;:21.55,&quot;width&quot;:425.2}"/>
</p:tagLst>
</file>

<file path=ppt/tags/tag80.xml><?xml version="1.0" encoding="utf-8"?>
<p:tagLst xmlns:p="http://schemas.openxmlformats.org/presentationml/2006/main">
  <p:tag name="KSO_WM_DIAGRAM_VIRTUALLY_FRAME" val="{&quot;height&quot;:322.4,&quot;left&quot;:117.1,&quot;top&quot;:150.95,&quot;width&quot;:716.5}"/>
</p:tagLst>
</file>

<file path=ppt/tags/tag81.xml><?xml version="1.0" encoding="utf-8"?>
<p:tagLst xmlns:p="http://schemas.openxmlformats.org/presentationml/2006/main">
  <p:tag name="KSO_WM_DIAGRAM_VIRTUALLY_FRAME" val="{&quot;height&quot;:322.4,&quot;left&quot;:117.1,&quot;top&quot;:150.95,&quot;width&quot;:716.5}"/>
</p:tagLst>
</file>

<file path=ppt/tags/tag82.xml><?xml version="1.0" encoding="utf-8"?>
<p:tagLst xmlns:p="http://schemas.openxmlformats.org/presentationml/2006/main">
  <p:tag name="TABLE_ENDDRAG_ORIGIN_RECT" val="883*61"/>
  <p:tag name="TABLE_ENDDRAG_RECT" val="25*116*883*61"/>
</p:tagLst>
</file>

<file path=ppt/tags/tag83.xml><?xml version="1.0" encoding="utf-8"?>
<p:tagLst xmlns:p="http://schemas.openxmlformats.org/presentationml/2006/main">
  <p:tag name="KSO_DOCER_RESOURCE_TRACE_INFO" val="{&quot;id&quot;:&quot;20348565&quot;,&quot;origin&quot;:0,&quot;type&quot;:&quot;textbox&quot;,&quot;user&quot;:&quot;1143362764&quot;}"/>
</p:tagLst>
</file>

<file path=ppt/tags/tag84.xml><?xml version="1.0" encoding="utf-8"?>
<p:tagLst xmlns:p="http://schemas.openxmlformats.org/presentationml/2006/main">
  <p:tag name="KSO_WM_DIAGRAM_VIRTUALLY_FRAME" val="{&quot;height&quot;:473.4,&quot;left&quot;:413.9,&quot;top&quot;:21.55,&quot;width&quot;:425.2}"/>
</p:tagLst>
</file>

<file path=ppt/tags/tag85.xml><?xml version="1.0" encoding="utf-8"?>
<p:tagLst xmlns:p="http://schemas.openxmlformats.org/presentationml/2006/main">
  <p:tag name="TABLE_ENDDRAG_ORIGIN_RECT" val="918*389"/>
  <p:tag name="TABLE_ENDDRAG_RECT" val="19*124*918*389"/>
</p:tagLst>
</file>

<file path=ppt/tags/tag86.xml><?xml version="1.0" encoding="utf-8"?>
<p:tagLst xmlns:p="http://schemas.openxmlformats.org/presentationml/2006/main">
  <p:tag name="TABLE_ENDDRAG_ORIGIN_RECT" val="918*333"/>
  <p:tag name="TABLE_ENDDRAG_RECT" val="19*124*918*333"/>
</p:tagLst>
</file>

<file path=ppt/tags/tag87.xml><?xml version="1.0" encoding="utf-8"?>
<p:tagLst xmlns:p="http://schemas.openxmlformats.org/presentationml/2006/main">
  <p:tag name="KSO_WM_UNIT_TABLE_BEAUTIFY" val="smartTable{855b2007-1702-4c02-b89e-a2f124e6c451}"/>
  <p:tag name="TABLE_ENDDRAG_ORIGIN_RECT" val="918*282"/>
  <p:tag name="TABLE_ENDDRAG_RECT" val="19*79*918*283"/>
  <p:tag name="KSO_WM_BEAUTIFY_FLAG" val=""/>
</p:tagLst>
</file>

<file path=ppt/tags/tag88.xml><?xml version="1.0" encoding="utf-8"?>
<p:tagLst xmlns:p="http://schemas.openxmlformats.org/presentationml/2006/main">
  <p:tag name="KSO_WM_UNIT_TABLE_BEAUTIFY" val="smartTable{0bb8b562-9466-4e94-9629-8ae2d23ef812}"/>
  <p:tag name="TABLE_ENDDRAG_ORIGIN_RECT" val="918*282"/>
  <p:tag name="TABLE_ENDDRAG_RECT" val="19*79*918*283"/>
  <p:tag name="KSO_WM_BEAUTIFY_FLAG" val=""/>
</p:tagLst>
</file>

<file path=ppt/tags/tag89.xml><?xml version="1.0" encoding="utf-8"?>
<p:tagLst xmlns:p="http://schemas.openxmlformats.org/presentationml/2006/main">
  <p:tag name="KSO_WM_UNIT_TABLE_BEAUTIFY" val="smartTable{69499a53-ae23-46bf-b2ee-aaed87879a0c}"/>
  <p:tag name="TABLE_ENDDRAG_ORIGIN_RECT" val="918*250"/>
  <p:tag name="TABLE_ENDDRAG_RECT" val="19*124*918*250"/>
  <p:tag name="KSO_WM_BEAUTIFY_FLAG" val=""/>
</p:tagLst>
</file>

<file path=ppt/tags/tag90.xml><?xml version="1.0" encoding="utf-8"?>
<p:tagLst xmlns:p="http://schemas.openxmlformats.org/presentationml/2006/main">
  <p:tag name="KSO_WM_UNIT_TABLE_BEAUTIFY" val="smartTable{3e47dc1e-a7fa-4d93-9c19-5ef9ac24dde2}"/>
  <p:tag name="TABLE_ENDDRAG_ORIGIN_RECT" val="918*282"/>
  <p:tag name="TABLE_ENDDRAG_RECT" val="19*79*918*283"/>
  <p:tag name="KSO_WM_BEAUTIFY_FLAG" val=""/>
</p:tagLst>
</file>

<file path=ppt/tags/tag91.xml><?xml version="1.0" encoding="utf-8"?>
<p:tagLst xmlns:p="http://schemas.openxmlformats.org/presentationml/2006/main">
  <p:tag name="KSO_WM_UNIT_TABLE_BEAUTIFY" val="smartTable{3e47dc1e-a7fa-4d93-9c19-5ef9ac24dde2}"/>
  <p:tag name="TABLE_ENDDRAG_ORIGIN_RECT" val="918*129"/>
  <p:tag name="TABLE_ENDDRAG_RECT" val="14*118*918*129"/>
  <p:tag name="KSO_WM_BEAUTIFY_FLAG" val=""/>
</p:tagLst>
</file>

<file path=ppt/tags/tag9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9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9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电脑自带">
      <a:majorFont>
        <a:latin typeface="等线 Light"/>
        <a:ea typeface="微软雅黑"/>
        <a:cs typeface=""/>
      </a:majorFont>
      <a:minorFont>
        <a:latin typeface="等线"/>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微软雅黑"/>
        <a:ea typeface=""/>
        <a:cs typeface=""/>
        <a:font script="Jpan" typeface="游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15252</Words>
  <Application>WPS 演示</Application>
  <PresentationFormat>宽屏</PresentationFormat>
  <Paragraphs>815</Paragraphs>
  <Slides>31</Slides>
  <Notes>0</Notes>
  <HiddenSlides>0</HiddenSlides>
  <MMClips>0</MMClips>
  <ScaleCrop>false</ScaleCrop>
  <HeadingPairs>
    <vt:vector size="6" baseType="variant">
      <vt:variant>
        <vt:lpstr>已用的字体</vt:lpstr>
      </vt:variant>
      <vt:variant>
        <vt:i4>16</vt:i4>
      </vt:variant>
      <vt:variant>
        <vt:lpstr>主题</vt:lpstr>
      </vt:variant>
      <vt:variant>
        <vt:i4>2</vt:i4>
      </vt:variant>
      <vt:variant>
        <vt:lpstr>幻灯片标题</vt:lpstr>
      </vt:variant>
      <vt:variant>
        <vt:i4>31</vt:i4>
      </vt:variant>
    </vt:vector>
  </HeadingPairs>
  <TitlesOfParts>
    <vt:vector size="49" baseType="lpstr">
      <vt:lpstr>Arial</vt:lpstr>
      <vt:lpstr>宋体</vt:lpstr>
      <vt:lpstr>Wingdings</vt:lpstr>
      <vt:lpstr>Arial Unicode MS</vt:lpstr>
      <vt:lpstr>Arial Black</vt:lpstr>
      <vt:lpstr>微软雅黑</vt:lpstr>
      <vt:lpstr>黑体</vt:lpstr>
      <vt:lpstr>Noto Sans SC</vt:lpstr>
      <vt:lpstr>Times New Roman</vt:lpstr>
      <vt:lpstr>Wingdings</vt:lpstr>
      <vt:lpstr>思源黑体 CN ExtraLight</vt:lpstr>
      <vt:lpstr>思源黑体 CN Medium</vt:lpstr>
      <vt:lpstr>楷体</vt:lpstr>
      <vt:lpstr>Comic Sans MS</vt:lpstr>
      <vt:lpstr>仿宋_GB2312</vt:lpstr>
      <vt:lpstr>Arial Unicode MS</vt:lpstr>
      <vt:lpstr>Office 主题​​</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程洪远</dc:creator>
  <cp:lastModifiedBy>程洪远</cp:lastModifiedBy>
  <cp:revision>6</cp:revision>
  <dcterms:created xsi:type="dcterms:W3CDTF">2019-09-19T02:01:00Z</dcterms:created>
  <dcterms:modified xsi:type="dcterms:W3CDTF">2026-05-21T10:15:56Z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2052-11.8.2.12309</vt:lpwstr>
  </property>
  <property fmtid="{D5CDD505-2E9C-101B-9397-08002B2CF9AE}" pid="3" name="ICV">
    <vt:lpwstr>1B0BE5F0FB874EB8AA52683726C54970</vt:lpwstr>
  </property>
</Properties>
</file>